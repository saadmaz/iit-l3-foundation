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19"/>
  </p:notesMasterIdLst>
  <p:sldIdLst>
    <p:sldId id="256" r:id="rId2"/>
    <p:sldId id="310" r:id="rId3"/>
    <p:sldId id="258" r:id="rId4"/>
    <p:sldId id="260" r:id="rId5"/>
    <p:sldId id="261" r:id="rId6"/>
    <p:sldId id="311" r:id="rId7"/>
    <p:sldId id="318" r:id="rId8"/>
    <p:sldId id="320" r:id="rId9"/>
    <p:sldId id="312" r:id="rId10"/>
    <p:sldId id="262" r:id="rId11"/>
    <p:sldId id="317" r:id="rId12"/>
    <p:sldId id="321" r:id="rId13"/>
    <p:sldId id="316" r:id="rId14"/>
    <p:sldId id="269" r:id="rId15"/>
    <p:sldId id="322" r:id="rId16"/>
    <p:sldId id="313" r:id="rId17"/>
    <p:sldId id="323" r:id="rId18"/>
  </p:sldIdLst>
  <p:sldSz cx="9144000" cy="5143500" type="screen16x9"/>
  <p:notesSz cx="6858000" cy="9144000"/>
  <p:embeddedFontLst>
    <p:embeddedFont>
      <p:font typeface="Assistant" pitchFamily="2" charset="-79"/>
      <p:regular r:id="rId20"/>
      <p:bold r:id="rId21"/>
    </p:embeddedFont>
    <p:embeddedFont>
      <p:font typeface="Calibri" panose="020F0502020204030204" pitchFamily="34" charset="0"/>
      <p:regular r:id="rId22"/>
      <p:bold r:id="rId23"/>
      <p:italic r:id="rId24"/>
      <p:boldItalic r:id="rId25"/>
    </p:embeddedFont>
    <p:embeddedFont>
      <p:font typeface="Maven Pro" panose="020B0604020202020204" charset="0"/>
      <p:regular r:id="rId26"/>
      <p:bold r:id="rId27"/>
    </p:embeddedFont>
    <p:embeddedFont>
      <p:font typeface="Poppins" panose="00000500000000000000" pitchFamily="2"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B1E4C88-833D-4B8E-AEC5-868DB21C09FB}">
  <a:tblStyle styleId="{1B1E4C88-833D-4B8E-AEC5-868DB21C09F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93" autoAdjust="0"/>
  </p:normalViewPr>
  <p:slideViewPr>
    <p:cSldViewPr snapToGrid="0">
      <p:cViewPr>
        <p:scale>
          <a:sx n="75" d="100"/>
          <a:sy n="75" d="100"/>
        </p:scale>
        <p:origin x="54" y="33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cec4d270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cec4d27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cec4d270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cec4d27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35086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11af349bb9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11af349bb9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99f2f57a71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99f2f57a71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17797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2015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61492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56527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479cb4777d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479cb4777d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895377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19687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018322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1479cb4777d_1_5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1479cb4777d_1_5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1479cb4777d_1_5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9" name="Google Shape;499;g1479cb4777d_1_5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505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632507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1479cb4777d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1479cb4777d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8224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0" y="630000"/>
            <a:ext cx="9144000" cy="388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20000" y="1392513"/>
            <a:ext cx="4318200" cy="1899900"/>
          </a:xfrm>
          <a:prstGeom prst="rect">
            <a:avLst/>
          </a:prstGeom>
        </p:spPr>
        <p:txBody>
          <a:bodyPr spcFirstLastPara="1" wrap="square" lIns="91425" tIns="91425" rIns="91425" bIns="91425" anchor="t" anchorCtr="0">
            <a:noAutofit/>
          </a:bodyPr>
          <a:lstStyle>
            <a:lvl1pPr lvl="0" rtl="0">
              <a:lnSpc>
                <a:spcPct val="90000"/>
              </a:lnSpc>
              <a:spcBef>
                <a:spcPts val="0"/>
              </a:spcBef>
              <a:spcAft>
                <a:spcPts val="0"/>
              </a:spcAft>
              <a:buSzPts val="5200"/>
              <a:buNone/>
              <a:defRPr sz="44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720000" y="3591301"/>
            <a:ext cx="4318200" cy="4758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2" name="Google Shape;12;p2"/>
          <p:cNvSpPr>
            <a:spLocks noGrp="1"/>
          </p:cNvSpPr>
          <p:nvPr>
            <p:ph type="pic" idx="2"/>
          </p:nvPr>
        </p:nvSpPr>
        <p:spPr>
          <a:xfrm>
            <a:off x="5372950" y="627150"/>
            <a:ext cx="3771000" cy="38835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p:nvPr/>
        </p:nvSpPr>
        <p:spPr>
          <a:xfrm>
            <a:off x="0" y="630000"/>
            <a:ext cx="9144000" cy="388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3"/>
          <p:cNvSpPr txBox="1">
            <a:spLocks noGrp="1"/>
          </p:cNvSpPr>
          <p:nvPr>
            <p:ph type="title"/>
          </p:nvPr>
        </p:nvSpPr>
        <p:spPr>
          <a:xfrm>
            <a:off x="720000" y="2125525"/>
            <a:ext cx="4062600" cy="13149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SzPts val="3600"/>
              <a:buNone/>
              <a:defRPr sz="4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720000" y="989665"/>
            <a:ext cx="1056900" cy="869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SzPts val="6000"/>
              <a:buNone/>
              <a:defRPr sz="44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7" name="Google Shape;17;p3"/>
          <p:cNvSpPr txBox="1">
            <a:spLocks noGrp="1"/>
          </p:cNvSpPr>
          <p:nvPr>
            <p:ph type="subTitle" idx="1"/>
          </p:nvPr>
        </p:nvSpPr>
        <p:spPr>
          <a:xfrm>
            <a:off x="720000" y="3440425"/>
            <a:ext cx="2501400" cy="713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8" name="Google Shape;18;p3"/>
          <p:cNvSpPr>
            <a:spLocks noGrp="1"/>
          </p:cNvSpPr>
          <p:nvPr>
            <p:ph type="pic" idx="3"/>
          </p:nvPr>
        </p:nvSpPr>
        <p:spPr>
          <a:xfrm>
            <a:off x="5381400" y="627150"/>
            <a:ext cx="3762600" cy="38835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315550"/>
            <a:ext cx="9144000" cy="451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body" idx="1"/>
          </p:nvPr>
        </p:nvSpPr>
        <p:spPr>
          <a:xfrm>
            <a:off x="720000" y="1840350"/>
            <a:ext cx="3203400" cy="25329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lt1"/>
              </a:buClr>
              <a:buSzPts val="1400"/>
              <a:buChar char="⬩"/>
              <a:defRPr/>
            </a:lvl1pPr>
            <a:lvl2pPr marL="914400" lvl="1" indent="-317500" rtl="0">
              <a:lnSpc>
                <a:spcPct val="115000"/>
              </a:lnSpc>
              <a:spcBef>
                <a:spcPts val="0"/>
              </a:spcBef>
              <a:spcAft>
                <a:spcPts val="0"/>
              </a:spcAft>
              <a:buSzPts val="1400"/>
              <a:buChar char="○"/>
              <a:defRPr/>
            </a:lvl2pPr>
            <a:lvl3pPr marL="1371600" lvl="2" indent="-317500" rtl="0">
              <a:lnSpc>
                <a:spcPct val="115000"/>
              </a:lnSpc>
              <a:spcBef>
                <a:spcPts val="1600"/>
              </a:spcBef>
              <a:spcAft>
                <a:spcPts val="0"/>
              </a:spcAft>
              <a:buSzPts val="1400"/>
              <a:buChar char="■"/>
              <a:defRPr/>
            </a:lvl3pPr>
            <a:lvl4pPr marL="1828800" lvl="3" indent="-317500" rtl="0">
              <a:lnSpc>
                <a:spcPct val="115000"/>
              </a:lnSpc>
              <a:spcBef>
                <a:spcPts val="1600"/>
              </a:spcBef>
              <a:spcAft>
                <a:spcPts val="0"/>
              </a:spcAft>
              <a:buSzPts val="1400"/>
              <a:buChar char="●"/>
              <a:defRPr/>
            </a:lvl4pPr>
            <a:lvl5pPr marL="2286000" lvl="4" indent="-317500" rtl="0">
              <a:lnSpc>
                <a:spcPct val="115000"/>
              </a:lnSpc>
              <a:spcBef>
                <a:spcPts val="1600"/>
              </a:spcBef>
              <a:spcAft>
                <a:spcPts val="0"/>
              </a:spcAft>
              <a:buSzPts val="1400"/>
              <a:buChar char="○"/>
              <a:defRPr/>
            </a:lvl5pPr>
            <a:lvl6pPr marL="2743200" lvl="5" indent="-317500" rtl="0">
              <a:lnSpc>
                <a:spcPct val="115000"/>
              </a:lnSpc>
              <a:spcBef>
                <a:spcPts val="1600"/>
              </a:spcBef>
              <a:spcAft>
                <a:spcPts val="0"/>
              </a:spcAft>
              <a:buSzPts val="1400"/>
              <a:buChar char="■"/>
              <a:defRPr/>
            </a:lvl6pPr>
            <a:lvl7pPr marL="3200400" lvl="6" indent="-317500" rtl="0">
              <a:lnSpc>
                <a:spcPct val="115000"/>
              </a:lnSpc>
              <a:spcBef>
                <a:spcPts val="1600"/>
              </a:spcBef>
              <a:spcAft>
                <a:spcPts val="0"/>
              </a:spcAft>
              <a:buSzPts val="1400"/>
              <a:buChar char="●"/>
              <a:defRPr/>
            </a:lvl7pPr>
            <a:lvl8pPr marL="3657600" lvl="7" indent="-317500" rtl="0">
              <a:lnSpc>
                <a:spcPct val="115000"/>
              </a:lnSpc>
              <a:spcBef>
                <a:spcPts val="1600"/>
              </a:spcBef>
              <a:spcAft>
                <a:spcPts val="0"/>
              </a:spcAft>
              <a:buSzPts val="1400"/>
              <a:buChar char="○"/>
              <a:defRPr/>
            </a:lvl8pPr>
            <a:lvl9pPr marL="4114800" lvl="8" indent="-317500" rtl="0">
              <a:lnSpc>
                <a:spcPct val="115000"/>
              </a:lnSpc>
              <a:spcBef>
                <a:spcPts val="1600"/>
              </a:spcBef>
              <a:spcAft>
                <a:spcPts val="1600"/>
              </a:spcAft>
              <a:buSzPts val="1400"/>
              <a:buChar char="■"/>
              <a:defRPr/>
            </a:lvl9pPr>
          </a:lstStyle>
          <a:p>
            <a:endParaRPr/>
          </a:p>
        </p:txBody>
      </p:sp>
      <p:sp>
        <p:nvSpPr>
          <p:cNvPr id="39" name="Google Shape;39;p7"/>
          <p:cNvSpPr txBox="1">
            <a:spLocks noGrp="1"/>
          </p:cNvSpPr>
          <p:nvPr>
            <p:ph type="title"/>
          </p:nvPr>
        </p:nvSpPr>
        <p:spPr>
          <a:xfrm>
            <a:off x="720000" y="519654"/>
            <a:ext cx="3203400" cy="1180800"/>
          </a:xfrm>
          <a:prstGeom prst="rect">
            <a:avLst/>
          </a:prstGeom>
        </p:spPr>
        <p:txBody>
          <a:bodyPr spcFirstLastPara="1" wrap="square" lIns="91425" tIns="91425" rIns="91425" bIns="91425" anchor="b" anchorCtr="0">
            <a:noAutofit/>
          </a:bodyPr>
          <a:lstStyle>
            <a:lvl1pPr lvl="0"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40" name="Google Shape;40;p7"/>
          <p:cNvSpPr>
            <a:spLocks noGrp="1"/>
          </p:cNvSpPr>
          <p:nvPr>
            <p:ph type="pic" idx="2"/>
          </p:nvPr>
        </p:nvSpPr>
        <p:spPr>
          <a:xfrm>
            <a:off x="5381400" y="315550"/>
            <a:ext cx="3762600" cy="45123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p9"/>
          <p:cNvSpPr/>
          <p:nvPr/>
        </p:nvSpPr>
        <p:spPr>
          <a:xfrm>
            <a:off x="0" y="630000"/>
            <a:ext cx="9144000" cy="388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9"/>
          <p:cNvSpPr txBox="1">
            <a:spLocks noGrp="1"/>
          </p:cNvSpPr>
          <p:nvPr>
            <p:ph type="subTitle" idx="1"/>
          </p:nvPr>
        </p:nvSpPr>
        <p:spPr>
          <a:xfrm>
            <a:off x="4155275" y="2444238"/>
            <a:ext cx="4280700" cy="1164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900"/>
              <a:buNone/>
              <a:defRPr sz="1600"/>
            </a:lvl1pPr>
            <a:lvl2pPr lvl="1" algn="ctr" rtl="0">
              <a:lnSpc>
                <a:spcPct val="100000"/>
              </a:lnSpc>
              <a:spcBef>
                <a:spcPts val="1600"/>
              </a:spcBef>
              <a:spcAft>
                <a:spcPts val="0"/>
              </a:spcAft>
              <a:buSzPts val="1900"/>
              <a:buNone/>
              <a:defRPr sz="1900"/>
            </a:lvl2pPr>
            <a:lvl3pPr lvl="2" algn="ctr" rtl="0">
              <a:lnSpc>
                <a:spcPct val="100000"/>
              </a:lnSpc>
              <a:spcBef>
                <a:spcPts val="1600"/>
              </a:spcBef>
              <a:spcAft>
                <a:spcPts val="0"/>
              </a:spcAft>
              <a:buSzPts val="1900"/>
              <a:buNone/>
              <a:defRPr sz="1900"/>
            </a:lvl3pPr>
            <a:lvl4pPr lvl="3" algn="ctr" rtl="0">
              <a:lnSpc>
                <a:spcPct val="100000"/>
              </a:lnSpc>
              <a:spcBef>
                <a:spcPts val="1600"/>
              </a:spcBef>
              <a:spcAft>
                <a:spcPts val="0"/>
              </a:spcAft>
              <a:buSzPts val="1900"/>
              <a:buNone/>
              <a:defRPr sz="1900"/>
            </a:lvl4pPr>
            <a:lvl5pPr lvl="4" algn="ctr" rtl="0">
              <a:lnSpc>
                <a:spcPct val="100000"/>
              </a:lnSpc>
              <a:spcBef>
                <a:spcPts val="1600"/>
              </a:spcBef>
              <a:spcAft>
                <a:spcPts val="0"/>
              </a:spcAft>
              <a:buSzPts val="1900"/>
              <a:buNone/>
              <a:defRPr sz="1900"/>
            </a:lvl5pPr>
            <a:lvl6pPr lvl="5" algn="ctr" rtl="0">
              <a:lnSpc>
                <a:spcPct val="100000"/>
              </a:lnSpc>
              <a:spcBef>
                <a:spcPts val="1600"/>
              </a:spcBef>
              <a:spcAft>
                <a:spcPts val="0"/>
              </a:spcAft>
              <a:buSzPts val="1900"/>
              <a:buNone/>
              <a:defRPr sz="1900"/>
            </a:lvl6pPr>
            <a:lvl7pPr lvl="6" algn="ctr" rtl="0">
              <a:lnSpc>
                <a:spcPct val="100000"/>
              </a:lnSpc>
              <a:spcBef>
                <a:spcPts val="1600"/>
              </a:spcBef>
              <a:spcAft>
                <a:spcPts val="0"/>
              </a:spcAft>
              <a:buSzPts val="1900"/>
              <a:buNone/>
              <a:defRPr sz="1900"/>
            </a:lvl7pPr>
            <a:lvl8pPr lvl="7" algn="ctr" rtl="0">
              <a:lnSpc>
                <a:spcPct val="100000"/>
              </a:lnSpc>
              <a:spcBef>
                <a:spcPts val="1600"/>
              </a:spcBef>
              <a:spcAft>
                <a:spcPts val="0"/>
              </a:spcAft>
              <a:buSzPts val="1900"/>
              <a:buNone/>
              <a:defRPr sz="1900"/>
            </a:lvl8pPr>
            <a:lvl9pPr lvl="8" algn="ctr" rtl="0">
              <a:lnSpc>
                <a:spcPct val="100000"/>
              </a:lnSpc>
              <a:spcBef>
                <a:spcPts val="1600"/>
              </a:spcBef>
              <a:spcAft>
                <a:spcPts val="1600"/>
              </a:spcAft>
              <a:buSzPts val="1900"/>
              <a:buNone/>
              <a:defRPr sz="1900"/>
            </a:lvl9pPr>
          </a:lstStyle>
          <a:p>
            <a:endParaRPr/>
          </a:p>
        </p:txBody>
      </p:sp>
      <p:sp>
        <p:nvSpPr>
          <p:cNvPr id="46" name="Google Shape;46;p9"/>
          <p:cNvSpPr txBox="1">
            <a:spLocks noGrp="1"/>
          </p:cNvSpPr>
          <p:nvPr>
            <p:ph type="title"/>
          </p:nvPr>
        </p:nvSpPr>
        <p:spPr>
          <a:xfrm>
            <a:off x="4155298" y="1605463"/>
            <a:ext cx="4280700" cy="5727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47" name="Google Shape;47;p9"/>
          <p:cNvSpPr>
            <a:spLocks noGrp="1"/>
          </p:cNvSpPr>
          <p:nvPr>
            <p:ph type="pic" idx="2"/>
          </p:nvPr>
        </p:nvSpPr>
        <p:spPr>
          <a:xfrm>
            <a:off x="0" y="627150"/>
            <a:ext cx="3771000" cy="38835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title"/>
          </p:nvPr>
        </p:nvSpPr>
        <p:spPr>
          <a:xfrm>
            <a:off x="3196138" y="3077769"/>
            <a:ext cx="4959600" cy="11541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_1_1">
    <p:spTree>
      <p:nvGrpSpPr>
        <p:cNvPr id="1" name="Shape 54"/>
        <p:cNvGrpSpPr/>
        <p:nvPr/>
      </p:nvGrpSpPr>
      <p:grpSpPr>
        <a:xfrm>
          <a:off x="0" y="0"/>
          <a:ext cx="0" cy="0"/>
          <a:chOff x="0" y="0"/>
          <a:chExt cx="0" cy="0"/>
        </a:xfrm>
      </p:grpSpPr>
      <p:sp>
        <p:nvSpPr>
          <p:cNvPr id="55" name="Google Shape;55;p13"/>
          <p:cNvSpPr/>
          <p:nvPr/>
        </p:nvSpPr>
        <p:spPr>
          <a:xfrm>
            <a:off x="0" y="315550"/>
            <a:ext cx="9144000" cy="451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13"/>
          <p:cNvSpPr/>
          <p:nvPr/>
        </p:nvSpPr>
        <p:spPr>
          <a:xfrm>
            <a:off x="499050" y="94600"/>
            <a:ext cx="441900" cy="441900"/>
          </a:xfrm>
          <a:prstGeom prst="diamond">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3"/>
          <p:cNvSpPr txBox="1">
            <a:spLocks noGrp="1"/>
          </p:cNvSpPr>
          <p:nvPr>
            <p:ph type="title"/>
          </p:nvPr>
        </p:nvSpPr>
        <p:spPr>
          <a:xfrm>
            <a:off x="1741726" y="1522475"/>
            <a:ext cx="2664900" cy="395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58" name="Google Shape;58;p13"/>
          <p:cNvSpPr txBox="1">
            <a:spLocks noGrp="1"/>
          </p:cNvSpPr>
          <p:nvPr>
            <p:ph type="subTitle" idx="1"/>
          </p:nvPr>
        </p:nvSpPr>
        <p:spPr>
          <a:xfrm>
            <a:off x="1741725" y="1765548"/>
            <a:ext cx="2664900" cy="52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9" name="Google Shape;59;p13"/>
          <p:cNvSpPr txBox="1">
            <a:spLocks noGrp="1"/>
          </p:cNvSpPr>
          <p:nvPr>
            <p:ph type="title" idx="2"/>
          </p:nvPr>
        </p:nvSpPr>
        <p:spPr>
          <a:xfrm>
            <a:off x="5595075" y="1522475"/>
            <a:ext cx="2664900" cy="395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60" name="Google Shape;60;p13"/>
          <p:cNvSpPr txBox="1">
            <a:spLocks noGrp="1"/>
          </p:cNvSpPr>
          <p:nvPr>
            <p:ph type="subTitle" idx="3"/>
          </p:nvPr>
        </p:nvSpPr>
        <p:spPr>
          <a:xfrm>
            <a:off x="5595077" y="1765548"/>
            <a:ext cx="2664900" cy="52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1" name="Google Shape;61;p13"/>
          <p:cNvSpPr txBox="1">
            <a:spLocks noGrp="1"/>
          </p:cNvSpPr>
          <p:nvPr>
            <p:ph type="title" idx="4"/>
          </p:nvPr>
        </p:nvSpPr>
        <p:spPr>
          <a:xfrm>
            <a:off x="1741726" y="2555083"/>
            <a:ext cx="2664900" cy="395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62" name="Google Shape;62;p13"/>
          <p:cNvSpPr txBox="1">
            <a:spLocks noGrp="1"/>
          </p:cNvSpPr>
          <p:nvPr>
            <p:ph type="subTitle" idx="5"/>
          </p:nvPr>
        </p:nvSpPr>
        <p:spPr>
          <a:xfrm>
            <a:off x="1741725" y="2798175"/>
            <a:ext cx="2664900" cy="52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3" name="Google Shape;63;p13"/>
          <p:cNvSpPr txBox="1">
            <a:spLocks noGrp="1"/>
          </p:cNvSpPr>
          <p:nvPr>
            <p:ph type="title" idx="6"/>
          </p:nvPr>
        </p:nvSpPr>
        <p:spPr>
          <a:xfrm>
            <a:off x="5595075" y="2555083"/>
            <a:ext cx="2664900" cy="395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64" name="Google Shape;64;p13"/>
          <p:cNvSpPr txBox="1">
            <a:spLocks noGrp="1"/>
          </p:cNvSpPr>
          <p:nvPr>
            <p:ph type="subTitle" idx="7"/>
          </p:nvPr>
        </p:nvSpPr>
        <p:spPr>
          <a:xfrm>
            <a:off x="5595077" y="2798175"/>
            <a:ext cx="2664900" cy="52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65" name="Google Shape;65;p13"/>
          <p:cNvSpPr txBox="1">
            <a:spLocks noGrp="1"/>
          </p:cNvSpPr>
          <p:nvPr>
            <p:ph type="title" idx="8" hasCustomPrompt="1"/>
          </p:nvPr>
        </p:nvSpPr>
        <p:spPr>
          <a:xfrm>
            <a:off x="884025" y="1448300"/>
            <a:ext cx="857700" cy="766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6000"/>
              <a:buNone/>
              <a:defRPr sz="3600" b="1">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6" name="Google Shape;66;p13"/>
          <p:cNvSpPr txBox="1">
            <a:spLocks noGrp="1"/>
          </p:cNvSpPr>
          <p:nvPr>
            <p:ph type="title" idx="9" hasCustomPrompt="1"/>
          </p:nvPr>
        </p:nvSpPr>
        <p:spPr>
          <a:xfrm>
            <a:off x="884025" y="2480900"/>
            <a:ext cx="857700" cy="766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6000"/>
              <a:buNone/>
              <a:defRPr sz="3600" b="1">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7" name="Google Shape;67;p13"/>
          <p:cNvSpPr txBox="1">
            <a:spLocks noGrp="1"/>
          </p:cNvSpPr>
          <p:nvPr>
            <p:ph type="title" idx="13" hasCustomPrompt="1"/>
          </p:nvPr>
        </p:nvSpPr>
        <p:spPr>
          <a:xfrm>
            <a:off x="4734200" y="1448300"/>
            <a:ext cx="857700" cy="766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6000"/>
              <a:buNone/>
              <a:defRPr sz="3600" b="1">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8" name="Google Shape;68;p13"/>
          <p:cNvSpPr txBox="1">
            <a:spLocks noGrp="1"/>
          </p:cNvSpPr>
          <p:nvPr>
            <p:ph type="title" idx="14" hasCustomPrompt="1"/>
          </p:nvPr>
        </p:nvSpPr>
        <p:spPr>
          <a:xfrm>
            <a:off x="4734200" y="2480900"/>
            <a:ext cx="857700" cy="766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6000"/>
              <a:buNone/>
              <a:defRPr sz="3600" b="1">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69" name="Google Shape;69;p13"/>
          <p:cNvSpPr txBox="1">
            <a:spLocks noGrp="1"/>
          </p:cNvSpPr>
          <p:nvPr>
            <p:ph type="title" idx="15"/>
          </p:nvPr>
        </p:nvSpPr>
        <p:spPr>
          <a:xfrm>
            <a:off x="720000" y="5212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200"/>
              <a:buNone/>
              <a:defRPr/>
            </a:lvl2pPr>
            <a:lvl3pPr lvl="2" rtl="0">
              <a:spcBef>
                <a:spcPts val="0"/>
              </a:spcBef>
              <a:spcAft>
                <a:spcPts val="0"/>
              </a:spcAft>
              <a:buSzPts val="3200"/>
              <a:buNone/>
              <a:defRPr/>
            </a:lvl3pPr>
            <a:lvl4pPr lvl="3" rtl="0">
              <a:spcBef>
                <a:spcPts val="0"/>
              </a:spcBef>
              <a:spcAft>
                <a:spcPts val="0"/>
              </a:spcAft>
              <a:buSzPts val="3200"/>
              <a:buNone/>
              <a:defRPr/>
            </a:lvl4pPr>
            <a:lvl5pPr lvl="4" rtl="0">
              <a:spcBef>
                <a:spcPts val="0"/>
              </a:spcBef>
              <a:spcAft>
                <a:spcPts val="0"/>
              </a:spcAft>
              <a:buSzPts val="3200"/>
              <a:buNone/>
              <a:defRPr/>
            </a:lvl5pPr>
            <a:lvl6pPr lvl="5" rtl="0">
              <a:spcBef>
                <a:spcPts val="0"/>
              </a:spcBef>
              <a:spcAft>
                <a:spcPts val="0"/>
              </a:spcAft>
              <a:buSzPts val="3200"/>
              <a:buNone/>
              <a:defRPr/>
            </a:lvl6pPr>
            <a:lvl7pPr lvl="6" rtl="0">
              <a:spcBef>
                <a:spcPts val="0"/>
              </a:spcBef>
              <a:spcAft>
                <a:spcPts val="0"/>
              </a:spcAft>
              <a:buSzPts val="3200"/>
              <a:buNone/>
              <a:defRPr/>
            </a:lvl7pPr>
            <a:lvl8pPr lvl="7" rtl="0">
              <a:spcBef>
                <a:spcPts val="0"/>
              </a:spcBef>
              <a:spcAft>
                <a:spcPts val="0"/>
              </a:spcAft>
              <a:buSzPts val="3200"/>
              <a:buNone/>
              <a:defRPr/>
            </a:lvl8pPr>
            <a:lvl9pPr lvl="8" rtl="0">
              <a:spcBef>
                <a:spcPts val="0"/>
              </a:spcBef>
              <a:spcAft>
                <a:spcPts val="0"/>
              </a:spcAft>
              <a:buSzPts val="3200"/>
              <a:buNone/>
              <a:defRPr/>
            </a:lvl9pPr>
          </a:lstStyle>
          <a:p>
            <a:endParaRPr/>
          </a:p>
        </p:txBody>
      </p:sp>
      <p:sp>
        <p:nvSpPr>
          <p:cNvPr id="70" name="Google Shape;70;p13"/>
          <p:cNvSpPr txBox="1">
            <a:spLocks noGrp="1"/>
          </p:cNvSpPr>
          <p:nvPr>
            <p:ph type="title" idx="16"/>
          </p:nvPr>
        </p:nvSpPr>
        <p:spPr>
          <a:xfrm>
            <a:off x="1741726" y="3587708"/>
            <a:ext cx="2664900" cy="395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71" name="Google Shape;71;p13"/>
          <p:cNvSpPr txBox="1">
            <a:spLocks noGrp="1"/>
          </p:cNvSpPr>
          <p:nvPr>
            <p:ph type="subTitle" idx="17"/>
          </p:nvPr>
        </p:nvSpPr>
        <p:spPr>
          <a:xfrm>
            <a:off x="1741725" y="3830800"/>
            <a:ext cx="2664900" cy="52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2" name="Google Shape;72;p13"/>
          <p:cNvSpPr txBox="1">
            <a:spLocks noGrp="1"/>
          </p:cNvSpPr>
          <p:nvPr>
            <p:ph type="title" idx="18"/>
          </p:nvPr>
        </p:nvSpPr>
        <p:spPr>
          <a:xfrm>
            <a:off x="5595075" y="3587708"/>
            <a:ext cx="2664900" cy="3954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2200"/>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
        <p:nvSpPr>
          <p:cNvPr id="73" name="Google Shape;73;p13"/>
          <p:cNvSpPr txBox="1">
            <a:spLocks noGrp="1"/>
          </p:cNvSpPr>
          <p:nvPr>
            <p:ph type="subTitle" idx="19"/>
          </p:nvPr>
        </p:nvSpPr>
        <p:spPr>
          <a:xfrm>
            <a:off x="5595077" y="3830800"/>
            <a:ext cx="2664900" cy="52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74" name="Google Shape;74;p13"/>
          <p:cNvSpPr txBox="1">
            <a:spLocks noGrp="1"/>
          </p:cNvSpPr>
          <p:nvPr>
            <p:ph type="title" idx="20" hasCustomPrompt="1"/>
          </p:nvPr>
        </p:nvSpPr>
        <p:spPr>
          <a:xfrm>
            <a:off x="884025" y="3513375"/>
            <a:ext cx="857700" cy="766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6000"/>
              <a:buNone/>
              <a:defRPr sz="3600" b="1">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75" name="Google Shape;75;p13"/>
          <p:cNvSpPr txBox="1">
            <a:spLocks noGrp="1"/>
          </p:cNvSpPr>
          <p:nvPr>
            <p:ph type="title" idx="21" hasCustomPrompt="1"/>
          </p:nvPr>
        </p:nvSpPr>
        <p:spPr>
          <a:xfrm>
            <a:off x="4734200" y="3513375"/>
            <a:ext cx="857700" cy="766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SzPts val="6000"/>
              <a:buNone/>
              <a:defRPr sz="3600" b="1">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76"/>
        <p:cNvGrpSpPr/>
        <p:nvPr/>
      </p:nvGrpSpPr>
      <p:grpSpPr>
        <a:xfrm>
          <a:off x="0" y="0"/>
          <a:ext cx="0" cy="0"/>
          <a:chOff x="0" y="0"/>
          <a:chExt cx="0" cy="0"/>
        </a:xfrm>
      </p:grpSpPr>
      <p:sp>
        <p:nvSpPr>
          <p:cNvPr id="77" name="Google Shape;77;p14"/>
          <p:cNvSpPr txBox="1">
            <a:spLocks noGrp="1"/>
          </p:cNvSpPr>
          <p:nvPr>
            <p:ph type="title"/>
          </p:nvPr>
        </p:nvSpPr>
        <p:spPr>
          <a:xfrm>
            <a:off x="3417847" y="3550350"/>
            <a:ext cx="4419000" cy="5319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78" name="Google Shape;78;p14"/>
          <p:cNvSpPr txBox="1">
            <a:spLocks noGrp="1"/>
          </p:cNvSpPr>
          <p:nvPr>
            <p:ph type="subTitle" idx="1"/>
          </p:nvPr>
        </p:nvSpPr>
        <p:spPr>
          <a:xfrm>
            <a:off x="3417847" y="1464950"/>
            <a:ext cx="4419000" cy="1772400"/>
          </a:xfrm>
          <a:prstGeom prst="rect">
            <a:avLst/>
          </a:prstGeom>
          <a:noFill/>
          <a:ln>
            <a:noFill/>
          </a:ln>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2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05"/>
        <p:cNvGrpSpPr/>
        <p:nvPr/>
      </p:nvGrpSpPr>
      <p:grpSpPr>
        <a:xfrm>
          <a:off x="0" y="0"/>
          <a:ext cx="0" cy="0"/>
          <a:chOff x="0" y="0"/>
          <a:chExt cx="0" cy="0"/>
        </a:xfrm>
      </p:grpSpPr>
      <p:sp>
        <p:nvSpPr>
          <p:cNvPr id="206" name="Google Shape;206;p30"/>
          <p:cNvSpPr/>
          <p:nvPr/>
        </p:nvSpPr>
        <p:spPr>
          <a:xfrm>
            <a:off x="0" y="315550"/>
            <a:ext cx="9144000" cy="451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30"/>
          <p:cNvSpPr/>
          <p:nvPr/>
        </p:nvSpPr>
        <p:spPr>
          <a:xfrm>
            <a:off x="8203050" y="94600"/>
            <a:ext cx="441900" cy="441900"/>
          </a:xfrm>
          <a:prstGeom prst="diamond">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08"/>
        <p:cNvGrpSpPr/>
        <p:nvPr/>
      </p:nvGrpSpPr>
      <p:grpSpPr>
        <a:xfrm>
          <a:off x="0" y="0"/>
          <a:ext cx="0" cy="0"/>
          <a:chOff x="0" y="0"/>
          <a:chExt cx="0" cy="0"/>
        </a:xfrm>
      </p:grpSpPr>
      <p:sp>
        <p:nvSpPr>
          <p:cNvPr id="209" name="Google Shape;209;p31"/>
          <p:cNvSpPr/>
          <p:nvPr/>
        </p:nvSpPr>
        <p:spPr>
          <a:xfrm>
            <a:off x="0" y="315550"/>
            <a:ext cx="9144000" cy="4512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1"/>
          <p:cNvSpPr/>
          <p:nvPr/>
        </p:nvSpPr>
        <p:spPr>
          <a:xfrm>
            <a:off x="499050" y="4606900"/>
            <a:ext cx="441900" cy="441900"/>
          </a:xfrm>
          <a:prstGeom prst="diamond">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521225"/>
            <a:ext cx="7704000" cy="564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Maven Pro"/>
              <a:buNone/>
              <a:defRPr sz="3200">
                <a:solidFill>
                  <a:schemeClr val="dk1"/>
                </a:solidFill>
                <a:latin typeface="Maven Pro"/>
                <a:ea typeface="Maven Pro"/>
                <a:cs typeface="Maven Pro"/>
                <a:sym typeface="Maven Pro"/>
              </a:defRPr>
            </a:lvl1pPr>
            <a:lvl2pPr lvl="1" rtl="0">
              <a:spcBef>
                <a:spcPts val="0"/>
              </a:spcBef>
              <a:spcAft>
                <a:spcPts val="0"/>
              </a:spcAft>
              <a:buClr>
                <a:schemeClr val="dk1"/>
              </a:buClr>
              <a:buSzPts val="3200"/>
              <a:buFont typeface="Maven Pro"/>
              <a:buNone/>
              <a:defRPr sz="3200">
                <a:solidFill>
                  <a:schemeClr val="dk1"/>
                </a:solidFill>
                <a:latin typeface="Maven Pro"/>
                <a:ea typeface="Maven Pro"/>
                <a:cs typeface="Maven Pro"/>
                <a:sym typeface="Maven Pro"/>
              </a:defRPr>
            </a:lvl2pPr>
            <a:lvl3pPr lvl="2" rtl="0">
              <a:spcBef>
                <a:spcPts val="0"/>
              </a:spcBef>
              <a:spcAft>
                <a:spcPts val="0"/>
              </a:spcAft>
              <a:buClr>
                <a:schemeClr val="dk1"/>
              </a:buClr>
              <a:buSzPts val="3200"/>
              <a:buFont typeface="Maven Pro"/>
              <a:buNone/>
              <a:defRPr sz="3200">
                <a:solidFill>
                  <a:schemeClr val="dk1"/>
                </a:solidFill>
                <a:latin typeface="Maven Pro"/>
                <a:ea typeface="Maven Pro"/>
                <a:cs typeface="Maven Pro"/>
                <a:sym typeface="Maven Pro"/>
              </a:defRPr>
            </a:lvl3pPr>
            <a:lvl4pPr lvl="3" rtl="0">
              <a:spcBef>
                <a:spcPts val="0"/>
              </a:spcBef>
              <a:spcAft>
                <a:spcPts val="0"/>
              </a:spcAft>
              <a:buClr>
                <a:schemeClr val="dk1"/>
              </a:buClr>
              <a:buSzPts val="3200"/>
              <a:buFont typeface="Maven Pro"/>
              <a:buNone/>
              <a:defRPr sz="3200">
                <a:solidFill>
                  <a:schemeClr val="dk1"/>
                </a:solidFill>
                <a:latin typeface="Maven Pro"/>
                <a:ea typeface="Maven Pro"/>
                <a:cs typeface="Maven Pro"/>
                <a:sym typeface="Maven Pro"/>
              </a:defRPr>
            </a:lvl4pPr>
            <a:lvl5pPr lvl="4" rtl="0">
              <a:spcBef>
                <a:spcPts val="0"/>
              </a:spcBef>
              <a:spcAft>
                <a:spcPts val="0"/>
              </a:spcAft>
              <a:buClr>
                <a:schemeClr val="dk1"/>
              </a:buClr>
              <a:buSzPts val="3200"/>
              <a:buFont typeface="Maven Pro"/>
              <a:buNone/>
              <a:defRPr sz="3200">
                <a:solidFill>
                  <a:schemeClr val="dk1"/>
                </a:solidFill>
                <a:latin typeface="Maven Pro"/>
                <a:ea typeface="Maven Pro"/>
                <a:cs typeface="Maven Pro"/>
                <a:sym typeface="Maven Pro"/>
              </a:defRPr>
            </a:lvl5pPr>
            <a:lvl6pPr lvl="5" rtl="0">
              <a:spcBef>
                <a:spcPts val="0"/>
              </a:spcBef>
              <a:spcAft>
                <a:spcPts val="0"/>
              </a:spcAft>
              <a:buClr>
                <a:schemeClr val="dk1"/>
              </a:buClr>
              <a:buSzPts val="3200"/>
              <a:buFont typeface="Maven Pro"/>
              <a:buNone/>
              <a:defRPr sz="3200">
                <a:solidFill>
                  <a:schemeClr val="dk1"/>
                </a:solidFill>
                <a:latin typeface="Maven Pro"/>
                <a:ea typeface="Maven Pro"/>
                <a:cs typeface="Maven Pro"/>
                <a:sym typeface="Maven Pro"/>
              </a:defRPr>
            </a:lvl6pPr>
            <a:lvl7pPr lvl="6" rtl="0">
              <a:spcBef>
                <a:spcPts val="0"/>
              </a:spcBef>
              <a:spcAft>
                <a:spcPts val="0"/>
              </a:spcAft>
              <a:buClr>
                <a:schemeClr val="dk1"/>
              </a:buClr>
              <a:buSzPts val="3200"/>
              <a:buFont typeface="Maven Pro"/>
              <a:buNone/>
              <a:defRPr sz="3200">
                <a:solidFill>
                  <a:schemeClr val="dk1"/>
                </a:solidFill>
                <a:latin typeface="Maven Pro"/>
                <a:ea typeface="Maven Pro"/>
                <a:cs typeface="Maven Pro"/>
                <a:sym typeface="Maven Pro"/>
              </a:defRPr>
            </a:lvl7pPr>
            <a:lvl8pPr lvl="7" rtl="0">
              <a:spcBef>
                <a:spcPts val="0"/>
              </a:spcBef>
              <a:spcAft>
                <a:spcPts val="0"/>
              </a:spcAft>
              <a:buClr>
                <a:schemeClr val="dk1"/>
              </a:buClr>
              <a:buSzPts val="3200"/>
              <a:buFont typeface="Maven Pro"/>
              <a:buNone/>
              <a:defRPr sz="3200">
                <a:solidFill>
                  <a:schemeClr val="dk1"/>
                </a:solidFill>
                <a:latin typeface="Maven Pro"/>
                <a:ea typeface="Maven Pro"/>
                <a:cs typeface="Maven Pro"/>
                <a:sym typeface="Maven Pro"/>
              </a:defRPr>
            </a:lvl8pPr>
            <a:lvl9pPr lvl="8" rtl="0">
              <a:spcBef>
                <a:spcPts val="0"/>
              </a:spcBef>
              <a:spcAft>
                <a:spcPts val="0"/>
              </a:spcAft>
              <a:buClr>
                <a:schemeClr val="dk1"/>
              </a:buClr>
              <a:buSzPts val="3200"/>
              <a:buFont typeface="Maven Pro"/>
              <a:buNone/>
              <a:defRPr sz="3200">
                <a:solidFill>
                  <a:schemeClr val="dk1"/>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720000" y="1142975"/>
            <a:ext cx="7704000" cy="33705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ssistant"/>
              <a:buChar char="●"/>
              <a:defRPr>
                <a:solidFill>
                  <a:schemeClr val="dk1"/>
                </a:solidFill>
                <a:latin typeface="Assistant"/>
                <a:ea typeface="Assistant"/>
                <a:cs typeface="Assistant"/>
                <a:sym typeface="Assistant"/>
              </a:defRPr>
            </a:lvl1pPr>
            <a:lvl2pPr marL="914400" lvl="1" indent="-317500">
              <a:lnSpc>
                <a:spcPct val="100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2pPr>
            <a:lvl3pPr marL="1371600" lvl="2" indent="-317500">
              <a:lnSpc>
                <a:spcPct val="100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3pPr>
            <a:lvl4pPr marL="1828800" lvl="3" indent="-317500">
              <a:lnSpc>
                <a:spcPct val="100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4pPr>
            <a:lvl5pPr marL="2286000" lvl="4" indent="-317500">
              <a:lnSpc>
                <a:spcPct val="100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5pPr>
            <a:lvl6pPr marL="2743200" lvl="5" indent="-317500">
              <a:lnSpc>
                <a:spcPct val="100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6pPr>
            <a:lvl7pPr marL="3200400" lvl="6" indent="-317500">
              <a:lnSpc>
                <a:spcPct val="100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7pPr>
            <a:lvl8pPr marL="3657600" lvl="7" indent="-317500">
              <a:lnSpc>
                <a:spcPct val="100000"/>
              </a:lnSpc>
              <a:spcBef>
                <a:spcPts val="16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8pPr>
            <a:lvl9pPr marL="4114800" lvl="8" indent="-317500">
              <a:lnSpc>
                <a:spcPct val="100000"/>
              </a:lnSpc>
              <a:spcBef>
                <a:spcPts val="1600"/>
              </a:spcBef>
              <a:spcAft>
                <a:spcPts val="1600"/>
              </a:spcAft>
              <a:buClr>
                <a:schemeClr val="dk1"/>
              </a:buClr>
              <a:buSzPts val="1400"/>
              <a:buFont typeface="Assistant"/>
              <a:buChar char="■"/>
              <a:defRPr>
                <a:solidFill>
                  <a:schemeClr val="dk1"/>
                </a:solidFill>
                <a:latin typeface="Assistant"/>
                <a:ea typeface="Assistant"/>
                <a:cs typeface="Assistant"/>
                <a:sym typeface="Assistan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5" r:id="rId4"/>
    <p:sldLayoutId id="2147483656" r:id="rId5"/>
    <p:sldLayoutId id="2147483658" r:id="rId6"/>
    <p:sldLayoutId id="2147483659" r:id="rId7"/>
    <p:sldLayoutId id="2147483660" r:id="rId8"/>
    <p:sldLayoutId id="2147483676" r:id="rId9"/>
    <p:sldLayoutId id="2147483677"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3.jpg"/><Relationship Id="rId7" Type="http://schemas.microsoft.com/office/2007/relationships/hdphoto" Target="../media/hdphoto1.wdp"/><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2.png"/><Relationship Id="rId5" Type="http://schemas.microsoft.com/office/2007/relationships/hdphoto" Target="../media/hdphoto2.wdp"/><Relationship Id="rId4" Type="http://schemas.openxmlformats.org/officeDocument/2006/relationships/image" Target="../media/image4.png"/><Relationship Id="rId9" Type="http://schemas.microsoft.com/office/2007/relationships/hdphoto" Target="../media/hdphoto3.wdp"/></Relationships>
</file>

<file path=ppt/slides/_rels/slide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4.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2.png"/><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7.jp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8" Type="http://schemas.openxmlformats.org/officeDocument/2006/relationships/hyperlink" Target="https://www.caranddriver.com/research/a32879456/pros-and-cons-electric-cars/" TargetMode="External"/><Relationship Id="rId3" Type="http://schemas.openxmlformats.org/officeDocument/2006/relationships/hyperlink" Target="https://www.energy.gov/eere/electricvehicles/sustainability-electric-vehicles" TargetMode="External"/><Relationship Id="rId7" Type="http://schemas.openxmlformats.org/officeDocument/2006/relationships/hyperlink" Target="https://www.edf.org/transportation/electric-vehicles" TargetMode="Externa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hyperlink" Target="https://www.ucsusa.org/resources/electric-cars-environmental-impact" TargetMode="External"/><Relationship Id="rId5" Type="http://schemas.openxmlformats.org/officeDocument/2006/relationships/hyperlink" Target="https://www.nrel.gov/transportation/electric-vehicles.html" TargetMode="External"/><Relationship Id="rId4" Type="http://schemas.openxmlformats.org/officeDocument/2006/relationships/hyperlink" Target="https://www.iea.org/topics/electric-vehicles"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0.jp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2" name="Google Shape;222;p35"/>
          <p:cNvSpPr/>
          <p:nvPr/>
        </p:nvSpPr>
        <p:spPr>
          <a:xfrm>
            <a:off x="428131" y="668818"/>
            <a:ext cx="731690" cy="756508"/>
          </a:xfrm>
          <a:prstGeom prst="rect">
            <a:avLst/>
          </a:prstGeom>
        </p:spPr>
        <p:txBody>
          <a:bodyPr>
            <a:prstTxWarp prst="textPlain">
              <a:avLst/>
            </a:prstTxWarp>
          </a:bodyPr>
          <a:lstStyle/>
          <a:p>
            <a:pPr lvl="0" algn="ctr"/>
            <a:r>
              <a:rPr b="0" i="0" dirty="0">
                <a:ln>
                  <a:noFill/>
                </a:ln>
                <a:solidFill>
                  <a:schemeClr val="accent1"/>
                </a:solidFill>
                <a:latin typeface="Assistant"/>
              </a:rPr>
              <a:t>“</a:t>
            </a:r>
          </a:p>
        </p:txBody>
      </p:sp>
      <p:sp>
        <p:nvSpPr>
          <p:cNvPr id="223" name="Google Shape;223;p35"/>
          <p:cNvSpPr txBox="1">
            <a:spLocks noGrp="1"/>
          </p:cNvSpPr>
          <p:nvPr>
            <p:ph type="ctrTitle"/>
          </p:nvPr>
        </p:nvSpPr>
        <p:spPr>
          <a:xfrm>
            <a:off x="541035" y="1401982"/>
            <a:ext cx="5228855" cy="189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SUSTAINABILITY OF</a:t>
            </a:r>
            <a:br>
              <a:rPr lang="en" dirty="0"/>
            </a:br>
            <a:r>
              <a:rPr lang="en" b="1" dirty="0">
                <a:solidFill>
                  <a:schemeClr val="lt1"/>
                </a:solidFill>
              </a:rPr>
              <a:t>ELECTRIC CARS</a:t>
            </a:r>
            <a:endParaRPr b="1" dirty="0">
              <a:solidFill>
                <a:schemeClr val="lt1"/>
              </a:solidFill>
            </a:endParaRPr>
          </a:p>
        </p:txBody>
      </p:sp>
      <p:sp>
        <p:nvSpPr>
          <p:cNvPr id="224" name="Google Shape;224;p35"/>
          <p:cNvSpPr txBox="1">
            <a:spLocks noGrp="1"/>
          </p:cNvSpPr>
          <p:nvPr>
            <p:ph type="subTitle" idx="1"/>
          </p:nvPr>
        </p:nvSpPr>
        <p:spPr>
          <a:xfrm>
            <a:off x="541035" y="3559246"/>
            <a:ext cx="43182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Team - C1</a:t>
            </a:r>
            <a:endParaRPr dirty="0"/>
          </a:p>
        </p:txBody>
      </p:sp>
      <p:cxnSp>
        <p:nvCxnSpPr>
          <p:cNvPr id="226" name="Google Shape;226;p35"/>
          <p:cNvCxnSpPr>
            <a:cxnSpLocks/>
          </p:cNvCxnSpPr>
          <p:nvPr/>
        </p:nvCxnSpPr>
        <p:spPr>
          <a:xfrm>
            <a:off x="612921" y="3509565"/>
            <a:ext cx="546900" cy="0"/>
          </a:xfrm>
          <a:prstGeom prst="straightConnector1">
            <a:avLst/>
          </a:prstGeom>
          <a:noFill/>
          <a:ln w="9525" cap="flat" cmpd="sng">
            <a:solidFill>
              <a:schemeClr val="dk1"/>
            </a:solidFill>
            <a:prstDash val="solid"/>
            <a:round/>
            <a:headEnd type="none" w="med" len="med"/>
            <a:tailEnd type="none" w="med" len="med"/>
          </a:ln>
        </p:spPr>
      </p:cxnSp>
      <p:pic>
        <p:nvPicPr>
          <p:cNvPr id="9" name="Picture 8" descr="A white car with a black background&#10;&#10;Description automatically generated with medium confidence">
            <a:extLst>
              <a:ext uri="{FF2B5EF4-FFF2-40B4-BE49-F238E27FC236}">
                <a16:creationId xmlns:a16="http://schemas.microsoft.com/office/drawing/2014/main" id="{74AD73E3-96F5-BA5B-5BF3-0E6A344BAA99}"/>
              </a:ext>
            </a:extLst>
          </p:cNvPr>
          <p:cNvPicPr>
            <a:picLocks noChangeAspect="1"/>
          </p:cNvPicPr>
          <p:nvPr/>
        </p:nvPicPr>
        <p:blipFill>
          <a:blip r:embed="rId3"/>
          <a:stretch>
            <a:fillRect/>
          </a:stretch>
        </p:blipFill>
        <p:spPr>
          <a:xfrm>
            <a:off x="5038200" y="666484"/>
            <a:ext cx="6296904" cy="3810532"/>
          </a:xfrm>
          <a:prstGeom prst="rect">
            <a:avLst/>
          </a:prstGeom>
        </p:spPr>
      </p:pic>
      <p:pic>
        <p:nvPicPr>
          <p:cNvPr id="13" name="Picture 12" descr="Logo, company name&#10;&#10;Description automatically generated">
            <a:extLst>
              <a:ext uri="{FF2B5EF4-FFF2-40B4-BE49-F238E27FC236}">
                <a16:creationId xmlns:a16="http://schemas.microsoft.com/office/drawing/2014/main" id="{A53DBDC2-7AED-384C-293F-ADFE33E15175}"/>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222" b="90000" l="10000" r="90000">
                        <a14:foregroundMark x1="29556" y1="8222" x2="29556" y2="8222"/>
                      </a14:backgroundRemoval>
                    </a14:imgEffect>
                  </a14:imgLayer>
                </a14:imgProps>
              </a:ext>
            </a:extLst>
          </a:blip>
          <a:stretch>
            <a:fillRect/>
          </a:stretch>
        </p:blipFill>
        <p:spPr>
          <a:xfrm>
            <a:off x="29804" y="60597"/>
            <a:ext cx="796653" cy="796653"/>
          </a:xfrm>
          <a:prstGeom prst="rect">
            <a:avLst/>
          </a:prstGeom>
        </p:spPr>
      </p:pic>
      <p:sp>
        <p:nvSpPr>
          <p:cNvPr id="14" name="TextBox 13">
            <a:extLst>
              <a:ext uri="{FF2B5EF4-FFF2-40B4-BE49-F238E27FC236}">
                <a16:creationId xmlns:a16="http://schemas.microsoft.com/office/drawing/2014/main" id="{CAFF2372-EF38-6002-7ACE-AC28AC52AEFA}"/>
              </a:ext>
            </a:extLst>
          </p:cNvPr>
          <p:cNvSpPr txBox="1"/>
          <p:nvPr/>
        </p:nvSpPr>
        <p:spPr>
          <a:xfrm>
            <a:off x="6200775" y="4314765"/>
            <a:ext cx="3028950" cy="523220"/>
          </a:xfrm>
          <a:prstGeom prst="rect">
            <a:avLst/>
          </a:prstGeom>
          <a:noFill/>
        </p:spPr>
        <p:txBody>
          <a:bodyPr wrap="square" rtlCol="0">
            <a:spAutoFit/>
          </a:bodyPr>
          <a:lstStyle/>
          <a:p>
            <a:r>
              <a:rPr lang="en-US" sz="1000" dirty="0">
                <a:solidFill>
                  <a:schemeClr val="accent1">
                    <a:lumMod val="75000"/>
                  </a:schemeClr>
                </a:solidFill>
                <a:latin typeface="+mj-lt"/>
              </a:rPr>
              <a:t>Figure 1 - </a:t>
            </a:r>
            <a:r>
              <a:rPr lang="en-GB" sz="1000" i="0" dirty="0">
                <a:solidFill>
                  <a:schemeClr val="accent1">
                    <a:lumMod val="75000"/>
                  </a:schemeClr>
                </a:solidFill>
                <a:effectLst/>
                <a:latin typeface="+mj-lt"/>
              </a:rPr>
              <a:t>Tesla Model S Car </a:t>
            </a:r>
          </a:p>
          <a:p>
            <a:r>
              <a:rPr lang="en-GB" sz="800" i="0" dirty="0">
                <a:solidFill>
                  <a:schemeClr val="accent1">
                    <a:lumMod val="75000"/>
                  </a:schemeClr>
                </a:solidFill>
                <a:effectLst/>
                <a:latin typeface="+mj-lt"/>
              </a:rPr>
              <a:t>http://clipart-library.com/clip-art/car-transparent-png-22.htm</a:t>
            </a:r>
          </a:p>
          <a:p>
            <a:endParaRPr lang="en-GB" sz="10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2" name="Google Shape;222;p35"/>
          <p:cNvSpPr/>
          <p:nvPr/>
        </p:nvSpPr>
        <p:spPr>
          <a:xfrm>
            <a:off x="614046" y="1313195"/>
            <a:ext cx="858375" cy="758075"/>
          </a:xfrm>
          <a:prstGeom prst="rect">
            <a:avLst/>
          </a:prstGeom>
        </p:spPr>
        <p:txBody>
          <a:bodyPr>
            <a:prstTxWarp prst="textPlain">
              <a:avLst/>
            </a:prstTxWarp>
          </a:bodyPr>
          <a:lstStyle/>
          <a:p>
            <a:pPr lvl="0" algn="ctr"/>
            <a:r>
              <a:rPr b="0" i="0" dirty="0">
                <a:ln>
                  <a:noFill/>
                </a:ln>
                <a:solidFill>
                  <a:schemeClr val="accent1"/>
                </a:solidFill>
                <a:latin typeface="Assistant"/>
              </a:rPr>
              <a:t>“</a:t>
            </a:r>
          </a:p>
        </p:txBody>
      </p:sp>
      <p:pic>
        <p:nvPicPr>
          <p:cNvPr id="9" name="Picture 8" descr="A white car with a black background&#10;&#10;Description automatically generated with medium confidence">
            <a:extLst>
              <a:ext uri="{FF2B5EF4-FFF2-40B4-BE49-F238E27FC236}">
                <a16:creationId xmlns:a16="http://schemas.microsoft.com/office/drawing/2014/main" id="{74AD73E3-96F5-BA5B-5BF3-0E6A344BAA99}"/>
              </a:ext>
            </a:extLst>
          </p:cNvPr>
          <p:cNvPicPr>
            <a:picLocks noChangeAspect="1"/>
          </p:cNvPicPr>
          <p:nvPr/>
        </p:nvPicPr>
        <p:blipFill>
          <a:blip r:embed="rId3"/>
          <a:stretch>
            <a:fillRect/>
          </a:stretch>
        </p:blipFill>
        <p:spPr>
          <a:xfrm>
            <a:off x="-2007453" y="761501"/>
            <a:ext cx="6296904" cy="3810532"/>
          </a:xfrm>
          <a:prstGeom prst="rect">
            <a:avLst/>
          </a:prstGeom>
        </p:spPr>
      </p:pic>
      <p:sp>
        <p:nvSpPr>
          <p:cNvPr id="3" name="Title 2">
            <a:extLst>
              <a:ext uri="{FF2B5EF4-FFF2-40B4-BE49-F238E27FC236}">
                <a16:creationId xmlns:a16="http://schemas.microsoft.com/office/drawing/2014/main" id="{29403499-48B5-4CC1-EA2D-663A2C4165BC}"/>
              </a:ext>
            </a:extLst>
          </p:cNvPr>
          <p:cNvSpPr>
            <a:spLocks noGrp="1"/>
          </p:cNvSpPr>
          <p:nvPr>
            <p:ph type="ctrTitle"/>
          </p:nvPr>
        </p:nvSpPr>
        <p:spPr/>
        <p:txBody>
          <a:bodyPr/>
          <a:lstStyle/>
          <a:p>
            <a:endParaRPr lang="en-GB" dirty="0"/>
          </a:p>
        </p:txBody>
      </p:sp>
      <p:sp>
        <p:nvSpPr>
          <p:cNvPr id="4" name="Google Shape;223;p35">
            <a:extLst>
              <a:ext uri="{FF2B5EF4-FFF2-40B4-BE49-F238E27FC236}">
                <a16:creationId xmlns:a16="http://schemas.microsoft.com/office/drawing/2014/main" id="{06BB029F-E4C7-880A-C7D1-448695E7ED80}"/>
              </a:ext>
            </a:extLst>
          </p:cNvPr>
          <p:cNvSpPr txBox="1">
            <a:spLocks/>
          </p:cNvSpPr>
          <p:nvPr/>
        </p:nvSpPr>
        <p:spPr>
          <a:xfrm>
            <a:off x="2079548" y="20159"/>
            <a:ext cx="5368702" cy="66968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5200"/>
              <a:buFont typeface="Maven Pro"/>
              <a:buNone/>
              <a:defRPr sz="4400" b="0" i="0" u="none" strike="noStrike" cap="none">
                <a:solidFill>
                  <a:schemeClr val="dk1"/>
                </a:solidFill>
                <a:latin typeface="Maven Pro"/>
                <a:ea typeface="Maven Pro"/>
                <a:cs typeface="Maven Pro"/>
                <a:sym typeface="Maven Pro"/>
              </a:defRPr>
            </a:lvl1pPr>
            <a:lvl2pPr marR="0" lvl="1" algn="ctr" rtl="0">
              <a:lnSpc>
                <a:spcPct val="100000"/>
              </a:lnSpc>
              <a:spcBef>
                <a:spcPts val="0"/>
              </a:spcBef>
              <a:spcAft>
                <a:spcPts val="0"/>
              </a:spcAft>
              <a:buClr>
                <a:schemeClr val="dk1"/>
              </a:buClr>
              <a:buSzPts val="5200"/>
              <a:buFont typeface="Maven Pro"/>
              <a:buNone/>
              <a:defRPr sz="5200" b="0" i="0" u="none" strike="noStrike" cap="none">
                <a:solidFill>
                  <a:schemeClr val="dk1"/>
                </a:solidFill>
                <a:latin typeface="Maven Pro"/>
                <a:ea typeface="Maven Pro"/>
                <a:cs typeface="Maven Pro"/>
                <a:sym typeface="Maven Pro"/>
              </a:defRPr>
            </a:lvl2pPr>
            <a:lvl3pPr marR="0" lvl="2" algn="ctr" rtl="0">
              <a:lnSpc>
                <a:spcPct val="100000"/>
              </a:lnSpc>
              <a:spcBef>
                <a:spcPts val="0"/>
              </a:spcBef>
              <a:spcAft>
                <a:spcPts val="0"/>
              </a:spcAft>
              <a:buClr>
                <a:schemeClr val="dk1"/>
              </a:buClr>
              <a:buSzPts val="5200"/>
              <a:buFont typeface="Maven Pro"/>
              <a:buNone/>
              <a:defRPr sz="5200" b="0" i="0" u="none" strike="noStrike" cap="none">
                <a:solidFill>
                  <a:schemeClr val="dk1"/>
                </a:solidFill>
                <a:latin typeface="Maven Pro"/>
                <a:ea typeface="Maven Pro"/>
                <a:cs typeface="Maven Pro"/>
                <a:sym typeface="Maven Pro"/>
              </a:defRPr>
            </a:lvl3pPr>
            <a:lvl4pPr marR="0" lvl="3" algn="ctr" rtl="0">
              <a:lnSpc>
                <a:spcPct val="100000"/>
              </a:lnSpc>
              <a:spcBef>
                <a:spcPts val="0"/>
              </a:spcBef>
              <a:spcAft>
                <a:spcPts val="0"/>
              </a:spcAft>
              <a:buClr>
                <a:schemeClr val="dk1"/>
              </a:buClr>
              <a:buSzPts val="5200"/>
              <a:buFont typeface="Maven Pro"/>
              <a:buNone/>
              <a:defRPr sz="5200" b="0" i="0" u="none" strike="noStrike" cap="none">
                <a:solidFill>
                  <a:schemeClr val="dk1"/>
                </a:solidFill>
                <a:latin typeface="Maven Pro"/>
                <a:ea typeface="Maven Pro"/>
                <a:cs typeface="Maven Pro"/>
                <a:sym typeface="Maven Pro"/>
              </a:defRPr>
            </a:lvl4pPr>
            <a:lvl5pPr marR="0" lvl="4" algn="ctr" rtl="0">
              <a:lnSpc>
                <a:spcPct val="100000"/>
              </a:lnSpc>
              <a:spcBef>
                <a:spcPts val="0"/>
              </a:spcBef>
              <a:spcAft>
                <a:spcPts val="0"/>
              </a:spcAft>
              <a:buClr>
                <a:schemeClr val="dk1"/>
              </a:buClr>
              <a:buSzPts val="5200"/>
              <a:buFont typeface="Maven Pro"/>
              <a:buNone/>
              <a:defRPr sz="5200" b="0" i="0" u="none" strike="noStrike" cap="none">
                <a:solidFill>
                  <a:schemeClr val="dk1"/>
                </a:solidFill>
                <a:latin typeface="Maven Pro"/>
                <a:ea typeface="Maven Pro"/>
                <a:cs typeface="Maven Pro"/>
                <a:sym typeface="Maven Pro"/>
              </a:defRPr>
            </a:lvl5pPr>
            <a:lvl6pPr marR="0" lvl="5" algn="ctr" rtl="0">
              <a:lnSpc>
                <a:spcPct val="100000"/>
              </a:lnSpc>
              <a:spcBef>
                <a:spcPts val="0"/>
              </a:spcBef>
              <a:spcAft>
                <a:spcPts val="0"/>
              </a:spcAft>
              <a:buClr>
                <a:schemeClr val="dk1"/>
              </a:buClr>
              <a:buSzPts val="5200"/>
              <a:buFont typeface="Maven Pro"/>
              <a:buNone/>
              <a:defRPr sz="5200" b="0" i="0" u="none" strike="noStrike" cap="none">
                <a:solidFill>
                  <a:schemeClr val="dk1"/>
                </a:solidFill>
                <a:latin typeface="Maven Pro"/>
                <a:ea typeface="Maven Pro"/>
                <a:cs typeface="Maven Pro"/>
                <a:sym typeface="Maven Pro"/>
              </a:defRPr>
            </a:lvl6pPr>
            <a:lvl7pPr marR="0" lvl="6" algn="ctr" rtl="0">
              <a:lnSpc>
                <a:spcPct val="100000"/>
              </a:lnSpc>
              <a:spcBef>
                <a:spcPts val="0"/>
              </a:spcBef>
              <a:spcAft>
                <a:spcPts val="0"/>
              </a:spcAft>
              <a:buClr>
                <a:schemeClr val="dk1"/>
              </a:buClr>
              <a:buSzPts val="5200"/>
              <a:buFont typeface="Maven Pro"/>
              <a:buNone/>
              <a:defRPr sz="5200" b="0" i="0" u="none" strike="noStrike" cap="none">
                <a:solidFill>
                  <a:schemeClr val="dk1"/>
                </a:solidFill>
                <a:latin typeface="Maven Pro"/>
                <a:ea typeface="Maven Pro"/>
                <a:cs typeface="Maven Pro"/>
                <a:sym typeface="Maven Pro"/>
              </a:defRPr>
            </a:lvl7pPr>
            <a:lvl8pPr marR="0" lvl="7" algn="ctr" rtl="0">
              <a:lnSpc>
                <a:spcPct val="100000"/>
              </a:lnSpc>
              <a:spcBef>
                <a:spcPts val="0"/>
              </a:spcBef>
              <a:spcAft>
                <a:spcPts val="0"/>
              </a:spcAft>
              <a:buClr>
                <a:schemeClr val="dk1"/>
              </a:buClr>
              <a:buSzPts val="5200"/>
              <a:buFont typeface="Maven Pro"/>
              <a:buNone/>
              <a:defRPr sz="5200" b="0" i="0" u="none" strike="noStrike" cap="none">
                <a:solidFill>
                  <a:schemeClr val="dk1"/>
                </a:solidFill>
                <a:latin typeface="Maven Pro"/>
                <a:ea typeface="Maven Pro"/>
                <a:cs typeface="Maven Pro"/>
                <a:sym typeface="Maven Pro"/>
              </a:defRPr>
            </a:lvl8pPr>
            <a:lvl9pPr marR="0" lvl="8" algn="ctr" rtl="0">
              <a:lnSpc>
                <a:spcPct val="100000"/>
              </a:lnSpc>
              <a:spcBef>
                <a:spcPts val="0"/>
              </a:spcBef>
              <a:spcAft>
                <a:spcPts val="0"/>
              </a:spcAft>
              <a:buClr>
                <a:schemeClr val="dk1"/>
              </a:buClr>
              <a:buSzPts val="5200"/>
              <a:buFont typeface="Maven Pro"/>
              <a:buNone/>
              <a:defRPr sz="5200" b="0" i="0" u="none" strike="noStrike" cap="none">
                <a:solidFill>
                  <a:schemeClr val="dk1"/>
                </a:solidFill>
                <a:latin typeface="Maven Pro"/>
                <a:ea typeface="Maven Pro"/>
                <a:cs typeface="Maven Pro"/>
                <a:sym typeface="Maven Pro"/>
              </a:defRPr>
            </a:lvl9pPr>
          </a:lstStyle>
          <a:p>
            <a:pPr algn="ctr"/>
            <a:r>
              <a:rPr lang="en-US" sz="4000" b="1" dirty="0">
                <a:solidFill>
                  <a:schemeClr val="bg1"/>
                </a:solidFill>
              </a:rPr>
              <a:t>TEAM MEMBERS</a:t>
            </a:r>
            <a:br>
              <a:rPr lang="en-US" sz="4000" dirty="0"/>
            </a:br>
            <a:br>
              <a:rPr lang="en-US" sz="4000" dirty="0"/>
            </a:br>
            <a:endParaRPr lang="en-US" sz="4000" b="1" dirty="0">
              <a:solidFill>
                <a:schemeClr val="lt1"/>
              </a:solidFill>
            </a:endParaRPr>
          </a:p>
        </p:txBody>
      </p:sp>
      <p:sp>
        <p:nvSpPr>
          <p:cNvPr id="6" name="Subtitle 5">
            <a:extLst>
              <a:ext uri="{FF2B5EF4-FFF2-40B4-BE49-F238E27FC236}">
                <a16:creationId xmlns:a16="http://schemas.microsoft.com/office/drawing/2014/main" id="{DD9F63D3-6671-617D-6CB9-2C169F9A7E96}"/>
              </a:ext>
            </a:extLst>
          </p:cNvPr>
          <p:cNvSpPr>
            <a:spLocks noGrp="1"/>
          </p:cNvSpPr>
          <p:nvPr>
            <p:ph type="subTitle" idx="1"/>
          </p:nvPr>
        </p:nvSpPr>
        <p:spPr/>
        <p:txBody>
          <a:bodyPr/>
          <a:lstStyle/>
          <a:p>
            <a:endParaRPr lang="en-GB" dirty="0"/>
          </a:p>
        </p:txBody>
      </p:sp>
      <p:sp>
        <p:nvSpPr>
          <p:cNvPr id="7" name="Google Shape;460;p27">
            <a:extLst>
              <a:ext uri="{FF2B5EF4-FFF2-40B4-BE49-F238E27FC236}">
                <a16:creationId xmlns:a16="http://schemas.microsoft.com/office/drawing/2014/main" id="{52E42E0B-F8EA-4DCC-13A4-608B71E650E5}"/>
              </a:ext>
            </a:extLst>
          </p:cNvPr>
          <p:cNvSpPr/>
          <p:nvPr/>
        </p:nvSpPr>
        <p:spPr>
          <a:xfrm rot="17010231">
            <a:off x="6217462" y="954513"/>
            <a:ext cx="6287490" cy="5749375"/>
          </a:xfrm>
          <a:prstGeom prst="arc">
            <a:avLst>
              <a:gd name="adj1" fmla="val 11367165"/>
              <a:gd name="adj2" fmla="val 21002346"/>
            </a:avLst>
          </a:prstGeom>
          <a:noFill/>
          <a:ln w="28575" cap="flat" cmpd="sng">
            <a:solidFill>
              <a:srgbClr val="595959"/>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rgbClr val="000000"/>
              </a:solidFill>
              <a:latin typeface="Arial"/>
              <a:ea typeface="Arial"/>
              <a:cs typeface="Arial"/>
              <a:sym typeface="Arial"/>
            </a:endParaRPr>
          </a:p>
        </p:txBody>
      </p:sp>
      <p:grpSp>
        <p:nvGrpSpPr>
          <p:cNvPr id="12" name="Google Shape;465;p27">
            <a:extLst>
              <a:ext uri="{FF2B5EF4-FFF2-40B4-BE49-F238E27FC236}">
                <a16:creationId xmlns:a16="http://schemas.microsoft.com/office/drawing/2014/main" id="{C661B890-150A-C24B-BC75-242B31B96EEF}"/>
              </a:ext>
            </a:extLst>
          </p:cNvPr>
          <p:cNvGrpSpPr/>
          <p:nvPr/>
        </p:nvGrpSpPr>
        <p:grpSpPr>
          <a:xfrm>
            <a:off x="7932953" y="601496"/>
            <a:ext cx="779973" cy="711699"/>
            <a:chOff x="3324179" y="4090416"/>
            <a:chExt cx="1278621" cy="1278621"/>
          </a:xfrm>
        </p:grpSpPr>
        <p:sp>
          <p:nvSpPr>
            <p:cNvPr id="13" name="Google Shape;466;p27">
              <a:extLst>
                <a:ext uri="{FF2B5EF4-FFF2-40B4-BE49-F238E27FC236}">
                  <a16:creationId xmlns:a16="http://schemas.microsoft.com/office/drawing/2014/main" id="{64C9AF9C-0EDE-1F5E-6FF6-8550628035C1}"/>
                </a:ext>
              </a:extLst>
            </p:cNvPr>
            <p:cNvSpPr/>
            <p:nvPr/>
          </p:nvSpPr>
          <p:spPr>
            <a:xfrm>
              <a:off x="3324179" y="4090416"/>
              <a:ext cx="1278621" cy="1278621"/>
            </a:xfrm>
            <a:prstGeom prst="ellipse">
              <a:avLst/>
            </a:prstGeom>
            <a:solidFill>
              <a:srgbClr val="2531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dirty="0">
                <a:solidFill>
                  <a:srgbClr val="FFFFFF"/>
                </a:solidFill>
                <a:latin typeface="Arial"/>
                <a:ea typeface="Arial"/>
                <a:cs typeface="Arial"/>
                <a:sym typeface="Arial"/>
              </a:endParaRPr>
            </a:p>
          </p:txBody>
        </p:sp>
        <p:sp>
          <p:nvSpPr>
            <p:cNvPr id="14" name="Google Shape;467;p27">
              <a:extLst>
                <a:ext uri="{FF2B5EF4-FFF2-40B4-BE49-F238E27FC236}">
                  <a16:creationId xmlns:a16="http://schemas.microsoft.com/office/drawing/2014/main" id="{6BEA2330-4AD4-10B6-7880-5A4D3DF94E34}"/>
                </a:ext>
              </a:extLst>
            </p:cNvPr>
            <p:cNvSpPr/>
            <p:nvPr/>
          </p:nvSpPr>
          <p:spPr>
            <a:xfrm>
              <a:off x="3556292" y="4342353"/>
              <a:ext cx="796979" cy="67139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solidFill>
                    <a:schemeClr val="accent6"/>
                  </a:solidFill>
                  <a:latin typeface="Arial"/>
                  <a:ea typeface="Arial"/>
                  <a:cs typeface="Arial"/>
                  <a:sym typeface="Arial"/>
                </a:rPr>
                <a:t>01</a:t>
              </a:r>
              <a:endParaRPr sz="2000" dirty="0">
                <a:solidFill>
                  <a:schemeClr val="accent6"/>
                </a:solidFill>
                <a:latin typeface="Arial"/>
                <a:ea typeface="Arial"/>
                <a:cs typeface="Arial"/>
                <a:sym typeface="Arial"/>
              </a:endParaRPr>
            </a:p>
          </p:txBody>
        </p:sp>
      </p:grpSp>
      <p:sp>
        <p:nvSpPr>
          <p:cNvPr id="21" name="Google Shape;474;p27">
            <a:extLst>
              <a:ext uri="{FF2B5EF4-FFF2-40B4-BE49-F238E27FC236}">
                <a16:creationId xmlns:a16="http://schemas.microsoft.com/office/drawing/2014/main" id="{C326E998-2C56-35BA-A139-EC9B62F148FB}"/>
              </a:ext>
            </a:extLst>
          </p:cNvPr>
          <p:cNvSpPr/>
          <p:nvPr/>
        </p:nvSpPr>
        <p:spPr>
          <a:xfrm>
            <a:off x="6125061" y="628140"/>
            <a:ext cx="2105235" cy="66641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62626"/>
              </a:buClr>
              <a:buSzPts val="2000"/>
              <a:buFont typeface="Arial"/>
              <a:buNone/>
            </a:pPr>
            <a:r>
              <a:rPr lang="en-US" sz="1600" dirty="0">
                <a:solidFill>
                  <a:srgbClr val="262626"/>
                </a:solidFill>
                <a:latin typeface="Arial"/>
                <a:cs typeface="Arial"/>
                <a:sym typeface="Arial"/>
              </a:rPr>
              <a:t>Saad Mazhar</a:t>
            </a:r>
            <a:endParaRPr sz="1600" dirty="0"/>
          </a:p>
          <a:p>
            <a:pPr marL="0" marR="0" lvl="0" indent="0" algn="ctr" rtl="0">
              <a:spcBef>
                <a:spcPts val="240"/>
              </a:spcBef>
              <a:spcAft>
                <a:spcPts val="0"/>
              </a:spcAft>
              <a:buClr>
                <a:srgbClr val="262626"/>
              </a:buClr>
              <a:buSzPts val="1200"/>
              <a:buFont typeface="Arial"/>
              <a:buNone/>
            </a:pPr>
            <a:r>
              <a:rPr lang="en-US" sz="1200" dirty="0">
                <a:solidFill>
                  <a:srgbClr val="262626"/>
                </a:solidFill>
                <a:latin typeface="Arial"/>
                <a:ea typeface="Arial"/>
                <a:cs typeface="Arial"/>
                <a:sym typeface="Arial"/>
              </a:rPr>
              <a:t>20221804</a:t>
            </a:r>
            <a:endParaRPr sz="1200" dirty="0"/>
          </a:p>
        </p:txBody>
      </p:sp>
      <p:sp>
        <p:nvSpPr>
          <p:cNvPr id="28" name="Google Shape;474;p27">
            <a:extLst>
              <a:ext uri="{FF2B5EF4-FFF2-40B4-BE49-F238E27FC236}">
                <a16:creationId xmlns:a16="http://schemas.microsoft.com/office/drawing/2014/main" id="{4AC8D54A-6B41-39E4-8733-7D2CD8BDDCE3}"/>
              </a:ext>
            </a:extLst>
          </p:cNvPr>
          <p:cNvSpPr/>
          <p:nvPr/>
        </p:nvSpPr>
        <p:spPr>
          <a:xfrm>
            <a:off x="5334365" y="1190247"/>
            <a:ext cx="2105235" cy="66641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62626"/>
              </a:buClr>
              <a:buSzPts val="2000"/>
              <a:buFont typeface="Arial"/>
              <a:buNone/>
            </a:pPr>
            <a:r>
              <a:rPr lang="en-US" sz="1600" dirty="0" err="1">
                <a:solidFill>
                  <a:srgbClr val="262626"/>
                </a:solidFill>
                <a:latin typeface="Arial"/>
                <a:cs typeface="Arial"/>
                <a:sym typeface="Arial"/>
              </a:rPr>
              <a:t>Dilina</a:t>
            </a:r>
            <a:r>
              <a:rPr lang="en-US" sz="1600" dirty="0">
                <a:solidFill>
                  <a:srgbClr val="262626"/>
                </a:solidFill>
                <a:latin typeface="Arial"/>
                <a:cs typeface="Arial"/>
                <a:sym typeface="Arial"/>
              </a:rPr>
              <a:t> Perera</a:t>
            </a:r>
            <a:endParaRPr sz="1600" dirty="0"/>
          </a:p>
          <a:p>
            <a:pPr marL="0" marR="0" lvl="0" indent="0" algn="ctr" rtl="0">
              <a:spcBef>
                <a:spcPts val="240"/>
              </a:spcBef>
              <a:spcAft>
                <a:spcPts val="0"/>
              </a:spcAft>
              <a:buClr>
                <a:srgbClr val="262626"/>
              </a:buClr>
              <a:buSzPts val="1200"/>
              <a:buFont typeface="Arial"/>
              <a:buNone/>
            </a:pPr>
            <a:r>
              <a:rPr lang="en-US" sz="1200" dirty="0">
                <a:solidFill>
                  <a:srgbClr val="262626"/>
                </a:solidFill>
                <a:latin typeface="Arial"/>
                <a:ea typeface="Arial"/>
                <a:cs typeface="Arial"/>
                <a:sym typeface="Arial"/>
              </a:rPr>
              <a:t>20221803</a:t>
            </a:r>
            <a:endParaRPr sz="1200" dirty="0"/>
          </a:p>
        </p:txBody>
      </p:sp>
      <p:sp>
        <p:nvSpPr>
          <p:cNvPr id="29" name="Google Shape;474;p27">
            <a:extLst>
              <a:ext uri="{FF2B5EF4-FFF2-40B4-BE49-F238E27FC236}">
                <a16:creationId xmlns:a16="http://schemas.microsoft.com/office/drawing/2014/main" id="{9BBCD81A-5CE6-25F3-5B4B-1901538CF084}"/>
              </a:ext>
            </a:extLst>
          </p:cNvPr>
          <p:cNvSpPr/>
          <p:nvPr/>
        </p:nvSpPr>
        <p:spPr>
          <a:xfrm>
            <a:off x="3697270" y="4463163"/>
            <a:ext cx="2626790" cy="64389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62626"/>
              </a:buClr>
              <a:buSzPts val="2000"/>
              <a:buFont typeface="Arial"/>
              <a:buNone/>
            </a:pPr>
            <a:r>
              <a:rPr lang="en-US" sz="1600" dirty="0">
                <a:solidFill>
                  <a:srgbClr val="262626"/>
                </a:solidFill>
                <a:sym typeface="Arial"/>
              </a:rPr>
              <a:t>Aakash Sathiyanathan</a:t>
            </a:r>
            <a:endParaRPr sz="1600" dirty="0"/>
          </a:p>
          <a:p>
            <a:pPr marL="0" marR="0" lvl="0" indent="0" algn="ctr" rtl="0">
              <a:spcBef>
                <a:spcPts val="240"/>
              </a:spcBef>
              <a:spcAft>
                <a:spcPts val="0"/>
              </a:spcAft>
              <a:buClr>
                <a:srgbClr val="262626"/>
              </a:buClr>
              <a:buSzPts val="1200"/>
              <a:buFont typeface="Arial"/>
              <a:buNone/>
            </a:pPr>
            <a:r>
              <a:rPr lang="en-US" sz="1200" dirty="0">
                <a:solidFill>
                  <a:srgbClr val="262626"/>
                </a:solidFill>
                <a:latin typeface="Arial"/>
                <a:ea typeface="Arial"/>
                <a:cs typeface="Arial"/>
                <a:sym typeface="Arial"/>
              </a:rPr>
              <a:t>20222330</a:t>
            </a:r>
            <a:endParaRPr sz="1200" dirty="0"/>
          </a:p>
        </p:txBody>
      </p:sp>
      <p:sp>
        <p:nvSpPr>
          <p:cNvPr id="30" name="Google Shape;474;p27">
            <a:extLst>
              <a:ext uri="{FF2B5EF4-FFF2-40B4-BE49-F238E27FC236}">
                <a16:creationId xmlns:a16="http://schemas.microsoft.com/office/drawing/2014/main" id="{E72A97DF-0B07-4EA0-04C3-9B0D76F9EBD4}"/>
              </a:ext>
            </a:extLst>
          </p:cNvPr>
          <p:cNvSpPr/>
          <p:nvPr/>
        </p:nvSpPr>
        <p:spPr>
          <a:xfrm>
            <a:off x="3699864" y="2661518"/>
            <a:ext cx="2973590" cy="66641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62626"/>
              </a:buClr>
              <a:buSzPts val="2000"/>
              <a:buFont typeface="Arial"/>
              <a:buNone/>
            </a:pPr>
            <a:r>
              <a:rPr lang="en-US" sz="1600" dirty="0">
                <a:solidFill>
                  <a:srgbClr val="262626"/>
                </a:solidFill>
                <a:latin typeface="Arial"/>
                <a:cs typeface="Arial"/>
                <a:sym typeface="Arial"/>
              </a:rPr>
              <a:t>Chadithya Dinuwan</a:t>
            </a:r>
            <a:endParaRPr sz="1600" dirty="0"/>
          </a:p>
          <a:p>
            <a:pPr marL="0" marR="0" lvl="0" indent="0" algn="ctr" rtl="0">
              <a:spcBef>
                <a:spcPts val="240"/>
              </a:spcBef>
              <a:spcAft>
                <a:spcPts val="0"/>
              </a:spcAft>
              <a:buClr>
                <a:srgbClr val="262626"/>
              </a:buClr>
              <a:buSzPts val="1200"/>
              <a:buFont typeface="Arial"/>
              <a:buNone/>
            </a:pPr>
            <a:r>
              <a:rPr lang="en-US" sz="1200" dirty="0">
                <a:solidFill>
                  <a:srgbClr val="262626"/>
                </a:solidFill>
                <a:latin typeface="Arial"/>
                <a:ea typeface="Arial"/>
                <a:cs typeface="Arial"/>
                <a:sym typeface="Arial"/>
              </a:rPr>
              <a:t>20221798</a:t>
            </a:r>
            <a:endParaRPr sz="1200" dirty="0"/>
          </a:p>
        </p:txBody>
      </p:sp>
      <p:sp>
        <p:nvSpPr>
          <p:cNvPr id="31" name="Google Shape;474;p27">
            <a:extLst>
              <a:ext uri="{FF2B5EF4-FFF2-40B4-BE49-F238E27FC236}">
                <a16:creationId xmlns:a16="http://schemas.microsoft.com/office/drawing/2014/main" id="{7630D314-4A9C-F88B-23EB-011408503C94}"/>
              </a:ext>
            </a:extLst>
          </p:cNvPr>
          <p:cNvSpPr/>
          <p:nvPr/>
        </p:nvSpPr>
        <p:spPr>
          <a:xfrm>
            <a:off x="4235905" y="1882628"/>
            <a:ext cx="2570428" cy="66641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62626"/>
              </a:buClr>
              <a:buSzPts val="2000"/>
              <a:buFont typeface="Arial"/>
              <a:buNone/>
            </a:pPr>
            <a:r>
              <a:rPr lang="en-US" sz="1600" dirty="0">
                <a:solidFill>
                  <a:srgbClr val="262626"/>
                </a:solidFill>
                <a:latin typeface="Arial"/>
                <a:cs typeface="Arial"/>
                <a:sym typeface="Arial"/>
              </a:rPr>
              <a:t>Mohammed Alfar</a:t>
            </a:r>
            <a:endParaRPr sz="1600" dirty="0"/>
          </a:p>
          <a:p>
            <a:pPr marL="0" marR="0" lvl="0" indent="0" algn="ctr" rtl="0">
              <a:spcBef>
                <a:spcPts val="240"/>
              </a:spcBef>
              <a:spcAft>
                <a:spcPts val="0"/>
              </a:spcAft>
              <a:buClr>
                <a:srgbClr val="262626"/>
              </a:buClr>
              <a:buSzPts val="1200"/>
              <a:buFont typeface="Arial"/>
              <a:buNone/>
            </a:pPr>
            <a:r>
              <a:rPr lang="en-US" sz="1200" dirty="0">
                <a:solidFill>
                  <a:srgbClr val="262626"/>
                </a:solidFill>
                <a:latin typeface="Arial"/>
                <a:ea typeface="Arial"/>
                <a:cs typeface="Arial"/>
                <a:sym typeface="Arial"/>
              </a:rPr>
              <a:t>20221802</a:t>
            </a:r>
            <a:endParaRPr sz="1200" dirty="0"/>
          </a:p>
        </p:txBody>
      </p:sp>
      <p:sp>
        <p:nvSpPr>
          <p:cNvPr id="32" name="Google Shape;474;p27">
            <a:extLst>
              <a:ext uri="{FF2B5EF4-FFF2-40B4-BE49-F238E27FC236}">
                <a16:creationId xmlns:a16="http://schemas.microsoft.com/office/drawing/2014/main" id="{53194459-DBA4-B924-F0E9-67EEB24E862E}"/>
              </a:ext>
            </a:extLst>
          </p:cNvPr>
          <p:cNvSpPr/>
          <p:nvPr/>
        </p:nvSpPr>
        <p:spPr>
          <a:xfrm>
            <a:off x="3728624" y="3626458"/>
            <a:ext cx="2750281" cy="66641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262626"/>
              </a:buClr>
              <a:buSzPts val="2000"/>
              <a:buFont typeface="Arial"/>
              <a:buNone/>
            </a:pPr>
            <a:r>
              <a:rPr lang="en-US" sz="1600" dirty="0">
                <a:solidFill>
                  <a:srgbClr val="262626"/>
                </a:solidFill>
                <a:latin typeface="Arial"/>
                <a:cs typeface="Arial"/>
                <a:sym typeface="Arial"/>
              </a:rPr>
              <a:t>Mohamed Juzail</a:t>
            </a:r>
            <a:endParaRPr sz="1600" dirty="0"/>
          </a:p>
          <a:p>
            <a:pPr marL="0" marR="0" lvl="0" indent="0" algn="ctr" rtl="0">
              <a:spcBef>
                <a:spcPts val="240"/>
              </a:spcBef>
              <a:spcAft>
                <a:spcPts val="0"/>
              </a:spcAft>
              <a:buClr>
                <a:srgbClr val="262626"/>
              </a:buClr>
              <a:buSzPts val="1200"/>
              <a:buFont typeface="Arial"/>
              <a:buNone/>
            </a:pPr>
            <a:r>
              <a:rPr lang="en-US" sz="1200" dirty="0">
                <a:solidFill>
                  <a:srgbClr val="262626"/>
                </a:solidFill>
                <a:latin typeface="Arial"/>
                <a:ea typeface="Arial"/>
                <a:cs typeface="Arial"/>
                <a:sym typeface="Arial"/>
              </a:rPr>
              <a:t>20222336</a:t>
            </a:r>
            <a:endParaRPr sz="1200" dirty="0"/>
          </a:p>
        </p:txBody>
      </p:sp>
      <p:grpSp>
        <p:nvGrpSpPr>
          <p:cNvPr id="39" name="Google Shape;465;p27">
            <a:extLst>
              <a:ext uri="{FF2B5EF4-FFF2-40B4-BE49-F238E27FC236}">
                <a16:creationId xmlns:a16="http://schemas.microsoft.com/office/drawing/2014/main" id="{374F2AD1-F060-44B3-9A5D-03ED45993FC1}"/>
              </a:ext>
            </a:extLst>
          </p:cNvPr>
          <p:cNvGrpSpPr/>
          <p:nvPr/>
        </p:nvGrpSpPr>
        <p:grpSpPr>
          <a:xfrm>
            <a:off x="7208074" y="1153721"/>
            <a:ext cx="779973" cy="711699"/>
            <a:chOff x="3324179" y="4090416"/>
            <a:chExt cx="1278621" cy="1278621"/>
          </a:xfrm>
          <a:solidFill>
            <a:schemeClr val="bg1"/>
          </a:solidFill>
        </p:grpSpPr>
        <p:sp>
          <p:nvSpPr>
            <p:cNvPr id="40" name="Google Shape;466;p27">
              <a:extLst>
                <a:ext uri="{FF2B5EF4-FFF2-40B4-BE49-F238E27FC236}">
                  <a16:creationId xmlns:a16="http://schemas.microsoft.com/office/drawing/2014/main" id="{D08C9237-FC16-F92F-5976-CDE1D0CCE003}"/>
                </a:ext>
              </a:extLst>
            </p:cNvPr>
            <p:cNvSpPr/>
            <p:nvPr/>
          </p:nvSpPr>
          <p:spPr>
            <a:xfrm>
              <a:off x="3324179" y="4090416"/>
              <a:ext cx="1278621" cy="1278621"/>
            </a:xfrm>
            <a:prstGeom prst="ellipse">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dirty="0">
                <a:solidFill>
                  <a:srgbClr val="FFFFFF"/>
                </a:solidFill>
                <a:latin typeface="Arial"/>
                <a:ea typeface="Arial"/>
                <a:cs typeface="Arial"/>
                <a:sym typeface="Arial"/>
              </a:endParaRPr>
            </a:p>
          </p:txBody>
        </p:sp>
        <p:sp>
          <p:nvSpPr>
            <p:cNvPr id="41" name="Google Shape;467;p27">
              <a:extLst>
                <a:ext uri="{FF2B5EF4-FFF2-40B4-BE49-F238E27FC236}">
                  <a16:creationId xmlns:a16="http://schemas.microsoft.com/office/drawing/2014/main" id="{E8F6B49F-567B-4CCE-B5A3-3B16FAAA9D98}"/>
                </a:ext>
              </a:extLst>
            </p:cNvPr>
            <p:cNvSpPr/>
            <p:nvPr/>
          </p:nvSpPr>
          <p:spPr>
            <a:xfrm>
              <a:off x="3556292" y="4342353"/>
              <a:ext cx="796979" cy="671391"/>
            </a:xfrm>
            <a:prstGeom prst="rect">
              <a:avLst/>
            </a:prstGeom>
            <a:grp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solidFill>
                    <a:schemeClr val="accent6"/>
                  </a:solidFill>
                  <a:latin typeface="Arial"/>
                  <a:ea typeface="Arial"/>
                  <a:cs typeface="Arial"/>
                  <a:sym typeface="Arial"/>
                </a:rPr>
                <a:t>02</a:t>
              </a:r>
              <a:endParaRPr sz="2000" dirty="0">
                <a:solidFill>
                  <a:schemeClr val="accent6"/>
                </a:solidFill>
                <a:latin typeface="Arial"/>
                <a:ea typeface="Arial"/>
                <a:cs typeface="Arial"/>
                <a:sym typeface="Arial"/>
              </a:endParaRPr>
            </a:p>
          </p:txBody>
        </p:sp>
      </p:grpSp>
      <p:grpSp>
        <p:nvGrpSpPr>
          <p:cNvPr id="42" name="Google Shape;465;p27">
            <a:extLst>
              <a:ext uri="{FF2B5EF4-FFF2-40B4-BE49-F238E27FC236}">
                <a16:creationId xmlns:a16="http://schemas.microsoft.com/office/drawing/2014/main" id="{C58CE810-0AF8-66E4-5D0C-FBFDCEA3DDD4}"/>
              </a:ext>
            </a:extLst>
          </p:cNvPr>
          <p:cNvGrpSpPr/>
          <p:nvPr/>
        </p:nvGrpSpPr>
        <p:grpSpPr>
          <a:xfrm>
            <a:off x="6596838" y="1819839"/>
            <a:ext cx="779973" cy="711699"/>
            <a:chOff x="3324179" y="4090416"/>
            <a:chExt cx="1278621" cy="1278621"/>
          </a:xfrm>
        </p:grpSpPr>
        <p:sp>
          <p:nvSpPr>
            <p:cNvPr id="43" name="Google Shape;466;p27">
              <a:extLst>
                <a:ext uri="{FF2B5EF4-FFF2-40B4-BE49-F238E27FC236}">
                  <a16:creationId xmlns:a16="http://schemas.microsoft.com/office/drawing/2014/main" id="{CB00432F-91F9-AC07-C54C-83108C3F8D42}"/>
                </a:ext>
              </a:extLst>
            </p:cNvPr>
            <p:cNvSpPr/>
            <p:nvPr/>
          </p:nvSpPr>
          <p:spPr>
            <a:xfrm>
              <a:off x="3324179" y="4090416"/>
              <a:ext cx="1278621" cy="1278621"/>
            </a:xfrm>
            <a:prstGeom prst="ellipse">
              <a:avLst/>
            </a:prstGeom>
            <a:solidFill>
              <a:srgbClr val="2531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dirty="0">
                <a:solidFill>
                  <a:srgbClr val="FFFFFF"/>
                </a:solidFill>
                <a:latin typeface="Arial"/>
                <a:ea typeface="Arial"/>
                <a:cs typeface="Arial"/>
                <a:sym typeface="Arial"/>
              </a:endParaRPr>
            </a:p>
          </p:txBody>
        </p:sp>
        <p:sp>
          <p:nvSpPr>
            <p:cNvPr id="44" name="Google Shape;467;p27">
              <a:extLst>
                <a:ext uri="{FF2B5EF4-FFF2-40B4-BE49-F238E27FC236}">
                  <a16:creationId xmlns:a16="http://schemas.microsoft.com/office/drawing/2014/main" id="{EF276FFB-6656-38EB-A15E-1DB210DD641D}"/>
                </a:ext>
              </a:extLst>
            </p:cNvPr>
            <p:cNvSpPr/>
            <p:nvPr/>
          </p:nvSpPr>
          <p:spPr>
            <a:xfrm>
              <a:off x="3556292" y="4342353"/>
              <a:ext cx="796979" cy="67139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solidFill>
                    <a:schemeClr val="accent6"/>
                  </a:solidFill>
                  <a:latin typeface="Arial"/>
                  <a:ea typeface="Arial"/>
                  <a:cs typeface="Arial"/>
                  <a:sym typeface="Arial"/>
                </a:rPr>
                <a:t>03</a:t>
              </a:r>
              <a:endParaRPr sz="2000" dirty="0">
                <a:solidFill>
                  <a:schemeClr val="accent6"/>
                </a:solidFill>
                <a:latin typeface="Arial"/>
                <a:ea typeface="Arial"/>
                <a:cs typeface="Arial"/>
                <a:sym typeface="Arial"/>
              </a:endParaRPr>
            </a:p>
          </p:txBody>
        </p:sp>
      </p:grpSp>
      <p:grpSp>
        <p:nvGrpSpPr>
          <p:cNvPr id="45" name="Google Shape;465;p27">
            <a:extLst>
              <a:ext uri="{FF2B5EF4-FFF2-40B4-BE49-F238E27FC236}">
                <a16:creationId xmlns:a16="http://schemas.microsoft.com/office/drawing/2014/main" id="{1446A607-9F61-5461-C13C-E1189219C7A0}"/>
              </a:ext>
            </a:extLst>
          </p:cNvPr>
          <p:cNvGrpSpPr/>
          <p:nvPr/>
        </p:nvGrpSpPr>
        <p:grpSpPr>
          <a:xfrm>
            <a:off x="6173160" y="2611962"/>
            <a:ext cx="779973" cy="711699"/>
            <a:chOff x="3324179" y="4090416"/>
            <a:chExt cx="1278621" cy="1278621"/>
          </a:xfrm>
          <a:solidFill>
            <a:schemeClr val="bg1"/>
          </a:solidFill>
        </p:grpSpPr>
        <p:sp>
          <p:nvSpPr>
            <p:cNvPr id="46" name="Google Shape;466;p27">
              <a:extLst>
                <a:ext uri="{FF2B5EF4-FFF2-40B4-BE49-F238E27FC236}">
                  <a16:creationId xmlns:a16="http://schemas.microsoft.com/office/drawing/2014/main" id="{B6DC2BBB-9F35-E65A-7B01-E66B3C9D7145}"/>
                </a:ext>
              </a:extLst>
            </p:cNvPr>
            <p:cNvSpPr/>
            <p:nvPr/>
          </p:nvSpPr>
          <p:spPr>
            <a:xfrm>
              <a:off x="3324179" y="4090416"/>
              <a:ext cx="1278621" cy="1278621"/>
            </a:xfrm>
            <a:prstGeom prst="ellipse">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dirty="0">
                <a:solidFill>
                  <a:srgbClr val="FFFFFF"/>
                </a:solidFill>
                <a:latin typeface="Arial"/>
                <a:ea typeface="Arial"/>
                <a:cs typeface="Arial"/>
                <a:sym typeface="Arial"/>
              </a:endParaRPr>
            </a:p>
          </p:txBody>
        </p:sp>
        <p:sp>
          <p:nvSpPr>
            <p:cNvPr id="47" name="Google Shape;467;p27">
              <a:extLst>
                <a:ext uri="{FF2B5EF4-FFF2-40B4-BE49-F238E27FC236}">
                  <a16:creationId xmlns:a16="http://schemas.microsoft.com/office/drawing/2014/main" id="{0BFEF526-9EA6-62DB-BDE8-3428415440F1}"/>
                </a:ext>
              </a:extLst>
            </p:cNvPr>
            <p:cNvSpPr/>
            <p:nvPr/>
          </p:nvSpPr>
          <p:spPr>
            <a:xfrm>
              <a:off x="3556292" y="4342353"/>
              <a:ext cx="796979" cy="671391"/>
            </a:xfrm>
            <a:prstGeom prst="rect">
              <a:avLst/>
            </a:prstGeom>
            <a:grp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solidFill>
                    <a:schemeClr val="accent6"/>
                  </a:solidFill>
                  <a:latin typeface="Arial"/>
                  <a:ea typeface="Arial"/>
                  <a:cs typeface="Arial"/>
                  <a:sym typeface="Arial"/>
                </a:rPr>
                <a:t>04</a:t>
              </a:r>
              <a:endParaRPr sz="2000" dirty="0">
                <a:solidFill>
                  <a:schemeClr val="accent6"/>
                </a:solidFill>
                <a:latin typeface="Arial"/>
                <a:ea typeface="Arial"/>
                <a:cs typeface="Arial"/>
                <a:sym typeface="Arial"/>
              </a:endParaRPr>
            </a:p>
          </p:txBody>
        </p:sp>
      </p:grpSp>
      <p:grpSp>
        <p:nvGrpSpPr>
          <p:cNvPr id="48" name="Google Shape;465;p27">
            <a:extLst>
              <a:ext uri="{FF2B5EF4-FFF2-40B4-BE49-F238E27FC236}">
                <a16:creationId xmlns:a16="http://schemas.microsoft.com/office/drawing/2014/main" id="{20DE6ECE-7B2E-5C4F-3EAC-546E4F4D37A8}"/>
              </a:ext>
            </a:extLst>
          </p:cNvPr>
          <p:cNvGrpSpPr/>
          <p:nvPr/>
        </p:nvGrpSpPr>
        <p:grpSpPr>
          <a:xfrm>
            <a:off x="6088918" y="3493947"/>
            <a:ext cx="779973" cy="711699"/>
            <a:chOff x="3324179" y="4090416"/>
            <a:chExt cx="1278621" cy="1278621"/>
          </a:xfrm>
        </p:grpSpPr>
        <p:sp>
          <p:nvSpPr>
            <p:cNvPr id="49" name="Google Shape;466;p27">
              <a:extLst>
                <a:ext uri="{FF2B5EF4-FFF2-40B4-BE49-F238E27FC236}">
                  <a16:creationId xmlns:a16="http://schemas.microsoft.com/office/drawing/2014/main" id="{5C56ECDE-BC65-8C64-9B75-66A1E3942228}"/>
                </a:ext>
              </a:extLst>
            </p:cNvPr>
            <p:cNvSpPr/>
            <p:nvPr/>
          </p:nvSpPr>
          <p:spPr>
            <a:xfrm>
              <a:off x="3324179" y="4090416"/>
              <a:ext cx="1278621" cy="1278621"/>
            </a:xfrm>
            <a:prstGeom prst="ellipse">
              <a:avLst/>
            </a:prstGeom>
            <a:solidFill>
              <a:srgbClr val="2531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dirty="0">
                <a:solidFill>
                  <a:srgbClr val="FFFFFF"/>
                </a:solidFill>
                <a:latin typeface="Arial"/>
                <a:ea typeface="Arial"/>
                <a:cs typeface="Arial"/>
                <a:sym typeface="Arial"/>
              </a:endParaRPr>
            </a:p>
          </p:txBody>
        </p:sp>
        <p:sp>
          <p:nvSpPr>
            <p:cNvPr id="50" name="Google Shape;467;p27">
              <a:extLst>
                <a:ext uri="{FF2B5EF4-FFF2-40B4-BE49-F238E27FC236}">
                  <a16:creationId xmlns:a16="http://schemas.microsoft.com/office/drawing/2014/main" id="{8EBE307C-AEB3-5644-38C4-1724404B13C0}"/>
                </a:ext>
              </a:extLst>
            </p:cNvPr>
            <p:cNvSpPr/>
            <p:nvPr/>
          </p:nvSpPr>
          <p:spPr>
            <a:xfrm>
              <a:off x="3556292" y="4342353"/>
              <a:ext cx="796979" cy="67139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solidFill>
                    <a:schemeClr val="accent6"/>
                  </a:solidFill>
                  <a:latin typeface="Arial"/>
                  <a:ea typeface="Arial"/>
                  <a:cs typeface="Arial"/>
                  <a:sym typeface="Arial"/>
                </a:rPr>
                <a:t>05</a:t>
              </a:r>
              <a:endParaRPr sz="2000" dirty="0">
                <a:solidFill>
                  <a:schemeClr val="accent6"/>
                </a:solidFill>
                <a:latin typeface="Arial"/>
                <a:ea typeface="Arial"/>
                <a:cs typeface="Arial"/>
                <a:sym typeface="Arial"/>
              </a:endParaRPr>
            </a:p>
          </p:txBody>
        </p:sp>
      </p:grpSp>
      <p:grpSp>
        <p:nvGrpSpPr>
          <p:cNvPr id="51" name="Google Shape;465;p27">
            <a:extLst>
              <a:ext uri="{FF2B5EF4-FFF2-40B4-BE49-F238E27FC236}">
                <a16:creationId xmlns:a16="http://schemas.microsoft.com/office/drawing/2014/main" id="{55DA4BD2-2B83-CFB1-28E5-56C2881DE2ED}"/>
              </a:ext>
            </a:extLst>
          </p:cNvPr>
          <p:cNvGrpSpPr/>
          <p:nvPr/>
        </p:nvGrpSpPr>
        <p:grpSpPr>
          <a:xfrm>
            <a:off x="6254922" y="4371656"/>
            <a:ext cx="779973" cy="711699"/>
            <a:chOff x="3324179" y="4090416"/>
            <a:chExt cx="1278621" cy="1278621"/>
          </a:xfrm>
          <a:solidFill>
            <a:schemeClr val="bg1"/>
          </a:solidFill>
        </p:grpSpPr>
        <p:sp>
          <p:nvSpPr>
            <p:cNvPr id="52" name="Google Shape;466;p27">
              <a:extLst>
                <a:ext uri="{FF2B5EF4-FFF2-40B4-BE49-F238E27FC236}">
                  <a16:creationId xmlns:a16="http://schemas.microsoft.com/office/drawing/2014/main" id="{9C4AA11B-A8B7-FE5B-66EB-B073E7A56DF3}"/>
                </a:ext>
              </a:extLst>
            </p:cNvPr>
            <p:cNvSpPr/>
            <p:nvPr/>
          </p:nvSpPr>
          <p:spPr>
            <a:xfrm>
              <a:off x="3324179" y="4090416"/>
              <a:ext cx="1278621" cy="1278621"/>
            </a:xfrm>
            <a:prstGeom prst="ellipse">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dirty="0">
                <a:solidFill>
                  <a:srgbClr val="FFFFFF"/>
                </a:solidFill>
                <a:latin typeface="Arial"/>
                <a:ea typeface="Arial"/>
                <a:cs typeface="Arial"/>
                <a:sym typeface="Arial"/>
              </a:endParaRPr>
            </a:p>
          </p:txBody>
        </p:sp>
        <p:sp>
          <p:nvSpPr>
            <p:cNvPr id="53" name="Google Shape;467;p27">
              <a:extLst>
                <a:ext uri="{FF2B5EF4-FFF2-40B4-BE49-F238E27FC236}">
                  <a16:creationId xmlns:a16="http://schemas.microsoft.com/office/drawing/2014/main" id="{5AE2D9B3-1171-3B24-5619-4987C02925ED}"/>
                </a:ext>
              </a:extLst>
            </p:cNvPr>
            <p:cNvSpPr/>
            <p:nvPr/>
          </p:nvSpPr>
          <p:spPr>
            <a:xfrm>
              <a:off x="3556292" y="4342353"/>
              <a:ext cx="796979" cy="671391"/>
            </a:xfrm>
            <a:prstGeom prst="rect">
              <a:avLst/>
            </a:prstGeom>
            <a:grp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dirty="0">
                  <a:solidFill>
                    <a:schemeClr val="accent6"/>
                  </a:solidFill>
                  <a:latin typeface="Arial"/>
                  <a:ea typeface="Arial"/>
                  <a:cs typeface="Arial"/>
                  <a:sym typeface="Arial"/>
                </a:rPr>
                <a:t>06</a:t>
              </a:r>
              <a:endParaRPr sz="2000" dirty="0">
                <a:solidFill>
                  <a:schemeClr val="accent6"/>
                </a:solidFill>
                <a:latin typeface="Arial"/>
                <a:ea typeface="Arial"/>
                <a:cs typeface="Arial"/>
                <a:sym typeface="Arial"/>
              </a:endParaRPr>
            </a:p>
          </p:txBody>
        </p:sp>
      </p:grpSp>
      <p:pic>
        <p:nvPicPr>
          <p:cNvPr id="55" name="Picture 54" descr="Logo, company name&#10;&#10;Description automatically generated">
            <a:extLst>
              <a:ext uri="{FF2B5EF4-FFF2-40B4-BE49-F238E27FC236}">
                <a16:creationId xmlns:a16="http://schemas.microsoft.com/office/drawing/2014/main" id="{142EF235-F856-0919-3C2E-3C6A46EDB706}"/>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222" b="90000" l="10000" r="90000">
                        <a14:foregroundMark x1="29556" y1="8222" x2="29556" y2="8222"/>
                      </a14:backgroundRemoval>
                    </a14:imgEffect>
                  </a14:imgLayer>
                </a14:imgProps>
              </a:ext>
            </a:extLst>
          </a:blip>
          <a:stretch>
            <a:fillRect/>
          </a:stretch>
        </p:blipFill>
        <p:spPr>
          <a:xfrm>
            <a:off x="29804" y="60597"/>
            <a:ext cx="796653" cy="796653"/>
          </a:xfrm>
          <a:prstGeom prst="rect">
            <a:avLst/>
          </a:prstGeom>
        </p:spPr>
      </p:pic>
    </p:spTree>
    <p:extLst>
      <p:ext uri="{BB962C8B-B14F-4D97-AF65-F5344CB8AC3E}">
        <p14:creationId xmlns:p14="http://schemas.microsoft.com/office/powerpoint/2010/main" val="1530365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750" fill="hold"/>
                                        <p:tgtEl>
                                          <p:spTgt spid="12"/>
                                        </p:tgtEl>
                                        <p:attrNameLst>
                                          <p:attrName>ppt_w</p:attrName>
                                        </p:attrNameLst>
                                      </p:cBhvr>
                                      <p:tavLst>
                                        <p:tav tm="0">
                                          <p:val>
                                            <p:fltVal val="0"/>
                                          </p:val>
                                        </p:tav>
                                        <p:tav tm="100000">
                                          <p:val>
                                            <p:strVal val="#ppt_w"/>
                                          </p:val>
                                        </p:tav>
                                      </p:tavLst>
                                    </p:anim>
                                    <p:anim calcmode="lin" valueType="num">
                                      <p:cBhvr>
                                        <p:cTn id="8" dur="750" fill="hold"/>
                                        <p:tgtEl>
                                          <p:spTgt spid="12"/>
                                        </p:tgtEl>
                                        <p:attrNameLst>
                                          <p:attrName>ppt_h</p:attrName>
                                        </p:attrNameLst>
                                      </p:cBhvr>
                                      <p:tavLst>
                                        <p:tav tm="0">
                                          <p:val>
                                            <p:fltVal val="0"/>
                                          </p:val>
                                        </p:tav>
                                        <p:tav tm="100000">
                                          <p:val>
                                            <p:strVal val="#ppt_h"/>
                                          </p:val>
                                        </p:tav>
                                      </p:tavLst>
                                    </p:anim>
                                    <p:animEffect transition="in" filter="fade">
                                      <p:cBhvr>
                                        <p:cTn id="9" dur="750"/>
                                        <p:tgtEl>
                                          <p:spTgt spid="1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 calcmode="lin" valueType="num">
                                      <p:cBhvr>
                                        <p:cTn id="12" dur="750" fill="hold"/>
                                        <p:tgtEl>
                                          <p:spTgt spid="21"/>
                                        </p:tgtEl>
                                        <p:attrNameLst>
                                          <p:attrName>ppt_w</p:attrName>
                                        </p:attrNameLst>
                                      </p:cBhvr>
                                      <p:tavLst>
                                        <p:tav tm="0">
                                          <p:val>
                                            <p:fltVal val="0"/>
                                          </p:val>
                                        </p:tav>
                                        <p:tav tm="100000">
                                          <p:val>
                                            <p:strVal val="#ppt_w"/>
                                          </p:val>
                                        </p:tav>
                                      </p:tavLst>
                                    </p:anim>
                                    <p:anim calcmode="lin" valueType="num">
                                      <p:cBhvr>
                                        <p:cTn id="13" dur="750" fill="hold"/>
                                        <p:tgtEl>
                                          <p:spTgt spid="21"/>
                                        </p:tgtEl>
                                        <p:attrNameLst>
                                          <p:attrName>ppt_h</p:attrName>
                                        </p:attrNameLst>
                                      </p:cBhvr>
                                      <p:tavLst>
                                        <p:tav tm="0">
                                          <p:val>
                                            <p:fltVal val="0"/>
                                          </p:val>
                                        </p:tav>
                                        <p:tav tm="100000">
                                          <p:val>
                                            <p:strVal val="#ppt_h"/>
                                          </p:val>
                                        </p:tav>
                                      </p:tavLst>
                                    </p:anim>
                                    <p:animEffect transition="in" filter="fade">
                                      <p:cBhvr>
                                        <p:cTn id="14" dur="750"/>
                                        <p:tgtEl>
                                          <p:spTgt spid="21"/>
                                        </p:tgtEl>
                                      </p:cBhvr>
                                    </p:animEffect>
                                  </p:childTnLst>
                                </p:cTn>
                              </p:par>
                              <p:par>
                                <p:cTn id="15" presetID="53" presetClass="entr" presetSubtype="16" fill="hold" nodeType="withEffect">
                                  <p:stCondLst>
                                    <p:cond delay="250"/>
                                  </p:stCondLst>
                                  <p:childTnLst>
                                    <p:set>
                                      <p:cBhvr>
                                        <p:cTn id="16" dur="1" fill="hold">
                                          <p:stCondLst>
                                            <p:cond delay="0"/>
                                          </p:stCondLst>
                                        </p:cTn>
                                        <p:tgtEl>
                                          <p:spTgt spid="39"/>
                                        </p:tgtEl>
                                        <p:attrNameLst>
                                          <p:attrName>style.visibility</p:attrName>
                                        </p:attrNameLst>
                                      </p:cBhvr>
                                      <p:to>
                                        <p:strVal val="visible"/>
                                      </p:to>
                                    </p:set>
                                    <p:anim calcmode="lin" valueType="num">
                                      <p:cBhvr>
                                        <p:cTn id="17" dur="750" fill="hold"/>
                                        <p:tgtEl>
                                          <p:spTgt spid="39"/>
                                        </p:tgtEl>
                                        <p:attrNameLst>
                                          <p:attrName>ppt_w</p:attrName>
                                        </p:attrNameLst>
                                      </p:cBhvr>
                                      <p:tavLst>
                                        <p:tav tm="0">
                                          <p:val>
                                            <p:fltVal val="0"/>
                                          </p:val>
                                        </p:tav>
                                        <p:tav tm="100000">
                                          <p:val>
                                            <p:strVal val="#ppt_w"/>
                                          </p:val>
                                        </p:tav>
                                      </p:tavLst>
                                    </p:anim>
                                    <p:anim calcmode="lin" valueType="num">
                                      <p:cBhvr>
                                        <p:cTn id="18" dur="750" fill="hold"/>
                                        <p:tgtEl>
                                          <p:spTgt spid="39"/>
                                        </p:tgtEl>
                                        <p:attrNameLst>
                                          <p:attrName>ppt_h</p:attrName>
                                        </p:attrNameLst>
                                      </p:cBhvr>
                                      <p:tavLst>
                                        <p:tav tm="0">
                                          <p:val>
                                            <p:fltVal val="0"/>
                                          </p:val>
                                        </p:tav>
                                        <p:tav tm="100000">
                                          <p:val>
                                            <p:strVal val="#ppt_h"/>
                                          </p:val>
                                        </p:tav>
                                      </p:tavLst>
                                    </p:anim>
                                    <p:animEffect transition="in" filter="fade">
                                      <p:cBhvr>
                                        <p:cTn id="19" dur="750"/>
                                        <p:tgtEl>
                                          <p:spTgt spid="39"/>
                                        </p:tgtEl>
                                      </p:cBhvr>
                                    </p:animEffect>
                                  </p:childTnLst>
                                </p:cTn>
                              </p:par>
                              <p:par>
                                <p:cTn id="20" presetID="53" presetClass="entr" presetSubtype="16" fill="hold" grpId="0" nodeType="withEffect">
                                  <p:stCondLst>
                                    <p:cond delay="250"/>
                                  </p:stCondLst>
                                  <p:childTnLst>
                                    <p:set>
                                      <p:cBhvr>
                                        <p:cTn id="21" dur="1" fill="hold">
                                          <p:stCondLst>
                                            <p:cond delay="0"/>
                                          </p:stCondLst>
                                        </p:cTn>
                                        <p:tgtEl>
                                          <p:spTgt spid="28"/>
                                        </p:tgtEl>
                                        <p:attrNameLst>
                                          <p:attrName>style.visibility</p:attrName>
                                        </p:attrNameLst>
                                      </p:cBhvr>
                                      <p:to>
                                        <p:strVal val="visible"/>
                                      </p:to>
                                    </p:set>
                                    <p:anim calcmode="lin" valueType="num">
                                      <p:cBhvr>
                                        <p:cTn id="22" dur="750" fill="hold"/>
                                        <p:tgtEl>
                                          <p:spTgt spid="28"/>
                                        </p:tgtEl>
                                        <p:attrNameLst>
                                          <p:attrName>ppt_w</p:attrName>
                                        </p:attrNameLst>
                                      </p:cBhvr>
                                      <p:tavLst>
                                        <p:tav tm="0">
                                          <p:val>
                                            <p:fltVal val="0"/>
                                          </p:val>
                                        </p:tav>
                                        <p:tav tm="100000">
                                          <p:val>
                                            <p:strVal val="#ppt_w"/>
                                          </p:val>
                                        </p:tav>
                                      </p:tavLst>
                                    </p:anim>
                                    <p:anim calcmode="lin" valueType="num">
                                      <p:cBhvr>
                                        <p:cTn id="23" dur="750" fill="hold"/>
                                        <p:tgtEl>
                                          <p:spTgt spid="28"/>
                                        </p:tgtEl>
                                        <p:attrNameLst>
                                          <p:attrName>ppt_h</p:attrName>
                                        </p:attrNameLst>
                                      </p:cBhvr>
                                      <p:tavLst>
                                        <p:tav tm="0">
                                          <p:val>
                                            <p:fltVal val="0"/>
                                          </p:val>
                                        </p:tav>
                                        <p:tav tm="100000">
                                          <p:val>
                                            <p:strVal val="#ppt_h"/>
                                          </p:val>
                                        </p:tav>
                                      </p:tavLst>
                                    </p:anim>
                                    <p:animEffect transition="in" filter="fade">
                                      <p:cBhvr>
                                        <p:cTn id="24" dur="750"/>
                                        <p:tgtEl>
                                          <p:spTgt spid="28"/>
                                        </p:tgtEl>
                                      </p:cBhvr>
                                    </p:animEffect>
                                  </p:childTnLst>
                                </p:cTn>
                              </p:par>
                              <p:par>
                                <p:cTn id="25" presetID="53" presetClass="entr" presetSubtype="16" fill="hold" nodeType="withEffect">
                                  <p:stCondLst>
                                    <p:cond delay="500"/>
                                  </p:stCondLst>
                                  <p:childTnLst>
                                    <p:set>
                                      <p:cBhvr>
                                        <p:cTn id="26" dur="1" fill="hold">
                                          <p:stCondLst>
                                            <p:cond delay="0"/>
                                          </p:stCondLst>
                                        </p:cTn>
                                        <p:tgtEl>
                                          <p:spTgt spid="42"/>
                                        </p:tgtEl>
                                        <p:attrNameLst>
                                          <p:attrName>style.visibility</p:attrName>
                                        </p:attrNameLst>
                                      </p:cBhvr>
                                      <p:to>
                                        <p:strVal val="visible"/>
                                      </p:to>
                                    </p:set>
                                    <p:anim calcmode="lin" valueType="num">
                                      <p:cBhvr>
                                        <p:cTn id="27" dur="750" fill="hold"/>
                                        <p:tgtEl>
                                          <p:spTgt spid="42"/>
                                        </p:tgtEl>
                                        <p:attrNameLst>
                                          <p:attrName>ppt_w</p:attrName>
                                        </p:attrNameLst>
                                      </p:cBhvr>
                                      <p:tavLst>
                                        <p:tav tm="0">
                                          <p:val>
                                            <p:fltVal val="0"/>
                                          </p:val>
                                        </p:tav>
                                        <p:tav tm="100000">
                                          <p:val>
                                            <p:strVal val="#ppt_w"/>
                                          </p:val>
                                        </p:tav>
                                      </p:tavLst>
                                    </p:anim>
                                    <p:anim calcmode="lin" valueType="num">
                                      <p:cBhvr>
                                        <p:cTn id="28" dur="750" fill="hold"/>
                                        <p:tgtEl>
                                          <p:spTgt spid="42"/>
                                        </p:tgtEl>
                                        <p:attrNameLst>
                                          <p:attrName>ppt_h</p:attrName>
                                        </p:attrNameLst>
                                      </p:cBhvr>
                                      <p:tavLst>
                                        <p:tav tm="0">
                                          <p:val>
                                            <p:fltVal val="0"/>
                                          </p:val>
                                        </p:tav>
                                        <p:tav tm="100000">
                                          <p:val>
                                            <p:strVal val="#ppt_h"/>
                                          </p:val>
                                        </p:tav>
                                      </p:tavLst>
                                    </p:anim>
                                    <p:animEffect transition="in" filter="fade">
                                      <p:cBhvr>
                                        <p:cTn id="29" dur="750"/>
                                        <p:tgtEl>
                                          <p:spTgt spid="42"/>
                                        </p:tgtEl>
                                      </p:cBhvr>
                                    </p:animEffect>
                                  </p:childTnLst>
                                </p:cTn>
                              </p:par>
                              <p:par>
                                <p:cTn id="30" presetID="53" presetClass="entr" presetSubtype="16" fill="hold" grpId="0" nodeType="withEffect">
                                  <p:stCondLst>
                                    <p:cond delay="500"/>
                                  </p:stCondLst>
                                  <p:childTnLst>
                                    <p:set>
                                      <p:cBhvr>
                                        <p:cTn id="31" dur="1" fill="hold">
                                          <p:stCondLst>
                                            <p:cond delay="0"/>
                                          </p:stCondLst>
                                        </p:cTn>
                                        <p:tgtEl>
                                          <p:spTgt spid="31"/>
                                        </p:tgtEl>
                                        <p:attrNameLst>
                                          <p:attrName>style.visibility</p:attrName>
                                        </p:attrNameLst>
                                      </p:cBhvr>
                                      <p:to>
                                        <p:strVal val="visible"/>
                                      </p:to>
                                    </p:set>
                                    <p:anim calcmode="lin" valueType="num">
                                      <p:cBhvr>
                                        <p:cTn id="32" dur="750" fill="hold"/>
                                        <p:tgtEl>
                                          <p:spTgt spid="31"/>
                                        </p:tgtEl>
                                        <p:attrNameLst>
                                          <p:attrName>ppt_w</p:attrName>
                                        </p:attrNameLst>
                                      </p:cBhvr>
                                      <p:tavLst>
                                        <p:tav tm="0">
                                          <p:val>
                                            <p:fltVal val="0"/>
                                          </p:val>
                                        </p:tav>
                                        <p:tav tm="100000">
                                          <p:val>
                                            <p:strVal val="#ppt_w"/>
                                          </p:val>
                                        </p:tav>
                                      </p:tavLst>
                                    </p:anim>
                                    <p:anim calcmode="lin" valueType="num">
                                      <p:cBhvr>
                                        <p:cTn id="33" dur="750" fill="hold"/>
                                        <p:tgtEl>
                                          <p:spTgt spid="31"/>
                                        </p:tgtEl>
                                        <p:attrNameLst>
                                          <p:attrName>ppt_h</p:attrName>
                                        </p:attrNameLst>
                                      </p:cBhvr>
                                      <p:tavLst>
                                        <p:tav tm="0">
                                          <p:val>
                                            <p:fltVal val="0"/>
                                          </p:val>
                                        </p:tav>
                                        <p:tav tm="100000">
                                          <p:val>
                                            <p:strVal val="#ppt_h"/>
                                          </p:val>
                                        </p:tav>
                                      </p:tavLst>
                                    </p:anim>
                                    <p:animEffect transition="in" filter="fade">
                                      <p:cBhvr>
                                        <p:cTn id="34" dur="750"/>
                                        <p:tgtEl>
                                          <p:spTgt spid="31"/>
                                        </p:tgtEl>
                                      </p:cBhvr>
                                    </p:animEffect>
                                  </p:childTnLst>
                                </p:cTn>
                              </p:par>
                              <p:par>
                                <p:cTn id="35" presetID="53" presetClass="entr" presetSubtype="16" fill="hold" grpId="0" nodeType="withEffect">
                                  <p:stCondLst>
                                    <p:cond delay="750"/>
                                  </p:stCondLst>
                                  <p:childTnLst>
                                    <p:set>
                                      <p:cBhvr>
                                        <p:cTn id="36" dur="1" fill="hold">
                                          <p:stCondLst>
                                            <p:cond delay="0"/>
                                          </p:stCondLst>
                                        </p:cTn>
                                        <p:tgtEl>
                                          <p:spTgt spid="30"/>
                                        </p:tgtEl>
                                        <p:attrNameLst>
                                          <p:attrName>style.visibility</p:attrName>
                                        </p:attrNameLst>
                                      </p:cBhvr>
                                      <p:to>
                                        <p:strVal val="visible"/>
                                      </p:to>
                                    </p:set>
                                    <p:anim calcmode="lin" valueType="num">
                                      <p:cBhvr>
                                        <p:cTn id="37" dur="750" fill="hold"/>
                                        <p:tgtEl>
                                          <p:spTgt spid="30"/>
                                        </p:tgtEl>
                                        <p:attrNameLst>
                                          <p:attrName>ppt_w</p:attrName>
                                        </p:attrNameLst>
                                      </p:cBhvr>
                                      <p:tavLst>
                                        <p:tav tm="0">
                                          <p:val>
                                            <p:fltVal val="0"/>
                                          </p:val>
                                        </p:tav>
                                        <p:tav tm="100000">
                                          <p:val>
                                            <p:strVal val="#ppt_w"/>
                                          </p:val>
                                        </p:tav>
                                      </p:tavLst>
                                    </p:anim>
                                    <p:anim calcmode="lin" valueType="num">
                                      <p:cBhvr>
                                        <p:cTn id="38" dur="750" fill="hold"/>
                                        <p:tgtEl>
                                          <p:spTgt spid="30"/>
                                        </p:tgtEl>
                                        <p:attrNameLst>
                                          <p:attrName>ppt_h</p:attrName>
                                        </p:attrNameLst>
                                      </p:cBhvr>
                                      <p:tavLst>
                                        <p:tav tm="0">
                                          <p:val>
                                            <p:fltVal val="0"/>
                                          </p:val>
                                        </p:tav>
                                        <p:tav tm="100000">
                                          <p:val>
                                            <p:strVal val="#ppt_h"/>
                                          </p:val>
                                        </p:tav>
                                      </p:tavLst>
                                    </p:anim>
                                    <p:animEffect transition="in" filter="fade">
                                      <p:cBhvr>
                                        <p:cTn id="39" dur="750"/>
                                        <p:tgtEl>
                                          <p:spTgt spid="30"/>
                                        </p:tgtEl>
                                      </p:cBhvr>
                                    </p:animEffect>
                                  </p:childTnLst>
                                </p:cTn>
                              </p:par>
                              <p:par>
                                <p:cTn id="40" presetID="53" presetClass="entr" presetSubtype="16" fill="hold" nodeType="withEffect">
                                  <p:stCondLst>
                                    <p:cond delay="750"/>
                                  </p:stCondLst>
                                  <p:childTnLst>
                                    <p:set>
                                      <p:cBhvr>
                                        <p:cTn id="41" dur="1" fill="hold">
                                          <p:stCondLst>
                                            <p:cond delay="0"/>
                                          </p:stCondLst>
                                        </p:cTn>
                                        <p:tgtEl>
                                          <p:spTgt spid="45"/>
                                        </p:tgtEl>
                                        <p:attrNameLst>
                                          <p:attrName>style.visibility</p:attrName>
                                        </p:attrNameLst>
                                      </p:cBhvr>
                                      <p:to>
                                        <p:strVal val="visible"/>
                                      </p:to>
                                    </p:set>
                                    <p:anim calcmode="lin" valueType="num">
                                      <p:cBhvr>
                                        <p:cTn id="42" dur="750" fill="hold"/>
                                        <p:tgtEl>
                                          <p:spTgt spid="45"/>
                                        </p:tgtEl>
                                        <p:attrNameLst>
                                          <p:attrName>ppt_w</p:attrName>
                                        </p:attrNameLst>
                                      </p:cBhvr>
                                      <p:tavLst>
                                        <p:tav tm="0">
                                          <p:val>
                                            <p:fltVal val="0"/>
                                          </p:val>
                                        </p:tav>
                                        <p:tav tm="100000">
                                          <p:val>
                                            <p:strVal val="#ppt_w"/>
                                          </p:val>
                                        </p:tav>
                                      </p:tavLst>
                                    </p:anim>
                                    <p:anim calcmode="lin" valueType="num">
                                      <p:cBhvr>
                                        <p:cTn id="43" dur="750" fill="hold"/>
                                        <p:tgtEl>
                                          <p:spTgt spid="45"/>
                                        </p:tgtEl>
                                        <p:attrNameLst>
                                          <p:attrName>ppt_h</p:attrName>
                                        </p:attrNameLst>
                                      </p:cBhvr>
                                      <p:tavLst>
                                        <p:tav tm="0">
                                          <p:val>
                                            <p:fltVal val="0"/>
                                          </p:val>
                                        </p:tav>
                                        <p:tav tm="100000">
                                          <p:val>
                                            <p:strVal val="#ppt_h"/>
                                          </p:val>
                                        </p:tav>
                                      </p:tavLst>
                                    </p:anim>
                                    <p:animEffect transition="in" filter="fade">
                                      <p:cBhvr>
                                        <p:cTn id="44" dur="750"/>
                                        <p:tgtEl>
                                          <p:spTgt spid="45"/>
                                        </p:tgtEl>
                                      </p:cBhvr>
                                    </p:animEffect>
                                  </p:childTnLst>
                                </p:cTn>
                              </p:par>
                              <p:par>
                                <p:cTn id="45" presetID="53" presetClass="entr" presetSubtype="16" fill="hold" nodeType="withEffect">
                                  <p:stCondLst>
                                    <p:cond delay="1000"/>
                                  </p:stCondLst>
                                  <p:childTnLst>
                                    <p:set>
                                      <p:cBhvr>
                                        <p:cTn id="46" dur="1" fill="hold">
                                          <p:stCondLst>
                                            <p:cond delay="0"/>
                                          </p:stCondLst>
                                        </p:cTn>
                                        <p:tgtEl>
                                          <p:spTgt spid="48"/>
                                        </p:tgtEl>
                                        <p:attrNameLst>
                                          <p:attrName>style.visibility</p:attrName>
                                        </p:attrNameLst>
                                      </p:cBhvr>
                                      <p:to>
                                        <p:strVal val="visible"/>
                                      </p:to>
                                    </p:set>
                                    <p:anim calcmode="lin" valueType="num">
                                      <p:cBhvr>
                                        <p:cTn id="47" dur="750" fill="hold"/>
                                        <p:tgtEl>
                                          <p:spTgt spid="48"/>
                                        </p:tgtEl>
                                        <p:attrNameLst>
                                          <p:attrName>ppt_w</p:attrName>
                                        </p:attrNameLst>
                                      </p:cBhvr>
                                      <p:tavLst>
                                        <p:tav tm="0">
                                          <p:val>
                                            <p:fltVal val="0"/>
                                          </p:val>
                                        </p:tav>
                                        <p:tav tm="100000">
                                          <p:val>
                                            <p:strVal val="#ppt_w"/>
                                          </p:val>
                                        </p:tav>
                                      </p:tavLst>
                                    </p:anim>
                                    <p:anim calcmode="lin" valueType="num">
                                      <p:cBhvr>
                                        <p:cTn id="48" dur="750" fill="hold"/>
                                        <p:tgtEl>
                                          <p:spTgt spid="48"/>
                                        </p:tgtEl>
                                        <p:attrNameLst>
                                          <p:attrName>ppt_h</p:attrName>
                                        </p:attrNameLst>
                                      </p:cBhvr>
                                      <p:tavLst>
                                        <p:tav tm="0">
                                          <p:val>
                                            <p:fltVal val="0"/>
                                          </p:val>
                                        </p:tav>
                                        <p:tav tm="100000">
                                          <p:val>
                                            <p:strVal val="#ppt_h"/>
                                          </p:val>
                                        </p:tav>
                                      </p:tavLst>
                                    </p:anim>
                                    <p:animEffect transition="in" filter="fade">
                                      <p:cBhvr>
                                        <p:cTn id="49" dur="750"/>
                                        <p:tgtEl>
                                          <p:spTgt spid="48"/>
                                        </p:tgtEl>
                                      </p:cBhvr>
                                    </p:animEffect>
                                  </p:childTnLst>
                                </p:cTn>
                              </p:par>
                              <p:par>
                                <p:cTn id="50" presetID="53" presetClass="entr" presetSubtype="16" fill="hold" grpId="0" nodeType="withEffect">
                                  <p:stCondLst>
                                    <p:cond delay="1000"/>
                                  </p:stCondLst>
                                  <p:childTnLst>
                                    <p:set>
                                      <p:cBhvr>
                                        <p:cTn id="51" dur="1" fill="hold">
                                          <p:stCondLst>
                                            <p:cond delay="0"/>
                                          </p:stCondLst>
                                        </p:cTn>
                                        <p:tgtEl>
                                          <p:spTgt spid="32"/>
                                        </p:tgtEl>
                                        <p:attrNameLst>
                                          <p:attrName>style.visibility</p:attrName>
                                        </p:attrNameLst>
                                      </p:cBhvr>
                                      <p:to>
                                        <p:strVal val="visible"/>
                                      </p:to>
                                    </p:set>
                                    <p:anim calcmode="lin" valueType="num">
                                      <p:cBhvr>
                                        <p:cTn id="52" dur="750" fill="hold"/>
                                        <p:tgtEl>
                                          <p:spTgt spid="32"/>
                                        </p:tgtEl>
                                        <p:attrNameLst>
                                          <p:attrName>ppt_w</p:attrName>
                                        </p:attrNameLst>
                                      </p:cBhvr>
                                      <p:tavLst>
                                        <p:tav tm="0">
                                          <p:val>
                                            <p:fltVal val="0"/>
                                          </p:val>
                                        </p:tav>
                                        <p:tav tm="100000">
                                          <p:val>
                                            <p:strVal val="#ppt_w"/>
                                          </p:val>
                                        </p:tav>
                                      </p:tavLst>
                                    </p:anim>
                                    <p:anim calcmode="lin" valueType="num">
                                      <p:cBhvr>
                                        <p:cTn id="53" dur="750" fill="hold"/>
                                        <p:tgtEl>
                                          <p:spTgt spid="32"/>
                                        </p:tgtEl>
                                        <p:attrNameLst>
                                          <p:attrName>ppt_h</p:attrName>
                                        </p:attrNameLst>
                                      </p:cBhvr>
                                      <p:tavLst>
                                        <p:tav tm="0">
                                          <p:val>
                                            <p:fltVal val="0"/>
                                          </p:val>
                                        </p:tav>
                                        <p:tav tm="100000">
                                          <p:val>
                                            <p:strVal val="#ppt_h"/>
                                          </p:val>
                                        </p:tav>
                                      </p:tavLst>
                                    </p:anim>
                                    <p:animEffect transition="in" filter="fade">
                                      <p:cBhvr>
                                        <p:cTn id="54" dur="750"/>
                                        <p:tgtEl>
                                          <p:spTgt spid="32"/>
                                        </p:tgtEl>
                                      </p:cBhvr>
                                    </p:animEffect>
                                  </p:childTnLst>
                                </p:cTn>
                              </p:par>
                              <p:par>
                                <p:cTn id="55" presetID="53" presetClass="entr" presetSubtype="16" fill="hold" grpId="0" nodeType="withEffect">
                                  <p:stCondLst>
                                    <p:cond delay="1250"/>
                                  </p:stCondLst>
                                  <p:childTnLst>
                                    <p:set>
                                      <p:cBhvr>
                                        <p:cTn id="56" dur="1" fill="hold">
                                          <p:stCondLst>
                                            <p:cond delay="0"/>
                                          </p:stCondLst>
                                        </p:cTn>
                                        <p:tgtEl>
                                          <p:spTgt spid="29"/>
                                        </p:tgtEl>
                                        <p:attrNameLst>
                                          <p:attrName>style.visibility</p:attrName>
                                        </p:attrNameLst>
                                      </p:cBhvr>
                                      <p:to>
                                        <p:strVal val="visible"/>
                                      </p:to>
                                    </p:set>
                                    <p:anim calcmode="lin" valueType="num">
                                      <p:cBhvr>
                                        <p:cTn id="57" dur="750" fill="hold"/>
                                        <p:tgtEl>
                                          <p:spTgt spid="29"/>
                                        </p:tgtEl>
                                        <p:attrNameLst>
                                          <p:attrName>ppt_w</p:attrName>
                                        </p:attrNameLst>
                                      </p:cBhvr>
                                      <p:tavLst>
                                        <p:tav tm="0">
                                          <p:val>
                                            <p:fltVal val="0"/>
                                          </p:val>
                                        </p:tav>
                                        <p:tav tm="100000">
                                          <p:val>
                                            <p:strVal val="#ppt_w"/>
                                          </p:val>
                                        </p:tav>
                                      </p:tavLst>
                                    </p:anim>
                                    <p:anim calcmode="lin" valueType="num">
                                      <p:cBhvr>
                                        <p:cTn id="58" dur="750" fill="hold"/>
                                        <p:tgtEl>
                                          <p:spTgt spid="29"/>
                                        </p:tgtEl>
                                        <p:attrNameLst>
                                          <p:attrName>ppt_h</p:attrName>
                                        </p:attrNameLst>
                                      </p:cBhvr>
                                      <p:tavLst>
                                        <p:tav tm="0">
                                          <p:val>
                                            <p:fltVal val="0"/>
                                          </p:val>
                                        </p:tav>
                                        <p:tav tm="100000">
                                          <p:val>
                                            <p:strVal val="#ppt_h"/>
                                          </p:val>
                                        </p:tav>
                                      </p:tavLst>
                                    </p:anim>
                                    <p:animEffect transition="in" filter="fade">
                                      <p:cBhvr>
                                        <p:cTn id="59" dur="750"/>
                                        <p:tgtEl>
                                          <p:spTgt spid="29"/>
                                        </p:tgtEl>
                                      </p:cBhvr>
                                    </p:animEffect>
                                  </p:childTnLst>
                                </p:cTn>
                              </p:par>
                              <p:par>
                                <p:cTn id="60" presetID="53" presetClass="entr" presetSubtype="16" fill="hold" nodeType="withEffect">
                                  <p:stCondLst>
                                    <p:cond delay="1250"/>
                                  </p:stCondLst>
                                  <p:childTnLst>
                                    <p:set>
                                      <p:cBhvr>
                                        <p:cTn id="61" dur="1" fill="hold">
                                          <p:stCondLst>
                                            <p:cond delay="0"/>
                                          </p:stCondLst>
                                        </p:cTn>
                                        <p:tgtEl>
                                          <p:spTgt spid="51"/>
                                        </p:tgtEl>
                                        <p:attrNameLst>
                                          <p:attrName>style.visibility</p:attrName>
                                        </p:attrNameLst>
                                      </p:cBhvr>
                                      <p:to>
                                        <p:strVal val="visible"/>
                                      </p:to>
                                    </p:set>
                                    <p:anim calcmode="lin" valueType="num">
                                      <p:cBhvr>
                                        <p:cTn id="62" dur="750" fill="hold"/>
                                        <p:tgtEl>
                                          <p:spTgt spid="51"/>
                                        </p:tgtEl>
                                        <p:attrNameLst>
                                          <p:attrName>ppt_w</p:attrName>
                                        </p:attrNameLst>
                                      </p:cBhvr>
                                      <p:tavLst>
                                        <p:tav tm="0">
                                          <p:val>
                                            <p:fltVal val="0"/>
                                          </p:val>
                                        </p:tav>
                                        <p:tav tm="100000">
                                          <p:val>
                                            <p:strVal val="#ppt_w"/>
                                          </p:val>
                                        </p:tav>
                                      </p:tavLst>
                                    </p:anim>
                                    <p:anim calcmode="lin" valueType="num">
                                      <p:cBhvr>
                                        <p:cTn id="63" dur="750" fill="hold"/>
                                        <p:tgtEl>
                                          <p:spTgt spid="51"/>
                                        </p:tgtEl>
                                        <p:attrNameLst>
                                          <p:attrName>ppt_h</p:attrName>
                                        </p:attrNameLst>
                                      </p:cBhvr>
                                      <p:tavLst>
                                        <p:tav tm="0">
                                          <p:val>
                                            <p:fltVal val="0"/>
                                          </p:val>
                                        </p:tav>
                                        <p:tav tm="100000">
                                          <p:val>
                                            <p:strVal val="#ppt_h"/>
                                          </p:val>
                                        </p:tav>
                                      </p:tavLst>
                                    </p:anim>
                                    <p:animEffect transition="in" filter="fade">
                                      <p:cBhvr>
                                        <p:cTn id="64" dur="75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8" grpId="0"/>
      <p:bldP spid="29" grpId="0"/>
      <p:bldP spid="30" grpId="0"/>
      <p:bldP spid="31" grpId="0"/>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7"/>
          <p:cNvSpPr txBox="1">
            <a:spLocks noGrp="1"/>
          </p:cNvSpPr>
          <p:nvPr>
            <p:ph type="title" idx="9"/>
          </p:nvPr>
        </p:nvSpPr>
        <p:spPr>
          <a:xfrm>
            <a:off x="884025" y="2480900"/>
            <a:ext cx="857700" cy="76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02</a:t>
            </a:r>
            <a:endParaRPr/>
          </a:p>
        </p:txBody>
      </p:sp>
      <p:sp>
        <p:nvSpPr>
          <p:cNvPr id="241" name="Google Shape;241;p37"/>
          <p:cNvSpPr txBox="1">
            <a:spLocks noGrp="1"/>
          </p:cNvSpPr>
          <p:nvPr>
            <p:ph type="title" idx="8"/>
          </p:nvPr>
        </p:nvSpPr>
        <p:spPr>
          <a:xfrm>
            <a:off x="884025" y="1448300"/>
            <a:ext cx="857700" cy="76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01</a:t>
            </a:r>
            <a:endParaRPr dirty="0"/>
          </a:p>
        </p:txBody>
      </p:sp>
      <p:sp>
        <p:nvSpPr>
          <p:cNvPr id="242" name="Google Shape;242;p37"/>
          <p:cNvSpPr txBox="1">
            <a:spLocks noGrp="1"/>
          </p:cNvSpPr>
          <p:nvPr>
            <p:ph type="title" idx="13"/>
          </p:nvPr>
        </p:nvSpPr>
        <p:spPr>
          <a:xfrm>
            <a:off x="4734200" y="1981179"/>
            <a:ext cx="857700" cy="76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04</a:t>
            </a:r>
            <a:endParaRPr dirty="0"/>
          </a:p>
        </p:txBody>
      </p:sp>
      <p:sp>
        <p:nvSpPr>
          <p:cNvPr id="243" name="Google Shape;243;p37"/>
          <p:cNvSpPr txBox="1">
            <a:spLocks noGrp="1"/>
          </p:cNvSpPr>
          <p:nvPr>
            <p:ph type="title" idx="14"/>
          </p:nvPr>
        </p:nvSpPr>
        <p:spPr>
          <a:xfrm>
            <a:off x="4734200" y="3013779"/>
            <a:ext cx="857700" cy="76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05</a:t>
            </a:r>
            <a:endParaRPr/>
          </a:p>
        </p:txBody>
      </p:sp>
      <p:sp>
        <p:nvSpPr>
          <p:cNvPr id="244" name="Google Shape;244;p37"/>
          <p:cNvSpPr txBox="1">
            <a:spLocks noGrp="1"/>
          </p:cNvSpPr>
          <p:nvPr>
            <p:ph type="title" idx="15"/>
          </p:nvPr>
        </p:nvSpPr>
        <p:spPr>
          <a:xfrm>
            <a:off x="720000" y="5212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TABLE OF </a:t>
            </a:r>
            <a:r>
              <a:rPr lang="en" b="1" dirty="0">
                <a:solidFill>
                  <a:schemeClr val="lt1"/>
                </a:solidFill>
              </a:rPr>
              <a:t>CONTENTS</a:t>
            </a:r>
            <a:endParaRPr b="1" dirty="0">
              <a:solidFill>
                <a:schemeClr val="lt1"/>
              </a:solidFill>
            </a:endParaRPr>
          </a:p>
        </p:txBody>
      </p:sp>
      <p:sp>
        <p:nvSpPr>
          <p:cNvPr id="245" name="Google Shape;245;p37"/>
          <p:cNvSpPr txBox="1">
            <a:spLocks noGrp="1"/>
          </p:cNvSpPr>
          <p:nvPr>
            <p:ph type="title"/>
          </p:nvPr>
        </p:nvSpPr>
        <p:spPr>
          <a:xfrm>
            <a:off x="1741725" y="1924817"/>
            <a:ext cx="2664900" cy="395400"/>
          </a:xfrm>
          <a:prstGeom prst="rect">
            <a:avLst/>
          </a:prstGeom>
        </p:spPr>
        <p:txBody>
          <a:bodyPr spcFirstLastPara="1" wrap="square" lIns="91425" tIns="91425" rIns="91425" bIns="91425" anchor="b" anchorCtr="0">
            <a:noAutofit/>
          </a:bodyPr>
          <a:lstStyle/>
          <a:p>
            <a:r>
              <a:rPr lang="en-US" sz="1600" dirty="0">
                <a:solidFill>
                  <a:schemeClr val="tx1"/>
                </a:solidFill>
                <a:latin typeface="Maven Pro" panose="020B0604020202020204" charset="0"/>
              </a:rPr>
              <a:t>WHAT DOES “SUSTAINABILITY OF ELECTRIC CARS” MEAN</a:t>
            </a:r>
            <a:endParaRPr lang="en-GB" sz="1600" dirty="0">
              <a:solidFill>
                <a:schemeClr val="tx1"/>
              </a:solidFill>
              <a:latin typeface="Maven Pro" panose="020B0604020202020204" charset="0"/>
            </a:endParaRPr>
          </a:p>
        </p:txBody>
      </p:sp>
      <p:sp>
        <p:nvSpPr>
          <p:cNvPr id="247" name="Google Shape;247;p37"/>
          <p:cNvSpPr txBox="1">
            <a:spLocks noGrp="1"/>
          </p:cNvSpPr>
          <p:nvPr>
            <p:ph type="title" idx="2"/>
          </p:nvPr>
        </p:nvSpPr>
        <p:spPr>
          <a:xfrm>
            <a:off x="5595075" y="2364279"/>
            <a:ext cx="2664900" cy="395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sz="1600" dirty="0"/>
              <a:t>ADVANTAGES &amp; DISADVANTAGES</a:t>
            </a:r>
          </a:p>
        </p:txBody>
      </p:sp>
      <p:sp>
        <p:nvSpPr>
          <p:cNvPr id="249" name="Google Shape;249;p37"/>
          <p:cNvSpPr txBox="1">
            <a:spLocks noGrp="1"/>
          </p:cNvSpPr>
          <p:nvPr>
            <p:ph type="title" idx="4"/>
          </p:nvPr>
        </p:nvSpPr>
        <p:spPr>
          <a:xfrm>
            <a:off x="1741725" y="2834371"/>
            <a:ext cx="2664900" cy="395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dirty="0"/>
              <a:t>ENVIRONMENTAL IMPACT OF ELECTRIC CARS</a:t>
            </a:r>
            <a:endParaRPr lang="en-GB" sz="1600" dirty="0"/>
          </a:p>
        </p:txBody>
      </p:sp>
      <p:sp>
        <p:nvSpPr>
          <p:cNvPr id="251" name="Google Shape;251;p37"/>
          <p:cNvSpPr txBox="1">
            <a:spLocks noGrp="1"/>
          </p:cNvSpPr>
          <p:nvPr>
            <p:ph type="title" idx="6"/>
          </p:nvPr>
        </p:nvSpPr>
        <p:spPr>
          <a:xfrm>
            <a:off x="5595075" y="3247100"/>
            <a:ext cx="2664900" cy="395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600" dirty="0"/>
              <a:t>SUMMARY</a:t>
            </a:r>
            <a:endParaRPr sz="1600" dirty="0"/>
          </a:p>
        </p:txBody>
      </p:sp>
      <p:sp>
        <p:nvSpPr>
          <p:cNvPr id="253" name="Google Shape;253;p37"/>
          <p:cNvSpPr txBox="1">
            <a:spLocks noGrp="1"/>
          </p:cNvSpPr>
          <p:nvPr>
            <p:ph type="title" idx="16"/>
          </p:nvPr>
        </p:nvSpPr>
        <p:spPr>
          <a:xfrm>
            <a:off x="1741725" y="3983108"/>
            <a:ext cx="2664900" cy="395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dirty="0"/>
              <a:t>SOCIAL AND ECONOMIC SUSTAINABILITY OF ELECTRIC CARS</a:t>
            </a:r>
            <a:endParaRPr sz="1600" dirty="0"/>
          </a:p>
        </p:txBody>
      </p:sp>
      <p:sp>
        <p:nvSpPr>
          <p:cNvPr id="257" name="Google Shape;257;p37"/>
          <p:cNvSpPr txBox="1">
            <a:spLocks noGrp="1"/>
          </p:cNvSpPr>
          <p:nvPr>
            <p:ph type="title" idx="20"/>
          </p:nvPr>
        </p:nvSpPr>
        <p:spPr>
          <a:xfrm>
            <a:off x="884025" y="3513375"/>
            <a:ext cx="857700" cy="766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03</a:t>
            </a:r>
            <a:endParaRPr/>
          </a:p>
        </p:txBody>
      </p:sp>
      <p:cxnSp>
        <p:nvCxnSpPr>
          <p:cNvPr id="259" name="Google Shape;259;p37"/>
          <p:cNvCxnSpPr/>
          <p:nvPr/>
        </p:nvCxnSpPr>
        <p:spPr>
          <a:xfrm>
            <a:off x="1039425" y="2214625"/>
            <a:ext cx="546900" cy="0"/>
          </a:xfrm>
          <a:prstGeom prst="straightConnector1">
            <a:avLst/>
          </a:prstGeom>
          <a:noFill/>
          <a:ln w="9525" cap="flat" cmpd="sng">
            <a:solidFill>
              <a:schemeClr val="dk1"/>
            </a:solidFill>
            <a:prstDash val="solid"/>
            <a:round/>
            <a:headEnd type="none" w="med" len="med"/>
            <a:tailEnd type="none" w="med" len="med"/>
          </a:ln>
        </p:spPr>
      </p:cxnSp>
      <p:cxnSp>
        <p:nvCxnSpPr>
          <p:cNvPr id="260" name="Google Shape;260;p37"/>
          <p:cNvCxnSpPr/>
          <p:nvPr/>
        </p:nvCxnSpPr>
        <p:spPr>
          <a:xfrm>
            <a:off x="1039425" y="3247100"/>
            <a:ext cx="546900" cy="0"/>
          </a:xfrm>
          <a:prstGeom prst="straightConnector1">
            <a:avLst/>
          </a:prstGeom>
          <a:noFill/>
          <a:ln w="9525" cap="flat" cmpd="sng">
            <a:solidFill>
              <a:schemeClr val="dk1"/>
            </a:solidFill>
            <a:prstDash val="solid"/>
            <a:round/>
            <a:headEnd type="none" w="med" len="med"/>
            <a:tailEnd type="none" w="med" len="med"/>
          </a:ln>
        </p:spPr>
      </p:cxnSp>
      <p:cxnSp>
        <p:nvCxnSpPr>
          <p:cNvPr id="261" name="Google Shape;261;p37"/>
          <p:cNvCxnSpPr/>
          <p:nvPr/>
        </p:nvCxnSpPr>
        <p:spPr>
          <a:xfrm>
            <a:off x="1039425" y="4279600"/>
            <a:ext cx="546900" cy="0"/>
          </a:xfrm>
          <a:prstGeom prst="straightConnector1">
            <a:avLst/>
          </a:prstGeom>
          <a:noFill/>
          <a:ln w="9525" cap="flat" cmpd="sng">
            <a:solidFill>
              <a:schemeClr val="dk1"/>
            </a:solidFill>
            <a:prstDash val="solid"/>
            <a:round/>
            <a:headEnd type="none" w="med" len="med"/>
            <a:tailEnd type="none" w="med" len="med"/>
          </a:ln>
        </p:spPr>
      </p:cxnSp>
      <p:cxnSp>
        <p:nvCxnSpPr>
          <p:cNvPr id="262" name="Google Shape;262;p37"/>
          <p:cNvCxnSpPr/>
          <p:nvPr/>
        </p:nvCxnSpPr>
        <p:spPr>
          <a:xfrm>
            <a:off x="4889600" y="2747504"/>
            <a:ext cx="546900" cy="0"/>
          </a:xfrm>
          <a:prstGeom prst="straightConnector1">
            <a:avLst/>
          </a:prstGeom>
          <a:noFill/>
          <a:ln w="9525" cap="flat" cmpd="sng">
            <a:solidFill>
              <a:schemeClr val="dk1"/>
            </a:solidFill>
            <a:prstDash val="solid"/>
            <a:round/>
            <a:headEnd type="none" w="med" len="med"/>
            <a:tailEnd type="none" w="med" len="med"/>
          </a:ln>
        </p:spPr>
      </p:cxnSp>
      <p:cxnSp>
        <p:nvCxnSpPr>
          <p:cNvPr id="263" name="Google Shape;263;p37"/>
          <p:cNvCxnSpPr/>
          <p:nvPr/>
        </p:nvCxnSpPr>
        <p:spPr>
          <a:xfrm>
            <a:off x="4889600" y="3779979"/>
            <a:ext cx="546900" cy="0"/>
          </a:xfrm>
          <a:prstGeom prst="straightConnector1">
            <a:avLst/>
          </a:prstGeom>
          <a:noFill/>
          <a:ln w="9525" cap="flat" cmpd="sng">
            <a:solidFill>
              <a:schemeClr val="dk1"/>
            </a:solidFill>
            <a:prstDash val="solid"/>
            <a:round/>
            <a:headEnd type="none" w="med" len="med"/>
            <a:tailEnd type="none" w="med" len="med"/>
          </a:ln>
        </p:spPr>
      </p:cxnSp>
      <p:sp>
        <p:nvSpPr>
          <p:cNvPr id="3" name="Google Shape;270;p38">
            <a:extLst>
              <a:ext uri="{FF2B5EF4-FFF2-40B4-BE49-F238E27FC236}">
                <a16:creationId xmlns:a16="http://schemas.microsoft.com/office/drawing/2014/main" id="{4B612703-2575-BCB1-A9DD-223D61257891}"/>
              </a:ext>
            </a:extLst>
          </p:cNvPr>
          <p:cNvSpPr/>
          <p:nvPr/>
        </p:nvSpPr>
        <p:spPr>
          <a:xfrm>
            <a:off x="499050" y="106365"/>
            <a:ext cx="441900" cy="441900"/>
          </a:xfrm>
          <a:prstGeom prst="diamond">
            <a:avLst/>
          </a:prstGeom>
          <a:solidFill>
            <a:schemeClr val="accent6">
              <a:lumMod val="95000"/>
            </a:schemeClr>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5" name="Picture 4" descr="Logo, company name&#10;&#10;Description automatically generated">
            <a:extLst>
              <a:ext uri="{FF2B5EF4-FFF2-40B4-BE49-F238E27FC236}">
                <a16:creationId xmlns:a16="http://schemas.microsoft.com/office/drawing/2014/main" id="{CB2E458E-288A-66FB-B97E-8129700C964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8222" b="90000" l="10000" r="90000">
                        <a14:foregroundMark x1="29556" y1="8222" x2="29556" y2="8222"/>
                      </a14:backgroundRemoval>
                    </a14:imgEffect>
                  </a14:imgLayer>
                </a14:imgProps>
              </a:ext>
            </a:extLst>
          </a:blip>
          <a:stretch>
            <a:fillRect/>
          </a:stretch>
        </p:blipFill>
        <p:spPr>
          <a:xfrm>
            <a:off x="29804" y="60597"/>
            <a:ext cx="796653" cy="796653"/>
          </a:xfrm>
          <a:prstGeom prst="rect">
            <a:avLst/>
          </a:prstGeom>
        </p:spPr>
      </p:pic>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pic>
        <p:nvPicPr>
          <p:cNvPr id="5" name="Picture 4">
            <a:extLst>
              <a:ext uri="{FF2B5EF4-FFF2-40B4-BE49-F238E27FC236}">
                <a16:creationId xmlns:a16="http://schemas.microsoft.com/office/drawing/2014/main" id="{4F7B21D1-06D7-FCE5-1962-C62BCFEA2ECF}"/>
              </a:ext>
            </a:extLst>
          </p:cNvPr>
          <p:cNvPicPr>
            <a:picLocks noChangeAspect="1"/>
          </p:cNvPicPr>
          <p:nvPr/>
        </p:nvPicPr>
        <p:blipFill rotWithShape="1">
          <a:blip r:embed="rId3"/>
          <a:srcRect t="5846" b="9778"/>
          <a:stretch/>
        </p:blipFill>
        <p:spPr>
          <a:xfrm>
            <a:off x="0" y="0"/>
            <a:ext cx="9144000" cy="5143500"/>
          </a:xfrm>
          <a:prstGeom prst="rect">
            <a:avLst/>
          </a:prstGeom>
          <a:solidFill>
            <a:schemeClr val="accent6"/>
          </a:solidFill>
        </p:spPr>
      </p:pic>
      <p:sp>
        <p:nvSpPr>
          <p:cNvPr id="36" name="Rectangle 35">
            <a:extLst>
              <a:ext uri="{FF2B5EF4-FFF2-40B4-BE49-F238E27FC236}">
                <a16:creationId xmlns:a16="http://schemas.microsoft.com/office/drawing/2014/main" id="{B756DB43-1A47-8EBC-75CD-4DB98923ED0D}"/>
              </a:ext>
            </a:extLst>
          </p:cNvPr>
          <p:cNvSpPr/>
          <p:nvPr/>
        </p:nvSpPr>
        <p:spPr>
          <a:xfrm>
            <a:off x="470233" y="397025"/>
            <a:ext cx="7073567" cy="4078700"/>
          </a:xfrm>
          <a:prstGeom prst="rect">
            <a:avLst/>
          </a:prstGeom>
          <a:solidFill>
            <a:schemeClr val="tx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7" name="Picture 46">
            <a:extLst>
              <a:ext uri="{FF2B5EF4-FFF2-40B4-BE49-F238E27FC236}">
                <a16:creationId xmlns:a16="http://schemas.microsoft.com/office/drawing/2014/main" id="{3C168580-C1B6-762E-B4DD-F59E762B7261}"/>
              </a:ext>
            </a:extLst>
          </p:cNvPr>
          <p:cNvPicPr>
            <a:picLocks/>
          </p:cNvPicPr>
          <p:nvPr/>
        </p:nvPicPr>
        <p:blipFill rotWithShape="1">
          <a:blip r:embed="rId4">
            <a:alphaModFix/>
            <a:lum bright="70000" contrast="-70000"/>
            <a:extLst>
              <a:ext uri="{BEBA8EAE-BF5A-486C-A8C5-ECC9F3942E4B}">
                <a14:imgProps xmlns:a14="http://schemas.microsoft.com/office/drawing/2010/main">
                  <a14:imgLayer r:embed="rId5">
                    <a14:imgEffect>
                      <a14:colorTemperature colorTemp="4700"/>
                    </a14:imgEffect>
                    <a14:imgEffect>
                      <a14:saturation sat="0"/>
                    </a14:imgEffect>
                  </a14:imgLayer>
                </a14:imgProps>
              </a:ext>
            </a:extLst>
          </a:blip>
          <a:srcRect b="15035"/>
          <a:stretch/>
        </p:blipFill>
        <p:spPr>
          <a:xfrm rot="3729414">
            <a:off x="-104754" y="-3742677"/>
            <a:ext cx="9744075" cy="16941857"/>
          </a:xfrm>
          <a:prstGeom prst="rect">
            <a:avLst/>
          </a:prstGeom>
        </p:spPr>
      </p:pic>
      <p:sp>
        <p:nvSpPr>
          <p:cNvPr id="285" name="Google Shape;285;p39"/>
          <p:cNvSpPr/>
          <p:nvPr/>
        </p:nvSpPr>
        <p:spPr>
          <a:xfrm>
            <a:off x="249283" y="176073"/>
            <a:ext cx="441900" cy="441900"/>
          </a:xfrm>
          <a:prstGeom prst="diamond">
            <a:avLst/>
          </a:prstGeom>
          <a:solidFill>
            <a:schemeClr val="lt1"/>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 name="Google Shape;274;p38">
            <a:extLst>
              <a:ext uri="{FF2B5EF4-FFF2-40B4-BE49-F238E27FC236}">
                <a16:creationId xmlns:a16="http://schemas.microsoft.com/office/drawing/2014/main" id="{842CC1F8-7B21-AB2D-4D0F-3D37FDBBCDFE}"/>
              </a:ext>
            </a:extLst>
          </p:cNvPr>
          <p:cNvCxnSpPr/>
          <p:nvPr/>
        </p:nvCxnSpPr>
        <p:spPr>
          <a:xfrm>
            <a:off x="764820" y="1476162"/>
            <a:ext cx="685500" cy="0"/>
          </a:xfrm>
          <a:prstGeom prst="straightConnector1">
            <a:avLst/>
          </a:prstGeom>
          <a:ln w="76200">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ABE5403E-1684-895D-5261-BB6009690663}"/>
              </a:ext>
            </a:extLst>
          </p:cNvPr>
          <p:cNvSpPr txBox="1"/>
          <p:nvPr/>
        </p:nvSpPr>
        <p:spPr>
          <a:xfrm>
            <a:off x="691182" y="667775"/>
            <a:ext cx="5399355" cy="646331"/>
          </a:xfrm>
          <a:prstGeom prst="rect">
            <a:avLst/>
          </a:prstGeom>
          <a:noFill/>
        </p:spPr>
        <p:txBody>
          <a:bodyPr wrap="square" rtlCol="0">
            <a:spAutoFit/>
          </a:bodyPr>
          <a:lstStyle/>
          <a:p>
            <a:r>
              <a:rPr lang="en-US" sz="3600" b="1" dirty="0">
                <a:solidFill>
                  <a:schemeClr val="accent6"/>
                </a:solidFill>
                <a:latin typeface="Maven Pro" panose="020B0604020202020204" charset="0"/>
              </a:rPr>
              <a:t>01</a:t>
            </a:r>
          </a:p>
        </p:txBody>
      </p:sp>
      <p:cxnSp>
        <p:nvCxnSpPr>
          <p:cNvPr id="38" name="Straight Connector 37">
            <a:extLst>
              <a:ext uri="{FF2B5EF4-FFF2-40B4-BE49-F238E27FC236}">
                <a16:creationId xmlns:a16="http://schemas.microsoft.com/office/drawing/2014/main" id="{F9F85BD1-7A3B-D444-1EFC-5B535326E22F}"/>
              </a:ext>
            </a:extLst>
          </p:cNvPr>
          <p:cNvCxnSpPr>
            <a:cxnSpLocks/>
          </p:cNvCxnSpPr>
          <p:nvPr/>
        </p:nvCxnSpPr>
        <p:spPr>
          <a:xfrm>
            <a:off x="768996" y="1479635"/>
            <a:ext cx="886092" cy="0"/>
          </a:xfrm>
          <a:prstGeom prst="line">
            <a:avLst/>
          </a:prstGeom>
          <a:ln w="57150">
            <a:solidFill>
              <a:schemeClr val="accent6"/>
            </a:solidFill>
          </a:ln>
        </p:spPr>
        <p:style>
          <a:lnRef idx="1">
            <a:schemeClr val="dk1"/>
          </a:lnRef>
          <a:fillRef idx="0">
            <a:schemeClr val="dk1"/>
          </a:fillRef>
          <a:effectRef idx="0">
            <a:schemeClr val="dk1"/>
          </a:effectRef>
          <a:fontRef idx="minor">
            <a:schemeClr val="tx1"/>
          </a:fontRef>
        </p:style>
      </p:cxnSp>
      <p:sp>
        <p:nvSpPr>
          <p:cNvPr id="39" name="TextBox 38">
            <a:extLst>
              <a:ext uri="{FF2B5EF4-FFF2-40B4-BE49-F238E27FC236}">
                <a16:creationId xmlns:a16="http://schemas.microsoft.com/office/drawing/2014/main" id="{0E06DE29-0B26-1866-E33D-80E693858CC5}"/>
              </a:ext>
            </a:extLst>
          </p:cNvPr>
          <p:cNvSpPr txBox="1"/>
          <p:nvPr/>
        </p:nvSpPr>
        <p:spPr>
          <a:xfrm>
            <a:off x="683592" y="1645165"/>
            <a:ext cx="5793408" cy="2800767"/>
          </a:xfrm>
          <a:prstGeom prst="rect">
            <a:avLst/>
          </a:prstGeom>
          <a:noFill/>
        </p:spPr>
        <p:txBody>
          <a:bodyPr wrap="square" rtlCol="0">
            <a:spAutoFit/>
          </a:bodyPr>
          <a:lstStyle/>
          <a:p>
            <a:r>
              <a:rPr lang="en-US" sz="4400" b="1" dirty="0">
                <a:solidFill>
                  <a:schemeClr val="accent6"/>
                </a:solidFill>
                <a:latin typeface="Maven Pro" panose="020B0604020202020204" charset="0"/>
              </a:rPr>
              <a:t>WHAT DOES “SUSTAINABILITY OF </a:t>
            </a:r>
            <a:r>
              <a:rPr lang="en-US" sz="4400" b="1" dirty="0">
                <a:solidFill>
                  <a:schemeClr val="bg1"/>
                </a:solidFill>
                <a:latin typeface="Maven Pro" panose="020B0604020202020204" charset="0"/>
              </a:rPr>
              <a:t>ELECTRIC CARS</a:t>
            </a:r>
            <a:r>
              <a:rPr lang="en-US" sz="4400" b="1" dirty="0">
                <a:solidFill>
                  <a:schemeClr val="accent6"/>
                </a:solidFill>
                <a:latin typeface="Maven Pro" panose="020B0604020202020204" charset="0"/>
              </a:rPr>
              <a:t>” MEAN</a:t>
            </a:r>
            <a:endParaRPr lang="en-GB" sz="4400" b="1" dirty="0">
              <a:solidFill>
                <a:srgbClr val="FF0000"/>
              </a:solidFill>
              <a:latin typeface="Maven Pro" panose="020B0604020202020204" charset="0"/>
            </a:endParaRPr>
          </a:p>
        </p:txBody>
      </p:sp>
      <p:pic>
        <p:nvPicPr>
          <p:cNvPr id="40" name="Picture 39" descr="Logo, company name&#10;&#10;Description automatically generated">
            <a:extLst>
              <a:ext uri="{FF2B5EF4-FFF2-40B4-BE49-F238E27FC236}">
                <a16:creationId xmlns:a16="http://schemas.microsoft.com/office/drawing/2014/main" id="{B542E5FB-AC68-7083-36B8-FD5F11664198}"/>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8222" b="90000" l="10000" r="90000">
                        <a14:foregroundMark x1="29556" y1="8222" x2="29556" y2="8222"/>
                      </a14:backgroundRemoval>
                    </a14:imgEffect>
                  </a14:imgLayer>
                </a14:imgProps>
              </a:ext>
            </a:extLst>
          </a:blip>
          <a:stretch>
            <a:fillRect/>
          </a:stretch>
        </p:blipFill>
        <p:spPr>
          <a:xfrm>
            <a:off x="8239033" y="157464"/>
            <a:ext cx="796653" cy="796653"/>
          </a:xfrm>
          <a:prstGeom prst="rect">
            <a:avLst/>
          </a:prstGeom>
        </p:spPr>
      </p:pic>
      <p:sp>
        <p:nvSpPr>
          <p:cNvPr id="44" name="TextBox 43">
            <a:extLst>
              <a:ext uri="{FF2B5EF4-FFF2-40B4-BE49-F238E27FC236}">
                <a16:creationId xmlns:a16="http://schemas.microsoft.com/office/drawing/2014/main" id="{ADE2F700-AD93-8D61-08DF-EE8087862A8D}"/>
              </a:ext>
            </a:extLst>
          </p:cNvPr>
          <p:cNvSpPr txBox="1"/>
          <p:nvPr/>
        </p:nvSpPr>
        <p:spPr>
          <a:xfrm>
            <a:off x="0" y="4645181"/>
            <a:ext cx="3028950" cy="523220"/>
          </a:xfrm>
          <a:prstGeom prst="rect">
            <a:avLst/>
          </a:prstGeom>
          <a:noFill/>
        </p:spPr>
        <p:txBody>
          <a:bodyPr wrap="square" rtlCol="0">
            <a:spAutoFit/>
          </a:bodyPr>
          <a:lstStyle/>
          <a:p>
            <a:r>
              <a:rPr lang="en-US" sz="1000" dirty="0">
                <a:solidFill>
                  <a:schemeClr val="accent1">
                    <a:lumMod val="75000"/>
                  </a:schemeClr>
                </a:solidFill>
                <a:latin typeface="+mj-lt"/>
              </a:rPr>
              <a:t>Figure 2 - </a:t>
            </a:r>
            <a:r>
              <a:rPr lang="en-GB" sz="1000" i="0" dirty="0">
                <a:solidFill>
                  <a:schemeClr val="accent1">
                    <a:lumMod val="75000"/>
                  </a:schemeClr>
                </a:solidFill>
                <a:effectLst/>
                <a:latin typeface="+mj-lt"/>
              </a:rPr>
              <a:t>Tesla Model 3 Car </a:t>
            </a:r>
          </a:p>
          <a:p>
            <a:r>
              <a:rPr lang="en-GB" sz="800" i="0" dirty="0">
                <a:solidFill>
                  <a:schemeClr val="accent1">
                    <a:lumMod val="75000"/>
                  </a:schemeClr>
                </a:solidFill>
                <a:effectLst/>
                <a:latin typeface="+mj-lt"/>
              </a:rPr>
              <a:t>https://unsplash.com/photos/kPUQOsfThag</a:t>
            </a:r>
          </a:p>
          <a:p>
            <a:endParaRPr lang="en-GB" sz="1000" dirty="0"/>
          </a:p>
        </p:txBody>
      </p:sp>
      <p:pic>
        <p:nvPicPr>
          <p:cNvPr id="48" name="Picture 47" descr="A picture containing camera, cellphone&#10;&#10;Description automatically generated">
            <a:extLst>
              <a:ext uri="{FF2B5EF4-FFF2-40B4-BE49-F238E27FC236}">
                <a16:creationId xmlns:a16="http://schemas.microsoft.com/office/drawing/2014/main" id="{E239DD0A-17AE-00FC-F9B1-2CB6AE14C949}"/>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9779" b="89872" l="1429" r="98214">
                        <a14:foregroundMark x1="3095" y1="43190" x2="3095" y2="43190"/>
                        <a14:foregroundMark x1="94643" y1="41676" x2="94643" y2="41676"/>
                        <a14:foregroundMark x1="98333" y1="43772" x2="98333" y2="43772"/>
                        <a14:foregroundMark x1="1429" y1="47614" x2="1429" y2="47614"/>
                        <a14:foregroundMark x1="36310" y1="29220" x2="36310" y2="29220"/>
                        <a14:foregroundMark x1="35952" y1="30733" x2="35952" y2="30733"/>
                        <a14:foregroundMark x1="37024" y1="29104" x2="37024" y2="29104"/>
                        <a14:foregroundMark x1="36548" y1="29104" x2="36548" y2="29104"/>
                        <a14:foregroundMark x1="36786" y1="28522" x2="36786" y2="28522"/>
                        <a14:foregroundMark x1="37381" y1="28754" x2="37381" y2="28754"/>
                        <a14:foregroundMark x1="37381" y1="28289" x2="37381" y2="28289"/>
                        <a14:foregroundMark x1="50119" y1="68452" x2="50119" y2="68452"/>
                        <a14:foregroundMark x1="36310" y1="70431" x2="36310" y2="70431"/>
                        <a14:foregroundMark x1="36905" y1="71013" x2="36905" y2="71013"/>
                        <a14:foregroundMark x1="37024" y1="71711" x2="37024" y2="71711"/>
                        <a14:backgroundMark x1="37500" y1="28871" x2="37500" y2="28871"/>
                        <a14:backgroundMark x1="37738" y1="28522" x2="37738" y2="28522"/>
                      </a14:backgroundRemoval>
                    </a14:imgEffect>
                  </a14:imgLayer>
                </a14:imgProps>
              </a:ext>
            </a:extLst>
          </a:blip>
          <a:stretch>
            <a:fillRect/>
          </a:stretch>
        </p:blipFill>
        <p:spPr>
          <a:xfrm rot="19910799">
            <a:off x="7450368" y="2025510"/>
            <a:ext cx="1577329" cy="161300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85"/>
                                        </p:tgtEl>
                                        <p:attrNameLst>
                                          <p:attrName>style.visibility</p:attrName>
                                        </p:attrNameLst>
                                      </p:cBhvr>
                                      <p:to>
                                        <p:strVal val="visible"/>
                                      </p:to>
                                    </p:set>
                                    <p:anim calcmode="lin" valueType="num">
                                      <p:cBhvr additive="base">
                                        <p:cTn id="11" dur="500" fill="hold"/>
                                        <p:tgtEl>
                                          <p:spTgt spid="285"/>
                                        </p:tgtEl>
                                        <p:attrNameLst>
                                          <p:attrName>ppt_x</p:attrName>
                                        </p:attrNameLst>
                                      </p:cBhvr>
                                      <p:tavLst>
                                        <p:tav tm="0">
                                          <p:val>
                                            <p:strVal val="#ppt_x"/>
                                          </p:val>
                                        </p:tav>
                                        <p:tav tm="100000">
                                          <p:val>
                                            <p:strVal val="#ppt_x"/>
                                          </p:val>
                                        </p:tav>
                                      </p:tavLst>
                                    </p:anim>
                                    <p:anim calcmode="lin" valueType="num">
                                      <p:cBhvr additive="base">
                                        <p:cTn id="12" dur="500" fill="hold"/>
                                        <p:tgtEl>
                                          <p:spTgt spid="285"/>
                                        </p:tgtEl>
                                        <p:attrNameLst>
                                          <p:attrName>ppt_y</p:attrName>
                                        </p:attrNameLst>
                                      </p:cBhvr>
                                      <p:tavLst>
                                        <p:tav tm="0">
                                          <p:val>
                                            <p:strVal val="1+#ppt_h/2"/>
                                          </p:val>
                                        </p:tav>
                                        <p:tav tm="100000">
                                          <p:val>
                                            <p:strVal val="#ppt_y"/>
                                          </p:val>
                                        </p:tav>
                                      </p:tavLst>
                                    </p:anim>
                                  </p:childTnLst>
                                </p:cTn>
                              </p:par>
                              <p:par>
                                <p:cTn id="13" presetID="10"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8" dur="500"/>
                                        <p:tgtEl>
                                          <p:spTgt spid="37"/>
                                        </p:tgtEl>
                                      </p:cBhvr>
                                    </p:animEffect>
                                  </p:childTnLst>
                                </p:cTn>
                              </p:par>
                              <p:par>
                                <p:cTn id="19" presetID="10" presetClass="entr" presetSubtype="0" fill="hold" nodeType="with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fade">
                                      <p:cBhvr>
                                        <p:cTn id="21" dur="500"/>
                                        <p:tgtEl>
                                          <p:spTgt spid="3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fade">
                                      <p:cBhvr>
                                        <p:cTn id="24" dur="500"/>
                                        <p:tgtEl>
                                          <p:spTgt spid="36"/>
                                        </p:tgtEl>
                                      </p:cBhvr>
                                    </p:animEffect>
                                  </p:childTnLst>
                                </p:cTn>
                              </p:par>
                              <p:par>
                                <p:cTn id="25" presetID="42" presetClass="entr" presetSubtype="0" fill="hold" nodeType="with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1000"/>
                                        <p:tgtEl>
                                          <p:spTgt spid="47"/>
                                        </p:tgtEl>
                                      </p:cBhvr>
                                    </p:animEffect>
                                    <p:anim calcmode="lin" valueType="num">
                                      <p:cBhvr>
                                        <p:cTn id="28" dur="1000" fill="hold"/>
                                        <p:tgtEl>
                                          <p:spTgt spid="47"/>
                                        </p:tgtEl>
                                        <p:attrNameLst>
                                          <p:attrName>ppt_x</p:attrName>
                                        </p:attrNameLst>
                                      </p:cBhvr>
                                      <p:tavLst>
                                        <p:tav tm="0">
                                          <p:val>
                                            <p:strVal val="#ppt_x"/>
                                          </p:val>
                                        </p:tav>
                                        <p:tav tm="100000">
                                          <p:val>
                                            <p:strVal val="#ppt_x"/>
                                          </p:val>
                                        </p:tav>
                                      </p:tavLst>
                                    </p:anim>
                                    <p:anim calcmode="lin" valueType="num">
                                      <p:cBhvr>
                                        <p:cTn id="29" dur="1000" fill="hold"/>
                                        <p:tgtEl>
                                          <p:spTgt spid="47"/>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fade">
                                      <p:cBhvr>
                                        <p:cTn id="32" dur="1000"/>
                                        <p:tgtEl>
                                          <p:spTgt spid="48"/>
                                        </p:tgtEl>
                                      </p:cBhvr>
                                    </p:animEffect>
                                    <p:anim calcmode="lin" valueType="num">
                                      <p:cBhvr>
                                        <p:cTn id="33" dur="1000" fill="hold"/>
                                        <p:tgtEl>
                                          <p:spTgt spid="48"/>
                                        </p:tgtEl>
                                        <p:attrNameLst>
                                          <p:attrName>ppt_x</p:attrName>
                                        </p:attrNameLst>
                                      </p:cBhvr>
                                      <p:tavLst>
                                        <p:tav tm="0">
                                          <p:val>
                                            <p:strVal val="#ppt_x"/>
                                          </p:val>
                                        </p:tav>
                                        <p:tav tm="100000">
                                          <p:val>
                                            <p:strVal val="#ppt_x"/>
                                          </p:val>
                                        </p:tav>
                                      </p:tavLst>
                                    </p:anim>
                                    <p:anim calcmode="lin" valueType="num">
                                      <p:cBhvr>
                                        <p:cTn id="34"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285" grpId="0" animBg="1"/>
      <p:bldP spid="37" grpId="0"/>
      <p:bldP spid="3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1" name="Picture 20">
            <a:extLst>
              <a:ext uri="{FF2B5EF4-FFF2-40B4-BE49-F238E27FC236}">
                <a16:creationId xmlns:a16="http://schemas.microsoft.com/office/drawing/2014/main" id="{EEE76ED7-318D-5EF6-6AD0-7094ED514F1F}"/>
              </a:ext>
            </a:extLst>
          </p:cNvPr>
          <p:cNvPicPr>
            <a:picLocks/>
          </p:cNvPicPr>
          <p:nvPr/>
        </p:nvPicPr>
        <p:blipFill rotWithShape="1">
          <a:blip r:embed="rId3">
            <a:alphaModFix/>
            <a:extLst>
              <a:ext uri="{BEBA8EAE-BF5A-486C-A8C5-ECC9F3942E4B}">
                <a14:imgProps xmlns:a14="http://schemas.microsoft.com/office/drawing/2010/main">
                  <a14:imgLayer r:embed="rId4">
                    <a14:imgEffect>
                      <a14:colorTemperature colorTemp="4700"/>
                    </a14:imgEffect>
                    <a14:imgEffect>
                      <a14:saturation sat="0"/>
                    </a14:imgEffect>
                  </a14:imgLayer>
                </a14:imgProps>
              </a:ext>
            </a:extLst>
          </a:blip>
          <a:srcRect b="15035"/>
          <a:stretch/>
        </p:blipFill>
        <p:spPr>
          <a:xfrm rot="3729414">
            <a:off x="596287" y="-9746024"/>
            <a:ext cx="9744075" cy="16941857"/>
          </a:xfrm>
          <a:prstGeom prst="rect">
            <a:avLst/>
          </a:prstGeom>
        </p:spPr>
      </p:pic>
      <p:sp>
        <p:nvSpPr>
          <p:cNvPr id="292" name="Google Shape;292;p40"/>
          <p:cNvSpPr txBox="1">
            <a:spLocks noGrp="1"/>
          </p:cNvSpPr>
          <p:nvPr>
            <p:ph type="title"/>
          </p:nvPr>
        </p:nvSpPr>
        <p:spPr>
          <a:xfrm>
            <a:off x="4155275" y="1126477"/>
            <a:ext cx="4280700" cy="572700"/>
          </a:xfrm>
          <a:prstGeom prst="rect">
            <a:avLst/>
          </a:prstGeom>
        </p:spPr>
        <p:txBody>
          <a:bodyPr spcFirstLastPara="1" wrap="square" lIns="91425" tIns="91425" rIns="91425" bIns="91425" anchor="b" anchorCtr="0">
            <a:noAutofit/>
          </a:bodyPr>
          <a:lstStyle/>
          <a:p>
            <a:r>
              <a:rPr lang="en-US" sz="1800" b="1" dirty="0">
                <a:solidFill>
                  <a:schemeClr val="tx1"/>
                </a:solidFill>
                <a:latin typeface="Maven Pro" panose="020B0604020202020204" charset="0"/>
              </a:rPr>
              <a:t>WHAT DOES “SUSTAINABILITY OF </a:t>
            </a:r>
            <a:r>
              <a:rPr lang="en-US" sz="1800" b="1" dirty="0">
                <a:solidFill>
                  <a:schemeClr val="bg1"/>
                </a:solidFill>
                <a:latin typeface="Maven Pro" panose="020B0604020202020204" charset="0"/>
              </a:rPr>
              <a:t>ELECTRIC CARS</a:t>
            </a:r>
            <a:r>
              <a:rPr lang="en-US" sz="1800" b="1" dirty="0">
                <a:solidFill>
                  <a:schemeClr val="tx1"/>
                </a:solidFill>
                <a:latin typeface="Maven Pro" panose="020B0604020202020204" charset="0"/>
              </a:rPr>
              <a:t>” MEAN</a:t>
            </a:r>
            <a:endParaRPr lang="en-GB" sz="1800" b="1" dirty="0">
              <a:solidFill>
                <a:schemeClr val="tx1"/>
              </a:solidFill>
              <a:latin typeface="Maven Pro" panose="020B0604020202020204" charset="0"/>
            </a:endParaRPr>
          </a:p>
        </p:txBody>
      </p:sp>
      <p:sp>
        <p:nvSpPr>
          <p:cNvPr id="293" name="Google Shape;293;p40"/>
          <p:cNvSpPr txBox="1">
            <a:spLocks noGrp="1"/>
          </p:cNvSpPr>
          <p:nvPr>
            <p:ph type="subTitle" idx="1"/>
          </p:nvPr>
        </p:nvSpPr>
        <p:spPr>
          <a:xfrm>
            <a:off x="4155275" y="2037950"/>
            <a:ext cx="4280700" cy="2541797"/>
          </a:xfrm>
          <a:prstGeom prst="rect">
            <a:avLst/>
          </a:prstGeom>
        </p:spPr>
        <p:txBody>
          <a:bodyPr spcFirstLastPara="1" wrap="square" lIns="91425" tIns="91425" rIns="91425" bIns="91425" anchor="t" anchorCtr="0">
            <a:noAutofit/>
          </a:bodyPr>
          <a:lstStyle/>
          <a:p>
            <a:pPr marL="0" lvl="0" indent="0" algn="r" rtl="0">
              <a:spcBef>
                <a:spcPts val="0"/>
              </a:spcBef>
              <a:spcAft>
                <a:spcPts val="1600"/>
              </a:spcAft>
              <a:buNone/>
            </a:pPr>
            <a:r>
              <a:rPr lang="en-US" sz="1800" dirty="0"/>
              <a:t>The sustainability of electric cars is defined as their ability to reduce carbon emissions, increase energy efficiency, and support the sustainable exploitation of natural resources. The advantages and environmental effects of electric cars are evaluated in this presentation. </a:t>
            </a:r>
            <a:endParaRPr sz="1800" dirty="0"/>
          </a:p>
        </p:txBody>
      </p:sp>
      <p:cxnSp>
        <p:nvCxnSpPr>
          <p:cNvPr id="294" name="Google Shape;294;p40"/>
          <p:cNvCxnSpPr/>
          <p:nvPr/>
        </p:nvCxnSpPr>
        <p:spPr>
          <a:xfrm>
            <a:off x="7692133" y="1834651"/>
            <a:ext cx="546900" cy="0"/>
          </a:xfrm>
          <a:prstGeom prst="straightConnector1">
            <a:avLst/>
          </a:prstGeom>
          <a:noFill/>
          <a:ln w="9525" cap="flat" cmpd="sng">
            <a:solidFill>
              <a:schemeClr val="dk1"/>
            </a:solidFill>
            <a:prstDash val="solid"/>
            <a:round/>
            <a:headEnd type="none" w="med" len="med"/>
            <a:tailEnd type="none" w="med" len="med"/>
          </a:ln>
        </p:spPr>
      </p:cxnSp>
      <p:pic>
        <p:nvPicPr>
          <p:cNvPr id="19" name="Picture 18" descr="Logo, company name&#10;&#10;Description automatically generated">
            <a:extLst>
              <a:ext uri="{FF2B5EF4-FFF2-40B4-BE49-F238E27FC236}">
                <a16:creationId xmlns:a16="http://schemas.microsoft.com/office/drawing/2014/main" id="{E235F9EA-362B-F499-9B7D-2A3BB41309D1}"/>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222" b="90000" l="10000" r="90000">
                        <a14:foregroundMark x1="29556" y1="8222" x2="29556" y2="8222"/>
                      </a14:backgroundRemoval>
                    </a14:imgEffect>
                  </a14:imgLayer>
                </a14:imgProps>
              </a:ext>
            </a:extLst>
          </a:blip>
          <a:stretch>
            <a:fillRect/>
          </a:stretch>
        </p:blipFill>
        <p:spPr>
          <a:xfrm>
            <a:off x="8239033" y="157464"/>
            <a:ext cx="796653" cy="796653"/>
          </a:xfrm>
          <a:prstGeom prst="rect">
            <a:avLst/>
          </a:prstGeom>
        </p:spPr>
      </p:pic>
      <p:pic>
        <p:nvPicPr>
          <p:cNvPr id="20" name="Picture 19" descr="A picture containing camera, cellphone&#10;&#10;Description automatically generated">
            <a:extLst>
              <a:ext uri="{FF2B5EF4-FFF2-40B4-BE49-F238E27FC236}">
                <a16:creationId xmlns:a16="http://schemas.microsoft.com/office/drawing/2014/main" id="{4D26D1AD-B08C-ED2E-6C7A-34657A53E457}"/>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9779" b="89872" l="1429" r="98214">
                        <a14:foregroundMark x1="3095" y1="43190" x2="3095" y2="43190"/>
                        <a14:foregroundMark x1="94643" y1="41676" x2="94643" y2="41676"/>
                        <a14:foregroundMark x1="98333" y1="43772" x2="98333" y2="43772"/>
                        <a14:foregroundMark x1="1429" y1="47614" x2="1429" y2="47614"/>
                        <a14:foregroundMark x1="36310" y1="29220" x2="36310" y2="29220"/>
                        <a14:foregroundMark x1="35952" y1="30733" x2="35952" y2="30733"/>
                        <a14:foregroundMark x1="37024" y1="29104" x2="37024" y2="29104"/>
                        <a14:foregroundMark x1="36548" y1="29104" x2="36548" y2="29104"/>
                        <a14:foregroundMark x1="36786" y1="28522" x2="36786" y2="28522"/>
                        <a14:foregroundMark x1="37381" y1="28754" x2="37381" y2="28754"/>
                        <a14:foregroundMark x1="37381" y1="28289" x2="37381" y2="28289"/>
                        <a14:foregroundMark x1="50119" y1="68452" x2="50119" y2="68452"/>
                        <a14:foregroundMark x1="36310" y1="70431" x2="36310" y2="70431"/>
                        <a14:foregroundMark x1="36905" y1="71013" x2="36905" y2="71013"/>
                        <a14:foregroundMark x1="37024" y1="71711" x2="37024" y2="71711"/>
                        <a14:backgroundMark x1="37500" y1="28871" x2="37500" y2="28871"/>
                        <a14:backgroundMark x1="37738" y1="28522" x2="37738" y2="28522"/>
                      </a14:backgroundRemoval>
                    </a14:imgEffect>
                  </a14:imgLayer>
                </a14:imgProps>
              </a:ext>
            </a:extLst>
          </a:blip>
          <a:stretch>
            <a:fillRect/>
          </a:stretch>
        </p:blipFill>
        <p:spPr>
          <a:xfrm rot="19943583">
            <a:off x="140619" y="291508"/>
            <a:ext cx="1577329" cy="1613007"/>
          </a:xfrm>
          <a:prstGeom prst="rect">
            <a:avLst/>
          </a:prstGeom>
        </p:spPr>
      </p:pic>
      <p:sp>
        <p:nvSpPr>
          <p:cNvPr id="5" name="Google Shape;285;p39">
            <a:extLst>
              <a:ext uri="{FF2B5EF4-FFF2-40B4-BE49-F238E27FC236}">
                <a16:creationId xmlns:a16="http://schemas.microsoft.com/office/drawing/2014/main" id="{5D4033D7-9CFC-3E9B-0363-87C7C800E1CF}"/>
              </a:ext>
            </a:extLst>
          </p:cNvPr>
          <p:cNvSpPr/>
          <p:nvPr/>
        </p:nvSpPr>
        <p:spPr>
          <a:xfrm>
            <a:off x="3934325" y="1098011"/>
            <a:ext cx="441900" cy="441900"/>
          </a:xfrm>
          <a:prstGeom prst="diamond">
            <a:avLst/>
          </a:prstGeom>
          <a:solidFill>
            <a:schemeClr val="lt1"/>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289"/>
        <p:cNvGrpSpPr/>
        <p:nvPr/>
      </p:nvGrpSpPr>
      <p:grpSpPr>
        <a:xfrm>
          <a:off x="0" y="0"/>
          <a:ext cx="0" cy="0"/>
          <a:chOff x="0" y="0"/>
          <a:chExt cx="0" cy="0"/>
        </a:xfrm>
      </p:grpSpPr>
      <p:pic>
        <p:nvPicPr>
          <p:cNvPr id="16" name="Picture 15" descr="A picture containing outdoor, light, car&#10;&#10;Description automatically generated">
            <a:extLst>
              <a:ext uri="{FF2B5EF4-FFF2-40B4-BE49-F238E27FC236}">
                <a16:creationId xmlns:a16="http://schemas.microsoft.com/office/drawing/2014/main" id="{E50E3B30-245A-4216-FB0C-9DA975B46D76}"/>
              </a:ext>
            </a:extLst>
          </p:cNvPr>
          <p:cNvPicPr>
            <a:picLocks noChangeAspect="1"/>
          </p:cNvPicPr>
          <p:nvPr/>
        </p:nvPicPr>
        <p:blipFill>
          <a:blip r:embed="rId3"/>
          <a:stretch>
            <a:fillRect/>
          </a:stretch>
        </p:blipFill>
        <p:spPr>
          <a:xfrm>
            <a:off x="-376146" y="0"/>
            <a:ext cx="9896292" cy="5166215"/>
          </a:xfrm>
          <a:prstGeom prst="rect">
            <a:avLst/>
          </a:prstGeom>
        </p:spPr>
      </p:pic>
      <p:sp>
        <p:nvSpPr>
          <p:cNvPr id="17" name="Rectangle 16">
            <a:extLst>
              <a:ext uri="{FF2B5EF4-FFF2-40B4-BE49-F238E27FC236}">
                <a16:creationId xmlns:a16="http://schemas.microsoft.com/office/drawing/2014/main" id="{2F400C8B-4891-6214-729F-425E7EB98398}"/>
              </a:ext>
            </a:extLst>
          </p:cNvPr>
          <p:cNvSpPr/>
          <p:nvPr/>
        </p:nvSpPr>
        <p:spPr>
          <a:xfrm>
            <a:off x="2837475" y="417627"/>
            <a:ext cx="5965031" cy="4386671"/>
          </a:xfrm>
          <a:prstGeom prst="rect">
            <a:avLst/>
          </a:prstGeom>
          <a:solidFill>
            <a:schemeClr val="accent6">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1" name="Google Shape;291;p40"/>
          <p:cNvSpPr/>
          <p:nvPr/>
        </p:nvSpPr>
        <p:spPr>
          <a:xfrm>
            <a:off x="8581556" y="196677"/>
            <a:ext cx="441900" cy="441900"/>
          </a:xfrm>
          <a:prstGeom prst="diamond">
            <a:avLst/>
          </a:prstGeom>
          <a:solidFill>
            <a:schemeClr val="lt1"/>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TextBox 17">
            <a:extLst>
              <a:ext uri="{FF2B5EF4-FFF2-40B4-BE49-F238E27FC236}">
                <a16:creationId xmlns:a16="http://schemas.microsoft.com/office/drawing/2014/main" id="{DAC1BD10-F48E-D67F-8432-B139C1B71448}"/>
              </a:ext>
            </a:extLst>
          </p:cNvPr>
          <p:cNvSpPr txBox="1"/>
          <p:nvPr/>
        </p:nvSpPr>
        <p:spPr>
          <a:xfrm>
            <a:off x="7690360" y="688379"/>
            <a:ext cx="767420" cy="646331"/>
          </a:xfrm>
          <a:prstGeom prst="rect">
            <a:avLst/>
          </a:prstGeom>
          <a:noFill/>
        </p:spPr>
        <p:txBody>
          <a:bodyPr wrap="square" rtlCol="0">
            <a:spAutoFit/>
          </a:bodyPr>
          <a:lstStyle/>
          <a:p>
            <a:r>
              <a:rPr lang="en-US" sz="3600" b="1" dirty="0">
                <a:latin typeface="Maven Pro" panose="020B0604020202020204" charset="0"/>
              </a:rPr>
              <a:t>02</a:t>
            </a:r>
          </a:p>
        </p:txBody>
      </p:sp>
      <p:cxnSp>
        <p:nvCxnSpPr>
          <p:cNvPr id="20" name="Straight Connector 19">
            <a:extLst>
              <a:ext uri="{FF2B5EF4-FFF2-40B4-BE49-F238E27FC236}">
                <a16:creationId xmlns:a16="http://schemas.microsoft.com/office/drawing/2014/main" id="{E1DC3A9E-A98C-9A91-72E6-0AE27918D29F}"/>
              </a:ext>
            </a:extLst>
          </p:cNvPr>
          <p:cNvCxnSpPr/>
          <p:nvPr/>
        </p:nvCxnSpPr>
        <p:spPr>
          <a:xfrm>
            <a:off x="7579519" y="1493044"/>
            <a:ext cx="886092" cy="0"/>
          </a:xfrm>
          <a:prstGeom prst="line">
            <a:avLst/>
          </a:prstGeom>
          <a:ln w="57150"/>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19F9FE6A-FDC2-8275-A81C-164409D895C8}"/>
              </a:ext>
            </a:extLst>
          </p:cNvPr>
          <p:cNvSpPr txBox="1"/>
          <p:nvPr/>
        </p:nvSpPr>
        <p:spPr>
          <a:xfrm>
            <a:off x="3162299" y="1729077"/>
            <a:ext cx="5419257" cy="2308324"/>
          </a:xfrm>
          <a:prstGeom prst="rect">
            <a:avLst/>
          </a:prstGeom>
          <a:noFill/>
        </p:spPr>
        <p:txBody>
          <a:bodyPr wrap="square" rtlCol="0">
            <a:spAutoFit/>
          </a:bodyPr>
          <a:lstStyle/>
          <a:p>
            <a:pPr algn="r"/>
            <a:r>
              <a:rPr lang="en-US" sz="4800" b="1" dirty="0">
                <a:latin typeface="Maven Pro" panose="020B0604020202020204" charset="0"/>
              </a:rPr>
              <a:t>ENVIRONMENTAL IMPACT OF ELECTRIC CARS</a:t>
            </a:r>
            <a:endParaRPr lang="en-GB" sz="4800" b="1" dirty="0">
              <a:latin typeface="Maven Pro" panose="020B0604020202020204" charset="0"/>
            </a:endParaRPr>
          </a:p>
        </p:txBody>
      </p:sp>
      <p:pic>
        <p:nvPicPr>
          <p:cNvPr id="24" name="Picture 23" descr="Logo, company name&#10;&#10;Description automatically generated">
            <a:extLst>
              <a:ext uri="{FF2B5EF4-FFF2-40B4-BE49-F238E27FC236}">
                <a16:creationId xmlns:a16="http://schemas.microsoft.com/office/drawing/2014/main" id="{7423DFE0-C346-92A7-20B0-E5DAE3FB5A0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222" b="90000" l="10000" r="90000">
                        <a14:foregroundMark x1="29556" y1="8222" x2="29556" y2="8222"/>
                      </a14:backgroundRemoval>
                    </a14:imgEffect>
                  </a14:imgLayer>
                </a14:imgProps>
              </a:ext>
            </a:extLst>
          </a:blip>
          <a:stretch>
            <a:fillRect/>
          </a:stretch>
        </p:blipFill>
        <p:spPr>
          <a:xfrm>
            <a:off x="29804" y="60597"/>
            <a:ext cx="796653" cy="796653"/>
          </a:xfrm>
          <a:prstGeom prst="rect">
            <a:avLst/>
          </a:prstGeom>
        </p:spPr>
      </p:pic>
      <p:sp>
        <p:nvSpPr>
          <p:cNvPr id="29" name="TextBox 28">
            <a:extLst>
              <a:ext uri="{FF2B5EF4-FFF2-40B4-BE49-F238E27FC236}">
                <a16:creationId xmlns:a16="http://schemas.microsoft.com/office/drawing/2014/main" id="{8CDB2C53-2D09-9EF7-CDC1-37FF8D7608A5}"/>
              </a:ext>
            </a:extLst>
          </p:cNvPr>
          <p:cNvSpPr txBox="1"/>
          <p:nvPr/>
        </p:nvSpPr>
        <p:spPr>
          <a:xfrm>
            <a:off x="0" y="4632475"/>
            <a:ext cx="3028950" cy="646331"/>
          </a:xfrm>
          <a:prstGeom prst="rect">
            <a:avLst/>
          </a:prstGeom>
          <a:noFill/>
        </p:spPr>
        <p:txBody>
          <a:bodyPr wrap="square" rtlCol="0">
            <a:spAutoFit/>
          </a:bodyPr>
          <a:lstStyle/>
          <a:p>
            <a:r>
              <a:rPr lang="en-US" sz="1000" dirty="0">
                <a:solidFill>
                  <a:schemeClr val="accent1">
                    <a:lumMod val="75000"/>
                  </a:schemeClr>
                </a:solidFill>
                <a:latin typeface="+mj-lt"/>
              </a:rPr>
              <a:t>Figure 3 – Two</a:t>
            </a:r>
            <a:r>
              <a:rPr lang="en-GB" sz="1000" i="0" dirty="0">
                <a:solidFill>
                  <a:schemeClr val="accent1">
                    <a:lumMod val="75000"/>
                  </a:schemeClr>
                </a:solidFill>
                <a:effectLst/>
                <a:latin typeface="+mj-lt"/>
              </a:rPr>
              <a:t> </a:t>
            </a:r>
            <a:r>
              <a:rPr lang="en-GB" sz="1000" dirty="0">
                <a:solidFill>
                  <a:schemeClr val="accent1">
                    <a:lumMod val="75000"/>
                  </a:schemeClr>
                </a:solidFill>
                <a:latin typeface="+mj-lt"/>
              </a:rPr>
              <a:t>C</a:t>
            </a:r>
            <a:r>
              <a:rPr lang="en-GB" sz="1000" i="0" dirty="0">
                <a:solidFill>
                  <a:schemeClr val="accent1">
                    <a:lumMod val="75000"/>
                  </a:schemeClr>
                </a:solidFill>
                <a:effectLst/>
                <a:latin typeface="+mj-lt"/>
              </a:rPr>
              <a:t>ars Charging </a:t>
            </a:r>
          </a:p>
          <a:p>
            <a:r>
              <a:rPr lang="en-GB" sz="800" i="0" dirty="0">
                <a:solidFill>
                  <a:schemeClr val="accent1">
                    <a:lumMod val="75000"/>
                  </a:schemeClr>
                </a:solidFill>
                <a:effectLst/>
                <a:latin typeface="+mj-lt"/>
              </a:rPr>
              <a:t>https://www.counterpointresearch.com/global-ev-sales-61-q2-2022-byd-leads-market/</a:t>
            </a:r>
          </a:p>
          <a:p>
            <a:endParaRPr lang="en-GB" sz="1000" dirty="0"/>
          </a:p>
        </p:txBody>
      </p:sp>
    </p:spTree>
    <p:extLst>
      <p:ext uri="{BB962C8B-B14F-4D97-AF65-F5344CB8AC3E}">
        <p14:creationId xmlns:p14="http://schemas.microsoft.com/office/powerpoint/2010/main" val="16660543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cxnSp>
        <p:nvCxnSpPr>
          <p:cNvPr id="274" name="Google Shape;274;p38"/>
          <p:cNvCxnSpPr/>
          <p:nvPr/>
        </p:nvCxnSpPr>
        <p:spPr>
          <a:xfrm>
            <a:off x="720000" y="1408126"/>
            <a:ext cx="685500" cy="0"/>
          </a:xfrm>
          <a:prstGeom prst="straightConnector1">
            <a:avLst/>
          </a:prstGeom>
          <a:noFill/>
          <a:ln w="9525" cap="flat" cmpd="sng">
            <a:solidFill>
              <a:schemeClr val="dk1"/>
            </a:solidFill>
            <a:prstDash val="solid"/>
            <a:round/>
            <a:headEnd type="none" w="med" len="med"/>
            <a:tailEnd type="none" w="med" len="med"/>
          </a:ln>
        </p:spPr>
      </p:cxnSp>
      <p:pic>
        <p:nvPicPr>
          <p:cNvPr id="19" name="Picture 18" descr="Logo, company name&#10;&#10;Description automatically generated">
            <a:extLst>
              <a:ext uri="{FF2B5EF4-FFF2-40B4-BE49-F238E27FC236}">
                <a16:creationId xmlns:a16="http://schemas.microsoft.com/office/drawing/2014/main" id="{053AC30F-0FFE-D6CC-9C92-672535761B3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8222" b="90000" l="10000" r="90000">
                        <a14:foregroundMark x1="29556" y1="8222" x2="29556" y2="8222"/>
                      </a14:backgroundRemoval>
                    </a14:imgEffect>
                  </a14:imgLayer>
                </a14:imgProps>
              </a:ext>
            </a:extLst>
          </a:blip>
          <a:stretch>
            <a:fillRect/>
          </a:stretch>
        </p:blipFill>
        <p:spPr>
          <a:xfrm>
            <a:off x="29804" y="60597"/>
            <a:ext cx="796653" cy="796653"/>
          </a:xfrm>
          <a:prstGeom prst="rect">
            <a:avLst/>
          </a:prstGeom>
        </p:spPr>
      </p:pic>
      <p:sp>
        <p:nvSpPr>
          <p:cNvPr id="20" name="TextBox 19">
            <a:extLst>
              <a:ext uri="{FF2B5EF4-FFF2-40B4-BE49-F238E27FC236}">
                <a16:creationId xmlns:a16="http://schemas.microsoft.com/office/drawing/2014/main" id="{D2D93BF0-4725-ECE5-AF1A-8F754DBF3251}"/>
              </a:ext>
            </a:extLst>
          </p:cNvPr>
          <p:cNvSpPr txBox="1"/>
          <p:nvPr/>
        </p:nvSpPr>
        <p:spPr>
          <a:xfrm>
            <a:off x="6738027" y="4630330"/>
            <a:ext cx="3028950" cy="523220"/>
          </a:xfrm>
          <a:prstGeom prst="rect">
            <a:avLst/>
          </a:prstGeom>
          <a:noFill/>
        </p:spPr>
        <p:txBody>
          <a:bodyPr wrap="square" rtlCol="0">
            <a:spAutoFit/>
          </a:bodyPr>
          <a:lstStyle/>
          <a:p>
            <a:r>
              <a:rPr lang="en-US" sz="1000" dirty="0">
                <a:solidFill>
                  <a:schemeClr val="accent1">
                    <a:lumMod val="75000"/>
                  </a:schemeClr>
                </a:solidFill>
                <a:latin typeface="+mj-lt"/>
              </a:rPr>
              <a:t>Figure 4 – VEGA Sri-Lankan</a:t>
            </a:r>
            <a:r>
              <a:rPr lang="en-GB" sz="1000" i="0" dirty="0">
                <a:solidFill>
                  <a:schemeClr val="accent1">
                    <a:lumMod val="75000"/>
                  </a:schemeClr>
                </a:solidFill>
                <a:effectLst/>
                <a:latin typeface="+mj-lt"/>
              </a:rPr>
              <a:t> Car </a:t>
            </a:r>
          </a:p>
          <a:p>
            <a:r>
              <a:rPr lang="en-GB" sz="800" i="0" dirty="0">
                <a:solidFill>
                  <a:schemeClr val="accent1">
                    <a:lumMod val="75000"/>
                  </a:schemeClr>
                </a:solidFill>
                <a:effectLst/>
                <a:latin typeface="+mj-lt"/>
              </a:rPr>
              <a:t>https://www.vega.lk/</a:t>
            </a:r>
          </a:p>
          <a:p>
            <a:endParaRPr lang="en-GB" sz="1000" dirty="0"/>
          </a:p>
        </p:txBody>
      </p:sp>
      <p:sp>
        <p:nvSpPr>
          <p:cNvPr id="4" name="TextBox 3">
            <a:extLst>
              <a:ext uri="{FF2B5EF4-FFF2-40B4-BE49-F238E27FC236}">
                <a16:creationId xmlns:a16="http://schemas.microsoft.com/office/drawing/2014/main" id="{DF289666-8D65-E8F2-7A9F-E0D9A0A39C8D}"/>
              </a:ext>
            </a:extLst>
          </p:cNvPr>
          <p:cNvSpPr txBox="1"/>
          <p:nvPr/>
        </p:nvSpPr>
        <p:spPr>
          <a:xfrm>
            <a:off x="720000" y="815139"/>
            <a:ext cx="7985850" cy="492443"/>
          </a:xfrm>
          <a:prstGeom prst="rect">
            <a:avLst/>
          </a:prstGeom>
          <a:noFill/>
        </p:spPr>
        <p:txBody>
          <a:bodyPr wrap="square" rtlCol="0">
            <a:spAutoFit/>
          </a:bodyPr>
          <a:lstStyle/>
          <a:p>
            <a:r>
              <a:rPr lang="en-US" sz="2600" b="1" dirty="0">
                <a:latin typeface="Maven Pro" panose="020B0604020202020204" charset="0"/>
              </a:rPr>
              <a:t>ENVIRONMENTAL IMPACT OF ELECTRIC CARS</a:t>
            </a:r>
            <a:endParaRPr lang="en-GB" sz="2600" b="1" dirty="0">
              <a:latin typeface="Maven Pro" panose="020B0604020202020204" charset="0"/>
            </a:endParaRPr>
          </a:p>
        </p:txBody>
      </p:sp>
      <p:sp>
        <p:nvSpPr>
          <p:cNvPr id="9" name="Rectangle: Rounded Corners 8">
            <a:extLst>
              <a:ext uri="{FF2B5EF4-FFF2-40B4-BE49-F238E27FC236}">
                <a16:creationId xmlns:a16="http://schemas.microsoft.com/office/drawing/2014/main" id="{0F946EB3-EF12-8637-D2C7-45C8B4B42744}"/>
              </a:ext>
            </a:extLst>
          </p:cNvPr>
          <p:cNvSpPr/>
          <p:nvPr/>
        </p:nvSpPr>
        <p:spPr>
          <a:xfrm>
            <a:off x="499050" y="1738083"/>
            <a:ext cx="3852000" cy="23256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Google Shape;293;p40">
            <a:extLst>
              <a:ext uri="{FF2B5EF4-FFF2-40B4-BE49-F238E27FC236}">
                <a16:creationId xmlns:a16="http://schemas.microsoft.com/office/drawing/2014/main" id="{4948BAAA-669E-D7BE-1600-2F582E16AD71}"/>
              </a:ext>
            </a:extLst>
          </p:cNvPr>
          <p:cNvSpPr txBox="1">
            <a:spLocks noGrp="1"/>
          </p:cNvSpPr>
          <p:nvPr>
            <p:ph type="subTitle" idx="1"/>
          </p:nvPr>
        </p:nvSpPr>
        <p:spPr>
          <a:xfrm>
            <a:off x="499050" y="1950532"/>
            <a:ext cx="3852000" cy="2541797"/>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US" sz="1800" b="1" dirty="0">
                <a:solidFill>
                  <a:schemeClr val="bg1"/>
                </a:solidFill>
              </a:rPr>
              <a:t>Carbon emissions from electric cars</a:t>
            </a:r>
          </a:p>
          <a:p>
            <a:pPr marL="0" lvl="0" indent="0" algn="ctr" rtl="0">
              <a:spcBef>
                <a:spcPts val="0"/>
              </a:spcBef>
              <a:spcAft>
                <a:spcPts val="1600"/>
              </a:spcAft>
              <a:buNone/>
            </a:pPr>
            <a:r>
              <a:rPr lang="en-US" b="0" i="0" dirty="0">
                <a:solidFill>
                  <a:srgbClr val="444444"/>
                </a:solidFill>
                <a:effectLst/>
                <a:latin typeface="Poppins" panose="020B0502040204020203" pitchFamily="2" charset="0"/>
              </a:rPr>
              <a:t>Electric cars are considered more environmentally friendly than conventional gasoline or diesel-powered cars, as they produce fewer carbon emissions.</a:t>
            </a:r>
            <a:endParaRPr lang="en-US" dirty="0"/>
          </a:p>
        </p:txBody>
      </p:sp>
      <p:sp>
        <p:nvSpPr>
          <p:cNvPr id="2" name="Rectangle: Rounded Corners 1">
            <a:extLst>
              <a:ext uri="{FF2B5EF4-FFF2-40B4-BE49-F238E27FC236}">
                <a16:creationId xmlns:a16="http://schemas.microsoft.com/office/drawing/2014/main" id="{741690B9-429E-E50E-E616-C024906665D6}"/>
              </a:ext>
            </a:extLst>
          </p:cNvPr>
          <p:cNvSpPr/>
          <p:nvPr/>
        </p:nvSpPr>
        <p:spPr>
          <a:xfrm>
            <a:off x="4792950" y="1738083"/>
            <a:ext cx="3852000" cy="23256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Google Shape;293;p40">
            <a:extLst>
              <a:ext uri="{FF2B5EF4-FFF2-40B4-BE49-F238E27FC236}">
                <a16:creationId xmlns:a16="http://schemas.microsoft.com/office/drawing/2014/main" id="{9939074D-7583-BDD8-1D49-1BDC032AC424}"/>
              </a:ext>
            </a:extLst>
          </p:cNvPr>
          <p:cNvSpPr txBox="1">
            <a:spLocks/>
          </p:cNvSpPr>
          <p:nvPr/>
        </p:nvSpPr>
        <p:spPr>
          <a:xfrm>
            <a:off x="4792950" y="1950532"/>
            <a:ext cx="3852000" cy="254179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None/>
              <a:defRPr sz="16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marL="0" indent="0" algn="ctr">
              <a:spcAft>
                <a:spcPts val="1600"/>
              </a:spcAft>
            </a:pPr>
            <a:r>
              <a:rPr lang="en-US" sz="1800" b="1" dirty="0">
                <a:solidFill>
                  <a:schemeClr val="bg1"/>
                </a:solidFill>
              </a:rPr>
              <a:t>Comparison with fossil-fuel cars</a:t>
            </a:r>
          </a:p>
          <a:p>
            <a:pPr marL="0" indent="0" algn="ctr">
              <a:spcAft>
                <a:spcPts val="1600"/>
              </a:spcAft>
            </a:pPr>
            <a:r>
              <a:rPr lang="en-US" dirty="0">
                <a:solidFill>
                  <a:srgbClr val="444444"/>
                </a:solidFill>
                <a:latin typeface="Poppins" panose="020B0502040204020203" pitchFamily="2" charset="0"/>
              </a:rPr>
              <a:t>Electric cars emit fewer greenhouse gases and less air and noise pollutants compared to fossil fuel-powered cars.</a:t>
            </a:r>
            <a:endParaRPr lang="en-US" dirty="0"/>
          </a:p>
        </p:txBody>
      </p:sp>
      <p:sp>
        <p:nvSpPr>
          <p:cNvPr id="270" name="Google Shape;270;p38"/>
          <p:cNvSpPr/>
          <p:nvPr/>
        </p:nvSpPr>
        <p:spPr>
          <a:xfrm>
            <a:off x="4351050" y="2571750"/>
            <a:ext cx="441900" cy="441900"/>
          </a:xfrm>
          <a:prstGeom prst="diamond">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21409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cxnSp>
        <p:nvCxnSpPr>
          <p:cNvPr id="274" name="Google Shape;274;p38"/>
          <p:cNvCxnSpPr/>
          <p:nvPr/>
        </p:nvCxnSpPr>
        <p:spPr>
          <a:xfrm>
            <a:off x="720000" y="1408126"/>
            <a:ext cx="685500" cy="0"/>
          </a:xfrm>
          <a:prstGeom prst="straightConnector1">
            <a:avLst/>
          </a:prstGeom>
          <a:noFill/>
          <a:ln w="9525" cap="flat" cmpd="sng">
            <a:solidFill>
              <a:schemeClr val="dk1"/>
            </a:solidFill>
            <a:prstDash val="solid"/>
            <a:round/>
            <a:headEnd type="none" w="med" len="med"/>
            <a:tailEnd type="none" w="med" len="med"/>
          </a:ln>
        </p:spPr>
      </p:cxnSp>
      <p:pic>
        <p:nvPicPr>
          <p:cNvPr id="19" name="Picture 18" descr="Logo, company name&#10;&#10;Description automatically generated">
            <a:extLst>
              <a:ext uri="{FF2B5EF4-FFF2-40B4-BE49-F238E27FC236}">
                <a16:creationId xmlns:a16="http://schemas.microsoft.com/office/drawing/2014/main" id="{053AC30F-0FFE-D6CC-9C92-672535761B3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8222" b="90000" l="10000" r="90000">
                        <a14:foregroundMark x1="29556" y1="8222" x2="29556" y2="8222"/>
                      </a14:backgroundRemoval>
                    </a14:imgEffect>
                  </a14:imgLayer>
                </a14:imgProps>
              </a:ext>
            </a:extLst>
          </a:blip>
          <a:stretch>
            <a:fillRect/>
          </a:stretch>
        </p:blipFill>
        <p:spPr>
          <a:xfrm>
            <a:off x="29804" y="60597"/>
            <a:ext cx="796653" cy="796653"/>
          </a:xfrm>
          <a:prstGeom prst="rect">
            <a:avLst/>
          </a:prstGeom>
        </p:spPr>
      </p:pic>
      <p:sp>
        <p:nvSpPr>
          <p:cNvPr id="4" name="TextBox 3">
            <a:extLst>
              <a:ext uri="{FF2B5EF4-FFF2-40B4-BE49-F238E27FC236}">
                <a16:creationId xmlns:a16="http://schemas.microsoft.com/office/drawing/2014/main" id="{DF289666-8D65-E8F2-7A9F-E0D9A0A39C8D}"/>
              </a:ext>
            </a:extLst>
          </p:cNvPr>
          <p:cNvSpPr txBox="1"/>
          <p:nvPr/>
        </p:nvSpPr>
        <p:spPr>
          <a:xfrm>
            <a:off x="720000" y="815139"/>
            <a:ext cx="7985850" cy="492443"/>
          </a:xfrm>
          <a:prstGeom prst="rect">
            <a:avLst/>
          </a:prstGeom>
          <a:noFill/>
        </p:spPr>
        <p:txBody>
          <a:bodyPr wrap="square" rtlCol="0">
            <a:spAutoFit/>
          </a:bodyPr>
          <a:lstStyle/>
          <a:p>
            <a:r>
              <a:rPr lang="en-US" sz="2600" b="1" dirty="0">
                <a:latin typeface="Maven Pro" panose="020B0604020202020204" charset="0"/>
              </a:rPr>
              <a:t>ENVIRONMENTAL IMPACT OF ELECTRIC CARS</a:t>
            </a:r>
            <a:endParaRPr lang="en-GB" sz="2600" b="1" dirty="0">
              <a:latin typeface="Maven Pro" panose="020B0604020202020204" charset="0"/>
            </a:endParaRPr>
          </a:p>
        </p:txBody>
      </p:sp>
      <p:sp>
        <p:nvSpPr>
          <p:cNvPr id="9" name="Rectangle: Rounded Corners 8">
            <a:extLst>
              <a:ext uri="{FF2B5EF4-FFF2-40B4-BE49-F238E27FC236}">
                <a16:creationId xmlns:a16="http://schemas.microsoft.com/office/drawing/2014/main" id="{0F946EB3-EF12-8637-D2C7-45C8B4B42744}"/>
              </a:ext>
            </a:extLst>
          </p:cNvPr>
          <p:cNvSpPr/>
          <p:nvPr/>
        </p:nvSpPr>
        <p:spPr>
          <a:xfrm>
            <a:off x="499050" y="1738082"/>
            <a:ext cx="3852000" cy="25902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Google Shape;293;p40">
            <a:extLst>
              <a:ext uri="{FF2B5EF4-FFF2-40B4-BE49-F238E27FC236}">
                <a16:creationId xmlns:a16="http://schemas.microsoft.com/office/drawing/2014/main" id="{4948BAAA-669E-D7BE-1600-2F582E16AD71}"/>
              </a:ext>
            </a:extLst>
          </p:cNvPr>
          <p:cNvSpPr txBox="1">
            <a:spLocks noGrp="1"/>
          </p:cNvSpPr>
          <p:nvPr>
            <p:ph type="subTitle" idx="1"/>
          </p:nvPr>
        </p:nvSpPr>
        <p:spPr>
          <a:xfrm>
            <a:off x="499050" y="1950532"/>
            <a:ext cx="3852000" cy="2541797"/>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US" sz="1800" b="1" dirty="0">
                <a:solidFill>
                  <a:schemeClr val="bg1"/>
                </a:solidFill>
              </a:rPr>
              <a:t>Life cycle assessment of electric cars</a:t>
            </a:r>
          </a:p>
          <a:p>
            <a:pPr marL="0" lvl="0" indent="0" algn="ctr" rtl="0">
              <a:spcBef>
                <a:spcPts val="0"/>
              </a:spcBef>
              <a:spcAft>
                <a:spcPts val="1600"/>
              </a:spcAft>
              <a:buNone/>
            </a:pPr>
            <a:r>
              <a:rPr lang="en-US" b="0" i="0" dirty="0">
                <a:solidFill>
                  <a:srgbClr val="444444"/>
                </a:solidFill>
                <a:effectLst/>
                <a:latin typeface="Poppins" panose="020B0502040204020203" pitchFamily="2" charset="0"/>
              </a:rPr>
              <a:t>A life cycle assessment (LCA) of electric cars consider the environmental impacts of battery production, electricity generation, and end-of-life disposal.</a:t>
            </a:r>
            <a:endParaRPr lang="en-US" dirty="0"/>
          </a:p>
        </p:txBody>
      </p:sp>
      <p:sp>
        <p:nvSpPr>
          <p:cNvPr id="2" name="Rectangle: Rounded Corners 1">
            <a:extLst>
              <a:ext uri="{FF2B5EF4-FFF2-40B4-BE49-F238E27FC236}">
                <a16:creationId xmlns:a16="http://schemas.microsoft.com/office/drawing/2014/main" id="{741690B9-429E-E50E-E616-C024906665D6}"/>
              </a:ext>
            </a:extLst>
          </p:cNvPr>
          <p:cNvSpPr/>
          <p:nvPr/>
        </p:nvSpPr>
        <p:spPr>
          <a:xfrm>
            <a:off x="4792950" y="1738083"/>
            <a:ext cx="3852000" cy="259027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Google Shape;293;p40">
            <a:extLst>
              <a:ext uri="{FF2B5EF4-FFF2-40B4-BE49-F238E27FC236}">
                <a16:creationId xmlns:a16="http://schemas.microsoft.com/office/drawing/2014/main" id="{9939074D-7583-BDD8-1D49-1BDC032AC424}"/>
              </a:ext>
            </a:extLst>
          </p:cNvPr>
          <p:cNvSpPr txBox="1">
            <a:spLocks/>
          </p:cNvSpPr>
          <p:nvPr/>
        </p:nvSpPr>
        <p:spPr>
          <a:xfrm>
            <a:off x="4792950" y="1950532"/>
            <a:ext cx="3852000" cy="254179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None/>
              <a:defRPr sz="16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marL="0" indent="0" algn="ctr">
              <a:spcAft>
                <a:spcPts val="1600"/>
              </a:spcAft>
            </a:pPr>
            <a:r>
              <a:rPr lang="en-US" sz="1800" b="1" dirty="0">
                <a:solidFill>
                  <a:schemeClr val="bg1"/>
                </a:solidFill>
              </a:rPr>
              <a:t>Environmental benefits of electric cars</a:t>
            </a:r>
          </a:p>
          <a:p>
            <a:pPr marL="0" indent="0" algn="ctr">
              <a:spcAft>
                <a:spcPts val="1600"/>
              </a:spcAft>
            </a:pPr>
            <a:r>
              <a:rPr lang="en-US" dirty="0">
                <a:solidFill>
                  <a:srgbClr val="444444"/>
                </a:solidFill>
                <a:latin typeface="Poppins" panose="020B0502040204020203" pitchFamily="2" charset="0"/>
              </a:rPr>
              <a:t>Electric vehicles can help promote the use of renewable energy sources, lessen reliance on fossil fuels, and produce fewer emissions and pollutants than conventional vehicles.</a:t>
            </a:r>
            <a:endParaRPr lang="en-US" dirty="0"/>
          </a:p>
        </p:txBody>
      </p:sp>
      <p:sp>
        <p:nvSpPr>
          <p:cNvPr id="270" name="Google Shape;270;p38"/>
          <p:cNvSpPr/>
          <p:nvPr/>
        </p:nvSpPr>
        <p:spPr>
          <a:xfrm>
            <a:off x="4351050" y="2812270"/>
            <a:ext cx="441900" cy="441900"/>
          </a:xfrm>
          <a:prstGeom prst="diamond">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93123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18" name="Picture 17" descr="A car parked on the side of the road&#10;&#10;Description automatically generated with medium confidence">
            <a:extLst>
              <a:ext uri="{FF2B5EF4-FFF2-40B4-BE49-F238E27FC236}">
                <a16:creationId xmlns:a16="http://schemas.microsoft.com/office/drawing/2014/main" id="{B8ED026E-36A1-CEA3-07CF-01B8573BCCE8}"/>
              </a:ext>
            </a:extLst>
          </p:cNvPr>
          <p:cNvPicPr>
            <a:picLocks noChangeAspect="1"/>
          </p:cNvPicPr>
          <p:nvPr/>
        </p:nvPicPr>
        <p:blipFill rotWithShape="1">
          <a:blip r:embed="rId3"/>
          <a:srcRect t="10625" r="-583" b="5000"/>
          <a:stretch/>
        </p:blipFill>
        <p:spPr>
          <a:xfrm>
            <a:off x="-30480" y="-1"/>
            <a:ext cx="9204960" cy="5143500"/>
          </a:xfrm>
          <a:prstGeom prst="rect">
            <a:avLst/>
          </a:prstGeom>
        </p:spPr>
      </p:pic>
      <p:sp>
        <p:nvSpPr>
          <p:cNvPr id="3" name="Rectangle 2">
            <a:extLst>
              <a:ext uri="{FF2B5EF4-FFF2-40B4-BE49-F238E27FC236}">
                <a16:creationId xmlns:a16="http://schemas.microsoft.com/office/drawing/2014/main" id="{45D39255-3D4E-DF2F-E079-FF99412D7790}"/>
              </a:ext>
            </a:extLst>
          </p:cNvPr>
          <p:cNvSpPr/>
          <p:nvPr/>
        </p:nvSpPr>
        <p:spPr>
          <a:xfrm>
            <a:off x="506640" y="378414"/>
            <a:ext cx="5965031" cy="4386671"/>
          </a:xfrm>
          <a:prstGeom prst="rect">
            <a:avLst/>
          </a:prstGeom>
          <a:solidFill>
            <a:schemeClr val="tx1">
              <a:alpha val="5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C7A80F45-C967-A35B-5904-75BF8BAA7D58}"/>
              </a:ext>
            </a:extLst>
          </p:cNvPr>
          <p:cNvSpPr txBox="1"/>
          <p:nvPr/>
        </p:nvSpPr>
        <p:spPr>
          <a:xfrm>
            <a:off x="727590" y="649166"/>
            <a:ext cx="5399355" cy="646331"/>
          </a:xfrm>
          <a:prstGeom prst="rect">
            <a:avLst/>
          </a:prstGeom>
          <a:noFill/>
        </p:spPr>
        <p:txBody>
          <a:bodyPr wrap="square" rtlCol="0">
            <a:spAutoFit/>
          </a:bodyPr>
          <a:lstStyle/>
          <a:p>
            <a:r>
              <a:rPr lang="en-US" sz="3600" b="1" dirty="0">
                <a:solidFill>
                  <a:schemeClr val="accent6"/>
                </a:solidFill>
                <a:latin typeface="Maven Pro" panose="020B0604020202020204" charset="0"/>
              </a:rPr>
              <a:t>03</a:t>
            </a:r>
          </a:p>
        </p:txBody>
      </p:sp>
      <p:cxnSp>
        <p:nvCxnSpPr>
          <p:cNvPr id="5" name="Straight Connector 4">
            <a:extLst>
              <a:ext uri="{FF2B5EF4-FFF2-40B4-BE49-F238E27FC236}">
                <a16:creationId xmlns:a16="http://schemas.microsoft.com/office/drawing/2014/main" id="{3695FC7E-6B4A-83D3-BA9C-DEB785EADCFF}"/>
              </a:ext>
            </a:extLst>
          </p:cNvPr>
          <p:cNvCxnSpPr>
            <a:cxnSpLocks/>
          </p:cNvCxnSpPr>
          <p:nvPr/>
        </p:nvCxnSpPr>
        <p:spPr>
          <a:xfrm>
            <a:off x="805404" y="1461026"/>
            <a:ext cx="886092" cy="0"/>
          </a:xfrm>
          <a:prstGeom prst="line">
            <a:avLst/>
          </a:prstGeom>
          <a:ln w="57150">
            <a:solidFill>
              <a:schemeClr val="accent6"/>
            </a:solidFill>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6D62E5E0-D14D-0EAD-33CC-09B006BB6FF4}"/>
              </a:ext>
            </a:extLst>
          </p:cNvPr>
          <p:cNvSpPr txBox="1"/>
          <p:nvPr/>
        </p:nvSpPr>
        <p:spPr>
          <a:xfrm>
            <a:off x="720000" y="1626556"/>
            <a:ext cx="5530721" cy="2677656"/>
          </a:xfrm>
          <a:prstGeom prst="rect">
            <a:avLst/>
          </a:prstGeom>
          <a:noFill/>
        </p:spPr>
        <p:txBody>
          <a:bodyPr wrap="square" rtlCol="0">
            <a:spAutoFit/>
          </a:bodyPr>
          <a:lstStyle/>
          <a:p>
            <a:r>
              <a:rPr lang="en-US" sz="4200" b="1" dirty="0">
                <a:solidFill>
                  <a:schemeClr val="accent6"/>
                </a:solidFill>
                <a:latin typeface="Maven Pro" panose="020B0604020202020204" charset="0"/>
              </a:rPr>
              <a:t>SOCIAL AND ECONOMIC SUSTAINABILITY OF ELECTRIC CARS</a:t>
            </a:r>
            <a:endParaRPr lang="en-GB" sz="4200" b="1" dirty="0">
              <a:solidFill>
                <a:schemeClr val="accent6"/>
              </a:solidFill>
              <a:latin typeface="Maven Pro" panose="020B0604020202020204" charset="0"/>
            </a:endParaRPr>
          </a:p>
        </p:txBody>
      </p:sp>
      <p:sp>
        <p:nvSpPr>
          <p:cNvPr id="270" name="Google Shape;270;p38"/>
          <p:cNvSpPr/>
          <p:nvPr/>
        </p:nvSpPr>
        <p:spPr>
          <a:xfrm>
            <a:off x="285690" y="157464"/>
            <a:ext cx="441900" cy="441900"/>
          </a:xfrm>
          <a:prstGeom prst="diamond">
            <a:avLst/>
          </a:prstGeom>
          <a:solidFill>
            <a:schemeClr val="lt1"/>
          </a:solidFill>
          <a:ln w="1905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Picture 10" descr="Logo, company name&#10;&#10;Description automatically generated">
            <a:extLst>
              <a:ext uri="{FF2B5EF4-FFF2-40B4-BE49-F238E27FC236}">
                <a16:creationId xmlns:a16="http://schemas.microsoft.com/office/drawing/2014/main" id="{0C02EDF1-2469-322C-A246-51A6D2069AD0}"/>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222" b="90000" l="10000" r="90000">
                        <a14:foregroundMark x1="29556" y1="8222" x2="29556" y2="8222"/>
                      </a14:backgroundRemoval>
                    </a14:imgEffect>
                  </a14:imgLayer>
                </a14:imgProps>
              </a:ext>
            </a:extLst>
          </a:blip>
          <a:stretch>
            <a:fillRect/>
          </a:stretch>
        </p:blipFill>
        <p:spPr>
          <a:xfrm>
            <a:off x="8239033" y="157464"/>
            <a:ext cx="796653" cy="796653"/>
          </a:xfrm>
          <a:prstGeom prst="rect">
            <a:avLst/>
          </a:prstGeom>
        </p:spPr>
      </p:pic>
      <p:sp>
        <p:nvSpPr>
          <p:cNvPr id="13" name="TextBox 12">
            <a:extLst>
              <a:ext uri="{FF2B5EF4-FFF2-40B4-BE49-F238E27FC236}">
                <a16:creationId xmlns:a16="http://schemas.microsoft.com/office/drawing/2014/main" id="{9DF1810C-15BE-F2C8-F3F7-85DC333501EA}"/>
              </a:ext>
            </a:extLst>
          </p:cNvPr>
          <p:cNvSpPr txBox="1"/>
          <p:nvPr/>
        </p:nvSpPr>
        <p:spPr>
          <a:xfrm>
            <a:off x="6738027" y="4630330"/>
            <a:ext cx="3028950" cy="523220"/>
          </a:xfrm>
          <a:prstGeom prst="rect">
            <a:avLst/>
          </a:prstGeom>
          <a:noFill/>
        </p:spPr>
        <p:txBody>
          <a:bodyPr wrap="square" rtlCol="0">
            <a:spAutoFit/>
          </a:bodyPr>
          <a:lstStyle/>
          <a:p>
            <a:r>
              <a:rPr lang="en-US" sz="1000" dirty="0">
                <a:solidFill>
                  <a:schemeClr val="accent1">
                    <a:lumMod val="75000"/>
                  </a:schemeClr>
                </a:solidFill>
                <a:latin typeface="+mj-lt"/>
              </a:rPr>
              <a:t>Figure 4 – VEGA Sri-Lankan</a:t>
            </a:r>
            <a:r>
              <a:rPr lang="en-GB" sz="1000" i="0" dirty="0">
                <a:solidFill>
                  <a:schemeClr val="accent1">
                    <a:lumMod val="75000"/>
                  </a:schemeClr>
                </a:solidFill>
                <a:effectLst/>
                <a:latin typeface="+mj-lt"/>
              </a:rPr>
              <a:t> Car </a:t>
            </a:r>
          </a:p>
          <a:p>
            <a:r>
              <a:rPr lang="en-GB" sz="800" i="0" dirty="0">
                <a:solidFill>
                  <a:schemeClr val="accent1">
                    <a:lumMod val="75000"/>
                  </a:schemeClr>
                </a:solidFill>
                <a:effectLst/>
                <a:latin typeface="+mj-lt"/>
              </a:rPr>
              <a:t>https://www.vega.lk/</a:t>
            </a:r>
          </a:p>
          <a:p>
            <a:endParaRPr lang="en-GB" sz="1000" dirty="0"/>
          </a:p>
        </p:txBody>
      </p:sp>
    </p:spTree>
    <p:extLst>
      <p:ext uri="{BB962C8B-B14F-4D97-AF65-F5344CB8AC3E}">
        <p14:creationId xmlns:p14="http://schemas.microsoft.com/office/powerpoint/2010/main" val="2011489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41"/>
          <p:cNvSpPr txBox="1">
            <a:spLocks noGrp="1"/>
          </p:cNvSpPr>
          <p:nvPr>
            <p:ph type="title"/>
          </p:nvPr>
        </p:nvSpPr>
        <p:spPr>
          <a:xfrm>
            <a:off x="720000" y="519654"/>
            <a:ext cx="3203400" cy="1180800"/>
          </a:xfrm>
          <a:prstGeom prst="rect">
            <a:avLst/>
          </a:prstGeom>
        </p:spPr>
        <p:txBody>
          <a:bodyPr spcFirstLastPara="1" wrap="square" lIns="91425" tIns="91425" rIns="91425" bIns="91425" anchor="b" anchorCtr="0">
            <a:noAutofit/>
          </a:bodyPr>
          <a:lstStyle/>
          <a:p>
            <a:r>
              <a:rPr lang="en-US" sz="2000" b="1" dirty="0">
                <a:solidFill>
                  <a:schemeClr val="tx1"/>
                </a:solidFill>
                <a:latin typeface="Maven Pro" panose="020B0604020202020204" charset="0"/>
              </a:rPr>
              <a:t>SOCIAL AND ECONOMIC SUSTAINABILITY OF ELECTRIC CARS</a:t>
            </a:r>
            <a:endParaRPr sz="2000" b="1" dirty="0">
              <a:solidFill>
                <a:schemeClr val="tx1"/>
              </a:solidFill>
            </a:endParaRPr>
          </a:p>
        </p:txBody>
      </p:sp>
      <p:pic>
        <p:nvPicPr>
          <p:cNvPr id="8" name="Picture 7" descr="Logo, company name&#10;&#10;Description automatically generated">
            <a:extLst>
              <a:ext uri="{FF2B5EF4-FFF2-40B4-BE49-F238E27FC236}">
                <a16:creationId xmlns:a16="http://schemas.microsoft.com/office/drawing/2014/main" id="{683C9615-CACE-F6C0-85F1-5CC420B67FC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8222" b="90000" l="10000" r="90000">
                        <a14:foregroundMark x1="29556" y1="8222" x2="29556" y2="8222"/>
                      </a14:backgroundRemoval>
                    </a14:imgEffect>
                  </a14:imgLayer>
                </a14:imgProps>
              </a:ext>
            </a:extLst>
          </a:blip>
          <a:stretch>
            <a:fillRect/>
          </a:stretch>
        </p:blipFill>
        <p:spPr>
          <a:xfrm>
            <a:off x="8239033" y="157464"/>
            <a:ext cx="796653" cy="796653"/>
          </a:xfrm>
          <a:prstGeom prst="rect">
            <a:avLst/>
          </a:prstGeom>
        </p:spPr>
      </p:pic>
      <p:pic>
        <p:nvPicPr>
          <p:cNvPr id="2" name="Picture 1" descr="A car parked on the side of the road&#10;&#10;Description automatically generated with medium confidence">
            <a:extLst>
              <a:ext uri="{FF2B5EF4-FFF2-40B4-BE49-F238E27FC236}">
                <a16:creationId xmlns:a16="http://schemas.microsoft.com/office/drawing/2014/main" id="{5FAE52F1-30B6-C9D7-167C-EF0C8852E325}"/>
              </a:ext>
            </a:extLst>
          </p:cNvPr>
          <p:cNvPicPr>
            <a:picLocks noChangeAspect="1"/>
          </p:cNvPicPr>
          <p:nvPr/>
        </p:nvPicPr>
        <p:blipFill rotWithShape="1">
          <a:blip r:embed="rId5"/>
          <a:srcRect t="10625" r="-583" b="5000"/>
          <a:stretch/>
        </p:blipFill>
        <p:spPr>
          <a:xfrm>
            <a:off x="5384800" y="946057"/>
            <a:ext cx="5763260" cy="3220365"/>
          </a:xfrm>
          <a:prstGeom prst="rect">
            <a:avLst/>
          </a:prstGeom>
        </p:spPr>
      </p:pic>
      <p:sp>
        <p:nvSpPr>
          <p:cNvPr id="302" name="Google Shape;302;p41"/>
          <p:cNvSpPr/>
          <p:nvPr/>
        </p:nvSpPr>
        <p:spPr>
          <a:xfrm>
            <a:off x="5163850" y="3945472"/>
            <a:ext cx="441900" cy="441900"/>
          </a:xfrm>
          <a:prstGeom prst="diamond">
            <a:avLst/>
          </a:prstGeom>
          <a:solidFill>
            <a:schemeClr val="bg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 name="Google Shape;274;p38">
            <a:extLst>
              <a:ext uri="{FF2B5EF4-FFF2-40B4-BE49-F238E27FC236}">
                <a16:creationId xmlns:a16="http://schemas.microsoft.com/office/drawing/2014/main" id="{306FCAD2-056F-1B1D-6DB2-68827F39E559}"/>
              </a:ext>
            </a:extLst>
          </p:cNvPr>
          <p:cNvCxnSpPr/>
          <p:nvPr/>
        </p:nvCxnSpPr>
        <p:spPr>
          <a:xfrm>
            <a:off x="720000" y="1749680"/>
            <a:ext cx="685500" cy="0"/>
          </a:xfrm>
          <a:prstGeom prst="straightConnector1">
            <a:avLst/>
          </a:prstGeom>
          <a:noFill/>
          <a:ln w="9525" cap="flat" cmpd="sng">
            <a:solidFill>
              <a:schemeClr val="dk1"/>
            </a:solidFill>
            <a:prstDash val="solid"/>
            <a:round/>
            <a:headEnd type="none" w="med" len="med"/>
            <a:tailEnd type="none" w="med" len="med"/>
          </a:ln>
        </p:spPr>
      </p:cxnSp>
      <p:sp>
        <p:nvSpPr>
          <p:cNvPr id="6" name="Google Shape;293;p40">
            <a:extLst>
              <a:ext uri="{FF2B5EF4-FFF2-40B4-BE49-F238E27FC236}">
                <a16:creationId xmlns:a16="http://schemas.microsoft.com/office/drawing/2014/main" id="{C3C13B68-28BC-0378-2011-C7AE4CF5DF6D}"/>
              </a:ext>
            </a:extLst>
          </p:cNvPr>
          <p:cNvSpPr txBox="1">
            <a:spLocks/>
          </p:cNvSpPr>
          <p:nvPr/>
        </p:nvSpPr>
        <p:spPr>
          <a:xfrm>
            <a:off x="661151" y="1798908"/>
            <a:ext cx="4723649" cy="236751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1"/>
              </a:buClr>
              <a:buSzPts val="1400"/>
              <a:buFont typeface="Assistant"/>
              <a:buChar char="⬩"/>
              <a:defRPr sz="1400" b="0" i="0" u="none" strike="noStrike" cap="none">
                <a:solidFill>
                  <a:schemeClr val="dk1"/>
                </a:solidFill>
                <a:latin typeface="Assistant"/>
                <a:ea typeface="Assistant"/>
                <a:cs typeface="Assistant"/>
                <a:sym typeface="Assistant"/>
              </a:defRPr>
            </a:lvl1pPr>
            <a:lvl2pPr marL="914400" marR="0" lvl="1" indent="-317500" algn="l" rtl="0">
              <a:lnSpc>
                <a:spcPct val="115000"/>
              </a:lnSpc>
              <a:spcBef>
                <a:spcPts val="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2pPr>
            <a:lvl3pPr marL="1371600" marR="0" lvl="2" indent="-317500" algn="l" rtl="0">
              <a:lnSpc>
                <a:spcPct val="115000"/>
              </a:lnSpc>
              <a:spcBef>
                <a:spcPts val="16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3pPr>
            <a:lvl4pPr marL="1828800" marR="0" lvl="3" indent="-317500" algn="l" rtl="0">
              <a:lnSpc>
                <a:spcPct val="115000"/>
              </a:lnSpc>
              <a:spcBef>
                <a:spcPts val="16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4pPr>
            <a:lvl5pPr marL="2286000" marR="0" lvl="4" indent="-317500" algn="l" rtl="0">
              <a:lnSpc>
                <a:spcPct val="115000"/>
              </a:lnSpc>
              <a:spcBef>
                <a:spcPts val="16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5pPr>
            <a:lvl6pPr marL="2743200" marR="0" lvl="5" indent="-317500" algn="l" rtl="0">
              <a:lnSpc>
                <a:spcPct val="115000"/>
              </a:lnSpc>
              <a:spcBef>
                <a:spcPts val="16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6pPr>
            <a:lvl7pPr marL="3200400" marR="0" lvl="6" indent="-317500" algn="l" rtl="0">
              <a:lnSpc>
                <a:spcPct val="115000"/>
              </a:lnSpc>
              <a:spcBef>
                <a:spcPts val="16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7pPr>
            <a:lvl8pPr marL="3657600" marR="0" lvl="7" indent="-317500" algn="l" rtl="0">
              <a:lnSpc>
                <a:spcPct val="115000"/>
              </a:lnSpc>
              <a:spcBef>
                <a:spcPts val="1600"/>
              </a:spcBef>
              <a:spcAft>
                <a:spcPts val="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8pPr>
            <a:lvl9pPr marL="4114800" marR="0" lvl="8" indent="-317500" algn="l" rtl="0">
              <a:lnSpc>
                <a:spcPct val="115000"/>
              </a:lnSpc>
              <a:spcBef>
                <a:spcPts val="1600"/>
              </a:spcBef>
              <a:spcAft>
                <a:spcPts val="1600"/>
              </a:spcAft>
              <a:buClr>
                <a:schemeClr val="dk1"/>
              </a:buClr>
              <a:buSzPts val="1400"/>
              <a:buFont typeface="Assistant"/>
              <a:buChar char="■"/>
              <a:defRPr sz="1400" b="0" i="0" u="none" strike="noStrike" cap="none">
                <a:solidFill>
                  <a:schemeClr val="dk1"/>
                </a:solidFill>
                <a:latin typeface="Assistant"/>
                <a:ea typeface="Assistant"/>
                <a:cs typeface="Assistant"/>
                <a:sym typeface="Assistant"/>
              </a:defRPr>
            </a:lvl9pPr>
          </a:lstStyle>
          <a:p>
            <a:pPr marL="0" indent="0">
              <a:spcAft>
                <a:spcPts val="1600"/>
              </a:spcAft>
              <a:buFont typeface="Assistant"/>
              <a:buNone/>
            </a:pPr>
            <a:r>
              <a:rPr lang="en-US" sz="1800" dirty="0"/>
              <a:t>Electric cars offer significant economic benefits, such as job creation, innovation and reduced dependence on foreign oil. The adoption of electric cars can lead to job creation                     in areas such as battery manufacturing, charging infrastructure installation and maintenance, and electric vehicle production.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18" name="Picture 17">
            <a:extLst>
              <a:ext uri="{FF2B5EF4-FFF2-40B4-BE49-F238E27FC236}">
                <a16:creationId xmlns:a16="http://schemas.microsoft.com/office/drawing/2014/main" id="{B8ED026E-36A1-CEA3-07CF-01B8573BCCE8}"/>
              </a:ext>
            </a:extLst>
          </p:cNvPr>
          <p:cNvPicPr>
            <a:picLocks noChangeAspect="1"/>
          </p:cNvPicPr>
          <p:nvPr/>
        </p:nvPicPr>
        <p:blipFill>
          <a:blip r:embed="rId3"/>
          <a:srcRect t="331" b="331"/>
          <a:stretch/>
        </p:blipFill>
        <p:spPr>
          <a:xfrm>
            <a:off x="-30480" y="0"/>
            <a:ext cx="9204960" cy="5143500"/>
          </a:xfrm>
          <a:prstGeom prst="rect">
            <a:avLst/>
          </a:prstGeom>
        </p:spPr>
      </p:pic>
      <p:sp>
        <p:nvSpPr>
          <p:cNvPr id="2" name="Rectangle 1">
            <a:extLst>
              <a:ext uri="{FF2B5EF4-FFF2-40B4-BE49-F238E27FC236}">
                <a16:creationId xmlns:a16="http://schemas.microsoft.com/office/drawing/2014/main" id="{7CD33B55-A70B-21FF-ED77-5FCBAE67735A}"/>
              </a:ext>
            </a:extLst>
          </p:cNvPr>
          <p:cNvSpPr/>
          <p:nvPr/>
        </p:nvSpPr>
        <p:spPr>
          <a:xfrm>
            <a:off x="2719780" y="675868"/>
            <a:ext cx="5965031" cy="4012714"/>
          </a:xfrm>
          <a:prstGeom prst="rect">
            <a:avLst/>
          </a:prstGeom>
          <a:solidFill>
            <a:schemeClr val="accent6">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Google Shape;302;p41">
            <a:extLst>
              <a:ext uri="{FF2B5EF4-FFF2-40B4-BE49-F238E27FC236}">
                <a16:creationId xmlns:a16="http://schemas.microsoft.com/office/drawing/2014/main" id="{47D38E46-DE34-EC05-95B8-72CC4910BF68}"/>
              </a:ext>
            </a:extLst>
          </p:cNvPr>
          <p:cNvSpPr/>
          <p:nvPr/>
        </p:nvSpPr>
        <p:spPr>
          <a:xfrm>
            <a:off x="8463861" y="454918"/>
            <a:ext cx="441900" cy="441900"/>
          </a:xfrm>
          <a:prstGeom prst="diamond">
            <a:avLst/>
          </a:prstGeom>
          <a:solidFill>
            <a:schemeClr val="bg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TextBox 7">
            <a:extLst>
              <a:ext uri="{FF2B5EF4-FFF2-40B4-BE49-F238E27FC236}">
                <a16:creationId xmlns:a16="http://schemas.microsoft.com/office/drawing/2014/main" id="{99D50F5F-58AC-0072-5B75-CEE489C9D6BC}"/>
              </a:ext>
            </a:extLst>
          </p:cNvPr>
          <p:cNvSpPr txBox="1"/>
          <p:nvPr/>
        </p:nvSpPr>
        <p:spPr>
          <a:xfrm>
            <a:off x="3125466" y="726836"/>
            <a:ext cx="5399355" cy="646331"/>
          </a:xfrm>
          <a:prstGeom prst="rect">
            <a:avLst/>
          </a:prstGeom>
          <a:noFill/>
        </p:spPr>
        <p:txBody>
          <a:bodyPr wrap="square" rtlCol="0">
            <a:spAutoFit/>
          </a:bodyPr>
          <a:lstStyle/>
          <a:p>
            <a:pPr algn="r"/>
            <a:r>
              <a:rPr lang="en-US" sz="3600" b="1" dirty="0">
                <a:solidFill>
                  <a:schemeClr val="tx1"/>
                </a:solidFill>
                <a:latin typeface="Maven Pro" panose="020B0604020202020204" charset="0"/>
              </a:rPr>
              <a:t>04</a:t>
            </a:r>
          </a:p>
        </p:txBody>
      </p:sp>
      <p:cxnSp>
        <p:nvCxnSpPr>
          <p:cNvPr id="9" name="Straight Connector 8">
            <a:extLst>
              <a:ext uri="{FF2B5EF4-FFF2-40B4-BE49-F238E27FC236}">
                <a16:creationId xmlns:a16="http://schemas.microsoft.com/office/drawing/2014/main" id="{177D5247-B214-A17C-4668-D82DDA4D5FDE}"/>
              </a:ext>
            </a:extLst>
          </p:cNvPr>
          <p:cNvCxnSpPr>
            <a:cxnSpLocks/>
          </p:cNvCxnSpPr>
          <p:nvPr/>
        </p:nvCxnSpPr>
        <p:spPr>
          <a:xfrm>
            <a:off x="7531440" y="1485356"/>
            <a:ext cx="886092" cy="0"/>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8544AC39-9F42-4280-8DA4-92268600FBE0}"/>
              </a:ext>
            </a:extLst>
          </p:cNvPr>
          <p:cNvSpPr txBox="1"/>
          <p:nvPr/>
        </p:nvSpPr>
        <p:spPr>
          <a:xfrm>
            <a:off x="3117876" y="1572686"/>
            <a:ext cx="5406945" cy="2800767"/>
          </a:xfrm>
          <a:prstGeom prst="rect">
            <a:avLst/>
          </a:prstGeom>
          <a:noFill/>
        </p:spPr>
        <p:txBody>
          <a:bodyPr wrap="square" rtlCol="0">
            <a:spAutoFit/>
          </a:bodyPr>
          <a:lstStyle/>
          <a:p>
            <a:pPr algn="r"/>
            <a:r>
              <a:rPr lang="en-US" sz="4400" b="1" dirty="0">
                <a:solidFill>
                  <a:schemeClr val="tx1"/>
                </a:solidFill>
                <a:latin typeface="Maven Pro" panose="020B0604020202020204" charset="0"/>
              </a:rPr>
              <a:t>ADVANTAGES AND DISADVANTAGES OF USING ELECTRIC CARS</a:t>
            </a:r>
            <a:endParaRPr lang="en-GB" sz="4400" b="1" dirty="0">
              <a:solidFill>
                <a:schemeClr val="tx1"/>
              </a:solidFill>
              <a:latin typeface="Maven Pro" panose="020B0604020202020204" charset="0"/>
            </a:endParaRPr>
          </a:p>
        </p:txBody>
      </p:sp>
      <p:pic>
        <p:nvPicPr>
          <p:cNvPr id="11" name="Picture 10" descr="Logo, company name&#10;&#10;Description automatically generated">
            <a:extLst>
              <a:ext uri="{FF2B5EF4-FFF2-40B4-BE49-F238E27FC236}">
                <a16:creationId xmlns:a16="http://schemas.microsoft.com/office/drawing/2014/main" id="{B9B0AD01-E9F6-550B-25A8-5072925C8FA6}"/>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222" b="90000" l="10000" r="90000">
                        <a14:foregroundMark x1="29556" y1="8222" x2="29556" y2="8222"/>
                      </a14:backgroundRemoval>
                    </a14:imgEffect>
                  </a14:imgLayer>
                </a14:imgProps>
              </a:ext>
            </a:extLst>
          </a:blip>
          <a:stretch>
            <a:fillRect/>
          </a:stretch>
        </p:blipFill>
        <p:spPr>
          <a:xfrm>
            <a:off x="29804" y="60597"/>
            <a:ext cx="796653" cy="796653"/>
          </a:xfrm>
          <a:prstGeom prst="rect">
            <a:avLst/>
          </a:prstGeom>
        </p:spPr>
      </p:pic>
      <p:sp>
        <p:nvSpPr>
          <p:cNvPr id="15" name="Subtitle 14">
            <a:extLst>
              <a:ext uri="{FF2B5EF4-FFF2-40B4-BE49-F238E27FC236}">
                <a16:creationId xmlns:a16="http://schemas.microsoft.com/office/drawing/2014/main" id="{B3CC609C-E2CB-EFC2-2D9A-DB54E5A1E312}"/>
              </a:ext>
            </a:extLst>
          </p:cNvPr>
          <p:cNvSpPr>
            <a:spLocks noGrp="1"/>
          </p:cNvSpPr>
          <p:nvPr>
            <p:ph type="subTitle" idx="1"/>
          </p:nvPr>
        </p:nvSpPr>
        <p:spPr/>
        <p:txBody>
          <a:bodyPr/>
          <a:lstStyle/>
          <a:p>
            <a:endParaRPr lang="en-GB"/>
          </a:p>
        </p:txBody>
      </p:sp>
      <p:sp>
        <p:nvSpPr>
          <p:cNvPr id="17" name="Title 16">
            <a:extLst>
              <a:ext uri="{FF2B5EF4-FFF2-40B4-BE49-F238E27FC236}">
                <a16:creationId xmlns:a16="http://schemas.microsoft.com/office/drawing/2014/main" id="{859EC833-0F38-AD60-A78A-4F9E8618B32A}"/>
              </a:ext>
            </a:extLst>
          </p:cNvPr>
          <p:cNvSpPr>
            <a:spLocks noGrp="1"/>
          </p:cNvSpPr>
          <p:nvPr>
            <p:ph type="title"/>
          </p:nvPr>
        </p:nvSpPr>
        <p:spPr/>
        <p:txBody>
          <a:bodyPr/>
          <a:lstStyle/>
          <a:p>
            <a:endParaRPr lang="en-GB"/>
          </a:p>
        </p:txBody>
      </p:sp>
      <p:sp>
        <p:nvSpPr>
          <p:cNvPr id="3" name="TextBox 2">
            <a:extLst>
              <a:ext uri="{FF2B5EF4-FFF2-40B4-BE49-F238E27FC236}">
                <a16:creationId xmlns:a16="http://schemas.microsoft.com/office/drawing/2014/main" id="{6A836346-1F81-E77E-BDAE-E973E2CEA41F}"/>
              </a:ext>
            </a:extLst>
          </p:cNvPr>
          <p:cNvSpPr txBox="1"/>
          <p:nvPr/>
        </p:nvSpPr>
        <p:spPr>
          <a:xfrm>
            <a:off x="96516" y="4594717"/>
            <a:ext cx="3028950" cy="369332"/>
          </a:xfrm>
          <a:prstGeom prst="rect">
            <a:avLst/>
          </a:prstGeom>
          <a:noFill/>
        </p:spPr>
        <p:txBody>
          <a:bodyPr wrap="square" rtlCol="0">
            <a:spAutoFit/>
          </a:bodyPr>
          <a:lstStyle/>
          <a:p>
            <a:r>
              <a:rPr lang="en-US" sz="1000" dirty="0">
                <a:solidFill>
                  <a:schemeClr val="accent1">
                    <a:lumMod val="75000"/>
                  </a:schemeClr>
                </a:solidFill>
                <a:latin typeface="+mj-lt"/>
              </a:rPr>
              <a:t>Figure 5 – MG4 EV</a:t>
            </a:r>
            <a:endParaRPr lang="en-GB" sz="1000" i="0" dirty="0">
              <a:solidFill>
                <a:schemeClr val="accent1">
                  <a:lumMod val="75000"/>
                </a:schemeClr>
              </a:solidFill>
              <a:effectLst/>
              <a:latin typeface="+mj-lt"/>
            </a:endParaRPr>
          </a:p>
          <a:p>
            <a:r>
              <a:rPr lang="en-GB" sz="800" i="0" dirty="0">
                <a:solidFill>
                  <a:schemeClr val="accent1">
                    <a:lumMod val="75000"/>
                  </a:schemeClr>
                </a:solidFill>
                <a:effectLst/>
                <a:latin typeface="+mj-lt"/>
              </a:rPr>
              <a:t>https://www.mg.co.uk/new-cars/mg4-ev</a:t>
            </a:r>
          </a:p>
        </p:txBody>
      </p:sp>
    </p:spTree>
    <p:extLst>
      <p:ext uri="{BB962C8B-B14F-4D97-AF65-F5344CB8AC3E}">
        <p14:creationId xmlns:p14="http://schemas.microsoft.com/office/powerpoint/2010/main" val="36793706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cxnSp>
        <p:nvCxnSpPr>
          <p:cNvPr id="274" name="Google Shape;274;p38"/>
          <p:cNvCxnSpPr/>
          <p:nvPr/>
        </p:nvCxnSpPr>
        <p:spPr>
          <a:xfrm>
            <a:off x="720000" y="1458926"/>
            <a:ext cx="685500" cy="0"/>
          </a:xfrm>
          <a:prstGeom prst="straightConnector1">
            <a:avLst/>
          </a:prstGeom>
          <a:noFill/>
          <a:ln w="9525" cap="flat" cmpd="sng">
            <a:solidFill>
              <a:schemeClr val="dk1"/>
            </a:solidFill>
            <a:prstDash val="solid"/>
            <a:round/>
            <a:headEnd type="none" w="med" len="med"/>
            <a:tailEnd type="none" w="med" len="med"/>
          </a:ln>
        </p:spPr>
      </p:cxnSp>
      <p:pic>
        <p:nvPicPr>
          <p:cNvPr id="19" name="Picture 18" descr="Logo, company name&#10;&#10;Description automatically generated">
            <a:extLst>
              <a:ext uri="{FF2B5EF4-FFF2-40B4-BE49-F238E27FC236}">
                <a16:creationId xmlns:a16="http://schemas.microsoft.com/office/drawing/2014/main" id="{053AC30F-0FFE-D6CC-9C92-672535761B3A}"/>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8222" b="90000" l="10000" r="90000">
                        <a14:foregroundMark x1="29556" y1="8222" x2="29556" y2="8222"/>
                      </a14:backgroundRemoval>
                    </a14:imgEffect>
                  </a14:imgLayer>
                </a14:imgProps>
              </a:ext>
            </a:extLst>
          </a:blip>
          <a:stretch>
            <a:fillRect/>
          </a:stretch>
        </p:blipFill>
        <p:spPr>
          <a:xfrm>
            <a:off x="29804" y="60597"/>
            <a:ext cx="796653" cy="796653"/>
          </a:xfrm>
          <a:prstGeom prst="rect">
            <a:avLst/>
          </a:prstGeom>
        </p:spPr>
      </p:pic>
      <p:sp>
        <p:nvSpPr>
          <p:cNvPr id="20" name="TextBox 19">
            <a:extLst>
              <a:ext uri="{FF2B5EF4-FFF2-40B4-BE49-F238E27FC236}">
                <a16:creationId xmlns:a16="http://schemas.microsoft.com/office/drawing/2014/main" id="{D2D93BF0-4725-ECE5-AF1A-8F754DBF3251}"/>
              </a:ext>
            </a:extLst>
          </p:cNvPr>
          <p:cNvSpPr txBox="1"/>
          <p:nvPr/>
        </p:nvSpPr>
        <p:spPr>
          <a:xfrm>
            <a:off x="6738027" y="4630330"/>
            <a:ext cx="3028950" cy="523220"/>
          </a:xfrm>
          <a:prstGeom prst="rect">
            <a:avLst/>
          </a:prstGeom>
          <a:noFill/>
        </p:spPr>
        <p:txBody>
          <a:bodyPr wrap="square" rtlCol="0">
            <a:spAutoFit/>
          </a:bodyPr>
          <a:lstStyle/>
          <a:p>
            <a:r>
              <a:rPr lang="en-US" sz="1000" dirty="0">
                <a:solidFill>
                  <a:schemeClr val="accent1">
                    <a:lumMod val="75000"/>
                  </a:schemeClr>
                </a:solidFill>
                <a:latin typeface="+mj-lt"/>
              </a:rPr>
              <a:t>Figure 4 – VEGA Sri-Lankan</a:t>
            </a:r>
            <a:r>
              <a:rPr lang="en-GB" sz="1000" i="0" dirty="0">
                <a:solidFill>
                  <a:schemeClr val="accent1">
                    <a:lumMod val="75000"/>
                  </a:schemeClr>
                </a:solidFill>
                <a:effectLst/>
                <a:latin typeface="+mj-lt"/>
              </a:rPr>
              <a:t> Car </a:t>
            </a:r>
          </a:p>
          <a:p>
            <a:r>
              <a:rPr lang="en-GB" sz="800" i="0" dirty="0">
                <a:solidFill>
                  <a:schemeClr val="accent1">
                    <a:lumMod val="75000"/>
                  </a:schemeClr>
                </a:solidFill>
                <a:effectLst/>
                <a:latin typeface="+mj-lt"/>
              </a:rPr>
              <a:t>https://www.vega.lk/</a:t>
            </a:r>
          </a:p>
          <a:p>
            <a:endParaRPr lang="en-GB" sz="1000" dirty="0"/>
          </a:p>
        </p:txBody>
      </p:sp>
      <p:sp>
        <p:nvSpPr>
          <p:cNvPr id="4" name="TextBox 3">
            <a:extLst>
              <a:ext uri="{FF2B5EF4-FFF2-40B4-BE49-F238E27FC236}">
                <a16:creationId xmlns:a16="http://schemas.microsoft.com/office/drawing/2014/main" id="{DF289666-8D65-E8F2-7A9F-E0D9A0A39C8D}"/>
              </a:ext>
            </a:extLst>
          </p:cNvPr>
          <p:cNvSpPr txBox="1"/>
          <p:nvPr/>
        </p:nvSpPr>
        <p:spPr>
          <a:xfrm>
            <a:off x="659100" y="675132"/>
            <a:ext cx="7985850" cy="769441"/>
          </a:xfrm>
          <a:prstGeom prst="rect">
            <a:avLst/>
          </a:prstGeom>
          <a:noFill/>
        </p:spPr>
        <p:txBody>
          <a:bodyPr wrap="square" rtlCol="0">
            <a:spAutoFit/>
          </a:bodyPr>
          <a:lstStyle/>
          <a:p>
            <a:r>
              <a:rPr lang="en-US" sz="2200" b="1" dirty="0">
                <a:solidFill>
                  <a:schemeClr val="tx1"/>
                </a:solidFill>
                <a:latin typeface="Maven Pro" panose="020B0604020202020204" charset="0"/>
              </a:rPr>
              <a:t>ADVANTAGES AND DISADVANTAGES OF USING ELECTRIC CARS</a:t>
            </a:r>
            <a:endParaRPr lang="en-GB" sz="2200" b="1" dirty="0">
              <a:solidFill>
                <a:schemeClr val="tx1"/>
              </a:solidFill>
              <a:latin typeface="Maven Pro" panose="020B0604020202020204" charset="0"/>
            </a:endParaRPr>
          </a:p>
        </p:txBody>
      </p:sp>
      <p:sp>
        <p:nvSpPr>
          <p:cNvPr id="9" name="Rectangle: Rounded Corners 8">
            <a:extLst>
              <a:ext uri="{FF2B5EF4-FFF2-40B4-BE49-F238E27FC236}">
                <a16:creationId xmlns:a16="http://schemas.microsoft.com/office/drawing/2014/main" id="{0F946EB3-EF12-8637-D2C7-45C8B4B42744}"/>
              </a:ext>
            </a:extLst>
          </p:cNvPr>
          <p:cNvSpPr/>
          <p:nvPr/>
        </p:nvSpPr>
        <p:spPr>
          <a:xfrm>
            <a:off x="499050" y="1738082"/>
            <a:ext cx="3852000" cy="242751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Google Shape;293;p40">
            <a:extLst>
              <a:ext uri="{FF2B5EF4-FFF2-40B4-BE49-F238E27FC236}">
                <a16:creationId xmlns:a16="http://schemas.microsoft.com/office/drawing/2014/main" id="{4948BAAA-669E-D7BE-1600-2F582E16AD71}"/>
              </a:ext>
            </a:extLst>
          </p:cNvPr>
          <p:cNvSpPr txBox="1">
            <a:spLocks noGrp="1"/>
          </p:cNvSpPr>
          <p:nvPr>
            <p:ph type="subTitle" idx="1"/>
          </p:nvPr>
        </p:nvSpPr>
        <p:spPr>
          <a:xfrm>
            <a:off x="499050" y="1950532"/>
            <a:ext cx="3852000" cy="2541797"/>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US" sz="1800" b="1" dirty="0">
                <a:solidFill>
                  <a:schemeClr val="bg1"/>
                </a:solidFill>
              </a:rPr>
              <a:t>Advantages </a:t>
            </a:r>
          </a:p>
          <a:p>
            <a:pPr marL="0" lvl="0" indent="0" algn="ctr" rtl="0">
              <a:spcBef>
                <a:spcPts val="0"/>
              </a:spcBef>
              <a:spcAft>
                <a:spcPts val="1600"/>
              </a:spcAft>
              <a:buNone/>
            </a:pPr>
            <a:r>
              <a:rPr lang="en-US" b="0" i="0" dirty="0">
                <a:solidFill>
                  <a:srgbClr val="444444"/>
                </a:solidFill>
                <a:effectLst/>
                <a:latin typeface="Poppins" panose="020B0502040204020203" pitchFamily="2" charset="0"/>
              </a:rPr>
              <a:t>Reduced environmental impact.</a:t>
            </a:r>
          </a:p>
          <a:p>
            <a:pPr marL="0" lvl="0" indent="0" algn="ctr" rtl="0">
              <a:spcBef>
                <a:spcPts val="0"/>
              </a:spcBef>
              <a:spcAft>
                <a:spcPts val="1600"/>
              </a:spcAft>
              <a:buNone/>
            </a:pPr>
            <a:r>
              <a:rPr lang="en-US" b="0" i="0" dirty="0">
                <a:solidFill>
                  <a:srgbClr val="444444"/>
                </a:solidFill>
                <a:effectLst/>
                <a:latin typeface="Poppins" panose="020B0502040204020203" pitchFamily="2" charset="0"/>
              </a:rPr>
              <a:t>Lower operating costs.</a:t>
            </a:r>
          </a:p>
          <a:p>
            <a:pPr marL="0" lvl="0" indent="0" algn="ctr" rtl="0">
              <a:spcBef>
                <a:spcPts val="0"/>
              </a:spcBef>
              <a:spcAft>
                <a:spcPts val="1600"/>
              </a:spcAft>
              <a:buNone/>
            </a:pPr>
            <a:r>
              <a:rPr lang="en-US" b="0" i="0" dirty="0">
                <a:solidFill>
                  <a:srgbClr val="444444"/>
                </a:solidFill>
                <a:effectLst/>
                <a:latin typeface="Poppins" panose="020B0502040204020203" pitchFamily="2" charset="0"/>
              </a:rPr>
              <a:t>Quiet and smooth driving experience.</a:t>
            </a:r>
            <a:endParaRPr lang="en-US" dirty="0"/>
          </a:p>
        </p:txBody>
      </p:sp>
      <p:sp>
        <p:nvSpPr>
          <p:cNvPr id="2" name="Rectangle: Rounded Corners 1">
            <a:extLst>
              <a:ext uri="{FF2B5EF4-FFF2-40B4-BE49-F238E27FC236}">
                <a16:creationId xmlns:a16="http://schemas.microsoft.com/office/drawing/2014/main" id="{741690B9-429E-E50E-E616-C024906665D6}"/>
              </a:ext>
            </a:extLst>
          </p:cNvPr>
          <p:cNvSpPr/>
          <p:nvPr/>
        </p:nvSpPr>
        <p:spPr>
          <a:xfrm>
            <a:off x="4792950" y="1738083"/>
            <a:ext cx="3852000" cy="24275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Google Shape;293;p40">
            <a:extLst>
              <a:ext uri="{FF2B5EF4-FFF2-40B4-BE49-F238E27FC236}">
                <a16:creationId xmlns:a16="http://schemas.microsoft.com/office/drawing/2014/main" id="{9939074D-7583-BDD8-1D49-1BDC032AC424}"/>
              </a:ext>
            </a:extLst>
          </p:cNvPr>
          <p:cNvSpPr txBox="1">
            <a:spLocks/>
          </p:cNvSpPr>
          <p:nvPr/>
        </p:nvSpPr>
        <p:spPr>
          <a:xfrm>
            <a:off x="4792950" y="1950532"/>
            <a:ext cx="3852000" cy="254179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ssistant"/>
              <a:buNone/>
              <a:defRPr sz="1600" b="0" i="0" u="none" strike="noStrike" cap="none">
                <a:solidFill>
                  <a:schemeClr val="dk1"/>
                </a:solidFill>
                <a:latin typeface="Assistant"/>
                <a:ea typeface="Assistant"/>
                <a:cs typeface="Assistant"/>
                <a:sym typeface="Assistant"/>
              </a:defRPr>
            </a:lvl1pPr>
            <a:lvl2pPr marL="914400" marR="0" lvl="1"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2pPr>
            <a:lvl3pPr marL="1371600" marR="0" lvl="2"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3pPr>
            <a:lvl4pPr marL="1828800" marR="0" lvl="3"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4pPr>
            <a:lvl5pPr marL="2286000" marR="0" lvl="4"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5pPr>
            <a:lvl6pPr marL="2743200" marR="0" lvl="5"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6pPr>
            <a:lvl7pPr marL="3200400" marR="0" lvl="6"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7pPr>
            <a:lvl8pPr marL="3657600" marR="0" lvl="7" indent="-317500" algn="ctr" rtl="0">
              <a:lnSpc>
                <a:spcPct val="100000"/>
              </a:lnSpc>
              <a:spcBef>
                <a:spcPts val="1600"/>
              </a:spcBef>
              <a:spcAft>
                <a:spcPts val="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8pPr>
            <a:lvl9pPr marL="4114800" marR="0" lvl="8" indent="-317500" algn="ctr" rtl="0">
              <a:lnSpc>
                <a:spcPct val="100000"/>
              </a:lnSpc>
              <a:spcBef>
                <a:spcPts val="1600"/>
              </a:spcBef>
              <a:spcAft>
                <a:spcPts val="1600"/>
              </a:spcAft>
              <a:buClr>
                <a:schemeClr val="dk1"/>
              </a:buClr>
              <a:buSzPts val="1400"/>
              <a:buFont typeface="Assistant"/>
              <a:buNone/>
              <a:defRPr sz="1400" b="0" i="0" u="none" strike="noStrike" cap="none">
                <a:solidFill>
                  <a:schemeClr val="dk1"/>
                </a:solidFill>
                <a:latin typeface="Assistant"/>
                <a:ea typeface="Assistant"/>
                <a:cs typeface="Assistant"/>
                <a:sym typeface="Assistant"/>
              </a:defRPr>
            </a:lvl9pPr>
          </a:lstStyle>
          <a:p>
            <a:pPr marL="0" lvl="0" indent="0" algn="ctr" rtl="0">
              <a:spcBef>
                <a:spcPts val="0"/>
              </a:spcBef>
              <a:spcAft>
                <a:spcPts val="1600"/>
              </a:spcAft>
              <a:buNone/>
            </a:pPr>
            <a:r>
              <a:rPr lang="en-US" sz="1800" b="1" dirty="0">
                <a:solidFill>
                  <a:schemeClr val="bg1"/>
                </a:solidFill>
              </a:rPr>
              <a:t>Disadvantages </a:t>
            </a:r>
          </a:p>
          <a:p>
            <a:pPr marL="0" indent="0" algn="ctr">
              <a:spcAft>
                <a:spcPts val="1600"/>
              </a:spcAft>
            </a:pPr>
            <a:r>
              <a:rPr lang="en-US" dirty="0">
                <a:solidFill>
                  <a:srgbClr val="444444"/>
                </a:solidFill>
                <a:latin typeface="Poppins" panose="020B0502040204020203" pitchFamily="2" charset="0"/>
              </a:rPr>
              <a:t>Limited driving range</a:t>
            </a:r>
          </a:p>
          <a:p>
            <a:pPr marL="0" indent="0" algn="ctr">
              <a:spcAft>
                <a:spcPts val="1600"/>
              </a:spcAft>
            </a:pPr>
            <a:r>
              <a:rPr lang="en-US" dirty="0">
                <a:solidFill>
                  <a:srgbClr val="444444"/>
                </a:solidFill>
                <a:latin typeface="Poppins" panose="020B0502040204020203" pitchFamily="2" charset="0"/>
              </a:rPr>
              <a:t>Higher upfront cost</a:t>
            </a:r>
          </a:p>
          <a:p>
            <a:pPr marL="0" indent="0" algn="ctr">
              <a:spcAft>
                <a:spcPts val="1600"/>
              </a:spcAft>
            </a:pPr>
            <a:r>
              <a:rPr lang="en-US" dirty="0">
                <a:solidFill>
                  <a:srgbClr val="444444"/>
                </a:solidFill>
                <a:latin typeface="Poppins" panose="020B0502040204020203" pitchFamily="2" charset="0"/>
              </a:rPr>
              <a:t>Longer charging time</a:t>
            </a:r>
            <a:endParaRPr lang="en-US" dirty="0"/>
          </a:p>
        </p:txBody>
      </p:sp>
      <p:sp>
        <p:nvSpPr>
          <p:cNvPr id="270" name="Google Shape;270;p38"/>
          <p:cNvSpPr/>
          <p:nvPr/>
        </p:nvSpPr>
        <p:spPr>
          <a:xfrm>
            <a:off x="4351050" y="2571750"/>
            <a:ext cx="441900" cy="441900"/>
          </a:xfrm>
          <a:prstGeom prst="diamond">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39624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2" name="Picture 1">
            <a:extLst>
              <a:ext uri="{FF2B5EF4-FFF2-40B4-BE49-F238E27FC236}">
                <a16:creationId xmlns:a16="http://schemas.microsoft.com/office/drawing/2014/main" id="{5C33C064-00AC-88CF-B0A2-5D45514EE4EC}"/>
              </a:ext>
            </a:extLst>
          </p:cNvPr>
          <p:cNvPicPr>
            <a:picLocks noChangeAspect="1"/>
          </p:cNvPicPr>
          <p:nvPr/>
        </p:nvPicPr>
        <p:blipFill>
          <a:blip r:embed="rId3"/>
          <a:srcRect t="326" b="326"/>
          <a:stretch/>
        </p:blipFill>
        <p:spPr>
          <a:xfrm>
            <a:off x="-1710804" y="833255"/>
            <a:ext cx="6120879" cy="3420193"/>
          </a:xfrm>
          <a:prstGeom prst="rect">
            <a:avLst/>
          </a:prstGeom>
        </p:spPr>
      </p:pic>
      <p:sp>
        <p:nvSpPr>
          <p:cNvPr id="3" name="Google Shape;270;p38">
            <a:extLst>
              <a:ext uri="{FF2B5EF4-FFF2-40B4-BE49-F238E27FC236}">
                <a16:creationId xmlns:a16="http://schemas.microsoft.com/office/drawing/2014/main" id="{E11D48A1-64EC-D179-4856-A77BAD5AD810}"/>
              </a:ext>
            </a:extLst>
          </p:cNvPr>
          <p:cNvSpPr/>
          <p:nvPr/>
        </p:nvSpPr>
        <p:spPr>
          <a:xfrm>
            <a:off x="4189125" y="4032498"/>
            <a:ext cx="441900" cy="441900"/>
          </a:xfrm>
          <a:prstGeom prst="diamond">
            <a:avLst/>
          </a:prstGeom>
          <a:solidFill>
            <a:schemeClr val="lt1"/>
          </a:solid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 name="Picture 18" descr="Logo, company name&#10;&#10;Description automatically generated">
            <a:extLst>
              <a:ext uri="{FF2B5EF4-FFF2-40B4-BE49-F238E27FC236}">
                <a16:creationId xmlns:a16="http://schemas.microsoft.com/office/drawing/2014/main" id="{053AC30F-0FFE-D6CC-9C92-672535761B3A}"/>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222" b="90000" l="10000" r="90000">
                        <a14:foregroundMark x1="29556" y1="8222" x2="29556" y2="8222"/>
                      </a14:backgroundRemoval>
                    </a14:imgEffect>
                  </a14:imgLayer>
                </a14:imgProps>
              </a:ext>
            </a:extLst>
          </a:blip>
          <a:stretch>
            <a:fillRect/>
          </a:stretch>
        </p:blipFill>
        <p:spPr>
          <a:xfrm>
            <a:off x="29804" y="60597"/>
            <a:ext cx="796653" cy="796653"/>
          </a:xfrm>
          <a:prstGeom prst="rect">
            <a:avLst/>
          </a:prstGeom>
        </p:spPr>
      </p:pic>
      <p:sp>
        <p:nvSpPr>
          <p:cNvPr id="8" name="TextBox 7">
            <a:extLst>
              <a:ext uri="{FF2B5EF4-FFF2-40B4-BE49-F238E27FC236}">
                <a16:creationId xmlns:a16="http://schemas.microsoft.com/office/drawing/2014/main" id="{F6C9355F-6E79-6C56-B30A-4D7994C3A8A1}"/>
              </a:ext>
            </a:extLst>
          </p:cNvPr>
          <p:cNvSpPr txBox="1"/>
          <p:nvPr/>
        </p:nvSpPr>
        <p:spPr>
          <a:xfrm>
            <a:off x="3455704" y="756559"/>
            <a:ext cx="5399355" cy="646331"/>
          </a:xfrm>
          <a:prstGeom prst="rect">
            <a:avLst/>
          </a:prstGeom>
          <a:noFill/>
        </p:spPr>
        <p:txBody>
          <a:bodyPr wrap="square" rtlCol="0">
            <a:spAutoFit/>
          </a:bodyPr>
          <a:lstStyle/>
          <a:p>
            <a:pPr algn="r"/>
            <a:r>
              <a:rPr lang="en-US" sz="3600" b="1" dirty="0">
                <a:solidFill>
                  <a:schemeClr val="tx1"/>
                </a:solidFill>
                <a:latin typeface="Maven Pro" panose="020B0604020202020204" charset="0"/>
              </a:rPr>
              <a:t>05</a:t>
            </a:r>
          </a:p>
        </p:txBody>
      </p:sp>
      <p:cxnSp>
        <p:nvCxnSpPr>
          <p:cNvPr id="9" name="Straight Connector 8">
            <a:extLst>
              <a:ext uri="{FF2B5EF4-FFF2-40B4-BE49-F238E27FC236}">
                <a16:creationId xmlns:a16="http://schemas.microsoft.com/office/drawing/2014/main" id="{1F415153-4E9E-F932-5D04-B5E1DA1358C3}"/>
              </a:ext>
            </a:extLst>
          </p:cNvPr>
          <p:cNvCxnSpPr>
            <a:cxnSpLocks/>
          </p:cNvCxnSpPr>
          <p:nvPr/>
        </p:nvCxnSpPr>
        <p:spPr>
          <a:xfrm rot="5400000">
            <a:off x="8461603" y="1177543"/>
            <a:ext cx="0" cy="642565"/>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5878CF05-E3E5-5C81-6CEC-1A30804AC753}"/>
              </a:ext>
            </a:extLst>
          </p:cNvPr>
          <p:cNvSpPr txBox="1"/>
          <p:nvPr/>
        </p:nvSpPr>
        <p:spPr>
          <a:xfrm>
            <a:off x="3509837" y="2175548"/>
            <a:ext cx="5530721" cy="830997"/>
          </a:xfrm>
          <a:prstGeom prst="rect">
            <a:avLst/>
          </a:prstGeom>
          <a:noFill/>
        </p:spPr>
        <p:txBody>
          <a:bodyPr wrap="square" rtlCol="0">
            <a:spAutoFit/>
          </a:bodyPr>
          <a:lstStyle/>
          <a:p>
            <a:pPr algn="r"/>
            <a:r>
              <a:rPr lang="en-US" sz="4800" b="1" dirty="0">
                <a:solidFill>
                  <a:schemeClr val="tx1"/>
                </a:solidFill>
                <a:latin typeface="Maven Pro" panose="020B0604020202020204" charset="0"/>
              </a:rPr>
              <a:t>SUMMARY</a:t>
            </a:r>
            <a:endParaRPr lang="en-GB" sz="4800" b="1" dirty="0">
              <a:solidFill>
                <a:schemeClr val="tx1"/>
              </a:solidFill>
              <a:latin typeface="Maven Pro" panose="020B0604020202020204" charset="0"/>
            </a:endParaRPr>
          </a:p>
        </p:txBody>
      </p:sp>
      <p:sp>
        <p:nvSpPr>
          <p:cNvPr id="17" name="TextBox 16">
            <a:extLst>
              <a:ext uri="{FF2B5EF4-FFF2-40B4-BE49-F238E27FC236}">
                <a16:creationId xmlns:a16="http://schemas.microsoft.com/office/drawing/2014/main" id="{1FBDD272-3AC4-716A-5D95-434F446D4453}"/>
              </a:ext>
            </a:extLst>
          </p:cNvPr>
          <p:cNvSpPr txBox="1"/>
          <p:nvPr/>
        </p:nvSpPr>
        <p:spPr>
          <a:xfrm>
            <a:off x="29804" y="4497169"/>
            <a:ext cx="3028950" cy="646331"/>
          </a:xfrm>
          <a:prstGeom prst="rect">
            <a:avLst/>
          </a:prstGeom>
          <a:noFill/>
        </p:spPr>
        <p:txBody>
          <a:bodyPr wrap="square" rtlCol="0">
            <a:spAutoFit/>
          </a:bodyPr>
          <a:lstStyle/>
          <a:p>
            <a:r>
              <a:rPr lang="en-US" sz="1000" dirty="0">
                <a:solidFill>
                  <a:schemeClr val="accent1">
                    <a:lumMod val="75000"/>
                  </a:schemeClr>
                </a:solidFill>
                <a:latin typeface="+mj-lt"/>
              </a:rPr>
              <a:t>Figure 6 – BMW </a:t>
            </a:r>
            <a:r>
              <a:rPr lang="en-US" sz="1000" dirty="0" err="1">
                <a:solidFill>
                  <a:schemeClr val="accent1">
                    <a:lumMod val="75000"/>
                  </a:schemeClr>
                </a:solidFill>
                <a:latin typeface="+mj-lt"/>
              </a:rPr>
              <a:t>iX</a:t>
            </a:r>
            <a:r>
              <a:rPr lang="en-US" sz="1000" dirty="0">
                <a:solidFill>
                  <a:schemeClr val="accent1">
                    <a:lumMod val="75000"/>
                  </a:schemeClr>
                </a:solidFill>
                <a:latin typeface="+mj-lt"/>
              </a:rPr>
              <a:t> Car</a:t>
            </a:r>
          </a:p>
          <a:p>
            <a:r>
              <a:rPr lang="en-GB" sz="800" i="0" dirty="0">
                <a:solidFill>
                  <a:schemeClr val="accent1">
                    <a:lumMod val="75000"/>
                  </a:schemeClr>
                </a:solidFill>
                <a:effectLst/>
                <a:latin typeface="+mj-lt"/>
              </a:rPr>
              <a:t>https://www.topgear.com/car-news/electric/top-gears-top-20-electric-cars</a:t>
            </a:r>
          </a:p>
          <a:p>
            <a:endParaRPr lang="en-GB" sz="1000" dirty="0"/>
          </a:p>
        </p:txBody>
      </p:sp>
    </p:spTree>
    <p:extLst>
      <p:ext uri="{BB962C8B-B14F-4D97-AF65-F5344CB8AC3E}">
        <p14:creationId xmlns:p14="http://schemas.microsoft.com/office/powerpoint/2010/main" val="1929363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2" name="Google Shape;960;p68">
            <a:extLst>
              <a:ext uri="{FF2B5EF4-FFF2-40B4-BE49-F238E27FC236}">
                <a16:creationId xmlns:a16="http://schemas.microsoft.com/office/drawing/2014/main" id="{173F4AFE-F094-600C-1545-75AE7A73760C}"/>
              </a:ext>
            </a:extLst>
          </p:cNvPr>
          <p:cNvSpPr txBox="1">
            <a:spLocks noGrp="1"/>
          </p:cNvSpPr>
          <p:nvPr>
            <p:ph type="title"/>
          </p:nvPr>
        </p:nvSpPr>
        <p:spPr>
          <a:xfrm>
            <a:off x="720000" y="127950"/>
            <a:ext cx="4213200" cy="8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600" b="1" dirty="0"/>
              <a:t>REFERENCES</a:t>
            </a:r>
          </a:p>
        </p:txBody>
      </p:sp>
      <p:sp>
        <p:nvSpPr>
          <p:cNvPr id="3" name="Google Shape;961;p68">
            <a:extLst>
              <a:ext uri="{FF2B5EF4-FFF2-40B4-BE49-F238E27FC236}">
                <a16:creationId xmlns:a16="http://schemas.microsoft.com/office/drawing/2014/main" id="{B7460023-90E2-4176-2851-861A0BF9DAEF}"/>
              </a:ext>
            </a:extLst>
          </p:cNvPr>
          <p:cNvSpPr txBox="1">
            <a:spLocks/>
          </p:cNvSpPr>
          <p:nvPr/>
        </p:nvSpPr>
        <p:spPr>
          <a:xfrm>
            <a:off x="720000" y="1295400"/>
            <a:ext cx="8335100" cy="37211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812A5F"/>
              </a:buClr>
            </a:pPr>
            <a:endParaRPr lang="en-US" dirty="0"/>
          </a:p>
        </p:txBody>
      </p:sp>
      <p:sp>
        <p:nvSpPr>
          <p:cNvPr id="19" name="Google Shape;977;p68">
            <a:extLst>
              <a:ext uri="{FF2B5EF4-FFF2-40B4-BE49-F238E27FC236}">
                <a16:creationId xmlns:a16="http://schemas.microsoft.com/office/drawing/2014/main" id="{662475AB-6800-85EE-6EF7-6CFD3CE8980D}"/>
              </a:ext>
            </a:extLst>
          </p:cNvPr>
          <p:cNvSpPr/>
          <p:nvPr/>
        </p:nvSpPr>
        <p:spPr>
          <a:xfrm>
            <a:off x="8203050" y="220650"/>
            <a:ext cx="441900" cy="441900"/>
          </a:xfrm>
          <a:prstGeom prst="diamond">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TextBox 4">
            <a:extLst>
              <a:ext uri="{FF2B5EF4-FFF2-40B4-BE49-F238E27FC236}">
                <a16:creationId xmlns:a16="http://schemas.microsoft.com/office/drawing/2014/main" id="{8735F853-CE43-10C9-BA4F-B125C4B8CB28}"/>
              </a:ext>
            </a:extLst>
          </p:cNvPr>
          <p:cNvSpPr txBox="1"/>
          <p:nvPr/>
        </p:nvSpPr>
        <p:spPr>
          <a:xfrm>
            <a:off x="720000" y="816302"/>
            <a:ext cx="6959600" cy="4226798"/>
          </a:xfrm>
          <a:prstGeom prst="rect">
            <a:avLst/>
          </a:prstGeom>
          <a:noFill/>
        </p:spPr>
        <p:txBody>
          <a:bodyPr wrap="square">
            <a:spAutoFit/>
          </a:bodyPr>
          <a:lstStyle/>
          <a:p>
            <a:pPr>
              <a:spcAft>
                <a:spcPts val="800"/>
              </a:spcAf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United States Department of Energy. (n.d.). Sustainability of Electric Vehicles. Retrieved from</a:t>
            </a:r>
            <a:br>
              <a:rPr lang="en-US" sz="12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u="sng"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https://www.energy.gov/eere/electricvehicles/sustainability-electric-vehicles</a:t>
            </a:r>
            <a:br>
              <a:rPr lang="en-US" sz="1200" i="1" kern="1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[Accessed 16 Mar. 2023]</a:t>
            </a:r>
            <a:r>
              <a:rPr lang="en-US" sz="1200" i="0" kern="1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t> </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200" kern="100" dirty="0">
                <a:effectLst/>
                <a:latin typeface="Calibri" panose="020F0502020204030204" pitchFamily="34" charset="0"/>
                <a:ea typeface="Calibri" panose="020F0502020204030204" pitchFamily="34" charset="0"/>
                <a:cs typeface="Times New Roman" panose="02020603050405020304" pitchFamily="18" charset="0"/>
              </a:rPr>
              <a:t>International Energy Agency. (n.d.). Electric Vehicles. Retrieved from </a:t>
            </a:r>
          </a:p>
          <a:p>
            <a:r>
              <a:rPr lang="en-US" sz="1200" u="sng"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https://www.iea.org/topics/electric-vehicles</a:t>
            </a:r>
            <a:br>
              <a:rPr lang="en-US" sz="1200" i="1" kern="1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[Accessed 16 Mar. 2023]</a:t>
            </a:r>
          </a:p>
          <a:p>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National Renewable Energy Laboratory. (n.d.). Electric Vehicles. Retrieved from </a:t>
            </a:r>
            <a:r>
              <a:rPr lang="en-US" sz="1200" u="sng"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https://www.nrel.gov/transportation/electric-vehicles.html</a:t>
            </a:r>
            <a:br>
              <a:rPr lang="en-US" sz="1200" i="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[Accessed 16 Mar. 2023]</a:t>
            </a:r>
          </a:p>
          <a:p>
            <a:pPr>
              <a:spcAft>
                <a:spcPts val="800"/>
              </a:spcAf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Union of Concerned Scientists. (n.d.). Electric Cars: Environmental Impact. Retrieved from </a:t>
            </a:r>
            <a:r>
              <a:rPr lang="en-US" sz="1200" u="sng"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hlinkClick r:id="rId6">
                  <a:extLst>
                    <a:ext uri="{A12FA001-AC4F-418D-AE19-62706E023703}">
                      <ahyp:hlinkClr xmlns:ahyp="http://schemas.microsoft.com/office/drawing/2018/hyperlinkcolor" val="tx"/>
                    </a:ext>
                  </a:extLst>
                </a:hlinkClick>
              </a:rPr>
              <a:t>https://www.ucsusa.org/resources/electric-cars-environmental-impact</a:t>
            </a:r>
            <a:br>
              <a:rPr lang="en-US" sz="1200" i="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[Accessed 16 Mar. 2023]</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Environmental Defense Fund. (n.d.). Electric Vehicles. Retrieved from </a:t>
            </a:r>
            <a:r>
              <a:rPr lang="en-US" sz="1200" u="sng"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https://www.edf.org/transportation/electric-vehicles</a:t>
            </a:r>
            <a:br>
              <a:rPr lang="en-US" sz="1200" i="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[Accessed 16 Mar. 2023]</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Car and Driver. (2021). Pros and Cons of Electric Cars. Retrieved from </a:t>
            </a:r>
            <a:r>
              <a:rPr lang="en-US" sz="1200" u="sng"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hlinkClick r:id="rId8">
                  <a:extLst>
                    <a:ext uri="{A12FA001-AC4F-418D-AE19-62706E023703}">
                      <ahyp:hlinkClr xmlns:ahyp="http://schemas.microsoft.com/office/drawing/2018/hyperlinkcolor" val="tx"/>
                    </a:ext>
                  </a:extLst>
                </a:hlinkClick>
              </a:rPr>
              <a:t>https://www.caranddriver.com/research/a32879456/pros-and-cons-electric-cars/</a:t>
            </a:r>
            <a:br>
              <a:rPr lang="en-US" sz="1200" i="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[Accessed 16 Mar. 2023]</a:t>
            </a:r>
            <a:br>
              <a:rPr lang="en-US" sz="1400" i="1" kern="100"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rPr>
            </a:br>
            <a:endParaRPr lang="en-GB" sz="14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3" name="Google Shape;961;p68">
            <a:extLst>
              <a:ext uri="{FF2B5EF4-FFF2-40B4-BE49-F238E27FC236}">
                <a16:creationId xmlns:a16="http://schemas.microsoft.com/office/drawing/2014/main" id="{B7460023-90E2-4176-2851-861A0BF9DAEF}"/>
              </a:ext>
            </a:extLst>
          </p:cNvPr>
          <p:cNvSpPr txBox="1">
            <a:spLocks/>
          </p:cNvSpPr>
          <p:nvPr/>
        </p:nvSpPr>
        <p:spPr>
          <a:xfrm>
            <a:off x="720000" y="1295400"/>
            <a:ext cx="8335100" cy="37211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812A5F"/>
              </a:buClr>
            </a:pPr>
            <a:endParaRPr lang="en-US" dirty="0"/>
          </a:p>
        </p:txBody>
      </p:sp>
      <p:sp>
        <p:nvSpPr>
          <p:cNvPr id="5" name="TextBox 4">
            <a:extLst>
              <a:ext uri="{FF2B5EF4-FFF2-40B4-BE49-F238E27FC236}">
                <a16:creationId xmlns:a16="http://schemas.microsoft.com/office/drawing/2014/main" id="{8735F853-CE43-10C9-BA4F-B125C4B8CB28}"/>
              </a:ext>
            </a:extLst>
          </p:cNvPr>
          <p:cNvSpPr txBox="1"/>
          <p:nvPr/>
        </p:nvSpPr>
        <p:spPr>
          <a:xfrm>
            <a:off x="774700" y="1098900"/>
            <a:ext cx="6540500" cy="3655873"/>
          </a:xfrm>
          <a:prstGeom prst="rect">
            <a:avLst/>
          </a:prstGeom>
          <a:noFill/>
        </p:spPr>
        <p:txBody>
          <a:bodyPr wrap="square">
            <a:spAutoFit/>
          </a:bodyPr>
          <a:lstStyle/>
          <a:p>
            <a:pPr>
              <a:lnSpc>
                <a:spcPct val="107000"/>
              </a:lnSpc>
              <a:spcAft>
                <a:spcPts val="800"/>
              </a:spcAf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The Welding Institute (TWI). (n.d.). What is an EV? Frequently Asked Questions. Available at: </a:t>
            </a:r>
            <a:r>
              <a:rPr lang="en-US" sz="1200" i="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https://www.twi-global.com/technical-knowledge/faqs/what-is-an-ev#:~:text=EVs%20are%20vehicles%20that%20are,fuels%20(petrol%20or%20diese</a:t>
            </a:r>
            <a:br>
              <a:rPr lang="en-US" sz="12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[Accessed 16 Mar. 2023]</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Electric car. (2022). In </a:t>
            </a:r>
            <a:r>
              <a:rPr lang="en-US" sz="1200" kern="100" dirty="0" err="1">
                <a:effectLst/>
                <a:latin typeface="Calibri" panose="020F0502020204030204" pitchFamily="34" charset="0"/>
                <a:ea typeface="Calibri" panose="020F0502020204030204" pitchFamily="34" charset="0"/>
                <a:cs typeface="Times New Roman" panose="02020603050405020304" pitchFamily="18" charset="0"/>
              </a:rPr>
              <a:t>Encyclopædia</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Britannica. Available at: </a:t>
            </a:r>
            <a:r>
              <a:rPr lang="en-US" sz="1200" i="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https://www.britannica.com/technology/electric-car</a:t>
            </a:r>
            <a:r>
              <a:rPr lang="en-US" sz="1200"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 </a:t>
            </a:r>
            <a:br>
              <a:rPr lang="en-US" sz="12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[Accessed 16 Mar. 2023].</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EDF Energy. (n.d.). Electric Cars and the Environment. </a:t>
            </a:r>
            <a:r>
              <a:rPr lang="en-US" sz="1200" kern="100" dirty="0" err="1">
                <a:effectLst/>
                <a:latin typeface="Calibri" panose="020F0502020204030204" pitchFamily="34" charset="0"/>
                <a:ea typeface="Calibri" panose="020F0502020204030204" pitchFamily="34" charset="0"/>
                <a:cs typeface="Times New Roman" panose="02020603050405020304" pitchFamily="18" charset="0"/>
              </a:rPr>
              <a:t>Energywise</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Available at: </a:t>
            </a:r>
            <a:r>
              <a:rPr lang="en-US" sz="1200" i="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https://www.edfenergy.com/energywise/electric-cars-and-environment</a:t>
            </a:r>
            <a:r>
              <a:rPr lang="en-US" sz="1200"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 </a:t>
            </a:r>
            <a:br>
              <a:rPr lang="en-US" sz="12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[Accessed 16 Mar. 2023].</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Renault Group. (2019, September 4). The energy efficiency of an electric car motor. News. Available at: </a:t>
            </a:r>
            <a:r>
              <a:rPr lang="en-US" sz="1200" i="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https://www.renaultgroup.com/en/news-on-air/news/the-energy-efficiency-of-an-electric-car-motor/</a:t>
            </a:r>
            <a:r>
              <a:rPr lang="en-US" sz="1200"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 </a:t>
            </a:r>
            <a:br>
              <a:rPr lang="en-US" sz="12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[Accessed 16 Mar. 2023].</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200" kern="100" dirty="0" err="1">
                <a:effectLst/>
                <a:latin typeface="Calibri" panose="020F0502020204030204" pitchFamily="34" charset="0"/>
                <a:ea typeface="Calibri" panose="020F0502020204030204" pitchFamily="34" charset="0"/>
                <a:cs typeface="Times New Roman" panose="02020603050405020304" pitchFamily="18" charset="0"/>
              </a:rPr>
              <a:t>Larminie</a:t>
            </a: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 J., &amp; Lowry, J. (2019). Electric Vehicle Technology Explained (3rd ed.). Elsevier. Available at: </a:t>
            </a:r>
            <a:r>
              <a:rPr lang="en-US" sz="1200" i="1"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https://doi.org/10.1016/B978-0-12-815801-2.00006-X</a:t>
            </a:r>
            <a:r>
              <a:rPr lang="en-US" sz="1200" kern="1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 </a:t>
            </a:r>
            <a:br>
              <a:rPr lang="en-US" sz="1200" kern="100" dirty="0">
                <a:effectLst/>
                <a:latin typeface="Calibri" panose="020F0502020204030204" pitchFamily="34" charset="0"/>
                <a:ea typeface="Calibri" panose="020F0502020204030204" pitchFamily="34" charset="0"/>
                <a:cs typeface="Times New Roman" panose="02020603050405020304" pitchFamily="18" charset="0"/>
              </a:rPr>
            </a:b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[Accessed 16 Mar. 2023].</a:t>
            </a:r>
            <a:endParaRPr lang="en-GB"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Google Shape;960;p68">
            <a:extLst>
              <a:ext uri="{FF2B5EF4-FFF2-40B4-BE49-F238E27FC236}">
                <a16:creationId xmlns:a16="http://schemas.microsoft.com/office/drawing/2014/main" id="{5409FAC8-AA5D-5B11-ED0F-36BB77CB77DA}"/>
              </a:ext>
            </a:extLst>
          </p:cNvPr>
          <p:cNvSpPr txBox="1">
            <a:spLocks/>
          </p:cNvSpPr>
          <p:nvPr/>
        </p:nvSpPr>
        <p:spPr>
          <a:xfrm>
            <a:off x="720000" y="127950"/>
            <a:ext cx="4213200" cy="8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200"/>
              <a:buFont typeface="Maven Pro"/>
              <a:buNone/>
              <a:defRPr sz="3200" b="0" i="0" u="none" strike="noStrike" cap="none">
                <a:solidFill>
                  <a:schemeClr val="dk1"/>
                </a:solidFill>
                <a:latin typeface="Maven Pro"/>
                <a:ea typeface="Maven Pro"/>
                <a:cs typeface="Maven Pro"/>
                <a:sym typeface="Maven Pro"/>
              </a:defRPr>
            </a:lvl1pPr>
            <a:lvl2pPr marR="0" lvl="1" algn="ctr" rtl="0">
              <a:lnSpc>
                <a:spcPct val="100000"/>
              </a:lnSpc>
              <a:spcBef>
                <a:spcPts val="0"/>
              </a:spcBef>
              <a:spcAft>
                <a:spcPts val="0"/>
              </a:spcAft>
              <a:buClr>
                <a:schemeClr val="dk1"/>
              </a:buClr>
              <a:buSzPts val="3200"/>
              <a:buFont typeface="Maven Pro"/>
              <a:buNone/>
              <a:defRPr sz="3200" b="0" i="0" u="none" strike="noStrike" cap="none">
                <a:solidFill>
                  <a:schemeClr val="dk1"/>
                </a:solidFill>
                <a:latin typeface="Maven Pro"/>
                <a:ea typeface="Maven Pro"/>
                <a:cs typeface="Maven Pro"/>
                <a:sym typeface="Maven Pro"/>
              </a:defRPr>
            </a:lvl2pPr>
            <a:lvl3pPr marR="0" lvl="2" algn="ctr" rtl="0">
              <a:lnSpc>
                <a:spcPct val="100000"/>
              </a:lnSpc>
              <a:spcBef>
                <a:spcPts val="0"/>
              </a:spcBef>
              <a:spcAft>
                <a:spcPts val="0"/>
              </a:spcAft>
              <a:buClr>
                <a:schemeClr val="dk1"/>
              </a:buClr>
              <a:buSzPts val="3200"/>
              <a:buFont typeface="Maven Pro"/>
              <a:buNone/>
              <a:defRPr sz="3200" b="0" i="0" u="none" strike="noStrike" cap="none">
                <a:solidFill>
                  <a:schemeClr val="dk1"/>
                </a:solidFill>
                <a:latin typeface="Maven Pro"/>
                <a:ea typeface="Maven Pro"/>
                <a:cs typeface="Maven Pro"/>
                <a:sym typeface="Maven Pro"/>
              </a:defRPr>
            </a:lvl3pPr>
            <a:lvl4pPr marR="0" lvl="3" algn="ctr" rtl="0">
              <a:lnSpc>
                <a:spcPct val="100000"/>
              </a:lnSpc>
              <a:spcBef>
                <a:spcPts val="0"/>
              </a:spcBef>
              <a:spcAft>
                <a:spcPts val="0"/>
              </a:spcAft>
              <a:buClr>
                <a:schemeClr val="dk1"/>
              </a:buClr>
              <a:buSzPts val="3200"/>
              <a:buFont typeface="Maven Pro"/>
              <a:buNone/>
              <a:defRPr sz="3200" b="0" i="0" u="none" strike="noStrike" cap="none">
                <a:solidFill>
                  <a:schemeClr val="dk1"/>
                </a:solidFill>
                <a:latin typeface="Maven Pro"/>
                <a:ea typeface="Maven Pro"/>
                <a:cs typeface="Maven Pro"/>
                <a:sym typeface="Maven Pro"/>
              </a:defRPr>
            </a:lvl4pPr>
            <a:lvl5pPr marR="0" lvl="4" algn="ctr" rtl="0">
              <a:lnSpc>
                <a:spcPct val="100000"/>
              </a:lnSpc>
              <a:spcBef>
                <a:spcPts val="0"/>
              </a:spcBef>
              <a:spcAft>
                <a:spcPts val="0"/>
              </a:spcAft>
              <a:buClr>
                <a:schemeClr val="dk1"/>
              </a:buClr>
              <a:buSzPts val="3200"/>
              <a:buFont typeface="Maven Pro"/>
              <a:buNone/>
              <a:defRPr sz="3200" b="0" i="0" u="none" strike="noStrike" cap="none">
                <a:solidFill>
                  <a:schemeClr val="dk1"/>
                </a:solidFill>
                <a:latin typeface="Maven Pro"/>
                <a:ea typeface="Maven Pro"/>
                <a:cs typeface="Maven Pro"/>
                <a:sym typeface="Maven Pro"/>
              </a:defRPr>
            </a:lvl5pPr>
            <a:lvl6pPr marR="0" lvl="5" algn="ctr" rtl="0">
              <a:lnSpc>
                <a:spcPct val="100000"/>
              </a:lnSpc>
              <a:spcBef>
                <a:spcPts val="0"/>
              </a:spcBef>
              <a:spcAft>
                <a:spcPts val="0"/>
              </a:spcAft>
              <a:buClr>
                <a:schemeClr val="dk1"/>
              </a:buClr>
              <a:buSzPts val="3200"/>
              <a:buFont typeface="Maven Pro"/>
              <a:buNone/>
              <a:defRPr sz="3200" b="0" i="0" u="none" strike="noStrike" cap="none">
                <a:solidFill>
                  <a:schemeClr val="dk1"/>
                </a:solidFill>
                <a:latin typeface="Maven Pro"/>
                <a:ea typeface="Maven Pro"/>
                <a:cs typeface="Maven Pro"/>
                <a:sym typeface="Maven Pro"/>
              </a:defRPr>
            </a:lvl6pPr>
            <a:lvl7pPr marR="0" lvl="6" algn="ctr" rtl="0">
              <a:lnSpc>
                <a:spcPct val="100000"/>
              </a:lnSpc>
              <a:spcBef>
                <a:spcPts val="0"/>
              </a:spcBef>
              <a:spcAft>
                <a:spcPts val="0"/>
              </a:spcAft>
              <a:buClr>
                <a:schemeClr val="dk1"/>
              </a:buClr>
              <a:buSzPts val="3200"/>
              <a:buFont typeface="Maven Pro"/>
              <a:buNone/>
              <a:defRPr sz="3200" b="0" i="0" u="none" strike="noStrike" cap="none">
                <a:solidFill>
                  <a:schemeClr val="dk1"/>
                </a:solidFill>
                <a:latin typeface="Maven Pro"/>
                <a:ea typeface="Maven Pro"/>
                <a:cs typeface="Maven Pro"/>
                <a:sym typeface="Maven Pro"/>
              </a:defRPr>
            </a:lvl7pPr>
            <a:lvl8pPr marR="0" lvl="7" algn="ctr" rtl="0">
              <a:lnSpc>
                <a:spcPct val="100000"/>
              </a:lnSpc>
              <a:spcBef>
                <a:spcPts val="0"/>
              </a:spcBef>
              <a:spcAft>
                <a:spcPts val="0"/>
              </a:spcAft>
              <a:buClr>
                <a:schemeClr val="dk1"/>
              </a:buClr>
              <a:buSzPts val="3200"/>
              <a:buFont typeface="Maven Pro"/>
              <a:buNone/>
              <a:defRPr sz="3200" b="0" i="0" u="none" strike="noStrike" cap="none">
                <a:solidFill>
                  <a:schemeClr val="dk1"/>
                </a:solidFill>
                <a:latin typeface="Maven Pro"/>
                <a:ea typeface="Maven Pro"/>
                <a:cs typeface="Maven Pro"/>
                <a:sym typeface="Maven Pro"/>
              </a:defRPr>
            </a:lvl8pPr>
            <a:lvl9pPr marR="0" lvl="8" algn="ctr" rtl="0">
              <a:lnSpc>
                <a:spcPct val="100000"/>
              </a:lnSpc>
              <a:spcBef>
                <a:spcPts val="0"/>
              </a:spcBef>
              <a:spcAft>
                <a:spcPts val="0"/>
              </a:spcAft>
              <a:buClr>
                <a:schemeClr val="dk1"/>
              </a:buClr>
              <a:buSzPts val="3200"/>
              <a:buFont typeface="Maven Pro"/>
              <a:buNone/>
              <a:defRPr sz="3200" b="0" i="0" u="none" strike="noStrike" cap="none">
                <a:solidFill>
                  <a:schemeClr val="dk1"/>
                </a:solidFill>
                <a:latin typeface="Maven Pro"/>
                <a:ea typeface="Maven Pro"/>
                <a:cs typeface="Maven Pro"/>
                <a:sym typeface="Maven Pro"/>
              </a:defRPr>
            </a:lvl9pPr>
          </a:lstStyle>
          <a:p>
            <a:pPr algn="l"/>
            <a:r>
              <a:rPr lang="en-GB" sz="3600" b="1"/>
              <a:t>REFERENCES</a:t>
            </a:r>
            <a:endParaRPr lang="en-GB" sz="3600" b="1" dirty="0"/>
          </a:p>
        </p:txBody>
      </p:sp>
      <p:sp>
        <p:nvSpPr>
          <p:cNvPr id="8" name="Google Shape;977;p68">
            <a:extLst>
              <a:ext uri="{FF2B5EF4-FFF2-40B4-BE49-F238E27FC236}">
                <a16:creationId xmlns:a16="http://schemas.microsoft.com/office/drawing/2014/main" id="{E7B7417C-3AE2-99B0-D863-6522AA53505E}"/>
              </a:ext>
            </a:extLst>
          </p:cNvPr>
          <p:cNvSpPr/>
          <p:nvPr/>
        </p:nvSpPr>
        <p:spPr>
          <a:xfrm>
            <a:off x="8203050" y="220650"/>
            <a:ext cx="441900" cy="441900"/>
          </a:xfrm>
          <a:prstGeom prst="diamond">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83786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pic>
        <p:nvPicPr>
          <p:cNvPr id="18" name="Picture 17">
            <a:extLst>
              <a:ext uri="{FF2B5EF4-FFF2-40B4-BE49-F238E27FC236}">
                <a16:creationId xmlns:a16="http://schemas.microsoft.com/office/drawing/2014/main" id="{B8ED026E-36A1-CEA3-07CF-01B8573BCCE8}"/>
              </a:ext>
            </a:extLst>
          </p:cNvPr>
          <p:cNvPicPr>
            <a:picLocks noChangeAspect="1"/>
          </p:cNvPicPr>
          <p:nvPr/>
        </p:nvPicPr>
        <p:blipFill>
          <a:blip r:embed="rId3"/>
          <a:srcRect t="8092" b="8092"/>
          <a:stretch/>
        </p:blipFill>
        <p:spPr>
          <a:xfrm>
            <a:off x="-30480" y="0"/>
            <a:ext cx="9204960" cy="5143500"/>
          </a:xfrm>
          <a:prstGeom prst="rect">
            <a:avLst/>
          </a:prstGeom>
        </p:spPr>
      </p:pic>
      <p:sp>
        <p:nvSpPr>
          <p:cNvPr id="2" name="Rectangle 1">
            <a:extLst>
              <a:ext uri="{FF2B5EF4-FFF2-40B4-BE49-F238E27FC236}">
                <a16:creationId xmlns:a16="http://schemas.microsoft.com/office/drawing/2014/main" id="{7CD33B55-A70B-21FF-ED77-5FCBAE67735A}"/>
              </a:ext>
            </a:extLst>
          </p:cNvPr>
          <p:cNvSpPr/>
          <p:nvPr/>
        </p:nvSpPr>
        <p:spPr>
          <a:xfrm>
            <a:off x="826458" y="431800"/>
            <a:ext cx="7606342" cy="4188480"/>
          </a:xfrm>
          <a:prstGeom prst="rect">
            <a:avLst/>
          </a:prstGeom>
          <a:solidFill>
            <a:schemeClr val="accent6">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TextBox 9">
            <a:extLst>
              <a:ext uri="{FF2B5EF4-FFF2-40B4-BE49-F238E27FC236}">
                <a16:creationId xmlns:a16="http://schemas.microsoft.com/office/drawing/2014/main" id="{8544AC39-9F42-4280-8DA4-92268600FBE0}"/>
              </a:ext>
            </a:extLst>
          </p:cNvPr>
          <p:cNvSpPr txBox="1"/>
          <p:nvPr/>
        </p:nvSpPr>
        <p:spPr>
          <a:xfrm>
            <a:off x="826457" y="2110085"/>
            <a:ext cx="7606342" cy="923330"/>
          </a:xfrm>
          <a:prstGeom prst="rect">
            <a:avLst/>
          </a:prstGeom>
          <a:noFill/>
        </p:spPr>
        <p:txBody>
          <a:bodyPr wrap="square" rtlCol="0">
            <a:spAutoFit/>
          </a:bodyPr>
          <a:lstStyle/>
          <a:p>
            <a:pPr algn="ctr"/>
            <a:r>
              <a:rPr lang="en-US" sz="5400" b="1" dirty="0">
                <a:solidFill>
                  <a:schemeClr val="tx1"/>
                </a:solidFill>
                <a:latin typeface="Maven Pro" panose="020B0604020202020204" charset="0"/>
              </a:rPr>
              <a:t>ANY QUESTIONS</a:t>
            </a:r>
            <a:endParaRPr lang="en-GB" sz="5400" b="1" dirty="0">
              <a:solidFill>
                <a:schemeClr val="tx1"/>
              </a:solidFill>
              <a:latin typeface="Maven Pro" panose="020B0604020202020204" charset="0"/>
            </a:endParaRPr>
          </a:p>
        </p:txBody>
      </p:sp>
      <p:pic>
        <p:nvPicPr>
          <p:cNvPr id="11" name="Picture 10" descr="Logo, company name&#10;&#10;Description automatically generated">
            <a:extLst>
              <a:ext uri="{FF2B5EF4-FFF2-40B4-BE49-F238E27FC236}">
                <a16:creationId xmlns:a16="http://schemas.microsoft.com/office/drawing/2014/main" id="{B9B0AD01-E9F6-550B-25A8-5072925C8FA6}"/>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222" b="90000" l="10000" r="90000">
                        <a14:foregroundMark x1="29556" y1="8222" x2="29556" y2="8222"/>
                      </a14:backgroundRemoval>
                    </a14:imgEffect>
                  </a14:imgLayer>
                </a14:imgProps>
              </a:ext>
            </a:extLst>
          </a:blip>
          <a:stretch>
            <a:fillRect/>
          </a:stretch>
        </p:blipFill>
        <p:spPr>
          <a:xfrm>
            <a:off x="29804" y="60597"/>
            <a:ext cx="796653" cy="796653"/>
          </a:xfrm>
          <a:prstGeom prst="rect">
            <a:avLst/>
          </a:prstGeom>
        </p:spPr>
      </p:pic>
      <p:sp>
        <p:nvSpPr>
          <p:cNvPr id="19" name="TextBox 18">
            <a:extLst>
              <a:ext uri="{FF2B5EF4-FFF2-40B4-BE49-F238E27FC236}">
                <a16:creationId xmlns:a16="http://schemas.microsoft.com/office/drawing/2014/main" id="{C0ACB27F-46A9-3D72-34EF-5FD778AB7214}"/>
              </a:ext>
            </a:extLst>
          </p:cNvPr>
          <p:cNvSpPr txBox="1"/>
          <p:nvPr/>
        </p:nvSpPr>
        <p:spPr>
          <a:xfrm>
            <a:off x="58325" y="4620280"/>
            <a:ext cx="3028950" cy="523220"/>
          </a:xfrm>
          <a:prstGeom prst="rect">
            <a:avLst/>
          </a:prstGeom>
          <a:noFill/>
        </p:spPr>
        <p:txBody>
          <a:bodyPr wrap="square" rtlCol="0">
            <a:spAutoFit/>
          </a:bodyPr>
          <a:lstStyle/>
          <a:p>
            <a:r>
              <a:rPr lang="en-US" sz="1000" dirty="0">
                <a:solidFill>
                  <a:schemeClr val="accent1">
                    <a:lumMod val="75000"/>
                  </a:schemeClr>
                </a:solidFill>
                <a:latin typeface="+mj-lt"/>
              </a:rPr>
              <a:t>Figure 7 – VEGA Sri-Lankan</a:t>
            </a:r>
            <a:r>
              <a:rPr lang="en-GB" sz="1000" i="0" dirty="0">
                <a:solidFill>
                  <a:schemeClr val="accent1">
                    <a:lumMod val="75000"/>
                  </a:schemeClr>
                </a:solidFill>
                <a:effectLst/>
                <a:latin typeface="+mj-lt"/>
              </a:rPr>
              <a:t> Car </a:t>
            </a:r>
          </a:p>
          <a:p>
            <a:r>
              <a:rPr lang="en-GB" sz="800" i="0" dirty="0">
                <a:solidFill>
                  <a:schemeClr val="accent1">
                    <a:lumMod val="75000"/>
                  </a:schemeClr>
                </a:solidFill>
                <a:effectLst/>
                <a:latin typeface="+mj-lt"/>
              </a:rPr>
              <a:t>https://www.vega.lk/</a:t>
            </a:r>
          </a:p>
          <a:p>
            <a:endParaRPr lang="en-GB" sz="1000" dirty="0"/>
          </a:p>
        </p:txBody>
      </p:sp>
      <p:sp>
        <p:nvSpPr>
          <p:cNvPr id="4" name="Google Shape;977;p68">
            <a:extLst>
              <a:ext uri="{FF2B5EF4-FFF2-40B4-BE49-F238E27FC236}">
                <a16:creationId xmlns:a16="http://schemas.microsoft.com/office/drawing/2014/main" id="{3C603868-E03B-4214-6DBC-53EE7BA0C90C}"/>
              </a:ext>
            </a:extLst>
          </p:cNvPr>
          <p:cNvSpPr/>
          <p:nvPr/>
        </p:nvSpPr>
        <p:spPr>
          <a:xfrm>
            <a:off x="8203050" y="220650"/>
            <a:ext cx="441900" cy="441900"/>
          </a:xfrm>
          <a:prstGeom prst="diamond">
            <a:avLst/>
          </a:prstGeom>
          <a:solidFill>
            <a:schemeClr val="lt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45487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41"/>
          <p:cNvSpPr txBox="1">
            <a:spLocks noGrp="1"/>
          </p:cNvSpPr>
          <p:nvPr>
            <p:ph type="title"/>
          </p:nvPr>
        </p:nvSpPr>
        <p:spPr>
          <a:xfrm>
            <a:off x="388575" y="2089823"/>
            <a:ext cx="4885750" cy="963854"/>
          </a:xfrm>
          <a:prstGeom prst="rect">
            <a:avLst/>
          </a:prstGeom>
        </p:spPr>
        <p:txBody>
          <a:bodyPr spcFirstLastPara="1" wrap="square" lIns="91425" tIns="91425" rIns="91425" bIns="91425" anchor="b" anchorCtr="0">
            <a:noAutofit/>
          </a:bodyPr>
          <a:lstStyle/>
          <a:p>
            <a:r>
              <a:rPr lang="en-US" sz="5400" b="1" dirty="0">
                <a:solidFill>
                  <a:schemeClr val="tx1"/>
                </a:solidFill>
                <a:latin typeface="Maven Pro" panose="020B0604020202020204" charset="0"/>
              </a:rPr>
              <a:t>THANK YOU!</a:t>
            </a:r>
            <a:endParaRPr sz="5400" b="1" dirty="0">
              <a:solidFill>
                <a:schemeClr val="tx1"/>
              </a:solidFill>
            </a:endParaRPr>
          </a:p>
        </p:txBody>
      </p:sp>
      <p:pic>
        <p:nvPicPr>
          <p:cNvPr id="8" name="Picture 7" descr="Logo, company name&#10;&#10;Description automatically generated">
            <a:extLst>
              <a:ext uri="{FF2B5EF4-FFF2-40B4-BE49-F238E27FC236}">
                <a16:creationId xmlns:a16="http://schemas.microsoft.com/office/drawing/2014/main" id="{683C9615-CACE-F6C0-85F1-5CC420B67FC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8222" b="90000" l="10000" r="90000">
                        <a14:foregroundMark x1="29556" y1="8222" x2="29556" y2="8222"/>
                      </a14:backgroundRemoval>
                    </a14:imgEffect>
                  </a14:imgLayer>
                </a14:imgProps>
              </a:ext>
            </a:extLst>
          </a:blip>
          <a:stretch>
            <a:fillRect/>
          </a:stretch>
        </p:blipFill>
        <p:spPr>
          <a:xfrm>
            <a:off x="8239033" y="157464"/>
            <a:ext cx="796653" cy="796653"/>
          </a:xfrm>
          <a:prstGeom prst="rect">
            <a:avLst/>
          </a:prstGeom>
        </p:spPr>
      </p:pic>
      <p:pic>
        <p:nvPicPr>
          <p:cNvPr id="3" name="Picture 2">
            <a:extLst>
              <a:ext uri="{FF2B5EF4-FFF2-40B4-BE49-F238E27FC236}">
                <a16:creationId xmlns:a16="http://schemas.microsoft.com/office/drawing/2014/main" id="{D36C536F-2C8F-FD50-5D66-E363EE77A3B7}"/>
              </a:ext>
            </a:extLst>
          </p:cNvPr>
          <p:cNvPicPr>
            <a:picLocks noChangeAspect="1"/>
          </p:cNvPicPr>
          <p:nvPr/>
        </p:nvPicPr>
        <p:blipFill rotWithShape="1">
          <a:blip r:embed="rId5"/>
          <a:srcRect l="3968" t="8092" b="8092"/>
          <a:stretch/>
        </p:blipFill>
        <p:spPr>
          <a:xfrm>
            <a:off x="5384800" y="1055343"/>
            <a:ext cx="5346730" cy="3111079"/>
          </a:xfrm>
          <a:prstGeom prst="rect">
            <a:avLst/>
          </a:prstGeom>
        </p:spPr>
      </p:pic>
      <p:sp>
        <p:nvSpPr>
          <p:cNvPr id="302" name="Google Shape;302;p41"/>
          <p:cNvSpPr/>
          <p:nvPr/>
        </p:nvSpPr>
        <p:spPr>
          <a:xfrm>
            <a:off x="5163850" y="3945472"/>
            <a:ext cx="441900" cy="441900"/>
          </a:xfrm>
          <a:prstGeom prst="diamond">
            <a:avLst/>
          </a:prstGeom>
          <a:solidFill>
            <a:schemeClr val="bg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69126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Luxury Cars Brand MK Campaign by Slidesgo">
  <a:themeElements>
    <a:clrScheme name="Simple Light">
      <a:dk1>
        <a:srgbClr val="000000"/>
      </a:dk1>
      <a:lt1>
        <a:srgbClr val="BD0D0D"/>
      </a:lt1>
      <a:dk2>
        <a:srgbClr val="F7F7F7"/>
      </a:dk2>
      <a:lt2>
        <a:srgbClr val="F1F1F1"/>
      </a:lt2>
      <a:accent1>
        <a:srgbClr val="E4E4E4"/>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433</TotalTime>
  <Words>960</Words>
  <Application>Microsoft Office PowerPoint</Application>
  <PresentationFormat>On-screen Show (16:9)</PresentationFormat>
  <Paragraphs>102</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Maven Pro</vt:lpstr>
      <vt:lpstr>Calibri</vt:lpstr>
      <vt:lpstr>Poppins</vt:lpstr>
      <vt:lpstr>Assistant</vt:lpstr>
      <vt:lpstr>Luxury Cars Brand MK Campaign by Slidesgo</vt:lpstr>
      <vt:lpstr>THE SUSTAINABILITY OF ELECTRIC CARS</vt:lpstr>
      <vt:lpstr>PowerPoint Presentation</vt:lpstr>
      <vt:lpstr>02</vt:lpstr>
      <vt:lpstr>PowerPoint Presentation</vt:lpstr>
      <vt:lpstr>WHAT DOES “SUSTAINABILITY OF ELECTRIC CARS” MEAN</vt:lpstr>
      <vt:lpstr>PowerPoint Presentation</vt:lpstr>
      <vt:lpstr>PowerPoint Presentation</vt:lpstr>
      <vt:lpstr>PowerPoint Presentation</vt:lpstr>
      <vt:lpstr>PowerPoint Presentation</vt:lpstr>
      <vt:lpstr>SOCIAL AND ECONOMIC SUSTAINABILITY OF ELECTRIC CARS</vt:lpstr>
      <vt:lpstr>PowerPoint Presentation</vt:lpstr>
      <vt:lpstr>PowerPoint Presentation</vt:lpstr>
      <vt:lpstr>PowerPoint Presentation</vt:lpstr>
      <vt:lpstr>REFERENCES</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SUSTAINABILITY OF ELECTRIC CARS</dc:title>
  <cp:lastModifiedBy>Aakash 20222330</cp:lastModifiedBy>
  <cp:revision>6</cp:revision>
  <dcterms:modified xsi:type="dcterms:W3CDTF">2023-03-18T14:04:44Z</dcterms:modified>
</cp:coreProperties>
</file>