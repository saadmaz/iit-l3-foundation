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77" r:id="rId6"/>
    <p:sldId id="284" r:id="rId7"/>
    <p:sldId id="287" r:id="rId8"/>
    <p:sldId id="291" r:id="rId9"/>
    <p:sldId id="264" r:id="rId10"/>
    <p:sldId id="262" r:id="rId11"/>
    <p:sldId id="282" r:id="rId12"/>
    <p:sldId id="2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3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7939C-241D-4FDC-8DE8-4EE3F462EE22}" type="datetimeFigureOut">
              <a:rPr lang="en-US" smtClean="0"/>
              <a:t>5/16/2023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AF473-2665-42A7-89E3-C7BA7EB58D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465970"/>
            <a:ext cx="573988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595562"/>
            <a:ext cx="5684520" cy="31810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325"/>
            <a:ext cx="568452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5562"/>
            <a:ext cx="5684520" cy="4415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4529818"/>
            <a:ext cx="5684520" cy="4415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0" y="3040514"/>
            <a:ext cx="5684520" cy="1106942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38200" y="4993888"/>
            <a:ext cx="5684520" cy="1106942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42" y="822325"/>
            <a:ext cx="9329058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742" y="259556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019111" y="259556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024742" y="444613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019111" y="444613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24740" y="306977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19109" y="306977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024740" y="492034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019109" y="492034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eft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480" y="4879291"/>
            <a:ext cx="5684520" cy="13255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er text with top bor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er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1" name="Online Image Placeholder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2" name="Online Image Placeholder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3" name="Online Image Placeholder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4" name="Online Image Placeholder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5" name="Date Placeholder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6" name="Footer Placeholder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7" name="Slide Number Placeholder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four imag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621139"/>
          </a:xfrm>
        </p:spPr>
        <p:txBody>
          <a:bodyPr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1" name="Online Image Placeholder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2" name="Online Image Placeholder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3" name="Online Image Placeholder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4" name="Online Image Placeholder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8200" y="4112198"/>
            <a:ext cx="3200400" cy="139597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8201" y="5511642"/>
            <a:ext cx="3200400" cy="84470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037"/>
            <a:ext cx="4573200" cy="1325563"/>
          </a:xfrm>
        </p:spPr>
        <p:txBody>
          <a:bodyPr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42" name="Footer Placeholder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43" name="Slide Number Placeholder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right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2376805"/>
            <a:ext cx="501396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4150042"/>
            <a:ext cx="5013960" cy="19611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10515600" cy="3080657"/>
          </a:xfrm>
        </p:spPr>
        <p:txBody>
          <a:bodyPr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4" name="Date Placeholder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6" name="Slide Number Placeholder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hathuri.u@iit.ac.lk" TargetMode="External"/><Relationship Id="rId2" Type="http://schemas.openxmlformats.org/officeDocument/2006/relationships/hyperlink" Target="mailto:aathika.s@iit.ac.lk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79" y="689810"/>
            <a:ext cx="10571747" cy="2387600"/>
          </a:xfrm>
        </p:spPr>
        <p:txBody>
          <a:bodyPr/>
          <a:lstStyle/>
          <a:p>
            <a:pPr algn="ctr"/>
            <a:r>
              <a:rPr lang="en-US" dirty="0"/>
              <a:t>DOC 325</a:t>
            </a:r>
            <a:br>
              <a:rPr lang="en-US" dirty="0"/>
            </a:br>
            <a:r>
              <a:rPr lang="en-US" dirty="0"/>
              <a:t>Digital Circuits &amp; Logic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1210" y="3535949"/>
            <a:ext cx="5739882" cy="783773"/>
          </a:xfrm>
        </p:spPr>
        <p:txBody>
          <a:bodyPr/>
          <a:lstStyle/>
          <a:p>
            <a:r>
              <a:rPr lang="en-US" dirty="0"/>
              <a:t>Module Introduction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904413"/>
            <a:ext cx="5684520" cy="1305562"/>
          </a:xfrm>
        </p:spPr>
        <p:txBody>
          <a:bodyPr/>
          <a:lstStyle/>
          <a:p>
            <a:r>
              <a:rPr lang="en-US" dirty="0"/>
              <a:t>Module Team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2869452"/>
            <a:ext cx="5684520" cy="282742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b="1" dirty="0"/>
              <a:t>Ms. Aathika Salam</a:t>
            </a:r>
          </a:p>
          <a:p>
            <a:r>
              <a:rPr lang="en-US" sz="2000" b="1" dirty="0">
                <a:hlinkClick r:id="rId2"/>
              </a:rPr>
              <a:t>aathika.s@iit.ac.lk</a:t>
            </a:r>
            <a:endParaRPr lang="en-US" sz="2000" b="1" dirty="0"/>
          </a:p>
          <a:p>
            <a:r>
              <a:rPr lang="en-US" sz="2000" b="1" dirty="0"/>
              <a:t>077 5317858</a:t>
            </a:r>
          </a:p>
          <a:p>
            <a:endParaRPr lang="en-US" sz="2000" b="1" dirty="0"/>
          </a:p>
          <a:p>
            <a:r>
              <a:rPr lang="en-US" sz="2000" b="1" dirty="0"/>
              <a:t>Ms. </a:t>
            </a:r>
            <a:r>
              <a:rPr lang="en-US" sz="2000" b="1" dirty="0" err="1"/>
              <a:t>Chathuri</a:t>
            </a:r>
            <a:r>
              <a:rPr lang="en-US" sz="2000" b="1" dirty="0"/>
              <a:t> </a:t>
            </a:r>
            <a:r>
              <a:rPr lang="en-US" sz="2000" b="1" dirty="0" err="1"/>
              <a:t>Udagedara</a:t>
            </a:r>
            <a:endParaRPr lang="en-US" sz="2000" b="1" dirty="0"/>
          </a:p>
          <a:p>
            <a:r>
              <a:rPr lang="en-US" sz="2000" b="1" dirty="0">
                <a:hlinkClick r:id="rId3"/>
              </a:rPr>
              <a:t>Chathuri.u@iit.ac.lk</a:t>
            </a:r>
            <a:endParaRPr lang="en-US" sz="2000" b="1" dirty="0"/>
          </a:p>
          <a:p>
            <a:r>
              <a:rPr lang="en-US" sz="2000" b="1" dirty="0"/>
              <a:t>074 0498766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9DEAC25-4DF8-463C-83B2-7DBD27EBB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7/29/20XX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 dirty="0"/>
              <a:t>Employee orientation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B90E9-5CEE-4E4F-90F9-2CE3D913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411" y="133024"/>
            <a:ext cx="4427621" cy="1325563"/>
          </a:xfrm>
        </p:spPr>
        <p:txBody>
          <a:bodyPr/>
          <a:lstStyle/>
          <a:p>
            <a:r>
              <a:rPr lang="en-US" dirty="0"/>
              <a:t>Module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F4BB2-624B-43EE-8846-5659141CC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512" y="1758457"/>
            <a:ext cx="6358288" cy="42980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b="1" dirty="0"/>
              <a:t>WEEK 1 </a:t>
            </a:r>
            <a:r>
              <a:rPr lang="en-US" sz="1900" b="1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Lecture 1 – Number Systems</a:t>
            </a:r>
          </a:p>
          <a:p>
            <a:r>
              <a:rPr lang="en-US" sz="1900" b="1" dirty="0"/>
              <a:t>WEEK 2 </a:t>
            </a:r>
            <a:r>
              <a:rPr lang="en-US" sz="1900" b="1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Lecture 2 – Logic Gates &amp; Truth table</a:t>
            </a:r>
          </a:p>
          <a:p>
            <a:r>
              <a:rPr lang="en-US" sz="1900" b="1" dirty="0"/>
              <a:t>WEEK 3 </a:t>
            </a:r>
            <a:r>
              <a:rPr lang="en-US" sz="1900" b="1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Lecture 3 – Boolean Algebra</a:t>
            </a:r>
          </a:p>
          <a:p>
            <a:r>
              <a:rPr lang="en-US" sz="1900" b="1" dirty="0"/>
              <a:t>WEEK 4 </a:t>
            </a:r>
            <a:r>
              <a:rPr lang="en-US" sz="1900" b="1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Lecture 4 – Boolean Functions</a:t>
            </a:r>
          </a:p>
          <a:p>
            <a:r>
              <a:rPr lang="en-US" sz="1900" b="1" dirty="0"/>
              <a:t>WEEK 5 </a:t>
            </a:r>
            <a:r>
              <a:rPr lang="en-US" sz="1900" b="1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Lecture 5 – K-Maps Part1</a:t>
            </a:r>
          </a:p>
          <a:p>
            <a:r>
              <a:rPr lang="en-US" sz="1900" b="1" dirty="0"/>
              <a:t>WEEK 6 </a:t>
            </a:r>
            <a:r>
              <a:rPr lang="en-US" sz="1900" b="1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Lecture 6 – K-Maps Part2</a:t>
            </a:r>
          </a:p>
          <a:p>
            <a:r>
              <a:rPr lang="en-US" sz="1900" b="1" dirty="0"/>
              <a:t>WEEK 7 </a:t>
            </a:r>
            <a:r>
              <a:rPr lang="en-US" sz="1900" b="1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Lecture 7 – Combinational Logic Circuits</a:t>
            </a:r>
          </a:p>
          <a:p>
            <a:r>
              <a:rPr lang="en-US" sz="1900" b="1" dirty="0"/>
              <a:t>WEEK 8 </a:t>
            </a:r>
            <a:r>
              <a:rPr lang="en-US" sz="1900" b="1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Lecture 8 – Adders</a:t>
            </a:r>
          </a:p>
          <a:p>
            <a:r>
              <a:rPr lang="en-US" sz="1900" b="1" dirty="0"/>
              <a:t>Week 9 </a:t>
            </a:r>
            <a:r>
              <a:rPr lang="en-US" sz="1900" b="1" dirty="0">
                <a:sym typeface="Wingdings" panose="05000000000000000000" pitchFamily="2" charset="2"/>
              </a:rPr>
              <a:t> Viva</a:t>
            </a:r>
            <a:endParaRPr lang="en-US" sz="1900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0DADF7-71F8-49DA-8F56-3DE812A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75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714" y="1613221"/>
            <a:ext cx="6313371" cy="363155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In-Class Test – 25%</a:t>
            </a:r>
          </a:p>
          <a:p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Assignment – 30%</a:t>
            </a:r>
          </a:p>
          <a:p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Final Exam – 40%</a:t>
            </a:r>
          </a:p>
          <a:p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Attendance – 5%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97A1D68-0269-4F8D-8A4E-B8D9753C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4F63A3-92F8-60BD-7A51-EB25AD7391C1}"/>
              </a:ext>
            </a:extLst>
          </p:cNvPr>
          <p:cNvSpPr txBox="1">
            <a:spLocks/>
          </p:cNvSpPr>
          <p:nvPr/>
        </p:nvSpPr>
        <p:spPr>
          <a:xfrm>
            <a:off x="0" y="2376804"/>
            <a:ext cx="393031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Assessment Criteria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8087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F337-A387-BB69-55E1-C350B62B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AU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637A65F-0BB6-EB39-FA95-4912DEBC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BBFDE42-63E2-DCF1-1AC3-1AE552794A14}"/>
              </a:ext>
            </a:extLst>
          </p:cNvPr>
          <p:cNvSpPr txBox="1">
            <a:spLocks/>
          </p:cNvSpPr>
          <p:nvPr/>
        </p:nvSpPr>
        <p:spPr>
          <a:xfrm>
            <a:off x="629078" y="2647156"/>
            <a:ext cx="11129785" cy="28713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b="0" i="0" cap="all" dirty="0">
                <a:solidFill>
                  <a:schemeClr val="accent4"/>
                </a:solidFill>
                <a:effectLst/>
                <a:latin typeface="Helvetica" panose="020B0604020202020204" pitchFamily="34" charset="0"/>
              </a:rPr>
              <a:t>DIGITAL LOGIC DESIGN, FOURTH E BRIAN HOLDSWORTH &amp; CLIVE WOODS 253</a:t>
            </a:r>
          </a:p>
          <a:p>
            <a:pPr marL="0" indent="0">
              <a:buNone/>
            </a:pPr>
            <a:endParaRPr lang="en-US" cap="all" dirty="0">
              <a:solidFill>
                <a:schemeClr val="accent4"/>
              </a:solidFill>
              <a:latin typeface="Helvetica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0" i="0" cap="all" dirty="0">
                <a:solidFill>
                  <a:schemeClr val="accent4"/>
                </a:solidFill>
                <a:effectLst/>
                <a:latin typeface="Helvetica" panose="020B0604020202020204" pitchFamily="34" charset="0"/>
              </a:rPr>
              <a:t>Digital Systems principles and APPLICATIONS (8</a:t>
            </a:r>
            <a:r>
              <a:rPr lang="en-US" b="0" i="0" cap="all" baseline="30000" dirty="0">
                <a:solidFill>
                  <a:schemeClr val="accent4"/>
                </a:solidFill>
                <a:effectLst/>
                <a:latin typeface="Helvetica" panose="020B0604020202020204" pitchFamily="34" charset="0"/>
              </a:rPr>
              <a:t>TH</a:t>
            </a:r>
            <a:r>
              <a:rPr lang="en-US" b="0" i="0" cap="all" dirty="0">
                <a:solidFill>
                  <a:schemeClr val="accent4"/>
                </a:solidFill>
                <a:effectLst/>
                <a:latin typeface="Helvetica" panose="020B0604020202020204" pitchFamily="34" charset="0"/>
              </a:rPr>
              <a:t> EDITION) – RONALD J. TOCCI &amp; NEAL S. Widmer</a:t>
            </a:r>
          </a:p>
          <a:p>
            <a:pPr>
              <a:buFont typeface="Wingdings" panose="05000000000000000000" pitchFamily="2" charset="2"/>
              <a:buChar char="v"/>
            </a:pPr>
            <a:endParaRPr lang="en-US" cap="all" dirty="0">
              <a:solidFill>
                <a:schemeClr val="accent4"/>
              </a:solidFill>
              <a:latin typeface="Helvetica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b="0" i="0" cap="all" dirty="0">
              <a:solidFill>
                <a:schemeClr val="accent4"/>
              </a:solidFill>
              <a:effectLst/>
              <a:latin typeface="Helvetica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03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36525"/>
            <a:ext cx="5684520" cy="1305562"/>
          </a:xfrm>
        </p:spPr>
        <p:txBody>
          <a:bodyPr/>
          <a:lstStyle/>
          <a:p>
            <a:r>
              <a:rPr lang="en-US" dirty="0"/>
              <a:t>Module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6870" y="1919502"/>
            <a:ext cx="8938260" cy="42725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Lecture – 2 hours (Physical)</a:t>
            </a:r>
          </a:p>
          <a:p>
            <a:r>
              <a:rPr lang="en-US" sz="2800" b="1" dirty="0"/>
              <a:t>Tutorial – 2 Hours (Physical) 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3600" b="1" dirty="0">
                <a:solidFill>
                  <a:srgbClr val="FF0000"/>
                </a:solidFill>
              </a:rPr>
              <a:t>No Lecture Recordings</a:t>
            </a:r>
          </a:p>
          <a:p>
            <a:endParaRPr lang="en-US" sz="2800" b="1" dirty="0"/>
          </a:p>
          <a:p>
            <a:r>
              <a:rPr lang="en-US" sz="2800" b="1" dirty="0"/>
              <a:t>Primary Communication Medium</a:t>
            </a:r>
          </a:p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https://learning.iit.ac.lk/course/view.php?id=153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4E4AC-866E-41A9-AD13-857054D9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Ground Rules</a:t>
            </a:r>
          </a:p>
        </p:txBody>
      </p:sp>
      <p:sp>
        <p:nvSpPr>
          <p:cNvPr id="115" name="Slide Number Placeholder 114">
            <a:extLst>
              <a:ext uri="{FF2B5EF4-FFF2-40B4-BE49-F238E27FC236}">
                <a16:creationId xmlns:a16="http://schemas.microsoft.com/office/drawing/2014/main" id="{47C21FD0-6144-422A-9727-F3249A6B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4C428682-8966-0571-0444-E965A85FE9AD}"/>
              </a:ext>
            </a:extLst>
          </p:cNvPr>
          <p:cNvSpPr txBox="1">
            <a:spLocks/>
          </p:cNvSpPr>
          <p:nvPr/>
        </p:nvSpPr>
        <p:spPr>
          <a:xfrm>
            <a:off x="629078" y="2647156"/>
            <a:ext cx="9718079" cy="8334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You cannot change the group or attend another group without approval from the Level Coordinator.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9567E2F8-CE26-4F04-23D6-512375FB4BAE}"/>
              </a:ext>
            </a:extLst>
          </p:cNvPr>
          <p:cNvSpPr txBox="1">
            <a:spLocks/>
          </p:cNvSpPr>
          <p:nvPr/>
        </p:nvSpPr>
        <p:spPr>
          <a:xfrm>
            <a:off x="629077" y="4020343"/>
            <a:ext cx="9718079" cy="8334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Students should be seated five minutes before the lecture/tutorial is started.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FD78DB83-45D0-4148-425B-D05D70617E16}"/>
              </a:ext>
            </a:extLst>
          </p:cNvPr>
          <p:cNvSpPr txBox="1">
            <a:spLocks/>
          </p:cNvSpPr>
          <p:nvPr/>
        </p:nvSpPr>
        <p:spPr>
          <a:xfrm>
            <a:off x="629076" y="5150330"/>
            <a:ext cx="9718079" cy="8334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Students who interrupting the lecturer or other students during the lecture/tutorial will be sent out of the classroom.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22B5CBBF-FB43-46F2-8846-3DF85C26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7" name="Picture 2" descr="186943389">
            <a:extLst>
              <a:ext uri="{FF2B5EF4-FFF2-40B4-BE49-F238E27FC236}">
                <a16:creationId xmlns:a16="http://schemas.microsoft.com/office/drawing/2014/main" id="{4A5C536B-DC4E-25B8-2983-1A90965B6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474844871">
            <a:extLst>
              <a:ext uri="{FF2B5EF4-FFF2-40B4-BE49-F238E27FC236}">
                <a16:creationId xmlns:a16="http://schemas.microsoft.com/office/drawing/2014/main" id="{973547A9-0060-A30A-FE6B-1430B03C3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719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355379628">
            <a:extLst>
              <a:ext uri="{FF2B5EF4-FFF2-40B4-BE49-F238E27FC236}">
                <a16:creationId xmlns:a16="http://schemas.microsoft.com/office/drawing/2014/main" id="{ACDEB3BB-DE69-BA8C-9696-3F4F543B8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638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Sign no chewing gum. Vector illustration.">
            <a:extLst>
              <a:ext uri="{FF2B5EF4-FFF2-40B4-BE49-F238E27FC236}">
                <a16:creationId xmlns:a16="http://schemas.microsoft.com/office/drawing/2014/main" id="{DEE3AADD-CBA5-C8CB-DA52-C6050A539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1557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633" y="2599142"/>
            <a:ext cx="4419600" cy="165971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 Block Orientation_tm03460514_LW_v2" id="{97014ECE-5E7D-4848-A194-0B612E930491}" vid="{E979CFFE-0E1D-4C6F-8738-47AC19B539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{1CBE2646-214D-49C0-9A09-4FEC8C9CA527}tf03460514_win32</Template>
  <TotalTime>2602</TotalTime>
  <Words>277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Helvetica</vt:lpstr>
      <vt:lpstr>Skeena</vt:lpstr>
      <vt:lpstr>Times New Roman</vt:lpstr>
      <vt:lpstr>Wingdings</vt:lpstr>
      <vt:lpstr>Office Theme</vt:lpstr>
      <vt:lpstr>DOC 325 Digital Circuits &amp; Logic Design</vt:lpstr>
      <vt:lpstr>Module Team</vt:lpstr>
      <vt:lpstr>Module Outline</vt:lpstr>
      <vt:lpstr>PowerPoint Presentation</vt:lpstr>
      <vt:lpstr>References</vt:lpstr>
      <vt:lpstr>Module Delivery</vt:lpstr>
      <vt:lpstr>Ground Rules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 325 Digital Circuits &amp; Logic Design</dc:title>
  <dc:creator>A A Salam ms21916380</dc:creator>
  <cp:lastModifiedBy>A A Salam ms21916380</cp:lastModifiedBy>
  <cp:revision>4</cp:revision>
  <dcterms:created xsi:type="dcterms:W3CDTF">2023-01-23T04:54:03Z</dcterms:created>
  <dcterms:modified xsi:type="dcterms:W3CDTF">2023-05-16T01:25:57Z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