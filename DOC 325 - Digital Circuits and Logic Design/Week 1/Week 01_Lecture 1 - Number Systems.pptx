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16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10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78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669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635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3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0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643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115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681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0611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9001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5032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8373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64404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182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F0737-C063-49A2-AB00-FA8EA21123C7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8AB4656-2F8A-4C09-B61D-07493AA2DA8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07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D40B-275C-D686-E847-4B802CEA5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24711" y="2126633"/>
            <a:ext cx="8144134" cy="1373070"/>
          </a:xfrm>
        </p:spPr>
        <p:txBody>
          <a:bodyPr/>
          <a:lstStyle/>
          <a:p>
            <a:r>
              <a:rPr lang="en-US" dirty="0"/>
              <a:t>Number Systems 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92DFE-5A7C-E1DC-9E00-2DC234285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3739" y="3499703"/>
            <a:ext cx="2165684" cy="1157685"/>
          </a:xfrm>
        </p:spPr>
        <p:txBody>
          <a:bodyPr>
            <a:normAutofit/>
          </a:bodyPr>
          <a:lstStyle/>
          <a:p>
            <a:r>
              <a:rPr lang="en-US" sz="2400" dirty="0"/>
              <a:t>Lecture 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2746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DFD66-024B-4AE7-2CC3-CD9A4B3A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7345-1366-BF42-F99B-B046EE814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3936"/>
            <a:ext cx="9613861" cy="3005148"/>
          </a:xfrm>
        </p:spPr>
        <p:txBody>
          <a:bodyPr/>
          <a:lstStyle/>
          <a:p>
            <a:r>
              <a:rPr lang="en-US" sz="2000" dirty="0"/>
              <a:t>Humas are familiar with the decimal number system (Base 10). Some other number systems that we will work with are:</a:t>
            </a:r>
          </a:p>
          <a:p>
            <a:pPr marL="914400" lvl="2" indent="0">
              <a:buNone/>
            </a:pPr>
            <a:r>
              <a:rPr lang="en-US" sz="2000" dirty="0"/>
              <a:t>Binary (Base 2) </a:t>
            </a:r>
          </a:p>
          <a:p>
            <a:pPr marL="1371600" lvl="3" indent="0">
              <a:buNone/>
            </a:pPr>
            <a:r>
              <a:rPr lang="en-US" sz="2000" dirty="0" err="1"/>
              <a:t>Eg</a:t>
            </a:r>
            <a:r>
              <a:rPr lang="en-US" sz="2000" dirty="0"/>
              <a:t>: Digital Machines(Transistors)</a:t>
            </a:r>
          </a:p>
          <a:p>
            <a:pPr lvl="3"/>
            <a:endParaRPr lang="en-US" sz="2000" dirty="0"/>
          </a:p>
          <a:p>
            <a:pPr marL="914400" lvl="2" indent="0">
              <a:buNone/>
            </a:pPr>
            <a:r>
              <a:rPr lang="en-US" sz="2000" dirty="0"/>
              <a:t>Hexadecimal (Base 16) </a:t>
            </a:r>
          </a:p>
          <a:p>
            <a:pPr marL="1371600" lvl="3" indent="0">
              <a:buNone/>
            </a:pPr>
            <a:r>
              <a:rPr lang="en-US" sz="2000" dirty="0" err="1"/>
              <a:t>Eg</a:t>
            </a:r>
            <a:r>
              <a:rPr lang="en-US" sz="2000" dirty="0"/>
              <a:t>: Conjunction with Programmable Logic Devices</a:t>
            </a:r>
          </a:p>
          <a:p>
            <a:pPr marL="1371600" lvl="3" indent="0">
              <a:buNone/>
            </a:pPr>
            <a:endParaRPr lang="en-AU" sz="2000" dirty="0"/>
          </a:p>
          <a:p>
            <a:pPr marL="1371600" lvl="3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5574AE-0524-5760-51E8-7C1E83DDB765}"/>
              </a:ext>
            </a:extLst>
          </p:cNvPr>
          <p:cNvSpPr txBox="1"/>
          <p:nvPr/>
        </p:nvSpPr>
        <p:spPr>
          <a:xfrm>
            <a:off x="1109784" y="5003467"/>
            <a:ext cx="85500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dirty="0"/>
              <a:t>Octal number System (Base 8)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22C41-8387-2CF9-484C-87A491D93E3F}"/>
              </a:ext>
            </a:extLst>
          </p:cNvPr>
          <p:cNvSpPr txBox="1"/>
          <p:nvPr/>
        </p:nvSpPr>
        <p:spPr>
          <a:xfrm>
            <a:off x="281737" y="5771793"/>
            <a:ext cx="855003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Note: Do not ignore to write the base of the relevant number systems except for decimal numbers</a:t>
            </a:r>
            <a:endParaRPr lang="en-US" b="1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29465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BF95-9982-82C6-B419-652B9ABA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Positional Notations</a:t>
            </a:r>
            <a:endParaRPr lang="en-AU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CDADE-6224-69F8-06A0-4C71EDDB7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542751"/>
            <a:ext cx="3656289" cy="724449"/>
          </a:xfrm>
        </p:spPr>
        <p:txBody>
          <a:bodyPr>
            <a:normAutofit/>
          </a:bodyPr>
          <a:lstStyle/>
          <a:p>
            <a:r>
              <a:rPr lang="en-US" sz="1400" dirty="0"/>
              <a:t>A decimal number can be expressed in the following term:</a:t>
            </a:r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endParaRPr lang="en-AU" sz="1400" dirty="0"/>
          </a:p>
        </p:txBody>
      </p:sp>
      <p:pic>
        <p:nvPicPr>
          <p:cNvPr id="5" name="Picture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2F22F126-15F9-9CAB-2B2E-2FC95490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16" y="2395787"/>
            <a:ext cx="5629268" cy="2293927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8278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1B05-540C-32F8-F9DB-7AF2848D2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Number System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EF3D8-5437-3E04-BBC6-3333A685B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AKA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“Base 2 System”</a:t>
            </a:r>
          </a:p>
          <a:p>
            <a:endParaRPr lang="en-AU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en-AU" dirty="0"/>
              <a:t>The binary number system is used to model the series of electrical signal computer use to represent information.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>
                <a:solidFill>
                  <a:srgbClr val="FF0000"/>
                </a:solidFill>
              </a:rPr>
              <a:t>0 represents </a:t>
            </a:r>
            <a:r>
              <a:rPr lang="en-AU" dirty="0"/>
              <a:t>the no voltage or an </a:t>
            </a:r>
            <a:r>
              <a:rPr lang="en-AU" dirty="0">
                <a:solidFill>
                  <a:srgbClr val="FF0000"/>
                </a:solidFill>
              </a:rPr>
              <a:t>off state.</a:t>
            </a:r>
          </a:p>
          <a:p>
            <a:r>
              <a:rPr lang="en-AU" dirty="0">
                <a:solidFill>
                  <a:srgbClr val="FF0000"/>
                </a:solidFill>
              </a:rPr>
              <a:t>1 represents </a:t>
            </a:r>
            <a:r>
              <a:rPr lang="en-AU" dirty="0"/>
              <a:t>the presence of voltage or </a:t>
            </a:r>
            <a:r>
              <a:rPr lang="en-AU" dirty="0">
                <a:solidFill>
                  <a:srgbClr val="FF0000"/>
                </a:solidFill>
              </a:rPr>
              <a:t>on state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232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FB3CF-5312-A36D-877F-12EA11F2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to Decimal Conversion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68EB8-E291-3A0D-AC57-467D29CD1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easiest method for converting a binary number to its decimal equivalent is to use the Multiplication Algorithm.</a:t>
            </a:r>
          </a:p>
          <a:p>
            <a:endParaRPr lang="en-US" dirty="0"/>
          </a:p>
          <a:p>
            <a:r>
              <a:rPr lang="en-US" dirty="0"/>
              <a:t>Multiply the binary digits by increasing powers of two, starting from the right.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Then, to find the decimal number equivalent, sum those products</a:t>
            </a:r>
          </a:p>
        </p:txBody>
      </p:sp>
    </p:spTree>
    <p:extLst>
      <p:ext uri="{BB962C8B-B14F-4D97-AF65-F5344CB8AC3E}">
        <p14:creationId xmlns:p14="http://schemas.microsoft.com/office/powerpoint/2010/main" val="293617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C7DE-F25B-688A-9382-2A4417CD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8A665-9A8C-D5B7-37DF-265DCF962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Convert the following binary numbers to their decimal equivalents </a:t>
            </a:r>
          </a:p>
          <a:p>
            <a:endParaRPr lang="en-US" sz="3200" dirty="0"/>
          </a:p>
          <a:p>
            <a:pPr marL="1371600" lvl="2" indent="-457200">
              <a:buFont typeface="+mj-lt"/>
              <a:buAutoNum type="arabicPeriod"/>
            </a:pPr>
            <a:r>
              <a:rPr lang="en-US" sz="3200" dirty="0"/>
              <a:t>011100</a:t>
            </a:r>
            <a:r>
              <a:rPr lang="en-US" sz="1200" dirty="0"/>
              <a:t>2</a:t>
            </a:r>
            <a:r>
              <a:rPr lang="en-US" sz="3200" dirty="0"/>
              <a:t> 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sz="3200" dirty="0"/>
              <a:t>101010</a:t>
            </a:r>
            <a:r>
              <a:rPr lang="en-US" sz="1200" dirty="0"/>
              <a:t>2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56488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02A67-2A5E-F243-5C29-8777EEEF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/>
              <a:t>Decimal to Binary Conversion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01A371-D958-A3BB-E89C-F4E2A6A8B8BD}"/>
              </a:ext>
            </a:extLst>
          </p:cNvPr>
          <p:cNvSpPr txBox="1"/>
          <p:nvPr/>
        </p:nvSpPr>
        <p:spPr>
          <a:xfrm>
            <a:off x="680321" y="2336873"/>
            <a:ext cx="5104843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The easiest method for converting a decimal number to its binary equivalent is to use the Division Algorithm.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This method repeatedly divides a decimal number by 2 and records the quotient and reminder.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The remainder digits ( a sequence of zeros and ones) form the binary equivalent in least significant to most significant sequence.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02944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52E2-BA35-6B65-6A6D-CE1E84B5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4AC2-3047-9A92-1429-7814E2641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Convert the following decimal numbers to their binary equivalents</a:t>
            </a:r>
          </a:p>
          <a:p>
            <a:endParaRPr lang="en-US" sz="3200" dirty="0"/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46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3200" dirty="0"/>
              <a:t>84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232716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BC25-2544-C546-D95F-CF8066EF6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 fontScale="90000"/>
          </a:bodyPr>
          <a:lstStyle/>
          <a:p>
            <a:r>
              <a:rPr lang="en-US"/>
              <a:t>Hexadecimal Number System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D6BE4-3545-5E81-FC2E-AD0DAF955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518" y="3180300"/>
            <a:ext cx="4919756" cy="2354225"/>
          </a:xfrm>
        </p:spPr>
        <p:txBody>
          <a:bodyPr>
            <a:normAutofit/>
          </a:bodyPr>
          <a:lstStyle/>
          <a:p>
            <a:r>
              <a:rPr lang="en-US" sz="3200" dirty="0"/>
              <a:t>Base 16 system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AU" sz="3200" dirty="0"/>
              <a:t>Use Digits 0-9 &amp; letters A,B,C,D,E,F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34F79A51-189E-909A-6C10-C89DD1CF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442" y="955591"/>
            <a:ext cx="4109400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9847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E596-FE4A-AE9B-94B0-F9B857DF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 fontScale="90000"/>
          </a:bodyPr>
          <a:lstStyle/>
          <a:p>
            <a:r>
              <a:rPr lang="en-US"/>
              <a:t>Binary to Hexadecimal Conversion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2F565-1C83-916B-448C-A06A0F94D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1907026"/>
            <a:ext cx="6423211" cy="3599316"/>
          </a:xfrm>
        </p:spPr>
        <p:txBody>
          <a:bodyPr>
            <a:normAutofit/>
          </a:bodyPr>
          <a:lstStyle/>
          <a:p>
            <a:r>
              <a:rPr lang="en-US" sz="2000" dirty="0"/>
              <a:t>The easiest way to convert binary to hexadecimal is to use the bits substitution code.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Text, table&#10;&#10;Description automatically generated">
            <a:extLst>
              <a:ext uri="{FF2B5EF4-FFF2-40B4-BE49-F238E27FC236}">
                <a16:creationId xmlns:a16="http://schemas.microsoft.com/office/drawing/2014/main" id="{2249D984-BABB-C046-7CB3-4171824A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89" y="3119107"/>
            <a:ext cx="6968248" cy="2644459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46559F-28C7-2916-49BC-AC827892A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147" y="2971545"/>
            <a:ext cx="2704363" cy="91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B6EC66-0EB4-F2FA-66B6-95671AC58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0E283-1586-24B2-CC7E-B087816B1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the following binary numbers to their hexadecimal equivalents </a:t>
            </a:r>
          </a:p>
          <a:p>
            <a:pPr marL="0" indent="0">
              <a:buNone/>
            </a:pPr>
            <a:endParaRPr lang="en-US" dirty="0"/>
          </a:p>
          <a:p>
            <a:pPr marL="1371600" lvl="2" indent="-457200">
              <a:buFont typeface="+mj-lt"/>
              <a:buAutoNum type="arabicPeriod"/>
            </a:pPr>
            <a:r>
              <a:rPr lang="en-US" sz="2400" dirty="0"/>
              <a:t>1100 1010 0101 0111 </a:t>
            </a:r>
          </a:p>
          <a:p>
            <a:pPr marL="914400" lvl="2" indent="0">
              <a:buNone/>
            </a:pPr>
            <a:endParaRPr lang="en-US" sz="2400" dirty="0"/>
          </a:p>
          <a:p>
            <a:pPr marL="914400" lvl="2" indent="0">
              <a:buNone/>
            </a:pPr>
            <a:r>
              <a:rPr lang="en-US" sz="2400" dirty="0"/>
              <a:t>2.  11 1111 0001 0110 1001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4957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DF34-91F5-242B-D2B6-9B7BBC5FB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063262"/>
            <a:ext cx="3739278" cy="2661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600" dirty="0"/>
              <a:t>Hexadecimal to Decimal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3F76-7E79-C5AE-2971-7FA3707C8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3" y="5101298"/>
            <a:ext cx="3739277" cy="111662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dirty="0"/>
              <a:t>Convert 3B4F16</a:t>
            </a:r>
            <a:r>
              <a:rPr lang="en-US" sz="1200" dirty="0"/>
              <a:t>16</a:t>
            </a:r>
            <a:r>
              <a:rPr lang="en-US" sz="2000" dirty="0"/>
              <a:t> to its decimal equivalent</a:t>
            </a:r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2F8DC46F-2265-95A3-659C-54B49EF88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085" y="2266257"/>
            <a:ext cx="5629268" cy="231869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3933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F77510-1FCF-85B3-9809-EE507102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50BD3-A47F-0A7C-EF45-61F687C07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Convert the following hexadecimal numbers to their decimal equivalents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1. 3BF</a:t>
            </a:r>
            <a:r>
              <a:rPr lang="en-US" sz="1100" dirty="0"/>
              <a:t>16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2. 2D1</a:t>
            </a:r>
            <a:r>
              <a:rPr lang="en-US" sz="1050" dirty="0"/>
              <a:t>16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1452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905E-65AA-6D31-A6E5-9BD83233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2403231"/>
            <a:ext cx="5192940" cy="21336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600"/>
              <a:t>Decimal to Hexadecimal Conversion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BB846-F653-779A-2003-9F3EA2A8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667" y="955591"/>
            <a:ext cx="3348951" cy="494002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376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0AF525-06A6-C6D5-277A-02ACBD27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10F33-8F6D-7B7E-C32E-CDB05F3AF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Convert the following decimal numbers to their hexadecimal equivalents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1. 278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2. 86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44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6B895-5946-20FB-51ED-48C57B19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Self Study!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		Octal Number System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34FB-E817-2F86-213D-32A3E71BE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13813"/>
            <a:ext cx="8596668" cy="3880773"/>
          </a:xfrm>
        </p:spPr>
        <p:txBody>
          <a:bodyPr/>
          <a:lstStyle/>
          <a:p>
            <a:r>
              <a:rPr lang="en-US" dirty="0"/>
              <a:t>What are the digits in the octal number system?</a:t>
            </a:r>
          </a:p>
          <a:p>
            <a:r>
              <a:rPr lang="en-US" dirty="0"/>
              <a:t>Decimal to Octal Conversion</a:t>
            </a:r>
          </a:p>
          <a:p>
            <a:r>
              <a:rPr lang="en-US" dirty="0"/>
              <a:t>Binary to Octal Conversion</a:t>
            </a:r>
          </a:p>
          <a:p>
            <a:r>
              <a:rPr lang="en-US" dirty="0"/>
              <a:t>Octal to Binary Conversion</a:t>
            </a:r>
          </a:p>
          <a:p>
            <a:r>
              <a:rPr lang="en-US" dirty="0"/>
              <a:t>Octal to Decimal Conversion</a:t>
            </a:r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0035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A7FF-7321-9A05-19BF-2D85DDE7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59DE5-E742-FC6F-5CB7-9EF5438AA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should be able to,</a:t>
            </a:r>
          </a:p>
          <a:p>
            <a:r>
              <a:rPr lang="en-US" dirty="0"/>
              <a:t> Understand the numerical system.</a:t>
            </a:r>
          </a:p>
          <a:p>
            <a:r>
              <a:rPr lang="en-US" dirty="0"/>
              <a:t> Explain why computer designers chose to use the binary system for representing information in computers. </a:t>
            </a:r>
          </a:p>
          <a:p>
            <a:r>
              <a:rPr lang="en-US" dirty="0"/>
              <a:t>Explain different number systems.</a:t>
            </a:r>
          </a:p>
          <a:p>
            <a:r>
              <a:rPr lang="en-US" dirty="0"/>
              <a:t> Translate numbers between number systems.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8156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4994-9EFA-70AA-91C4-B88ACB98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376" y="1010652"/>
            <a:ext cx="4006961" cy="946485"/>
          </a:xfrm>
        </p:spPr>
        <p:txBody>
          <a:bodyPr/>
          <a:lstStyle/>
          <a:p>
            <a:r>
              <a:rPr lang="en-US" dirty="0"/>
              <a:t>END OF LECTURE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9E8F08-6058-1B1A-19B6-C0E586E8FA4C}"/>
              </a:ext>
            </a:extLst>
          </p:cNvPr>
          <p:cNvSpPr txBox="1">
            <a:spLocks/>
          </p:cNvSpPr>
          <p:nvPr/>
        </p:nvSpPr>
        <p:spPr>
          <a:xfrm>
            <a:off x="1445690" y="2991852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Next Lecture – Computer Arithmetic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34302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1810</TotalTime>
  <Words>485</Words>
  <Application>Microsoft Office PowerPoint</Application>
  <PresentationFormat>Widescreen</PresentationFormat>
  <Paragraphs>86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Trebuchet MS</vt:lpstr>
      <vt:lpstr>Wingdings 3</vt:lpstr>
      <vt:lpstr>Facet</vt:lpstr>
      <vt:lpstr>Number Systems </vt:lpstr>
      <vt:lpstr>INTRODUCTION</vt:lpstr>
      <vt:lpstr>Positional Notations</vt:lpstr>
      <vt:lpstr>Binary Number System</vt:lpstr>
      <vt:lpstr>Binary to Decimal Conversion</vt:lpstr>
      <vt:lpstr>Your Turn!</vt:lpstr>
      <vt:lpstr>Decimal to Binary Conversion</vt:lpstr>
      <vt:lpstr>Your Turn!</vt:lpstr>
      <vt:lpstr>Hexadecimal Number System</vt:lpstr>
      <vt:lpstr>Binary to Hexadecimal Conversion</vt:lpstr>
      <vt:lpstr>Your Turn!</vt:lpstr>
      <vt:lpstr>Hexadecimal to Decimal Conversion</vt:lpstr>
      <vt:lpstr>Your Turn!</vt:lpstr>
      <vt:lpstr>Decimal to Hexadecimal Conversion</vt:lpstr>
      <vt:lpstr>Your Turn!</vt:lpstr>
      <vt:lpstr>Self Study!     Octal Number System</vt:lpstr>
      <vt:lpstr>Summary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Systems </dc:title>
  <dc:creator>A A Salam ms21916380</dc:creator>
  <cp:lastModifiedBy>A A Salam ms21916380</cp:lastModifiedBy>
  <cp:revision>7</cp:revision>
  <dcterms:created xsi:type="dcterms:W3CDTF">2023-01-23T06:14:46Z</dcterms:created>
  <dcterms:modified xsi:type="dcterms:W3CDTF">2023-05-16T01:57:07Z</dcterms:modified>
</cp:coreProperties>
</file>