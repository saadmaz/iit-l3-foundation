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7AABD4-D1F0-4748-A893-022BC221B57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DD0AF4-F531-4DA2-B304-B935D2E58F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Binary Division </a:t>
          </a:r>
          <a:endParaRPr lang="en-US" dirty="0"/>
        </a:p>
      </dgm:t>
    </dgm:pt>
    <dgm:pt modelId="{AE586605-8CAB-4828-BC82-E58518B69F34}" type="parTrans" cxnId="{810F38D9-D0BC-4E54-951C-26A5561D4EE8}">
      <dgm:prSet/>
      <dgm:spPr/>
      <dgm:t>
        <a:bodyPr/>
        <a:lstStyle/>
        <a:p>
          <a:endParaRPr lang="en-US"/>
        </a:p>
      </dgm:t>
    </dgm:pt>
    <dgm:pt modelId="{20A6BE33-0523-43DF-BE8D-38D40FEA1E74}" type="sibTrans" cxnId="{810F38D9-D0BC-4E54-951C-26A5561D4EE8}">
      <dgm:prSet/>
      <dgm:spPr/>
      <dgm:t>
        <a:bodyPr/>
        <a:lstStyle/>
        <a:p>
          <a:endParaRPr lang="en-US"/>
        </a:p>
      </dgm:t>
    </dgm:pt>
    <dgm:pt modelId="{81AB9BE0-0CEE-4FC1-9B5D-538FA631B2B2}" type="pres">
      <dgm:prSet presAssocID="{9B7AABD4-D1F0-4748-A893-022BC221B572}" presName="root" presStyleCnt="0">
        <dgm:presLayoutVars>
          <dgm:dir/>
          <dgm:resizeHandles val="exact"/>
        </dgm:presLayoutVars>
      </dgm:prSet>
      <dgm:spPr/>
    </dgm:pt>
    <dgm:pt modelId="{2409CE82-95F3-4654-9A19-ABB943FF6533}" type="pres">
      <dgm:prSet presAssocID="{E7DD0AF4-F531-4DA2-B304-B935D2E58FBA}" presName="compNode" presStyleCnt="0"/>
      <dgm:spPr/>
    </dgm:pt>
    <dgm:pt modelId="{C97B4DA3-B288-468E-A2DD-F816EF296123}" type="pres">
      <dgm:prSet presAssocID="{E7DD0AF4-F531-4DA2-B304-B935D2E58FBA}" presName="bgRect" presStyleLbl="bgShp" presStyleIdx="0" presStyleCnt="1" custLinFactNeighborY="-61383"/>
      <dgm:spPr/>
    </dgm:pt>
    <dgm:pt modelId="{6C7F40E0-650C-47D6-AD7B-6ED3F517E4E7}" type="pres">
      <dgm:prSet presAssocID="{E7DD0AF4-F531-4DA2-B304-B935D2E58FBA}" presName="iconRect" presStyleLbl="node1" presStyleIdx="0" presStyleCnt="1" custLinFactY="-13600" custLinFactNeighborX="-7377" custLinFactNeighborY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1DB78E6-10EF-4987-BA97-9A222503A361}" type="pres">
      <dgm:prSet presAssocID="{E7DD0AF4-F531-4DA2-B304-B935D2E58FBA}" presName="spaceRect" presStyleCnt="0"/>
      <dgm:spPr/>
    </dgm:pt>
    <dgm:pt modelId="{5CE70190-A57E-4B2E-BE32-606BB3B81A23}" type="pres">
      <dgm:prSet presAssocID="{E7DD0AF4-F531-4DA2-B304-B935D2E58FBA}" presName="parTx" presStyleLbl="revTx" presStyleIdx="0" presStyleCnt="1" custLinFactNeighborX="824" custLinFactNeighborY="-59073">
        <dgm:presLayoutVars>
          <dgm:chMax val="0"/>
          <dgm:chPref val="0"/>
        </dgm:presLayoutVars>
      </dgm:prSet>
      <dgm:spPr/>
    </dgm:pt>
  </dgm:ptLst>
  <dgm:cxnLst>
    <dgm:cxn modelId="{40DB7419-17E9-435D-BBC9-5AB159A7F1AF}" type="presOf" srcId="{E7DD0AF4-F531-4DA2-B304-B935D2E58FBA}" destId="{5CE70190-A57E-4B2E-BE32-606BB3B81A23}" srcOrd="0" destOrd="0" presId="urn:microsoft.com/office/officeart/2018/2/layout/IconVerticalSolidList"/>
    <dgm:cxn modelId="{1BA8EA5B-8830-492A-A52A-A9D236000239}" type="presOf" srcId="{9B7AABD4-D1F0-4748-A893-022BC221B572}" destId="{81AB9BE0-0CEE-4FC1-9B5D-538FA631B2B2}" srcOrd="0" destOrd="0" presId="urn:microsoft.com/office/officeart/2018/2/layout/IconVerticalSolidList"/>
    <dgm:cxn modelId="{810F38D9-D0BC-4E54-951C-26A5561D4EE8}" srcId="{9B7AABD4-D1F0-4748-A893-022BC221B572}" destId="{E7DD0AF4-F531-4DA2-B304-B935D2E58FBA}" srcOrd="0" destOrd="0" parTransId="{AE586605-8CAB-4828-BC82-E58518B69F34}" sibTransId="{20A6BE33-0523-43DF-BE8D-38D40FEA1E74}"/>
    <dgm:cxn modelId="{7792AE2D-907F-4205-AD24-69C557EE80CC}" type="presParOf" srcId="{81AB9BE0-0CEE-4FC1-9B5D-538FA631B2B2}" destId="{2409CE82-95F3-4654-9A19-ABB943FF6533}" srcOrd="0" destOrd="0" presId="urn:microsoft.com/office/officeart/2018/2/layout/IconVerticalSolidList"/>
    <dgm:cxn modelId="{5906434A-2F57-4B37-8D02-AA3F66C26CE0}" type="presParOf" srcId="{2409CE82-95F3-4654-9A19-ABB943FF6533}" destId="{C97B4DA3-B288-468E-A2DD-F816EF296123}" srcOrd="0" destOrd="0" presId="urn:microsoft.com/office/officeart/2018/2/layout/IconVerticalSolidList"/>
    <dgm:cxn modelId="{EF9C2035-8D9D-47AF-BA28-E776D643743F}" type="presParOf" srcId="{2409CE82-95F3-4654-9A19-ABB943FF6533}" destId="{6C7F40E0-650C-47D6-AD7B-6ED3F517E4E7}" srcOrd="1" destOrd="0" presId="urn:microsoft.com/office/officeart/2018/2/layout/IconVerticalSolidList"/>
    <dgm:cxn modelId="{318E3F5F-40F1-4647-9288-07B0432772F8}" type="presParOf" srcId="{2409CE82-95F3-4654-9A19-ABB943FF6533}" destId="{31DB78E6-10EF-4987-BA97-9A222503A361}" srcOrd="2" destOrd="0" presId="urn:microsoft.com/office/officeart/2018/2/layout/IconVerticalSolidList"/>
    <dgm:cxn modelId="{74631195-4925-42F8-86AC-24DAE474BD89}" type="presParOf" srcId="{2409CE82-95F3-4654-9A19-ABB943FF6533}" destId="{5CE70190-A57E-4B2E-BE32-606BB3B81A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3939D7-5C26-44BA-9431-855C243D2E2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37DCEB1-719D-420A-BBA4-9816CCE09BA3}">
      <dgm:prSet/>
      <dgm:spPr/>
      <dgm:t>
        <a:bodyPr/>
        <a:lstStyle/>
        <a:p>
          <a:r>
            <a:rPr lang="en-US" dirty="0"/>
            <a:t>1100011</a:t>
          </a:r>
        </a:p>
      </dgm:t>
    </dgm:pt>
    <dgm:pt modelId="{9C739461-59AD-40DA-BA91-C031F49B8C36}" type="parTrans" cxnId="{AD20CBD2-F191-4141-BBBB-95B23EC41956}">
      <dgm:prSet/>
      <dgm:spPr/>
      <dgm:t>
        <a:bodyPr/>
        <a:lstStyle/>
        <a:p>
          <a:endParaRPr lang="en-US"/>
        </a:p>
      </dgm:t>
    </dgm:pt>
    <dgm:pt modelId="{4354D3A6-ABCE-43BB-9908-FA6CD252D97B}" type="sibTrans" cxnId="{AD20CBD2-F191-4141-BBBB-95B23EC41956}">
      <dgm:prSet/>
      <dgm:spPr/>
      <dgm:t>
        <a:bodyPr/>
        <a:lstStyle/>
        <a:p>
          <a:endParaRPr lang="en-US"/>
        </a:p>
      </dgm:t>
    </dgm:pt>
    <dgm:pt modelId="{DD4B1619-5D33-44A6-A958-AEFAFC7C009E}">
      <dgm:prSet/>
      <dgm:spPr/>
      <dgm:t>
        <a:bodyPr/>
        <a:lstStyle/>
        <a:p>
          <a:r>
            <a:rPr lang="en-US"/>
            <a:t>0001111</a:t>
          </a:r>
        </a:p>
      </dgm:t>
    </dgm:pt>
    <dgm:pt modelId="{0A01FB07-358F-43BD-A313-4788EE209DCF}" type="parTrans" cxnId="{F6BE02BF-5D06-4892-8AB4-540AB9DF409C}">
      <dgm:prSet/>
      <dgm:spPr/>
      <dgm:t>
        <a:bodyPr/>
        <a:lstStyle/>
        <a:p>
          <a:endParaRPr lang="en-US"/>
        </a:p>
      </dgm:t>
    </dgm:pt>
    <dgm:pt modelId="{E60A620B-2BA8-4AFA-8B79-B4FEA8B59E87}" type="sibTrans" cxnId="{F6BE02BF-5D06-4892-8AB4-540AB9DF409C}">
      <dgm:prSet/>
      <dgm:spPr/>
      <dgm:t>
        <a:bodyPr/>
        <a:lstStyle/>
        <a:p>
          <a:endParaRPr lang="en-US"/>
        </a:p>
      </dgm:t>
    </dgm:pt>
    <dgm:pt modelId="{93B1BFE6-7F74-44F3-9DA1-A5307E325BF4}">
      <dgm:prSet/>
      <dgm:spPr/>
      <dgm:t>
        <a:bodyPr/>
        <a:lstStyle/>
        <a:p>
          <a:r>
            <a:rPr lang="en-US"/>
            <a:t>1010100</a:t>
          </a:r>
        </a:p>
      </dgm:t>
    </dgm:pt>
    <dgm:pt modelId="{2121F929-DFAB-453B-B975-3382364AA182}" type="parTrans" cxnId="{E6FC1350-EBB7-4A55-A114-A3AC47EAA52C}">
      <dgm:prSet/>
      <dgm:spPr/>
      <dgm:t>
        <a:bodyPr/>
        <a:lstStyle/>
        <a:p>
          <a:endParaRPr lang="en-US"/>
        </a:p>
      </dgm:t>
    </dgm:pt>
    <dgm:pt modelId="{633B6E12-3859-47AC-A6B2-9498C5A602F2}" type="sibTrans" cxnId="{E6FC1350-EBB7-4A55-A114-A3AC47EAA52C}">
      <dgm:prSet/>
      <dgm:spPr/>
      <dgm:t>
        <a:bodyPr/>
        <a:lstStyle/>
        <a:p>
          <a:endParaRPr lang="en-US"/>
        </a:p>
      </dgm:t>
    </dgm:pt>
    <dgm:pt modelId="{01A2CC6E-D901-4452-960B-310FF138BECE}">
      <dgm:prSet/>
      <dgm:spPr/>
      <dgm:t>
        <a:bodyPr/>
        <a:lstStyle/>
        <a:p>
          <a:r>
            <a:rPr lang="en-US"/>
            <a:t>1111011</a:t>
          </a:r>
        </a:p>
      </dgm:t>
    </dgm:pt>
    <dgm:pt modelId="{1C43BAED-957B-4630-9B40-23A9EE20A246}" type="parTrans" cxnId="{0655DFD9-DABF-4C69-BEF7-088F2879B7CE}">
      <dgm:prSet/>
      <dgm:spPr/>
      <dgm:t>
        <a:bodyPr/>
        <a:lstStyle/>
        <a:p>
          <a:endParaRPr lang="en-US"/>
        </a:p>
      </dgm:t>
    </dgm:pt>
    <dgm:pt modelId="{B307B624-B871-4978-8E8C-3F453D1CDDD1}" type="sibTrans" cxnId="{0655DFD9-DABF-4C69-BEF7-088F2879B7CE}">
      <dgm:prSet/>
      <dgm:spPr/>
      <dgm:t>
        <a:bodyPr/>
        <a:lstStyle/>
        <a:p>
          <a:endParaRPr lang="en-US"/>
        </a:p>
      </dgm:t>
    </dgm:pt>
    <dgm:pt modelId="{145497F9-4EFF-43C2-A50C-C52F48535A8C}" type="pres">
      <dgm:prSet presAssocID="{863939D7-5C26-44BA-9431-855C243D2E22}" presName="matrix" presStyleCnt="0">
        <dgm:presLayoutVars>
          <dgm:chMax val="1"/>
          <dgm:dir/>
          <dgm:resizeHandles val="exact"/>
        </dgm:presLayoutVars>
      </dgm:prSet>
      <dgm:spPr/>
    </dgm:pt>
    <dgm:pt modelId="{B0CB32E7-8912-48B4-A9AA-D0158065C171}" type="pres">
      <dgm:prSet presAssocID="{863939D7-5C26-44BA-9431-855C243D2E22}" presName="diamond" presStyleLbl="bgShp" presStyleIdx="0" presStyleCnt="1"/>
      <dgm:spPr/>
    </dgm:pt>
    <dgm:pt modelId="{329514CB-E57F-44CB-9926-00C407718A6D}" type="pres">
      <dgm:prSet presAssocID="{863939D7-5C26-44BA-9431-855C243D2E2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B79B001-5F26-410F-A29A-DEFA2ED4AD20}" type="pres">
      <dgm:prSet presAssocID="{863939D7-5C26-44BA-9431-855C243D2E2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5A2035D-1F75-42C6-BADB-9A691BFEBF5A}" type="pres">
      <dgm:prSet presAssocID="{863939D7-5C26-44BA-9431-855C243D2E2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8B8509-44A5-4683-A384-1D92DAD24CB7}" type="pres">
      <dgm:prSet presAssocID="{863939D7-5C26-44BA-9431-855C243D2E2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6FC1350-EBB7-4A55-A114-A3AC47EAA52C}" srcId="{863939D7-5C26-44BA-9431-855C243D2E22}" destId="{93B1BFE6-7F74-44F3-9DA1-A5307E325BF4}" srcOrd="2" destOrd="0" parTransId="{2121F929-DFAB-453B-B975-3382364AA182}" sibTransId="{633B6E12-3859-47AC-A6B2-9498C5A602F2}"/>
    <dgm:cxn modelId="{7D582154-36F5-40E6-B29A-42E29E7D0950}" type="presOf" srcId="{937DCEB1-719D-420A-BBA4-9816CCE09BA3}" destId="{329514CB-E57F-44CB-9926-00C407718A6D}" srcOrd="0" destOrd="0" presId="urn:microsoft.com/office/officeart/2005/8/layout/matrix3"/>
    <dgm:cxn modelId="{6FA92B8C-C6C9-484C-8104-8AC4017A67E8}" type="presOf" srcId="{01A2CC6E-D901-4452-960B-310FF138BECE}" destId="{418B8509-44A5-4683-A384-1D92DAD24CB7}" srcOrd="0" destOrd="0" presId="urn:microsoft.com/office/officeart/2005/8/layout/matrix3"/>
    <dgm:cxn modelId="{078D61BA-ED7E-440B-A824-9BB5A3116B1C}" type="presOf" srcId="{93B1BFE6-7F74-44F3-9DA1-A5307E325BF4}" destId="{35A2035D-1F75-42C6-BADB-9A691BFEBF5A}" srcOrd="0" destOrd="0" presId="urn:microsoft.com/office/officeart/2005/8/layout/matrix3"/>
    <dgm:cxn modelId="{F6BE02BF-5D06-4892-8AB4-540AB9DF409C}" srcId="{863939D7-5C26-44BA-9431-855C243D2E22}" destId="{DD4B1619-5D33-44A6-A958-AEFAFC7C009E}" srcOrd="1" destOrd="0" parTransId="{0A01FB07-358F-43BD-A313-4788EE209DCF}" sibTransId="{E60A620B-2BA8-4AFA-8B79-B4FEA8B59E87}"/>
    <dgm:cxn modelId="{E77F09D1-C7A4-4336-8DC7-DD7F37B06594}" type="presOf" srcId="{DD4B1619-5D33-44A6-A958-AEFAFC7C009E}" destId="{4B79B001-5F26-410F-A29A-DEFA2ED4AD20}" srcOrd="0" destOrd="0" presId="urn:microsoft.com/office/officeart/2005/8/layout/matrix3"/>
    <dgm:cxn modelId="{AD20CBD2-F191-4141-BBBB-95B23EC41956}" srcId="{863939D7-5C26-44BA-9431-855C243D2E22}" destId="{937DCEB1-719D-420A-BBA4-9816CCE09BA3}" srcOrd="0" destOrd="0" parTransId="{9C739461-59AD-40DA-BA91-C031F49B8C36}" sibTransId="{4354D3A6-ABCE-43BB-9908-FA6CD252D97B}"/>
    <dgm:cxn modelId="{9BFE57D9-E06A-4EA3-B747-2E99562CE484}" type="presOf" srcId="{863939D7-5C26-44BA-9431-855C243D2E22}" destId="{145497F9-4EFF-43C2-A50C-C52F48535A8C}" srcOrd="0" destOrd="0" presId="urn:microsoft.com/office/officeart/2005/8/layout/matrix3"/>
    <dgm:cxn modelId="{0655DFD9-DABF-4C69-BEF7-088F2879B7CE}" srcId="{863939D7-5C26-44BA-9431-855C243D2E22}" destId="{01A2CC6E-D901-4452-960B-310FF138BECE}" srcOrd="3" destOrd="0" parTransId="{1C43BAED-957B-4630-9B40-23A9EE20A246}" sibTransId="{B307B624-B871-4978-8E8C-3F453D1CDDD1}"/>
    <dgm:cxn modelId="{F9CF5920-816A-42F8-ADE0-6D036C5F40F8}" type="presParOf" srcId="{145497F9-4EFF-43C2-A50C-C52F48535A8C}" destId="{B0CB32E7-8912-48B4-A9AA-D0158065C171}" srcOrd="0" destOrd="0" presId="urn:microsoft.com/office/officeart/2005/8/layout/matrix3"/>
    <dgm:cxn modelId="{0DDAF73E-1EA7-43BD-84EB-779CD22F0F80}" type="presParOf" srcId="{145497F9-4EFF-43C2-A50C-C52F48535A8C}" destId="{329514CB-E57F-44CB-9926-00C407718A6D}" srcOrd="1" destOrd="0" presId="urn:microsoft.com/office/officeart/2005/8/layout/matrix3"/>
    <dgm:cxn modelId="{60B9DD58-AE5A-4217-992F-6B604BABC993}" type="presParOf" srcId="{145497F9-4EFF-43C2-A50C-C52F48535A8C}" destId="{4B79B001-5F26-410F-A29A-DEFA2ED4AD20}" srcOrd="2" destOrd="0" presId="urn:microsoft.com/office/officeart/2005/8/layout/matrix3"/>
    <dgm:cxn modelId="{48BE9703-18DB-45D5-AF19-FA33BA18CBCB}" type="presParOf" srcId="{145497F9-4EFF-43C2-A50C-C52F48535A8C}" destId="{35A2035D-1F75-42C6-BADB-9A691BFEBF5A}" srcOrd="3" destOrd="0" presId="urn:microsoft.com/office/officeart/2005/8/layout/matrix3"/>
    <dgm:cxn modelId="{C93BBDC5-2406-4D21-B6A5-B0743DE91B11}" type="presParOf" srcId="{145497F9-4EFF-43C2-A50C-C52F48535A8C}" destId="{418B8509-44A5-4683-A384-1D92DAD24CB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7B4DA3-B288-468E-A2DD-F816EF296123}">
      <dsp:nvSpPr>
        <dsp:cNvPr id="0" name=""/>
        <dsp:cNvSpPr/>
      </dsp:nvSpPr>
      <dsp:spPr>
        <a:xfrm>
          <a:off x="0" y="788601"/>
          <a:ext cx="10999912" cy="142646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F40E0-650C-47D6-AD7B-6ED3F517E4E7}">
      <dsp:nvSpPr>
        <dsp:cNvPr id="0" name=""/>
        <dsp:cNvSpPr/>
      </dsp:nvSpPr>
      <dsp:spPr>
        <a:xfrm>
          <a:off x="373628" y="1093907"/>
          <a:ext cx="784555" cy="7845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E70190-A57E-4B2E-BE32-606BB3B81A23}">
      <dsp:nvSpPr>
        <dsp:cNvPr id="0" name=""/>
        <dsp:cNvSpPr/>
      </dsp:nvSpPr>
      <dsp:spPr>
        <a:xfrm>
          <a:off x="1647565" y="821552"/>
          <a:ext cx="9352346" cy="14264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967" tIns="150967" rIns="150967" bIns="15096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Binary Division </a:t>
          </a:r>
          <a:endParaRPr lang="en-US" sz="2500" kern="1200" dirty="0"/>
        </a:p>
      </dsp:txBody>
      <dsp:txXfrm>
        <a:off x="1647565" y="821552"/>
        <a:ext cx="9352346" cy="14264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B32E7-8912-48B4-A9AA-D0158065C171}">
      <dsp:nvSpPr>
        <dsp:cNvPr id="0" name=""/>
        <dsp:cNvSpPr/>
      </dsp:nvSpPr>
      <dsp:spPr>
        <a:xfrm>
          <a:off x="471132" y="0"/>
          <a:ext cx="4762500" cy="47625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514CB-E57F-44CB-9926-00C407718A6D}">
      <dsp:nvSpPr>
        <dsp:cNvPr id="0" name=""/>
        <dsp:cNvSpPr/>
      </dsp:nvSpPr>
      <dsp:spPr>
        <a:xfrm>
          <a:off x="923569" y="452437"/>
          <a:ext cx="1857375" cy="1857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1100011</a:t>
          </a:r>
        </a:p>
      </dsp:txBody>
      <dsp:txXfrm>
        <a:off x="1014239" y="543107"/>
        <a:ext cx="1676035" cy="1676035"/>
      </dsp:txXfrm>
    </dsp:sp>
    <dsp:sp modelId="{4B79B001-5F26-410F-A29A-DEFA2ED4AD20}">
      <dsp:nvSpPr>
        <dsp:cNvPr id="0" name=""/>
        <dsp:cNvSpPr/>
      </dsp:nvSpPr>
      <dsp:spPr>
        <a:xfrm>
          <a:off x="2923819" y="452437"/>
          <a:ext cx="1857375" cy="1857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0001111</a:t>
          </a:r>
        </a:p>
      </dsp:txBody>
      <dsp:txXfrm>
        <a:off x="3014489" y="543107"/>
        <a:ext cx="1676035" cy="1676035"/>
      </dsp:txXfrm>
    </dsp:sp>
    <dsp:sp modelId="{35A2035D-1F75-42C6-BADB-9A691BFEBF5A}">
      <dsp:nvSpPr>
        <dsp:cNvPr id="0" name=""/>
        <dsp:cNvSpPr/>
      </dsp:nvSpPr>
      <dsp:spPr>
        <a:xfrm>
          <a:off x="923569" y="2452687"/>
          <a:ext cx="1857375" cy="1857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1010100</a:t>
          </a:r>
        </a:p>
      </dsp:txBody>
      <dsp:txXfrm>
        <a:off x="1014239" y="2543357"/>
        <a:ext cx="1676035" cy="1676035"/>
      </dsp:txXfrm>
    </dsp:sp>
    <dsp:sp modelId="{418B8509-44A5-4683-A384-1D92DAD24CB7}">
      <dsp:nvSpPr>
        <dsp:cNvPr id="0" name=""/>
        <dsp:cNvSpPr/>
      </dsp:nvSpPr>
      <dsp:spPr>
        <a:xfrm>
          <a:off x="2923819" y="2452687"/>
          <a:ext cx="1857375" cy="1857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1111011</a:t>
          </a:r>
        </a:p>
      </dsp:txBody>
      <dsp:txXfrm>
        <a:off x="3014489" y="2543357"/>
        <a:ext cx="1676035" cy="1676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413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88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685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108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066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3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9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816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941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319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023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5/23/2023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6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3" descr="Diagram&#10;&#10;Description automatically generated">
            <a:extLst>
              <a:ext uri="{FF2B5EF4-FFF2-40B4-BE49-F238E27FC236}">
                <a16:creationId xmlns:a16="http://schemas.microsoft.com/office/drawing/2014/main" id="{A993F583-1EDB-A242-C89A-3498977408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68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9FBB9AF1-CE92-475C-A47B-5FC32922B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100000">
                <a:srgbClr val="000000">
                  <a:alpha val="0"/>
                </a:srgbClr>
              </a:gs>
              <a:gs pos="30000">
                <a:srgbClr val="000000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77E95-8670-8B0F-8D0E-965EDD1BA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285" y="1287379"/>
            <a:ext cx="9052560" cy="35461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Computer ARITHMETIC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954C9-F826-EA41-B2FF-812EE32DE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245358" y="2212001"/>
            <a:ext cx="9052560" cy="7040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					Lecture 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9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330E-BDC0-A6FB-7AD5-912EF0BE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948550"/>
          </a:xfrm>
        </p:spPr>
        <p:txBody>
          <a:bodyPr/>
          <a:lstStyle/>
          <a:p>
            <a:r>
              <a:rPr lang="en-US" dirty="0"/>
              <a:t>Recap: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927DE-3AAE-B2F0-619C-6ED09811F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61" y="1841303"/>
            <a:ext cx="11016733" cy="4754880"/>
          </a:xfrm>
        </p:spPr>
        <p:txBody>
          <a:bodyPr>
            <a:normAutofit/>
          </a:bodyPr>
          <a:lstStyle/>
          <a:p>
            <a:r>
              <a:rPr lang="en-US" sz="2800" b="1" dirty="0"/>
              <a:t>Binary numbers are a number system with base 2</a:t>
            </a:r>
          </a:p>
          <a:p>
            <a:r>
              <a:rPr lang="en-US" sz="2800" b="1" dirty="0"/>
              <a:t>Information represented inside a computer takes binary values.</a:t>
            </a:r>
          </a:p>
          <a:p>
            <a:r>
              <a:rPr lang="en-US" sz="2800" b="1" dirty="0"/>
              <a:t>Previous lecture dealt with the conversations between different number systems.</a:t>
            </a:r>
          </a:p>
          <a:p>
            <a:endParaRPr lang="en-US" sz="2800" b="1" dirty="0"/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This lecture deal with basic mathematical operations (such as addition, subtraction and multiplication) for binary numbers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90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D7CDA-B645-0E06-433C-4D9181E2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Binary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632B2-D90D-5A33-0B3D-AFCD9120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1" y="2413169"/>
            <a:ext cx="6694997" cy="402420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/>
              <a:t>Addition in the decimal number system:</a:t>
            </a:r>
          </a:p>
          <a:p>
            <a:pPr marL="640080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   Add values rightmost position (least significant).</a:t>
            </a:r>
          </a:p>
          <a:p>
            <a:pPr marL="640080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	If this addition is equal or grater than 10, 1 is carried to the 2nd 	position and added. </a:t>
            </a:r>
          </a:p>
          <a:p>
            <a:pPr marL="640080" lvl="1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	This process is carried for all the positions.</a:t>
            </a:r>
          </a:p>
          <a:p>
            <a:pPr>
              <a:lnSpc>
                <a:spcPct val="100000"/>
              </a:lnSpc>
            </a:pPr>
            <a:endParaRPr lang="en-US" sz="17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b="1" dirty="0"/>
              <a:t>Binary addition follows the same set of rules:</a:t>
            </a:r>
          </a:p>
          <a:p>
            <a:pPr>
              <a:lnSpc>
                <a:spcPct val="100000"/>
              </a:lnSpc>
            </a:pPr>
            <a:r>
              <a:rPr lang="en-US" sz="1700" b="1" dirty="0"/>
              <a:t>        If the addition is equal or greater than  2 (102), 1 is carried to the 2nd  next position.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673B0-C4CF-CFFF-26B8-C44BC86CD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950" y="2734425"/>
            <a:ext cx="3973000" cy="2046095"/>
          </a:xfrm>
          <a:prstGeom prst="rect">
            <a:avLst/>
          </a:prstGeom>
        </p:spPr>
      </p:pic>
      <p:sp>
        <p:nvSpPr>
          <p:cNvPr id="31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2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0775-DEA6-DE92-4C0A-7975B65F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1390690"/>
          </a:xfrm>
        </p:spPr>
        <p:txBody>
          <a:bodyPr/>
          <a:lstStyle/>
          <a:p>
            <a:r>
              <a:rPr lang="en-US" dirty="0"/>
              <a:t>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F64E7-96F6-A3B9-D9FE-682193020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1" y="1822642"/>
            <a:ext cx="9828837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Perform the following binary additions</a:t>
            </a:r>
          </a:p>
          <a:p>
            <a:pPr lvl="1"/>
            <a:r>
              <a:rPr lang="en-US" sz="2600" i="0" dirty="0"/>
              <a:t>	a) 1101</a:t>
            </a:r>
            <a:r>
              <a:rPr lang="en-US" i="0" dirty="0"/>
              <a:t>2 </a:t>
            </a:r>
            <a:r>
              <a:rPr lang="en-US" sz="2600" i="0" dirty="0"/>
              <a:t>  +  1010</a:t>
            </a:r>
            <a:r>
              <a:rPr lang="en-US" i="0" dirty="0"/>
              <a:t>2</a:t>
            </a:r>
          </a:p>
          <a:p>
            <a:pPr lvl="1"/>
            <a:r>
              <a:rPr lang="en-US" sz="2600" i="0" dirty="0"/>
              <a:t>	b) 10111</a:t>
            </a:r>
            <a:r>
              <a:rPr lang="en-US" i="0" dirty="0"/>
              <a:t>2</a:t>
            </a:r>
            <a:r>
              <a:rPr lang="en-US" sz="2600" i="0" dirty="0"/>
              <a:t> + 01101</a:t>
            </a:r>
            <a:r>
              <a:rPr lang="en-US" i="0" dirty="0"/>
              <a:t>2</a:t>
            </a:r>
          </a:p>
          <a:p>
            <a:pPr lvl="1"/>
            <a:r>
              <a:rPr lang="en-US" sz="2600" i="0" dirty="0"/>
              <a:t>	c) 1110</a:t>
            </a:r>
            <a:r>
              <a:rPr lang="en-US" i="0" dirty="0"/>
              <a:t>2</a:t>
            </a:r>
            <a:r>
              <a:rPr lang="en-US" sz="2600" i="0" dirty="0"/>
              <a:t> + 1111 + 1011</a:t>
            </a:r>
            <a:r>
              <a:rPr lang="en-US" i="0" dirty="0"/>
              <a:t>2</a:t>
            </a:r>
          </a:p>
          <a:p>
            <a:pPr lvl="1"/>
            <a:endParaRPr lang="en-US" sz="2600" i="0" dirty="0"/>
          </a:p>
          <a:p>
            <a:pPr lvl="1"/>
            <a:r>
              <a:rPr lang="en-US" sz="2600" i="0" dirty="0"/>
              <a:t>You may compare the answer by converting them to decimal number!</a:t>
            </a:r>
          </a:p>
        </p:txBody>
      </p:sp>
    </p:spTree>
    <p:extLst>
      <p:ext uri="{BB962C8B-B14F-4D97-AF65-F5344CB8AC3E}">
        <p14:creationId xmlns:p14="http://schemas.microsoft.com/office/powerpoint/2010/main" val="80218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0F0CE-C145-8172-52C8-F23405F69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Binary 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7EB9E-DBC3-84AB-AD2B-14C8393C7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413169"/>
            <a:ext cx="6039340" cy="3368920"/>
          </a:xfrm>
        </p:spPr>
        <p:txBody>
          <a:bodyPr anchor="ctr">
            <a:normAutofit/>
          </a:bodyPr>
          <a:lstStyle/>
          <a:p>
            <a:r>
              <a:rPr lang="en-US" b="1" dirty="0"/>
              <a:t>Similar to subtraction in the decimal number system.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Inverse of addition.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If the value cannot be subtracted, borrow from the next position.</a:t>
            </a:r>
          </a:p>
          <a:p>
            <a:endParaRPr lang="en-US" dirty="0"/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177D6DB2-964C-C372-8C82-5EFDB44F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651" y="2846005"/>
            <a:ext cx="3973000" cy="2056027"/>
          </a:xfrm>
          <a:prstGeom prst="rect">
            <a:avLst/>
          </a:prstGeom>
        </p:spPr>
      </p:pic>
      <p:sp>
        <p:nvSpPr>
          <p:cNvPr id="21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0775-DEA6-DE92-4C0A-7975B65F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1390690"/>
          </a:xfrm>
        </p:spPr>
        <p:txBody>
          <a:bodyPr/>
          <a:lstStyle/>
          <a:p>
            <a:r>
              <a:rPr lang="en-US" dirty="0"/>
              <a:t>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F64E7-96F6-A3B9-D9FE-682193020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1" y="1822642"/>
            <a:ext cx="9828837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Perform the following binary subtractions</a:t>
            </a:r>
          </a:p>
          <a:p>
            <a:pPr lvl="1"/>
            <a:r>
              <a:rPr lang="en-US" sz="2600" i="0" dirty="0"/>
              <a:t>	a) 10110</a:t>
            </a:r>
            <a:r>
              <a:rPr lang="en-US" i="0" dirty="0"/>
              <a:t>2 </a:t>
            </a:r>
            <a:r>
              <a:rPr lang="en-US" sz="2600" i="0" dirty="0"/>
              <a:t>  -  10010</a:t>
            </a:r>
            <a:r>
              <a:rPr lang="en-US" i="0" dirty="0"/>
              <a:t>2</a:t>
            </a:r>
          </a:p>
          <a:p>
            <a:pPr lvl="1"/>
            <a:r>
              <a:rPr lang="en-US" sz="2600" i="0" dirty="0"/>
              <a:t>	b) 1011011</a:t>
            </a:r>
            <a:r>
              <a:rPr lang="en-US" i="0" dirty="0"/>
              <a:t>2</a:t>
            </a:r>
            <a:r>
              <a:rPr lang="en-US" sz="2600" i="0" dirty="0"/>
              <a:t> - 10010</a:t>
            </a:r>
            <a:r>
              <a:rPr lang="en-US" i="0" dirty="0"/>
              <a:t>2</a:t>
            </a:r>
          </a:p>
          <a:p>
            <a:pPr lvl="1"/>
            <a:r>
              <a:rPr lang="en-US" sz="2600" i="0" dirty="0"/>
              <a:t>	c) 101101</a:t>
            </a:r>
            <a:r>
              <a:rPr lang="en-US" i="0" dirty="0"/>
              <a:t>2</a:t>
            </a:r>
            <a:r>
              <a:rPr lang="en-US" sz="2600" i="0" dirty="0"/>
              <a:t> - 100111</a:t>
            </a:r>
            <a:r>
              <a:rPr lang="en-US" i="0" dirty="0"/>
              <a:t>2</a:t>
            </a:r>
          </a:p>
          <a:p>
            <a:pPr lvl="1"/>
            <a:endParaRPr lang="en-US" sz="2600" i="0" dirty="0"/>
          </a:p>
          <a:p>
            <a:pPr lvl="1"/>
            <a:r>
              <a:rPr lang="en-US" sz="2600" i="0" dirty="0"/>
              <a:t>You may compare the answer by converting them to decimal number!</a:t>
            </a:r>
          </a:p>
        </p:txBody>
      </p:sp>
    </p:spTree>
    <p:extLst>
      <p:ext uri="{BB962C8B-B14F-4D97-AF65-F5344CB8AC3E}">
        <p14:creationId xmlns:p14="http://schemas.microsoft.com/office/powerpoint/2010/main" val="313552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80ED0-3640-1022-8973-5766CDA4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Binary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BF8A1-68CB-1B88-8446-C7E00289D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734" y="3361766"/>
            <a:ext cx="6039340" cy="1540266"/>
          </a:xfrm>
        </p:spPr>
        <p:txBody>
          <a:bodyPr anchor="ctr">
            <a:normAutofit/>
          </a:bodyPr>
          <a:lstStyle/>
          <a:p>
            <a:r>
              <a:rPr lang="en-US" b="1" dirty="0"/>
              <a:t>Similar to multiplication and division in the decimal number system.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C280F-7BCA-697F-588F-CAC736F06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807" y="2413169"/>
            <a:ext cx="3659287" cy="3370396"/>
          </a:xfrm>
          <a:prstGeom prst="rect">
            <a:avLst/>
          </a:prstGeom>
        </p:spPr>
      </p:pic>
      <p:sp>
        <p:nvSpPr>
          <p:cNvPr id="2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0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0775-DEA6-DE92-4C0A-7975B65F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1390690"/>
          </a:xfrm>
        </p:spPr>
        <p:txBody>
          <a:bodyPr/>
          <a:lstStyle/>
          <a:p>
            <a:r>
              <a:rPr lang="en-US" dirty="0"/>
              <a:t>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F64E7-96F6-A3B9-D9FE-682193020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1" y="1822642"/>
            <a:ext cx="9828837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Perform the following binary multiplication.</a:t>
            </a:r>
          </a:p>
          <a:p>
            <a:pPr lvl="1"/>
            <a:r>
              <a:rPr lang="en-US" sz="2600" i="0" dirty="0"/>
              <a:t>	a) 1100</a:t>
            </a:r>
            <a:r>
              <a:rPr lang="en-US" i="0" dirty="0"/>
              <a:t>2 </a:t>
            </a:r>
            <a:r>
              <a:rPr lang="en-US" sz="2600" i="0" dirty="0"/>
              <a:t>  x  1010</a:t>
            </a:r>
            <a:r>
              <a:rPr lang="en-US" i="0" dirty="0"/>
              <a:t>2</a:t>
            </a:r>
          </a:p>
          <a:p>
            <a:pPr lvl="1"/>
            <a:r>
              <a:rPr lang="en-US" sz="2600" i="0" dirty="0"/>
              <a:t>	b) 1111</a:t>
            </a:r>
            <a:r>
              <a:rPr lang="en-US" i="0" dirty="0"/>
              <a:t>2</a:t>
            </a:r>
            <a:r>
              <a:rPr lang="en-US" sz="2600" i="0" dirty="0"/>
              <a:t>   x  101</a:t>
            </a:r>
            <a:r>
              <a:rPr lang="en-US" i="0" dirty="0"/>
              <a:t>2</a:t>
            </a:r>
          </a:p>
          <a:p>
            <a:pPr lvl="1"/>
            <a:r>
              <a:rPr lang="en-US" sz="2600" i="0" dirty="0"/>
              <a:t>	c) 0011</a:t>
            </a:r>
            <a:r>
              <a:rPr lang="en-US" i="0" dirty="0"/>
              <a:t>2</a:t>
            </a:r>
            <a:r>
              <a:rPr lang="en-US" sz="2600" i="0" dirty="0"/>
              <a:t>   x  11</a:t>
            </a:r>
            <a:r>
              <a:rPr lang="en-US" i="0" dirty="0"/>
              <a:t>2</a:t>
            </a:r>
          </a:p>
          <a:p>
            <a:pPr lvl="1"/>
            <a:endParaRPr lang="en-US" sz="2600" i="0" dirty="0"/>
          </a:p>
          <a:p>
            <a:pPr lvl="1"/>
            <a:r>
              <a:rPr lang="en-US" sz="2600" i="0" dirty="0"/>
              <a:t>You may compare the answer by converting them to decimal number!</a:t>
            </a:r>
          </a:p>
        </p:txBody>
      </p:sp>
    </p:spTree>
    <p:extLst>
      <p:ext uri="{BB962C8B-B14F-4D97-AF65-F5344CB8AC3E}">
        <p14:creationId xmlns:p14="http://schemas.microsoft.com/office/powerpoint/2010/main" val="3821377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4749-6561-56BF-0799-5F3420A4F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758952"/>
            <a:ext cx="7647111" cy="1294437"/>
          </a:xfrm>
        </p:spPr>
        <p:txBody>
          <a:bodyPr/>
          <a:lstStyle/>
          <a:p>
            <a:r>
              <a:rPr lang="en-US" dirty="0"/>
              <a:t>Self Study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91C9F2-B46C-D0B7-C6D7-EE3F3A4024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604274"/>
              </p:ext>
            </p:extLst>
          </p:nvPr>
        </p:nvGraphicFramePr>
        <p:xfrm>
          <a:off x="758951" y="1785646"/>
          <a:ext cx="10999912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888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082AC-D05F-271C-1EDC-0787A587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Complimentary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2D730-3873-86D0-DA24-DF1E3A79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413169"/>
            <a:ext cx="6039340" cy="336892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Complements are used in digital computers for simplifying,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	• the subtraction operation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	• to represent negative numbers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There  are 2 types of compliments for each base in any number system.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	</a:t>
            </a:r>
            <a:r>
              <a:rPr lang="en-US" sz="1400" b="1" dirty="0"/>
              <a:t>𝑟’𝑠 compliment </a:t>
            </a:r>
          </a:p>
          <a:p>
            <a:pPr lvl="1">
              <a:lnSpc>
                <a:spcPct val="100000"/>
              </a:lnSpc>
            </a:pPr>
            <a:r>
              <a:rPr lang="en-US" sz="1400" b="1" dirty="0"/>
              <a:t>	(𝑟 − 1)’𝑠 compliment</a:t>
            </a:r>
          </a:p>
          <a:p>
            <a:pPr lvl="1">
              <a:lnSpc>
                <a:spcPct val="100000"/>
              </a:lnSpc>
            </a:pPr>
            <a:endParaRPr lang="en-US" sz="1400" b="1" dirty="0"/>
          </a:p>
          <a:p>
            <a:pPr lvl="1">
              <a:lnSpc>
                <a:spcPct val="100000"/>
              </a:lnSpc>
            </a:pPr>
            <a:r>
              <a:rPr lang="en-US" sz="1400" dirty="0"/>
              <a:t>Example: For binary numbers, 2’s complement and 1’s complement. </a:t>
            </a:r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9C2B4266-0644-536F-9EA1-6B0CCCBB8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5253" y="2413169"/>
            <a:ext cx="3370396" cy="3370396"/>
          </a:xfrm>
          <a:prstGeom prst="rect">
            <a:avLst/>
          </a:prstGeom>
        </p:spPr>
      </p:pic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6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3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AFAED-C76A-C418-FF7D-486F6926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(r-1)’s 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F9E0-968A-09F5-5813-24934951E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567" y="2782330"/>
            <a:ext cx="4128398" cy="21748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 – Given Number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 – base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 – No of digits in given number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DFCAF-6FDA-6AE6-B712-0C01F5847289}"/>
              </a:ext>
            </a:extLst>
          </p:cNvPr>
          <p:cNvSpPr txBox="1"/>
          <p:nvPr/>
        </p:nvSpPr>
        <p:spPr>
          <a:xfrm>
            <a:off x="7304651" y="3165073"/>
            <a:ext cx="3973000" cy="10266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C1E05-AD1E-BA7E-E83E-2182F9C56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677" y="3442665"/>
            <a:ext cx="3262300" cy="4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19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9CCF0-FDC8-4563-ADE4-F400B6BD1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179318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00AB5-AC59-92ED-5FDC-ED79A201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</p:spPr>
        <p:txBody>
          <a:bodyPr anchor="ctr">
            <a:normAutofit/>
          </a:bodyPr>
          <a:lstStyle/>
          <a:p>
            <a:r>
              <a:rPr lang="en-US" sz="5600" dirty="0">
                <a:solidFill>
                  <a:schemeClr val="bg1"/>
                </a:solidFill>
              </a:rPr>
              <a:t>Get the 1’s complement of the following binary numbers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CC6DF3-842C-4752-03D5-EAAB808CED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914699"/>
              </p:ext>
            </p:extLst>
          </p:nvPr>
        </p:nvGraphicFramePr>
        <p:xfrm>
          <a:off x="5725236" y="758825"/>
          <a:ext cx="5704764" cy="4762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0883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1E9C9-AAB0-0B75-64B1-E2270AB21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5"/>
            <a:ext cx="3122148" cy="4807541"/>
          </a:xfrm>
        </p:spPr>
        <p:txBody>
          <a:bodyPr>
            <a:normAutofit/>
          </a:bodyPr>
          <a:lstStyle/>
          <a:p>
            <a:r>
              <a:rPr lang="en-US" sz="4200"/>
              <a:t>r’s Complement</a:t>
            </a:r>
          </a:p>
        </p:txBody>
      </p:sp>
      <p:cxnSp>
        <p:nvCxnSpPr>
          <p:cNvPr id="20" name="Straight Connector 13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15">
            <a:extLst>
              <a:ext uri="{FF2B5EF4-FFF2-40B4-BE49-F238E27FC236}">
                <a16:creationId xmlns:a16="http://schemas.microsoft.com/office/drawing/2014/main" id="{7BB25A96-E96A-4D45-AA98-5275E81FA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9E4C02-E96A-DD6F-C5A2-F429A5CA7B44}"/>
              </a:ext>
            </a:extLst>
          </p:cNvPr>
          <p:cNvGrpSpPr/>
          <p:nvPr/>
        </p:nvGrpSpPr>
        <p:grpSpPr>
          <a:xfrm>
            <a:off x="5765962" y="2690361"/>
            <a:ext cx="5664038" cy="1544256"/>
            <a:chOff x="2973282" y="3140626"/>
            <a:chExt cx="4277749" cy="116629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5628D68-B300-A099-A1EA-B1DAA256B9A6}"/>
                </a:ext>
              </a:extLst>
            </p:cNvPr>
            <p:cNvSpPr txBox="1"/>
            <p:nvPr/>
          </p:nvSpPr>
          <p:spPr>
            <a:xfrm>
              <a:off x="2973282" y="3140626"/>
              <a:ext cx="4277749" cy="11662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DEA1FD-C3EA-1BD9-F3BF-7B8981BAA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9023" y="3457073"/>
              <a:ext cx="3586265" cy="533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0661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9AB0A-4DD7-9501-3F1C-F8068BC8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1"/>
            <a:ext cx="4782039" cy="1966747"/>
          </a:xfrm>
        </p:spPr>
        <p:txBody>
          <a:bodyPr anchor="ctr">
            <a:normAutofit/>
          </a:bodyPr>
          <a:lstStyle/>
          <a:p>
            <a:r>
              <a:rPr lang="en-US" sz="3800" dirty="0"/>
              <a:t>Get the 2’s complement of the following binary numbers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54301"/>
            <a:ext cx="47548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4BC57-8B49-F40E-68DC-B9E31AD60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6" y="3161684"/>
            <a:ext cx="4782166" cy="2620405"/>
          </a:xfrm>
        </p:spPr>
        <p:txBody>
          <a:bodyPr>
            <a:normAutofit/>
          </a:bodyPr>
          <a:lstStyle/>
          <a:p>
            <a:pPr marL="457200" indent="-457200">
              <a:buAutoNum type="alphaLcParenR"/>
            </a:pPr>
            <a:r>
              <a:rPr lang="en-US" dirty="0"/>
              <a:t>1100011</a:t>
            </a:r>
          </a:p>
          <a:p>
            <a:pPr marL="457200" indent="-457200">
              <a:buAutoNum type="alphaLcParenR"/>
            </a:pPr>
            <a:r>
              <a:rPr lang="en-US" dirty="0"/>
              <a:t>0001111 </a:t>
            </a:r>
          </a:p>
          <a:p>
            <a:pPr marL="457200" indent="-457200">
              <a:buAutoNum type="alphaLcParenR"/>
            </a:pPr>
            <a:r>
              <a:rPr lang="en-US" dirty="0"/>
              <a:t>1010100</a:t>
            </a:r>
          </a:p>
          <a:p>
            <a:pPr marL="457200" indent="-457200">
              <a:buAutoNum type="alphaLcParenR"/>
            </a:pPr>
            <a:r>
              <a:rPr lang="en-US" dirty="0"/>
              <a:t>1111011</a:t>
            </a:r>
          </a:p>
        </p:txBody>
      </p:sp>
      <p:pic>
        <p:nvPicPr>
          <p:cNvPr id="5" name="Picture 4" descr="CPU with binary numbers and blueprint">
            <a:extLst>
              <a:ext uri="{FF2B5EF4-FFF2-40B4-BE49-F238E27FC236}">
                <a16:creationId xmlns:a16="http://schemas.microsoft.com/office/drawing/2014/main" id="{01530300-7A1C-0FC0-0D72-B484CE7365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50" r="22050"/>
          <a:stretch/>
        </p:blipFill>
        <p:spPr>
          <a:xfrm>
            <a:off x="6096000" y="10"/>
            <a:ext cx="6095998" cy="6857990"/>
          </a:xfrm>
          <a:prstGeom prst="rect">
            <a:avLst/>
          </a:prstGeom>
        </p:spPr>
      </p:pic>
      <p:sp>
        <p:nvSpPr>
          <p:cNvPr id="1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61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0437D-025B-53E8-24DD-A8C30DA1167A}"/>
              </a:ext>
            </a:extLst>
          </p:cNvPr>
          <p:cNvSpPr txBox="1"/>
          <p:nvPr/>
        </p:nvSpPr>
        <p:spPr>
          <a:xfrm>
            <a:off x="758952" y="1128811"/>
            <a:ext cx="3447288" cy="33422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i="1" kern="1200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End of Lecture</a:t>
            </a: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80086F41-F6B9-6AC5-E42C-50C3B29C9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7779" y="1128811"/>
            <a:ext cx="4657841" cy="4657841"/>
          </a:xfrm>
          <a:prstGeom prst="rect">
            <a:avLst/>
          </a:prstGeom>
        </p:spPr>
      </p:pic>
      <p:sp>
        <p:nvSpPr>
          <p:cNvPr id="19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35027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1115</TotalTime>
  <Words>414</Words>
  <Application>Microsoft Office PowerPoint</Application>
  <PresentationFormat>Widescreen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Sitka Banner</vt:lpstr>
      <vt:lpstr>HeadlinesVTI</vt:lpstr>
      <vt:lpstr>Computer ARITHMETIC</vt:lpstr>
      <vt:lpstr>Recap:</vt:lpstr>
      <vt:lpstr>Binary Addition</vt:lpstr>
      <vt:lpstr>Your Turn!</vt:lpstr>
      <vt:lpstr>Binary Subtraction</vt:lpstr>
      <vt:lpstr>Your Turn!</vt:lpstr>
      <vt:lpstr>Binary Multiplication</vt:lpstr>
      <vt:lpstr>Your Turn!</vt:lpstr>
      <vt:lpstr>Self Study</vt:lpstr>
      <vt:lpstr>Complimentary Arithmetic</vt:lpstr>
      <vt:lpstr>(r-1)’s Complement</vt:lpstr>
      <vt:lpstr>Get the 1’s complement of the following binary numbers</vt:lpstr>
      <vt:lpstr>r’s Complement</vt:lpstr>
      <vt:lpstr>Get the 2’s complement of the following binary numbers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ARITHMETIC</dc:title>
  <dc:creator>A A Salam ms21916380</dc:creator>
  <cp:lastModifiedBy>A A Salam ms21916380</cp:lastModifiedBy>
  <cp:revision>4</cp:revision>
  <dcterms:created xsi:type="dcterms:W3CDTF">2023-01-29T13:06:20Z</dcterms:created>
  <dcterms:modified xsi:type="dcterms:W3CDTF">2023-05-23T04:58:45Z</dcterms:modified>
</cp:coreProperties>
</file>