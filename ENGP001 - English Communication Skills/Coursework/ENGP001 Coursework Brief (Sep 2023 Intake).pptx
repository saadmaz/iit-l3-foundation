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Sorts Mill Goudy"/>
      <p:regular r:id="rId14"/>
      <p: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jaCfCTPNG4yDSvRMOrzIAI8WY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bold.fntdata"/><Relationship Id="rId10" Type="http://schemas.openxmlformats.org/officeDocument/2006/relationships/font" Target="fonts/Lato-regular.fntdata"/><Relationship Id="rId13" Type="http://schemas.openxmlformats.org/officeDocument/2006/relationships/font" Target="fonts/Lato-boldItalic.fntdata"/><Relationship Id="rId12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rtsMillGoudy-italic.fntdata"/><Relationship Id="rId14" Type="http://schemas.openxmlformats.org/officeDocument/2006/relationships/font" Target="fonts/SortsMillGoud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ccbf0c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25ccbf0ca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4852da2c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4852da2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ccbf0cac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25ccbf0cac5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966745" y="1205037"/>
            <a:ext cx="77451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Sorts Mill Goudy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966745" y="3949332"/>
            <a:ext cx="77451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000" cap="none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966744" y="959587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966744" y="2248257"/>
            <a:ext cx="9076200" cy="3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831850" y="1883229"/>
            <a:ext cx="8214300" cy="33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Sorts Mill Goud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831850" y="5295900"/>
            <a:ext cx="82143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Sorts Mill Goudy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Sorts Mill Goudy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966744" y="959587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966745" y="2250798"/>
            <a:ext cx="44460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5597174" y="2250798"/>
            <a:ext cx="44460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966745" y="960120"/>
            <a:ext cx="91968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967153" y="2062842"/>
            <a:ext cx="4446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966745" y="2882837"/>
            <a:ext cx="4446600" cy="3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5725280" y="2062842"/>
            <a:ext cx="44679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"/>
          <p:cNvSpPr txBox="1"/>
          <p:nvPr>
            <p:ph idx="4" type="body"/>
          </p:nvPr>
        </p:nvSpPr>
        <p:spPr>
          <a:xfrm>
            <a:off x="5724868" y="2882837"/>
            <a:ext cx="4468500" cy="3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966744" y="959587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9788" y="1094014"/>
            <a:ext cx="39321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183188" y="1094014"/>
            <a:ext cx="6172200" cy="4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∙"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rts Mill Goudy"/>
              <a:buNone/>
              <a:defRPr sz="2800"/>
            </a:lvl2pPr>
            <a:lvl3pPr indent="-457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Char char="∙"/>
              <a:defRPr sz="24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sz="2000"/>
            </a:lvl4pPr>
            <a:lvl5pPr indent="-4191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000"/>
              <a:buChar char="∙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839788" y="2618012"/>
            <a:ext cx="3932100" cy="3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ts Mill Goudy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9788" y="1065120"/>
            <a:ext cx="39321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39788" y="2618014"/>
            <a:ext cx="3932100" cy="3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ts Mill Goudy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 rot="10800000">
            <a:off x="-2598" y="1820596"/>
            <a:ext cx="2928898" cy="5037404"/>
            <a:chOff x="9265700" y="2026"/>
            <a:chExt cx="2928898" cy="5037404"/>
          </a:xfrm>
        </p:grpSpPr>
        <p:sp>
          <p:nvSpPr>
            <p:cNvPr id="75" name="Google Shape;75;p16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9265700" y="7622"/>
              <a:ext cx="2377010" cy="237675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10536649" y="1823190"/>
              <a:ext cx="1657949" cy="3216240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79" name="Google Shape;79;p16"/>
          <p:cNvSpPr txBox="1"/>
          <p:nvPr>
            <p:ph type="title"/>
          </p:nvPr>
        </p:nvSpPr>
        <p:spPr>
          <a:xfrm>
            <a:off x="2148186" y="959587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4861365" y="-464793"/>
            <a:ext cx="3650100" cy="9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7"/>
          <p:cNvGrpSpPr/>
          <p:nvPr/>
        </p:nvGrpSpPr>
        <p:grpSpPr>
          <a:xfrm rot="10800000">
            <a:off x="-2598" y="1820596"/>
            <a:ext cx="2928898" cy="5037404"/>
            <a:chOff x="9265700" y="2026"/>
            <a:chExt cx="2928898" cy="5037404"/>
          </a:xfrm>
        </p:grpSpPr>
        <p:sp>
          <p:nvSpPr>
            <p:cNvPr id="86" name="Google Shape;86;p17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9265700" y="7622"/>
              <a:ext cx="2377010" cy="237675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10536649" y="1823190"/>
              <a:ext cx="1657949" cy="3216240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90" name="Google Shape;90;p17"/>
          <p:cNvSpPr txBox="1"/>
          <p:nvPr>
            <p:ph type="title"/>
          </p:nvPr>
        </p:nvSpPr>
        <p:spPr>
          <a:xfrm rot="5400000">
            <a:off x="7587150" y="2410204"/>
            <a:ext cx="53106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 rot="5400000">
            <a:off x="2265086" y="-560547"/>
            <a:ext cx="5310600" cy="8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6"/>
          <p:cNvGrpSpPr/>
          <p:nvPr/>
        </p:nvGrpSpPr>
        <p:grpSpPr>
          <a:xfrm>
            <a:off x="9265700" y="2026"/>
            <a:ext cx="2928898" cy="5037404"/>
            <a:chOff x="9265700" y="2026"/>
            <a:chExt cx="2928898" cy="5037404"/>
          </a:xfrm>
        </p:grpSpPr>
        <p:sp>
          <p:nvSpPr>
            <p:cNvPr id="7" name="Google Shape;7;p6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" name="Google Shape;8;p6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11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9" name="Google Shape;9;p6"/>
            <p:cNvSpPr/>
            <p:nvPr/>
          </p:nvSpPr>
          <p:spPr>
            <a:xfrm>
              <a:off x="9265700" y="7622"/>
              <a:ext cx="2377010" cy="237675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0" name="Google Shape;10;p6"/>
            <p:cNvSpPr/>
            <p:nvPr/>
          </p:nvSpPr>
          <p:spPr>
            <a:xfrm>
              <a:off x="10536649" y="1823190"/>
              <a:ext cx="1657949" cy="3216240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3529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1" name="Google Shape;11;p6"/>
          <p:cNvSpPr txBox="1"/>
          <p:nvPr>
            <p:ph type="title"/>
          </p:nvPr>
        </p:nvSpPr>
        <p:spPr>
          <a:xfrm>
            <a:off x="966744" y="959587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rts Mill Goudy"/>
              <a:buNone/>
              <a:defRPr b="0" i="0" sz="4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" type="body"/>
          </p:nvPr>
        </p:nvSpPr>
        <p:spPr>
          <a:xfrm>
            <a:off x="966744" y="2248257"/>
            <a:ext cx="9076200" cy="3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rts Mill Goudy"/>
              <a:buChar char="∙"/>
              <a:defRPr b="0" i="0" sz="2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rts Mill Goudy"/>
              <a:buNone/>
              <a:defRPr b="0" i="0" sz="18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rts Mill Goudy"/>
              <a:buChar char="∙"/>
              <a:defRPr b="0" i="0" sz="1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b="0" i="0" sz="1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Sorts Mill Goudy"/>
              <a:buChar char="∙"/>
              <a:defRPr b="0" i="0" sz="1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0" type="dt"/>
          </p:nvPr>
        </p:nvSpPr>
        <p:spPr>
          <a:xfrm>
            <a:off x="8266975" y="6356350"/>
            <a:ext cx="296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966745" y="501128"/>
            <a:ext cx="33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11239498" y="6356350"/>
            <a:ext cx="51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DAfZXTfaUisWOvzU1DAWSDBkTuBGRWM8Q4TYFozCWME/edit?usp=sharing" TargetMode="External"/><Relationship Id="rId4" Type="http://schemas.openxmlformats.org/officeDocument/2006/relationships/hyperlink" Target="https://docs.google.com/spreadsheets/d/1DAfZXTfaUisWOvzU1DAWSDBkTuBGRWM8Q4TYFozCWME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00" name="Google Shape;100;p1"/>
          <p:cNvSpPr txBox="1"/>
          <p:nvPr>
            <p:ph type="ctrTitle"/>
          </p:nvPr>
        </p:nvSpPr>
        <p:spPr>
          <a:xfrm>
            <a:off x="843702" y="1160749"/>
            <a:ext cx="5884500" cy="207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lang="en-US" sz="3700">
                <a:latin typeface="Lato"/>
                <a:ea typeface="Lato"/>
                <a:cs typeface="Lato"/>
                <a:sym typeface="Lato"/>
              </a:rPr>
              <a:t>Guidelines for Coursework:</a:t>
            </a:r>
            <a:br>
              <a:rPr b="1" lang="en-US" sz="3700">
                <a:latin typeface="Lato"/>
                <a:ea typeface="Lato"/>
                <a:cs typeface="Lato"/>
                <a:sym typeface="Lato"/>
              </a:rPr>
            </a:br>
            <a:r>
              <a:rPr b="1" lang="en-US" sz="3700">
                <a:latin typeface="Lato"/>
                <a:ea typeface="Lato"/>
                <a:cs typeface="Lato"/>
                <a:sym typeface="Lato"/>
              </a:rPr>
              <a:t>ENGP001 English Communication Skills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835649" y="3882848"/>
            <a:ext cx="58845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L4 SE/CS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2023 SEP INTAKE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WEIGHTAGE - 50% MODULE GRADE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Logo, company name&#10;&#10;Description automatically generated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1862" y="2475705"/>
            <a:ext cx="2048288" cy="2048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375200" y="0"/>
            <a:ext cx="125673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08" name="Google Shape;108;p2"/>
          <p:cNvSpPr txBox="1"/>
          <p:nvPr>
            <p:ph type="title"/>
          </p:nvPr>
        </p:nvSpPr>
        <p:spPr>
          <a:xfrm>
            <a:off x="192450" y="151550"/>
            <a:ext cx="9214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Group Assignment  </a:t>
            </a:r>
            <a:r>
              <a:rPr lang="en-US" sz="2350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2400">
                <a:latin typeface="Lato"/>
                <a:ea typeface="Lato"/>
                <a:cs typeface="Lato"/>
                <a:sym typeface="Lato"/>
              </a:rPr>
              <a:t>Teams of 4-6 members)</a:t>
            </a:r>
            <a:br>
              <a:rPr lang="en-US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-87800" y="1272925"/>
            <a:ext cx="12126000" cy="53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b="1" i="0" lang="en-US" sz="1900" u="none" strike="noStrike">
                <a:latin typeface="Lato"/>
                <a:ea typeface="Lato"/>
                <a:cs typeface="Lato"/>
                <a:sym typeface="Lato"/>
              </a:rPr>
              <a:t>Task: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Pick a person/role model of your choice (living or deceased) and create a presentation revolving around the chosen person's life - their backgrounds, challenges they faced, what is most inspiring about them, etc.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You can use slides or any other form of graphics/media as you deem appropriate.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Max. length of the 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presentation </a:t>
            </a: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i="0" lang="en-US" sz="1900" u="none" strike="noStrike">
                <a:latin typeface="Lato"/>
                <a:ea typeface="Lato"/>
                <a:cs typeface="Lato"/>
                <a:sym typeface="Lato"/>
              </a:rPr>
              <a:t>7 mins</a:t>
            </a:r>
            <a:endParaRPr i="0" sz="1900" u="none" strike="noStrike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lang="en-US" sz="1900">
                <a:latin typeface="Lato"/>
                <a:ea typeface="Lato"/>
                <a:cs typeface="Lato"/>
                <a:sym typeface="Lato"/>
              </a:rPr>
              <a:t>Use Harvard Referencing Style and create a Bibliography (list of sources you referred to) at the end of your presentation.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last slide of the presentation</a:t>
            </a: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 should clearly indicate student IDs, names, and roles played.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Topics/techniques 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you should </a:t>
            </a:r>
            <a:r>
              <a:rPr i="0" lang="en-US" sz="1900" u="none" strike="noStrike">
                <a:latin typeface="Lato"/>
                <a:ea typeface="Lato"/>
                <a:cs typeface="Lato"/>
                <a:sym typeface="Lato"/>
              </a:rPr>
              <a:t>showcase: research, critical reading, presentation skills, grammatical concepts covered in the module, and creativity.</a:t>
            </a:r>
            <a:endParaRPr i="0" sz="1900" u="none" strike="noStrike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lang="en-US" sz="1900">
                <a:latin typeface="Lato"/>
                <a:ea typeface="Lato"/>
                <a:cs typeface="Lato"/>
                <a:sym typeface="Lato"/>
              </a:rPr>
              <a:t>You will be marked on your content clarity and structure, language proficiency, presentation delivery techniques, engagement and confidence, use of visual aids, time management, contribution and dress code (professional attire). 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lang="en-US" sz="1900">
                <a:latin typeface="Lato"/>
                <a:ea typeface="Lato"/>
                <a:cs typeface="Lato"/>
                <a:sym typeface="Lato"/>
              </a:rPr>
              <a:t>Your team allocation can be found on </a:t>
            </a:r>
            <a:r>
              <a:rPr lang="en-US" sz="1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this sheet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Lato"/>
              <a:buChar char="•"/>
            </a:pPr>
            <a:r>
              <a:rPr lang="en-US" sz="1900">
                <a:latin typeface="Lato"/>
                <a:ea typeface="Lato"/>
                <a:cs typeface="Lato"/>
                <a:sym typeface="Lato"/>
              </a:rPr>
              <a:t>The batch rep should update IIT email addresses,  team names and team leader details (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columns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 D, F and G on the </a:t>
            </a:r>
            <a:r>
              <a:rPr lang="en-US" sz="1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team allocation sheet</a:t>
            </a:r>
            <a:r>
              <a:rPr lang="en-US" sz="1900">
                <a:latin typeface="Lato"/>
                <a:ea typeface="Lato"/>
                <a:cs typeface="Lato"/>
                <a:sym typeface="Lato"/>
              </a:rPr>
              <a:t>) 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81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ccbf0cac5_0_0"/>
          <p:cNvSpPr txBox="1"/>
          <p:nvPr>
            <p:ph idx="4294967295" type="title"/>
          </p:nvPr>
        </p:nvSpPr>
        <p:spPr>
          <a:xfrm>
            <a:off x="187452" y="225685"/>
            <a:ext cx="9076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rts Mill Goudy"/>
              <a:buNone/>
            </a:pPr>
            <a:r>
              <a:rPr lang="en-US" sz="3600">
                <a:latin typeface="Lato"/>
                <a:ea typeface="Lato"/>
                <a:cs typeface="Lato"/>
                <a:sym typeface="Lato"/>
              </a:rPr>
              <a:t>How to submit your work?</a:t>
            </a:r>
            <a:endParaRPr sz="3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g25ccbf0cac5_0_0"/>
          <p:cNvSpPr txBox="1"/>
          <p:nvPr>
            <p:ph idx="4294967295" type="body"/>
          </p:nvPr>
        </p:nvSpPr>
        <p:spPr>
          <a:xfrm>
            <a:off x="263925" y="1290075"/>
            <a:ext cx="11514600" cy="52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23A3A"/>
              </a:buClr>
              <a:buSzPts val="2800"/>
              <a:buFont typeface="Lato"/>
              <a:buChar char="•"/>
            </a:pPr>
            <a:r>
              <a:rPr lang="en-US" sz="18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Upload your finalized slides on LMS through the Submission link relevant to your group, latest by Friday, 17th November 2023. 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The submission link will be made available in due time. </a:t>
            </a:r>
            <a:endParaRPr sz="14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No changes will be allowed after you submit the presentation through the link.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Note: Only the </a:t>
            </a:r>
            <a:r>
              <a:rPr b="1"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Team Leader 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should submit the file.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The presentation should be named as follows: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&lt;Tutorial Group (eg: G1)&gt;_&lt;Team Name&gt;_&lt;Name of Team Leader&gt;_&lt;IIT Student ID of Team Leader&gt;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The maximum document size allowed on LMS is 50MB. If you plan on using videos, you may insert links to your presentation. 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On the last slide, </a:t>
            </a:r>
            <a:r>
              <a:rPr i="0" lang="en-US" sz="1700" u="none" strike="noStrike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include the Names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i="0" lang="en-US" sz="1700" u="none" strike="noStrike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Student IDs and 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the contribution </a:t>
            </a:r>
            <a:r>
              <a:rPr i="0" lang="en-US" sz="1700" u="none" strike="noStrike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each </a:t>
            </a:r>
            <a:r>
              <a:rPr i="0" lang="en-US" sz="1700" u="none" strike="noStrike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team member.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23A3A"/>
              </a:buClr>
              <a:buSzPts val="2800"/>
              <a:buFont typeface="Lato"/>
              <a:buChar char="•"/>
            </a:pPr>
            <a:r>
              <a:rPr lang="en-US" sz="18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You will deliver your presentation in-person during the week starting 20th November 2023. The schedule is given in the next slide. 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800"/>
              <a:buFont typeface="Lato"/>
              <a:buChar char="•"/>
            </a:pPr>
            <a:r>
              <a:rPr lang="en-US" sz="18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You are required to wear a name tag when presenting. 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800"/>
              <a:buFont typeface="Lato"/>
              <a:buChar char="•"/>
            </a:pPr>
            <a:r>
              <a:rPr lang="en-US" sz="18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All members of the group are required to present.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4852da2cb_0_1"/>
          <p:cNvSpPr txBox="1"/>
          <p:nvPr>
            <p:ph idx="4294967295" type="body"/>
          </p:nvPr>
        </p:nvSpPr>
        <p:spPr>
          <a:xfrm>
            <a:off x="277475" y="1315050"/>
            <a:ext cx="115146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You will deliver your presentation in-person during the week starting 20th November 2023, as per the following schedule. 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1" name="Google Shape;121;g294852da2c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35650"/>
            <a:ext cx="11887201" cy="186176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94852da2cb_0_1"/>
          <p:cNvSpPr txBox="1"/>
          <p:nvPr>
            <p:ph idx="4294967295" type="body"/>
          </p:nvPr>
        </p:nvSpPr>
        <p:spPr>
          <a:xfrm>
            <a:off x="338700" y="4489850"/>
            <a:ext cx="115146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All 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students</a:t>
            </a: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 of the relevant tutorial group are required to 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stay in class throughout the 2-hour session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be punctual and be present at the assigned classroom at the start of the session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23A3A"/>
              </a:buClr>
              <a:buSzPts val="1700"/>
              <a:buFont typeface="Lato"/>
              <a:buChar char="∙"/>
            </a:pPr>
            <a:r>
              <a:rPr lang="en-US" sz="17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be silent while others are presenting. </a:t>
            </a:r>
            <a:endParaRPr sz="17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A3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23A3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ccbf0cac5_0_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28" name="Google Shape;128;g25ccbf0cac5_0_95"/>
          <p:cNvSpPr txBox="1"/>
          <p:nvPr>
            <p:ph type="title"/>
          </p:nvPr>
        </p:nvSpPr>
        <p:spPr>
          <a:xfrm>
            <a:off x="1109600" y="1921675"/>
            <a:ext cx="38001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1" lang="en-US" u="none" strike="noStrike">
                <a:latin typeface="Lato"/>
                <a:ea typeface="Lato"/>
                <a:cs typeface="Lato"/>
                <a:sym typeface="Lato"/>
              </a:rPr>
              <a:t>Think fresh and  out-of-the-box!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g25ccbf0cac5_0_95"/>
          <p:cNvSpPr txBox="1"/>
          <p:nvPr>
            <p:ph idx="1" type="body"/>
          </p:nvPr>
        </p:nvSpPr>
        <p:spPr>
          <a:xfrm>
            <a:off x="6095999" y="876300"/>
            <a:ext cx="51435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ato"/>
              <a:buChar char="•"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If you have any questions, contact your tutorial lecturer directly.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ato"/>
              <a:buChar char="•"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Submission Date for Slides: 17th November, 2023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0955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Lato"/>
              <a:buChar char="•"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In-person Presentations: Week commencing 20th November 2023 (Schedule shared)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g25ccbf0cac5_0_95"/>
          <p:cNvSpPr txBox="1"/>
          <p:nvPr/>
        </p:nvSpPr>
        <p:spPr>
          <a:xfrm>
            <a:off x="3052689" y="3240817"/>
            <a:ext cx="61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31" name="Google Shape;131;g25ccbf0cac5_0_95"/>
          <p:cNvSpPr txBox="1"/>
          <p:nvPr/>
        </p:nvSpPr>
        <p:spPr>
          <a:xfrm>
            <a:off x="3052689" y="3240817"/>
            <a:ext cx="61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32" name="Google Shape;132;g25ccbf0cac5_0_95"/>
          <p:cNvSpPr txBox="1"/>
          <p:nvPr/>
        </p:nvSpPr>
        <p:spPr>
          <a:xfrm>
            <a:off x="3052689" y="3240817"/>
            <a:ext cx="61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2022-03-03T12:58:55Z</dcterms:created>
  <dc:creator>Imani Kottawa Gamage Imani Rand</dc:creator>
</cp:coreProperties>
</file>