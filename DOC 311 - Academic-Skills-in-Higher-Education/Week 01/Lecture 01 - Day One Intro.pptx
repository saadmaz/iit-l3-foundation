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4" r:id="rId1"/>
    <p:sldMasterId id="2147483648" r:id="rId2"/>
  </p:sldMasterIdLst>
  <p:notesMasterIdLst>
    <p:notesMasterId r:id="rId28"/>
  </p:notesMasterIdLst>
  <p:sldIdLst>
    <p:sldId id="256" r:id="rId3"/>
    <p:sldId id="257" r:id="rId4"/>
    <p:sldId id="258"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1EF"/>
    <a:srgbClr val="FFF7FD"/>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1F39EA-DFA4-4D7C-8812-5AED72A4FA34}" type="datetimeFigureOut">
              <a:rPr lang="en-US" smtClean="0"/>
              <a:t>1/28/2023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3C577C-7BB7-4AE9-9B8E-450E7C524FAB}" type="slidenum">
              <a:rPr lang="en-US" smtClean="0"/>
              <a:t>‹#›</a:t>
            </a:fld>
            <a:endParaRPr lang="en-US"/>
          </a:p>
        </p:txBody>
      </p:sp>
    </p:spTree>
    <p:extLst>
      <p:ext uri="{BB962C8B-B14F-4D97-AF65-F5344CB8AC3E}">
        <p14:creationId xmlns:p14="http://schemas.microsoft.com/office/powerpoint/2010/main" val="1584958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a:t>
            </a:r>
            <a:r>
              <a:rPr lang="en-US" baseline="0" dirty="0"/>
              <a:t> </a:t>
            </a:r>
            <a:r>
              <a:rPr lang="en-US" dirty="0"/>
              <a:t>To change images on this slide, select a picture and delete it. Then click the Insert Picture icon</a:t>
            </a:r>
            <a:r>
              <a:rPr lang="en-US" baseline="0" dirty="0"/>
              <a:t> </a:t>
            </a:r>
            <a:r>
              <a:rPr lang="en-US" dirty="0"/>
              <a:t>in the placeholder to insert your own image.</a:t>
            </a:r>
          </a:p>
        </p:txBody>
      </p:sp>
      <p:sp>
        <p:nvSpPr>
          <p:cNvPr id="4" name="Slide Number Placeholder 3"/>
          <p:cNvSpPr>
            <a:spLocks noGrp="1"/>
          </p:cNvSpPr>
          <p:nvPr>
            <p:ph type="sldNum" sz="quarter" idx="10"/>
          </p:nvPr>
        </p:nvSpPr>
        <p:spPr/>
        <p:txBody>
          <a:bodyPr/>
          <a:lstStyle/>
          <a:p>
            <a:fld id="{5534C2EF-8A97-4DAF-B099-E567883644D6}" type="slidenum">
              <a:rPr lang="en-US" smtClean="0"/>
              <a:t>8</a:t>
            </a:fld>
            <a:endParaRPr lang="en-US"/>
          </a:p>
        </p:txBody>
      </p:sp>
    </p:spTree>
    <p:extLst>
      <p:ext uri="{BB962C8B-B14F-4D97-AF65-F5344CB8AC3E}">
        <p14:creationId xmlns:p14="http://schemas.microsoft.com/office/powerpoint/2010/main" val="3886014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a:t>
            </a:r>
            <a:r>
              <a:rPr lang="en-US" baseline="0" dirty="0"/>
              <a:t> </a:t>
            </a:r>
            <a:r>
              <a:rPr lang="en-US" dirty="0"/>
              <a:t>To change images on this slide, select a picture and delete it. Then click the Insert Picture icon</a:t>
            </a:r>
            <a:r>
              <a:rPr lang="en-US" baseline="0" dirty="0"/>
              <a:t> </a:t>
            </a:r>
            <a:r>
              <a:rPr lang="en-US" dirty="0"/>
              <a:t>in the placeholder to insert your own image.</a:t>
            </a:r>
          </a:p>
        </p:txBody>
      </p:sp>
      <p:sp>
        <p:nvSpPr>
          <p:cNvPr id="4" name="Slide Number Placeholder 3"/>
          <p:cNvSpPr>
            <a:spLocks noGrp="1"/>
          </p:cNvSpPr>
          <p:nvPr>
            <p:ph type="sldNum" sz="quarter" idx="10"/>
          </p:nvPr>
        </p:nvSpPr>
        <p:spPr/>
        <p:txBody>
          <a:bodyPr/>
          <a:lstStyle/>
          <a:p>
            <a:fld id="{5534C2EF-8A97-4DAF-B099-E567883644D6}" type="slidenum">
              <a:rPr lang="en-US" smtClean="0"/>
              <a:t>12</a:t>
            </a:fld>
            <a:endParaRPr lang="en-US"/>
          </a:p>
        </p:txBody>
      </p:sp>
    </p:spTree>
    <p:extLst>
      <p:ext uri="{BB962C8B-B14F-4D97-AF65-F5344CB8AC3E}">
        <p14:creationId xmlns:p14="http://schemas.microsoft.com/office/powerpoint/2010/main" val="3727004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atin typeface="Arial" charset="0"/>
                <a:cs typeface="Arial" charset="0"/>
              </a:rPr>
              <a:t>What are the worries that you might have?  Give out some paper and ask students to write down one or 2 things that they may be worried about.</a:t>
            </a:r>
          </a:p>
        </p:txBody>
      </p:sp>
      <p:sp>
        <p:nvSpPr>
          <p:cNvPr id="4" name="Slide Number Placeholder 3"/>
          <p:cNvSpPr>
            <a:spLocks noGrp="1"/>
          </p:cNvSpPr>
          <p:nvPr>
            <p:ph type="sldNum" sz="quarter" idx="5"/>
          </p:nvPr>
        </p:nvSpPr>
        <p:spPr/>
        <p:txBody>
          <a:bodyPr/>
          <a:lstStyle/>
          <a:p>
            <a:pPr>
              <a:defRPr/>
            </a:pPr>
            <a:fld id="{D2A279F6-7568-4C9C-97B1-803753942D8F}" type="slidenum">
              <a:rPr lang="en-GB" smtClean="0"/>
              <a:pPr>
                <a:defRPr/>
              </a:pPr>
              <a:t>21</a:t>
            </a:fld>
            <a:endParaRPr lang="en-GB" dirty="0"/>
          </a:p>
        </p:txBody>
      </p:sp>
    </p:spTree>
    <p:extLst>
      <p:ext uri="{BB962C8B-B14F-4D97-AF65-F5344CB8AC3E}">
        <p14:creationId xmlns:p14="http://schemas.microsoft.com/office/powerpoint/2010/main" val="3717696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9399F-80DD-3D5F-B76B-DA05922A29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6BBDDB-6CCE-37C2-7B90-3645B32BC7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28C7C0-2412-515D-33FA-44EB540F558C}"/>
              </a:ext>
            </a:extLst>
          </p:cNvPr>
          <p:cNvSpPr>
            <a:spLocks noGrp="1"/>
          </p:cNvSpPr>
          <p:nvPr>
            <p:ph type="dt" sz="half" idx="10"/>
          </p:nvPr>
        </p:nvSpPr>
        <p:spPr/>
        <p:txBody>
          <a:bodyPr/>
          <a:lstStyle/>
          <a:p>
            <a:fld id="{AAAF001E-B2DD-4179-A753-D0CF0809F32B}" type="datetimeFigureOut">
              <a:rPr lang="en-US" smtClean="0"/>
              <a:t>1/28/2023</a:t>
            </a:fld>
            <a:endParaRPr lang="en-US"/>
          </a:p>
        </p:txBody>
      </p:sp>
      <p:sp>
        <p:nvSpPr>
          <p:cNvPr id="5" name="Footer Placeholder 4">
            <a:extLst>
              <a:ext uri="{FF2B5EF4-FFF2-40B4-BE49-F238E27FC236}">
                <a16:creationId xmlns:a16="http://schemas.microsoft.com/office/drawing/2014/main" id="{7E9F44B3-4EFC-6C8C-F49E-9EAC8569AF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31333B-3D57-891C-8674-F5FF9927AB8D}"/>
              </a:ext>
            </a:extLst>
          </p:cNvPr>
          <p:cNvSpPr>
            <a:spLocks noGrp="1"/>
          </p:cNvSpPr>
          <p:nvPr>
            <p:ph type="sldNum" sz="quarter" idx="12"/>
          </p:nvPr>
        </p:nvSpPr>
        <p:spPr/>
        <p:txBody>
          <a:bodyPr/>
          <a:lstStyle/>
          <a:p>
            <a:fld id="{D8D22E78-F8D0-499D-A69F-76ECB0E0D898}" type="slidenum">
              <a:rPr lang="en-US" smtClean="0"/>
              <a:t>‹#›</a:t>
            </a:fld>
            <a:endParaRPr lang="en-US"/>
          </a:p>
        </p:txBody>
      </p:sp>
    </p:spTree>
    <p:extLst>
      <p:ext uri="{BB962C8B-B14F-4D97-AF65-F5344CB8AC3E}">
        <p14:creationId xmlns:p14="http://schemas.microsoft.com/office/powerpoint/2010/main" val="1425111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F00C5-B0E0-BC3E-9F11-BBF4A0DD0E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2FBDDF-28ED-927B-384E-3AA35C36DD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AE9C26-A9AB-28E5-9794-94AE97E9F6BE}"/>
              </a:ext>
            </a:extLst>
          </p:cNvPr>
          <p:cNvSpPr>
            <a:spLocks noGrp="1"/>
          </p:cNvSpPr>
          <p:nvPr>
            <p:ph type="dt" sz="half" idx="10"/>
          </p:nvPr>
        </p:nvSpPr>
        <p:spPr/>
        <p:txBody>
          <a:bodyPr/>
          <a:lstStyle/>
          <a:p>
            <a:fld id="{AAAF001E-B2DD-4179-A753-D0CF0809F32B}" type="datetimeFigureOut">
              <a:rPr lang="en-US" smtClean="0"/>
              <a:t>1/28/2023</a:t>
            </a:fld>
            <a:endParaRPr lang="en-US"/>
          </a:p>
        </p:txBody>
      </p:sp>
      <p:sp>
        <p:nvSpPr>
          <p:cNvPr id="5" name="Footer Placeholder 4">
            <a:extLst>
              <a:ext uri="{FF2B5EF4-FFF2-40B4-BE49-F238E27FC236}">
                <a16:creationId xmlns:a16="http://schemas.microsoft.com/office/drawing/2014/main" id="{898E2688-3FAD-7898-01B3-9B775A16C7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C8FEC6-C51C-22BB-4212-627B08A441CD}"/>
              </a:ext>
            </a:extLst>
          </p:cNvPr>
          <p:cNvSpPr>
            <a:spLocks noGrp="1"/>
          </p:cNvSpPr>
          <p:nvPr>
            <p:ph type="sldNum" sz="quarter" idx="12"/>
          </p:nvPr>
        </p:nvSpPr>
        <p:spPr/>
        <p:txBody>
          <a:bodyPr/>
          <a:lstStyle/>
          <a:p>
            <a:fld id="{D8D22E78-F8D0-499D-A69F-76ECB0E0D898}" type="slidenum">
              <a:rPr lang="en-US" smtClean="0"/>
              <a:t>‹#›</a:t>
            </a:fld>
            <a:endParaRPr lang="en-US"/>
          </a:p>
        </p:txBody>
      </p:sp>
    </p:spTree>
    <p:extLst>
      <p:ext uri="{BB962C8B-B14F-4D97-AF65-F5344CB8AC3E}">
        <p14:creationId xmlns:p14="http://schemas.microsoft.com/office/powerpoint/2010/main" val="1562672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A3547-E0F2-6982-006D-59E2337653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3447FA-1954-AEF1-563E-99C43EEB52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1E3EA8-5D8A-9D94-9289-CA023D241B0E}"/>
              </a:ext>
            </a:extLst>
          </p:cNvPr>
          <p:cNvSpPr>
            <a:spLocks noGrp="1"/>
          </p:cNvSpPr>
          <p:nvPr>
            <p:ph type="dt" sz="half" idx="10"/>
          </p:nvPr>
        </p:nvSpPr>
        <p:spPr/>
        <p:txBody>
          <a:bodyPr/>
          <a:lstStyle/>
          <a:p>
            <a:fld id="{AAAF001E-B2DD-4179-A753-D0CF0809F32B}" type="datetimeFigureOut">
              <a:rPr lang="en-US" smtClean="0"/>
              <a:t>1/28/2023</a:t>
            </a:fld>
            <a:endParaRPr lang="en-US"/>
          </a:p>
        </p:txBody>
      </p:sp>
      <p:sp>
        <p:nvSpPr>
          <p:cNvPr id="5" name="Footer Placeholder 4">
            <a:extLst>
              <a:ext uri="{FF2B5EF4-FFF2-40B4-BE49-F238E27FC236}">
                <a16:creationId xmlns:a16="http://schemas.microsoft.com/office/drawing/2014/main" id="{B217BF77-16F7-6BDE-095D-C51986DCA5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3CBF1A-C009-40CB-880B-62F7748FF027}"/>
              </a:ext>
            </a:extLst>
          </p:cNvPr>
          <p:cNvSpPr>
            <a:spLocks noGrp="1"/>
          </p:cNvSpPr>
          <p:nvPr>
            <p:ph type="sldNum" sz="quarter" idx="12"/>
          </p:nvPr>
        </p:nvSpPr>
        <p:spPr/>
        <p:txBody>
          <a:bodyPr/>
          <a:lstStyle/>
          <a:p>
            <a:fld id="{D8D22E78-F8D0-499D-A69F-76ECB0E0D898}" type="slidenum">
              <a:rPr lang="en-US" smtClean="0"/>
              <a:t>‹#›</a:t>
            </a:fld>
            <a:endParaRPr lang="en-US"/>
          </a:p>
        </p:txBody>
      </p:sp>
    </p:spTree>
    <p:extLst>
      <p:ext uri="{BB962C8B-B14F-4D97-AF65-F5344CB8AC3E}">
        <p14:creationId xmlns:p14="http://schemas.microsoft.com/office/powerpoint/2010/main" val="3432164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9A015-F949-E8DE-3709-0C143FD9E2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62BC56-58F8-CED7-366A-AE1B83880E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240B9A-6268-5B57-AD9B-C3E64E0F30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013A04A-AA21-3570-1CD5-89A721B5506B}"/>
              </a:ext>
            </a:extLst>
          </p:cNvPr>
          <p:cNvSpPr>
            <a:spLocks noGrp="1"/>
          </p:cNvSpPr>
          <p:nvPr>
            <p:ph type="dt" sz="half" idx="10"/>
          </p:nvPr>
        </p:nvSpPr>
        <p:spPr/>
        <p:txBody>
          <a:bodyPr/>
          <a:lstStyle/>
          <a:p>
            <a:fld id="{AAAF001E-B2DD-4179-A753-D0CF0809F32B}" type="datetimeFigureOut">
              <a:rPr lang="en-US" smtClean="0"/>
              <a:t>1/28/2023</a:t>
            </a:fld>
            <a:endParaRPr lang="en-US"/>
          </a:p>
        </p:txBody>
      </p:sp>
      <p:sp>
        <p:nvSpPr>
          <p:cNvPr id="6" name="Footer Placeholder 5">
            <a:extLst>
              <a:ext uri="{FF2B5EF4-FFF2-40B4-BE49-F238E27FC236}">
                <a16:creationId xmlns:a16="http://schemas.microsoft.com/office/drawing/2014/main" id="{22C2E1C5-A542-968D-3124-7B2AC16693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079EF6-A8D2-947E-099D-669C4B10CD3A}"/>
              </a:ext>
            </a:extLst>
          </p:cNvPr>
          <p:cNvSpPr>
            <a:spLocks noGrp="1"/>
          </p:cNvSpPr>
          <p:nvPr>
            <p:ph type="sldNum" sz="quarter" idx="12"/>
          </p:nvPr>
        </p:nvSpPr>
        <p:spPr/>
        <p:txBody>
          <a:bodyPr/>
          <a:lstStyle/>
          <a:p>
            <a:fld id="{D8D22E78-F8D0-499D-A69F-76ECB0E0D898}" type="slidenum">
              <a:rPr lang="en-US" smtClean="0"/>
              <a:t>‹#›</a:t>
            </a:fld>
            <a:endParaRPr lang="en-US"/>
          </a:p>
        </p:txBody>
      </p:sp>
    </p:spTree>
    <p:extLst>
      <p:ext uri="{BB962C8B-B14F-4D97-AF65-F5344CB8AC3E}">
        <p14:creationId xmlns:p14="http://schemas.microsoft.com/office/powerpoint/2010/main" val="3740529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21863-7C2C-411A-63D9-D49932FCF9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8A66B8-1E7B-EFEB-F390-BED7EAFFC6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62F2A4-71DF-EBF9-ADB4-BB5F6372DF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337D69-2B6A-0F8A-2D9C-1936ED6BE1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7738EF-495E-5295-4C77-7C6618E787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6F0959-0203-7B14-6D2D-ACDA5AE39CE8}"/>
              </a:ext>
            </a:extLst>
          </p:cNvPr>
          <p:cNvSpPr>
            <a:spLocks noGrp="1"/>
          </p:cNvSpPr>
          <p:nvPr>
            <p:ph type="dt" sz="half" idx="10"/>
          </p:nvPr>
        </p:nvSpPr>
        <p:spPr/>
        <p:txBody>
          <a:bodyPr/>
          <a:lstStyle/>
          <a:p>
            <a:fld id="{AAAF001E-B2DD-4179-A753-D0CF0809F32B}" type="datetimeFigureOut">
              <a:rPr lang="en-US" smtClean="0"/>
              <a:t>1/28/2023</a:t>
            </a:fld>
            <a:endParaRPr lang="en-US"/>
          </a:p>
        </p:txBody>
      </p:sp>
      <p:sp>
        <p:nvSpPr>
          <p:cNvPr id="8" name="Footer Placeholder 7">
            <a:extLst>
              <a:ext uri="{FF2B5EF4-FFF2-40B4-BE49-F238E27FC236}">
                <a16:creationId xmlns:a16="http://schemas.microsoft.com/office/drawing/2014/main" id="{2C0F9EB5-30D1-567A-1EDB-DE5B79F835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F5D785-0309-84A8-EC66-B620371E724F}"/>
              </a:ext>
            </a:extLst>
          </p:cNvPr>
          <p:cNvSpPr>
            <a:spLocks noGrp="1"/>
          </p:cNvSpPr>
          <p:nvPr>
            <p:ph type="sldNum" sz="quarter" idx="12"/>
          </p:nvPr>
        </p:nvSpPr>
        <p:spPr/>
        <p:txBody>
          <a:bodyPr/>
          <a:lstStyle/>
          <a:p>
            <a:fld id="{D8D22E78-F8D0-499D-A69F-76ECB0E0D898}" type="slidenum">
              <a:rPr lang="en-US" smtClean="0"/>
              <a:t>‹#›</a:t>
            </a:fld>
            <a:endParaRPr lang="en-US"/>
          </a:p>
        </p:txBody>
      </p:sp>
    </p:spTree>
    <p:extLst>
      <p:ext uri="{BB962C8B-B14F-4D97-AF65-F5344CB8AC3E}">
        <p14:creationId xmlns:p14="http://schemas.microsoft.com/office/powerpoint/2010/main" val="2168188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6C040-11B0-F9A7-7EAD-7472BC294F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5BDF63-A595-B029-87BD-1FC6576432C4}"/>
              </a:ext>
            </a:extLst>
          </p:cNvPr>
          <p:cNvSpPr>
            <a:spLocks noGrp="1"/>
          </p:cNvSpPr>
          <p:nvPr>
            <p:ph type="dt" sz="half" idx="10"/>
          </p:nvPr>
        </p:nvSpPr>
        <p:spPr/>
        <p:txBody>
          <a:bodyPr/>
          <a:lstStyle/>
          <a:p>
            <a:fld id="{AAAF001E-B2DD-4179-A753-D0CF0809F32B}" type="datetimeFigureOut">
              <a:rPr lang="en-US" smtClean="0"/>
              <a:t>1/28/2023</a:t>
            </a:fld>
            <a:endParaRPr lang="en-US"/>
          </a:p>
        </p:txBody>
      </p:sp>
      <p:sp>
        <p:nvSpPr>
          <p:cNvPr id="4" name="Footer Placeholder 3">
            <a:extLst>
              <a:ext uri="{FF2B5EF4-FFF2-40B4-BE49-F238E27FC236}">
                <a16:creationId xmlns:a16="http://schemas.microsoft.com/office/drawing/2014/main" id="{1775B6D4-79E3-3F5A-3624-1269ADB5D8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3F96AD-F29A-0D50-2185-4471B408D0A3}"/>
              </a:ext>
            </a:extLst>
          </p:cNvPr>
          <p:cNvSpPr>
            <a:spLocks noGrp="1"/>
          </p:cNvSpPr>
          <p:nvPr>
            <p:ph type="sldNum" sz="quarter" idx="12"/>
          </p:nvPr>
        </p:nvSpPr>
        <p:spPr/>
        <p:txBody>
          <a:bodyPr/>
          <a:lstStyle/>
          <a:p>
            <a:fld id="{D8D22E78-F8D0-499D-A69F-76ECB0E0D898}" type="slidenum">
              <a:rPr lang="en-US" smtClean="0"/>
              <a:t>‹#›</a:t>
            </a:fld>
            <a:endParaRPr lang="en-US"/>
          </a:p>
        </p:txBody>
      </p:sp>
    </p:spTree>
    <p:extLst>
      <p:ext uri="{BB962C8B-B14F-4D97-AF65-F5344CB8AC3E}">
        <p14:creationId xmlns:p14="http://schemas.microsoft.com/office/powerpoint/2010/main" val="1403770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C144A3-BED1-81DE-91EF-C32D8A198835}"/>
              </a:ext>
            </a:extLst>
          </p:cNvPr>
          <p:cNvSpPr>
            <a:spLocks noGrp="1"/>
          </p:cNvSpPr>
          <p:nvPr>
            <p:ph type="dt" sz="half" idx="10"/>
          </p:nvPr>
        </p:nvSpPr>
        <p:spPr/>
        <p:txBody>
          <a:bodyPr/>
          <a:lstStyle/>
          <a:p>
            <a:fld id="{AAAF001E-B2DD-4179-A753-D0CF0809F32B}" type="datetimeFigureOut">
              <a:rPr lang="en-US" smtClean="0"/>
              <a:t>1/28/2023</a:t>
            </a:fld>
            <a:endParaRPr lang="en-US"/>
          </a:p>
        </p:txBody>
      </p:sp>
      <p:sp>
        <p:nvSpPr>
          <p:cNvPr id="3" name="Footer Placeholder 2">
            <a:extLst>
              <a:ext uri="{FF2B5EF4-FFF2-40B4-BE49-F238E27FC236}">
                <a16:creationId xmlns:a16="http://schemas.microsoft.com/office/drawing/2014/main" id="{DC6C6BFB-37BE-DB7A-6E4B-E69457963A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79B9E7-A129-0A1F-6AC1-0A66BF043730}"/>
              </a:ext>
            </a:extLst>
          </p:cNvPr>
          <p:cNvSpPr>
            <a:spLocks noGrp="1"/>
          </p:cNvSpPr>
          <p:nvPr>
            <p:ph type="sldNum" sz="quarter" idx="12"/>
          </p:nvPr>
        </p:nvSpPr>
        <p:spPr/>
        <p:txBody>
          <a:bodyPr/>
          <a:lstStyle/>
          <a:p>
            <a:fld id="{D8D22E78-F8D0-499D-A69F-76ECB0E0D898}" type="slidenum">
              <a:rPr lang="en-US" smtClean="0"/>
              <a:t>‹#›</a:t>
            </a:fld>
            <a:endParaRPr lang="en-US"/>
          </a:p>
        </p:txBody>
      </p:sp>
    </p:spTree>
    <p:extLst>
      <p:ext uri="{BB962C8B-B14F-4D97-AF65-F5344CB8AC3E}">
        <p14:creationId xmlns:p14="http://schemas.microsoft.com/office/powerpoint/2010/main" val="2063833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4B4FC-9892-C610-907A-A6F599DA3E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615426-AD16-E4DE-EFCF-14B3DFB0FD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0EC685-3CD0-13AB-7838-740EF61647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CF7206-C7BB-3CD6-2202-BA488F096D2C}"/>
              </a:ext>
            </a:extLst>
          </p:cNvPr>
          <p:cNvSpPr>
            <a:spLocks noGrp="1"/>
          </p:cNvSpPr>
          <p:nvPr>
            <p:ph type="dt" sz="half" idx="10"/>
          </p:nvPr>
        </p:nvSpPr>
        <p:spPr/>
        <p:txBody>
          <a:bodyPr/>
          <a:lstStyle/>
          <a:p>
            <a:fld id="{AAAF001E-B2DD-4179-A753-D0CF0809F32B}" type="datetimeFigureOut">
              <a:rPr lang="en-US" smtClean="0"/>
              <a:t>1/28/2023</a:t>
            </a:fld>
            <a:endParaRPr lang="en-US"/>
          </a:p>
        </p:txBody>
      </p:sp>
      <p:sp>
        <p:nvSpPr>
          <p:cNvPr id="6" name="Footer Placeholder 5">
            <a:extLst>
              <a:ext uri="{FF2B5EF4-FFF2-40B4-BE49-F238E27FC236}">
                <a16:creationId xmlns:a16="http://schemas.microsoft.com/office/drawing/2014/main" id="{7E08D03B-19F9-F3CF-500C-0397903E22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3E6BFC-B1FC-0E7F-5D8F-2152FB7647BF}"/>
              </a:ext>
            </a:extLst>
          </p:cNvPr>
          <p:cNvSpPr>
            <a:spLocks noGrp="1"/>
          </p:cNvSpPr>
          <p:nvPr>
            <p:ph type="sldNum" sz="quarter" idx="12"/>
          </p:nvPr>
        </p:nvSpPr>
        <p:spPr/>
        <p:txBody>
          <a:bodyPr/>
          <a:lstStyle/>
          <a:p>
            <a:fld id="{D8D22E78-F8D0-499D-A69F-76ECB0E0D898}" type="slidenum">
              <a:rPr lang="en-US" smtClean="0"/>
              <a:t>‹#›</a:t>
            </a:fld>
            <a:endParaRPr lang="en-US"/>
          </a:p>
        </p:txBody>
      </p:sp>
    </p:spTree>
    <p:extLst>
      <p:ext uri="{BB962C8B-B14F-4D97-AF65-F5344CB8AC3E}">
        <p14:creationId xmlns:p14="http://schemas.microsoft.com/office/powerpoint/2010/main" val="3731112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8DFE7-83F3-CFB6-86C4-7CA346723C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567C0B-D287-63EF-174B-029134F282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C962A2-4A3F-6448-790A-CB20913A3F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5B991A-47F2-3EEE-3107-1E51A3D10533}"/>
              </a:ext>
            </a:extLst>
          </p:cNvPr>
          <p:cNvSpPr>
            <a:spLocks noGrp="1"/>
          </p:cNvSpPr>
          <p:nvPr>
            <p:ph type="dt" sz="half" idx="10"/>
          </p:nvPr>
        </p:nvSpPr>
        <p:spPr/>
        <p:txBody>
          <a:bodyPr/>
          <a:lstStyle/>
          <a:p>
            <a:fld id="{AAAF001E-B2DD-4179-A753-D0CF0809F32B}" type="datetimeFigureOut">
              <a:rPr lang="en-US" smtClean="0"/>
              <a:t>1/28/2023</a:t>
            </a:fld>
            <a:endParaRPr lang="en-US"/>
          </a:p>
        </p:txBody>
      </p:sp>
      <p:sp>
        <p:nvSpPr>
          <p:cNvPr id="6" name="Footer Placeholder 5">
            <a:extLst>
              <a:ext uri="{FF2B5EF4-FFF2-40B4-BE49-F238E27FC236}">
                <a16:creationId xmlns:a16="http://schemas.microsoft.com/office/drawing/2014/main" id="{CDBB2A47-A9ED-468B-F8FB-12FC863FE5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363D76-4892-40FA-B1CE-5B3E63E9B145}"/>
              </a:ext>
            </a:extLst>
          </p:cNvPr>
          <p:cNvSpPr>
            <a:spLocks noGrp="1"/>
          </p:cNvSpPr>
          <p:nvPr>
            <p:ph type="sldNum" sz="quarter" idx="12"/>
          </p:nvPr>
        </p:nvSpPr>
        <p:spPr/>
        <p:txBody>
          <a:bodyPr/>
          <a:lstStyle/>
          <a:p>
            <a:fld id="{D8D22E78-F8D0-499D-A69F-76ECB0E0D898}" type="slidenum">
              <a:rPr lang="en-US" smtClean="0"/>
              <a:t>‹#›</a:t>
            </a:fld>
            <a:endParaRPr lang="en-US"/>
          </a:p>
        </p:txBody>
      </p:sp>
    </p:spTree>
    <p:extLst>
      <p:ext uri="{BB962C8B-B14F-4D97-AF65-F5344CB8AC3E}">
        <p14:creationId xmlns:p14="http://schemas.microsoft.com/office/powerpoint/2010/main" val="2728471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BCBB3-E3B2-9371-620B-E35126954E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80E225-608A-EF3C-97AE-1A2DD48B04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1C8A8D-420C-D727-741F-C7A8976A2322}"/>
              </a:ext>
            </a:extLst>
          </p:cNvPr>
          <p:cNvSpPr>
            <a:spLocks noGrp="1"/>
          </p:cNvSpPr>
          <p:nvPr>
            <p:ph type="dt" sz="half" idx="10"/>
          </p:nvPr>
        </p:nvSpPr>
        <p:spPr/>
        <p:txBody>
          <a:bodyPr/>
          <a:lstStyle/>
          <a:p>
            <a:fld id="{AAAF001E-B2DD-4179-A753-D0CF0809F32B}" type="datetimeFigureOut">
              <a:rPr lang="en-US" smtClean="0"/>
              <a:t>1/28/2023</a:t>
            </a:fld>
            <a:endParaRPr lang="en-US"/>
          </a:p>
        </p:txBody>
      </p:sp>
      <p:sp>
        <p:nvSpPr>
          <p:cNvPr id="5" name="Footer Placeholder 4">
            <a:extLst>
              <a:ext uri="{FF2B5EF4-FFF2-40B4-BE49-F238E27FC236}">
                <a16:creationId xmlns:a16="http://schemas.microsoft.com/office/drawing/2014/main" id="{47230520-A6CD-9071-217C-579365BE1D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A9573-CFA9-2AB8-9300-454AA7E6D551}"/>
              </a:ext>
            </a:extLst>
          </p:cNvPr>
          <p:cNvSpPr>
            <a:spLocks noGrp="1"/>
          </p:cNvSpPr>
          <p:nvPr>
            <p:ph type="sldNum" sz="quarter" idx="12"/>
          </p:nvPr>
        </p:nvSpPr>
        <p:spPr/>
        <p:txBody>
          <a:bodyPr/>
          <a:lstStyle/>
          <a:p>
            <a:fld id="{D8D22E78-F8D0-499D-A69F-76ECB0E0D898}" type="slidenum">
              <a:rPr lang="en-US" smtClean="0"/>
              <a:t>‹#›</a:t>
            </a:fld>
            <a:endParaRPr lang="en-US"/>
          </a:p>
        </p:txBody>
      </p:sp>
    </p:spTree>
    <p:extLst>
      <p:ext uri="{BB962C8B-B14F-4D97-AF65-F5344CB8AC3E}">
        <p14:creationId xmlns:p14="http://schemas.microsoft.com/office/powerpoint/2010/main" val="3864021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BEFE98-5AD1-A728-624E-74431DE981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C26CC8-0D4A-BC3B-A340-A55FA559F8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962EFF-B4F4-A5FE-8E4A-9801BE171B2E}"/>
              </a:ext>
            </a:extLst>
          </p:cNvPr>
          <p:cNvSpPr>
            <a:spLocks noGrp="1"/>
          </p:cNvSpPr>
          <p:nvPr>
            <p:ph type="dt" sz="half" idx="10"/>
          </p:nvPr>
        </p:nvSpPr>
        <p:spPr/>
        <p:txBody>
          <a:bodyPr/>
          <a:lstStyle/>
          <a:p>
            <a:fld id="{AAAF001E-B2DD-4179-A753-D0CF0809F32B}" type="datetimeFigureOut">
              <a:rPr lang="en-US" smtClean="0"/>
              <a:t>1/28/2023</a:t>
            </a:fld>
            <a:endParaRPr lang="en-US"/>
          </a:p>
        </p:txBody>
      </p:sp>
      <p:sp>
        <p:nvSpPr>
          <p:cNvPr id="5" name="Footer Placeholder 4">
            <a:extLst>
              <a:ext uri="{FF2B5EF4-FFF2-40B4-BE49-F238E27FC236}">
                <a16:creationId xmlns:a16="http://schemas.microsoft.com/office/drawing/2014/main" id="{FC96DBD7-E9A4-1989-C119-ACBA8D051A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0F9BCC-43FE-F4B2-6870-A231FF040F35}"/>
              </a:ext>
            </a:extLst>
          </p:cNvPr>
          <p:cNvSpPr>
            <a:spLocks noGrp="1"/>
          </p:cNvSpPr>
          <p:nvPr>
            <p:ph type="sldNum" sz="quarter" idx="12"/>
          </p:nvPr>
        </p:nvSpPr>
        <p:spPr/>
        <p:txBody>
          <a:bodyPr/>
          <a:lstStyle/>
          <a:p>
            <a:fld id="{D8D22E78-F8D0-499D-A69F-76ECB0E0D898}" type="slidenum">
              <a:rPr lang="en-US" smtClean="0"/>
              <a:t>‹#›</a:t>
            </a:fld>
            <a:endParaRPr lang="en-US"/>
          </a:p>
        </p:txBody>
      </p:sp>
    </p:spTree>
    <p:extLst>
      <p:ext uri="{BB962C8B-B14F-4D97-AF65-F5344CB8AC3E}">
        <p14:creationId xmlns:p14="http://schemas.microsoft.com/office/powerpoint/2010/main" val="1233274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609600"/>
          </a:xfrm>
        </p:spPr>
        <p:txBody>
          <a:bodyPr/>
          <a:lstStyle>
            <a:lvl1pPr>
              <a:defRPr b="1">
                <a:solidFill>
                  <a:srgbClr val="003366"/>
                </a:solidFill>
              </a:defRPr>
            </a:lvl1pPr>
          </a:lstStyle>
          <a:p>
            <a:r>
              <a:rPr lang="en-US" dirty="0"/>
              <a:t>Click to edit Master title style</a:t>
            </a:r>
            <a:endParaRPr lang="en-GB" dirty="0"/>
          </a:p>
        </p:txBody>
      </p:sp>
      <p:sp>
        <p:nvSpPr>
          <p:cNvPr id="4" name="Text Placeholder 2"/>
          <p:cNvSpPr>
            <a:spLocks noGrp="1"/>
          </p:cNvSpPr>
          <p:nvPr>
            <p:ph idx="1"/>
          </p:nvPr>
        </p:nvSpPr>
        <p:spPr bwMode="auto">
          <a:xfrm>
            <a:off x="609600" y="838200"/>
            <a:ext cx="10972800" cy="5562600"/>
          </a:xfrm>
          <a:prstGeom prst="rect">
            <a:avLst/>
          </a:prstGeom>
          <a:noFill/>
          <a:ln w="9525">
            <a:noFill/>
            <a:miter lim="800000"/>
            <a:headEnd/>
            <a:tailEnd/>
          </a:ln>
        </p:spPr>
        <p:txBody>
          <a:bodyPr/>
          <a:lstStyle>
            <a:lvl1pPr algn="l" rtl="0" eaLnBrk="0" fontAlgn="base" hangingPunct="0">
              <a:spcBef>
                <a:spcPts val="400"/>
              </a:spcBef>
              <a:spcAft>
                <a:spcPts val="400"/>
              </a:spcAft>
              <a:buClr>
                <a:srgbClr val="003399"/>
              </a:buClr>
              <a:buFont typeface="Arial" charset="0"/>
              <a:defRPr lang="en-US" sz="2000" kern="1200" dirty="0" smtClean="0">
                <a:solidFill>
                  <a:schemeClr val="tx1"/>
                </a:solidFill>
                <a:latin typeface="Arial" pitchFamily="34" charset="0"/>
                <a:ea typeface="+mn-ea"/>
                <a:cs typeface="Arial" pitchFamily="34" charset="0"/>
              </a:defRPr>
            </a:lvl1pPr>
            <a:lvl2pPr algn="l" rtl="0" eaLnBrk="0" fontAlgn="base" hangingPunct="0">
              <a:spcBef>
                <a:spcPts val="400"/>
              </a:spcBef>
              <a:spcAft>
                <a:spcPts val="400"/>
              </a:spcAft>
              <a:buClr>
                <a:srgbClr val="003399"/>
              </a:buClr>
              <a:buFont typeface="Arial" charset="0"/>
              <a:defRPr lang="en-US" sz="1800" kern="1200" dirty="0" smtClean="0">
                <a:solidFill>
                  <a:schemeClr val="tx1"/>
                </a:solidFill>
                <a:latin typeface="Arial" pitchFamily="34" charset="0"/>
                <a:ea typeface="+mn-ea"/>
                <a:cs typeface="Arial" pitchFamily="34" charset="0"/>
              </a:defRPr>
            </a:lvl2pPr>
            <a:lvl3pPr algn="l" rtl="0" eaLnBrk="0" fontAlgn="base" hangingPunct="0">
              <a:spcBef>
                <a:spcPts val="400"/>
              </a:spcBef>
              <a:spcAft>
                <a:spcPts val="400"/>
              </a:spcAft>
              <a:buClr>
                <a:srgbClr val="003399"/>
              </a:buClr>
              <a:buFont typeface="Arial" charset="0"/>
              <a:defRPr lang="en-US" sz="1600" kern="1200" dirty="0" smtClean="0">
                <a:solidFill>
                  <a:schemeClr val="tx1"/>
                </a:solidFill>
                <a:latin typeface="Arial" pitchFamily="34" charset="0"/>
                <a:ea typeface="+mn-ea"/>
                <a:cs typeface="Arial" pitchFamily="34" charset="0"/>
              </a:defRPr>
            </a:lvl3pPr>
            <a:lvl4pPr algn="l" rtl="0" eaLnBrk="0" fontAlgn="base" hangingPunct="0">
              <a:spcBef>
                <a:spcPts val="400"/>
              </a:spcBef>
              <a:spcAft>
                <a:spcPts val="400"/>
              </a:spcAft>
              <a:buClr>
                <a:srgbClr val="003399"/>
              </a:buClr>
              <a:buFont typeface="Arial" charset="0"/>
              <a:defRPr lang="en-US" sz="1400" kern="1200" dirty="0" smtClean="0">
                <a:solidFill>
                  <a:schemeClr val="tx1"/>
                </a:solidFill>
                <a:latin typeface="Arial" pitchFamily="34" charset="0"/>
                <a:ea typeface="+mn-ea"/>
                <a:cs typeface="Arial" pitchFamily="34" charset="0"/>
              </a:defRPr>
            </a:lvl4pPr>
            <a:lvl5pPr algn="l" rtl="0" eaLnBrk="0" fontAlgn="base" hangingPunct="0">
              <a:spcBef>
                <a:spcPts val="400"/>
              </a:spcBef>
              <a:spcAft>
                <a:spcPts val="400"/>
              </a:spcAft>
              <a:buClr>
                <a:srgbClr val="003399"/>
              </a:buClr>
              <a:buFont typeface="Arial" charset="0"/>
              <a:defRPr lang="en-GB" sz="1200" kern="1200" dirty="0" smtClean="0">
                <a:solidFill>
                  <a:schemeClr val="tx1"/>
                </a:solidFill>
                <a:latin typeface="Arial" pitchFamily="34" charset="0"/>
                <a:ea typeface="+mn-ea"/>
                <a:cs typeface="Arial"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5" name="Slide Number Placeholder 21"/>
          <p:cNvSpPr>
            <a:spLocks noGrp="1"/>
          </p:cNvSpPr>
          <p:nvPr>
            <p:ph type="sldNum" sz="quarter" idx="10"/>
          </p:nvPr>
        </p:nvSpPr>
        <p:spPr/>
        <p:txBody>
          <a:bodyPr/>
          <a:lstStyle>
            <a:lvl1pPr>
              <a:defRPr/>
            </a:lvl1pPr>
          </a:lstStyle>
          <a:p>
            <a:pPr>
              <a:defRPr/>
            </a:pPr>
            <a:fld id="{5B63A66B-EE15-46FA-9D93-0167F4A3A1CE}" type="slidenum">
              <a:rPr lang="en-GB"/>
              <a:pPr>
                <a:defRPr/>
              </a:pPr>
              <a:t>‹#›</a:t>
            </a:fld>
            <a:endParaRPr lang="en-GB"/>
          </a:p>
        </p:txBody>
      </p:sp>
      <p:sp>
        <p:nvSpPr>
          <p:cNvPr id="7" name="Rectangle 13"/>
          <p:cNvSpPr>
            <a:spLocks noGrp="1" noChangeArrowheads="1"/>
          </p:cNvSpPr>
          <p:nvPr>
            <p:ph type="ftr" sz="quarter" idx="12"/>
          </p:nvPr>
        </p:nvSpPr>
        <p:spPr>
          <a:ln/>
        </p:spPr>
        <p:txBody>
          <a:bodyPr/>
          <a:lstStyle>
            <a:lvl1pPr>
              <a:defRPr/>
            </a:lvl1pPr>
          </a:lstStyle>
          <a:p>
            <a:pPr>
              <a:defRPr/>
            </a:pPr>
            <a:r>
              <a:rPr lang="en-US" dirty="0"/>
              <a:t>Foundation Certificate Course</a:t>
            </a:r>
            <a:endParaRPr lang="en-GB" dirty="0"/>
          </a:p>
        </p:txBody>
      </p:sp>
      <p:sp>
        <p:nvSpPr>
          <p:cNvPr id="8" name="Date Placeholder 8"/>
          <p:cNvSpPr>
            <a:spLocks noGrp="1" noChangeArrowheads="1"/>
          </p:cNvSpPr>
          <p:nvPr>
            <p:ph type="dt" sz="half" idx="2"/>
          </p:nvPr>
        </p:nvSpPr>
        <p:spPr bwMode="auto">
          <a:xfrm>
            <a:off x="406400" y="6553200"/>
            <a:ext cx="28448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Autofit/>
          </a:bodyPr>
          <a:lstStyle>
            <a:lvl1pPr>
              <a:defRPr sz="1400">
                <a:cs typeface="Arial" charset="0"/>
              </a:defRPr>
            </a:lvl1pPr>
          </a:lstStyle>
          <a:p>
            <a:pPr>
              <a:defRPr/>
            </a:pPr>
            <a:r>
              <a:rPr lang="en-GB" dirty="0"/>
              <a:t>© </a:t>
            </a:r>
            <a:r>
              <a:rPr lang="en-GB" sz="1200" dirty="0">
                <a:latin typeface="Times New Roman" pitchFamily="18" charset="0"/>
              </a:rPr>
              <a:t>IIT 2018/19 – SS</a:t>
            </a:r>
          </a:p>
        </p:txBody>
      </p:sp>
    </p:spTree>
    <p:extLst>
      <p:ext uri="{BB962C8B-B14F-4D97-AF65-F5344CB8AC3E}">
        <p14:creationId xmlns:p14="http://schemas.microsoft.com/office/powerpoint/2010/main" val="25694148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wo Pictures with Captions">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5" y="1716"/>
            <a:ext cx="12188952" cy="6856284"/>
          </a:xfrm>
          <a:prstGeom prst="rect">
            <a:avLst/>
          </a:prstGeom>
        </p:spPr>
      </p:pic>
      <p:sp>
        <p:nvSpPr>
          <p:cNvPr id="2" name="Title 1"/>
          <p:cNvSpPr>
            <a:spLocks noGrp="1"/>
          </p:cNvSpPr>
          <p:nvPr>
            <p:ph type="title"/>
          </p:nvPr>
        </p:nvSpPr>
        <p:spPr>
          <a:xfrm>
            <a:off x="1028580" y="5791200"/>
            <a:ext cx="8115419" cy="701674"/>
          </a:xfrm>
        </p:spPr>
        <p:txBody>
          <a:bodyPr vert="horz" lIns="91440" tIns="45720" rIns="91440" bIns="45720" rtlCol="0" anchor="b">
            <a:normAutofit/>
          </a:bodyPr>
          <a:lstStyle>
            <a:lvl1pPr>
              <a:defRPr lang="en-US" sz="2400">
                <a:solidFill>
                  <a:schemeClr val="accent1"/>
                </a:solidFill>
              </a:defRPr>
            </a:lvl1pPr>
          </a:lstStyle>
          <a:p>
            <a:pPr lvl="0"/>
            <a:r>
              <a:rPr lang="en-US"/>
              <a:t>Click to edit Master title style</a:t>
            </a:r>
            <a:endParaRPr lang="en-US" dirty="0"/>
          </a:p>
        </p:txBody>
      </p:sp>
      <p:sp>
        <p:nvSpPr>
          <p:cNvPr id="7" name="Freeform 5"/>
          <p:cNvSpPr>
            <a:spLocks/>
          </p:cNvSpPr>
          <p:nvPr/>
        </p:nvSpPr>
        <p:spPr bwMode="gray">
          <a:xfrm>
            <a:off x="762000" y="933449"/>
            <a:ext cx="4114800" cy="4109465"/>
          </a:xfrm>
          <a:custGeom>
            <a:avLst/>
            <a:gdLst>
              <a:gd name="T0" fmla="*/ 870 w 933"/>
              <a:gd name="T1" fmla="*/ 64 h 1275"/>
              <a:gd name="T2" fmla="*/ 870 w 933"/>
              <a:gd name="T3" fmla="*/ 1213 h 1275"/>
              <a:gd name="T4" fmla="*/ 61 w 933"/>
              <a:gd name="T5" fmla="*/ 1213 h 1275"/>
              <a:gd name="T6" fmla="*/ 61 w 933"/>
              <a:gd name="T7" fmla="*/ 64 h 1275"/>
              <a:gd name="T8" fmla="*/ 870 w 933"/>
              <a:gd name="T9" fmla="*/ 64 h 1275"/>
            </a:gdLst>
            <a:ahLst/>
            <a:cxnLst>
              <a:cxn ang="0">
                <a:pos x="T0" y="T1"/>
              </a:cxn>
              <a:cxn ang="0">
                <a:pos x="T2" y="T3"/>
              </a:cxn>
              <a:cxn ang="0">
                <a:pos x="T4" y="T5"/>
              </a:cxn>
              <a:cxn ang="0">
                <a:pos x="T6" y="T7"/>
              </a:cxn>
              <a:cxn ang="0">
                <a:pos x="T8" y="T9"/>
              </a:cxn>
            </a:cxnLst>
            <a:rect l="0" t="0" r="r" b="b"/>
            <a:pathLst>
              <a:path w="933" h="1275">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effectLst>
            <a:outerShdw blurRad="317500" dist="63500" dir="2700000" algn="tl" rotWithShape="0">
              <a:prstClr val="black">
                <a:alpha val="3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15" name="Picture Placeholder 14" descr="An empty placeholder to add an image. Click on the placeholder and select the image that you wish to add"/>
          <p:cNvSpPr>
            <a:spLocks noGrp="1"/>
          </p:cNvSpPr>
          <p:nvPr>
            <p:ph type="pic" sz="quarter" idx="13"/>
          </p:nvPr>
        </p:nvSpPr>
        <p:spPr>
          <a:xfrm>
            <a:off x="992435" y="1113022"/>
            <a:ext cx="3638453" cy="3750319"/>
          </a:xfrm>
          <a:custGeom>
            <a:avLst/>
            <a:gdLst>
              <a:gd name="connsiteX0" fmla="*/ 1744346 w 3503695"/>
              <a:gd name="connsiteY0" fmla="*/ 62 h 4031418"/>
              <a:gd name="connsiteX1" fmla="*/ 3334838 w 3503695"/>
              <a:gd name="connsiteY1" fmla="*/ 150223 h 4031418"/>
              <a:gd name="connsiteX2" fmla="*/ 3334838 w 3503695"/>
              <a:gd name="connsiteY2" fmla="*/ 3890810 h 4031418"/>
              <a:gd name="connsiteX3" fmla="*/ 174362 w 3503695"/>
              <a:gd name="connsiteY3" fmla="*/ 3890810 h 4031418"/>
              <a:gd name="connsiteX4" fmla="*/ 174362 w 3503695"/>
              <a:gd name="connsiteY4" fmla="*/ 150223 h 4031418"/>
              <a:gd name="connsiteX5" fmla="*/ 1744346 w 3503695"/>
              <a:gd name="connsiteY5" fmla="*/ 62 h 4031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3695" h="4031418">
                <a:moveTo>
                  <a:pt x="1744346" y="62"/>
                </a:moveTo>
                <a:cubicBezTo>
                  <a:pt x="2475376" y="-1972"/>
                  <a:pt x="3209826" y="46047"/>
                  <a:pt x="3334838" y="150223"/>
                </a:cubicBezTo>
                <a:cubicBezTo>
                  <a:pt x="3580957" y="358576"/>
                  <a:pt x="3537984" y="3718268"/>
                  <a:pt x="3334838" y="3890810"/>
                </a:cubicBezTo>
                <a:cubicBezTo>
                  <a:pt x="3127786" y="4063352"/>
                  <a:pt x="408761" y="4092652"/>
                  <a:pt x="174362" y="3890810"/>
                </a:cubicBezTo>
                <a:cubicBezTo>
                  <a:pt x="-63943" y="3688968"/>
                  <a:pt x="-52223" y="342299"/>
                  <a:pt x="174362" y="150223"/>
                </a:cubicBezTo>
                <a:cubicBezTo>
                  <a:pt x="285702" y="54185"/>
                  <a:pt x="1013315" y="2097"/>
                  <a:pt x="1744346" y="62"/>
                </a:cubicBezTo>
                <a:close/>
              </a:path>
            </a:pathLst>
          </a:custGeom>
          <a:solidFill>
            <a:schemeClr val="accent2">
              <a:lumMod val="20000"/>
              <a:lumOff val="80000"/>
            </a:schemeClr>
          </a:solidFill>
        </p:spPr>
        <p:txBody>
          <a:bodyPr wrap="square" tIns="365760">
            <a:noAutofit/>
          </a:bodyPr>
          <a:lstStyle>
            <a:lvl1pPr marL="0" indent="0" algn="ctr">
              <a:buNone/>
              <a:defRPr/>
            </a:lvl1pPr>
          </a:lstStyle>
          <a:p>
            <a:r>
              <a:rPr lang="en-US"/>
              <a:t>Click icon to add picture</a:t>
            </a:r>
          </a:p>
        </p:txBody>
      </p:sp>
      <p:sp>
        <p:nvSpPr>
          <p:cNvPr id="17" name="Text Placeholder 16"/>
          <p:cNvSpPr>
            <a:spLocks noGrp="1"/>
          </p:cNvSpPr>
          <p:nvPr>
            <p:ph type="body" sz="quarter" idx="14"/>
          </p:nvPr>
        </p:nvSpPr>
        <p:spPr>
          <a:xfrm>
            <a:off x="1028581" y="5181600"/>
            <a:ext cx="3566160" cy="493776"/>
          </a:xfrm>
        </p:spPr>
        <p:txBody>
          <a:bodyPr>
            <a:normAutofit/>
          </a:bodyPr>
          <a:lstStyle>
            <a:lvl1pPr marL="0" indent="0">
              <a:buNone/>
              <a:defRPr sz="1800"/>
            </a:lvl1pPr>
            <a:lvl2pPr marL="0" indent="0">
              <a:spcBef>
                <a:spcPts val="1200"/>
              </a:spcBef>
              <a:buNone/>
              <a:defRPr sz="1800"/>
            </a:lvl2pPr>
            <a:lvl3pPr marL="0" indent="0">
              <a:spcBef>
                <a:spcPts val="1200"/>
              </a:spcBef>
              <a:buNone/>
              <a:defRPr sz="1800"/>
            </a:lvl3pPr>
            <a:lvl4pPr marL="0" indent="0">
              <a:spcBef>
                <a:spcPts val="1200"/>
              </a:spcBef>
              <a:buNone/>
              <a:defRPr sz="1800"/>
            </a:lvl4pPr>
            <a:lvl5pPr marL="0" indent="0">
              <a:spcBef>
                <a:spcPts val="1200"/>
              </a:spcBef>
              <a:buNone/>
              <a:defRPr sz="1800"/>
            </a:lvl5pPr>
          </a:lstStyle>
          <a:p>
            <a:pPr lvl="0"/>
            <a:r>
              <a:rPr lang="en-US"/>
              <a:t>Edit Master text styles</a:t>
            </a:r>
          </a:p>
        </p:txBody>
      </p:sp>
      <p:sp>
        <p:nvSpPr>
          <p:cNvPr id="18" name="Freeform 5"/>
          <p:cNvSpPr>
            <a:spLocks/>
          </p:cNvSpPr>
          <p:nvPr/>
        </p:nvSpPr>
        <p:spPr bwMode="gray">
          <a:xfrm>
            <a:off x="5300133" y="933449"/>
            <a:ext cx="4114800" cy="4109465"/>
          </a:xfrm>
          <a:custGeom>
            <a:avLst/>
            <a:gdLst>
              <a:gd name="T0" fmla="*/ 870 w 933"/>
              <a:gd name="T1" fmla="*/ 64 h 1275"/>
              <a:gd name="T2" fmla="*/ 870 w 933"/>
              <a:gd name="T3" fmla="*/ 1213 h 1275"/>
              <a:gd name="T4" fmla="*/ 61 w 933"/>
              <a:gd name="T5" fmla="*/ 1213 h 1275"/>
              <a:gd name="T6" fmla="*/ 61 w 933"/>
              <a:gd name="T7" fmla="*/ 64 h 1275"/>
              <a:gd name="T8" fmla="*/ 870 w 933"/>
              <a:gd name="T9" fmla="*/ 64 h 1275"/>
            </a:gdLst>
            <a:ahLst/>
            <a:cxnLst>
              <a:cxn ang="0">
                <a:pos x="T0" y="T1"/>
              </a:cxn>
              <a:cxn ang="0">
                <a:pos x="T2" y="T3"/>
              </a:cxn>
              <a:cxn ang="0">
                <a:pos x="T4" y="T5"/>
              </a:cxn>
              <a:cxn ang="0">
                <a:pos x="T6" y="T7"/>
              </a:cxn>
              <a:cxn ang="0">
                <a:pos x="T8" y="T9"/>
              </a:cxn>
            </a:cxnLst>
            <a:rect l="0" t="0" r="r" b="b"/>
            <a:pathLst>
              <a:path w="933" h="1275">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effectLst>
            <a:outerShdw blurRad="317500" dist="63500" dir="2700000" algn="tl" rotWithShape="0">
              <a:prstClr val="black">
                <a:alpha val="3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19" name="Picture Placeholder 18" descr="An empty placeholder to add an image. Click on the placeholder and select the image that you wish to add"/>
          <p:cNvSpPr>
            <a:spLocks noGrp="1"/>
          </p:cNvSpPr>
          <p:nvPr>
            <p:ph type="pic" sz="quarter" idx="15"/>
          </p:nvPr>
        </p:nvSpPr>
        <p:spPr>
          <a:xfrm>
            <a:off x="5530568" y="1113022"/>
            <a:ext cx="3638453" cy="3750319"/>
          </a:xfrm>
          <a:custGeom>
            <a:avLst/>
            <a:gdLst>
              <a:gd name="connsiteX0" fmla="*/ 1744346 w 3503695"/>
              <a:gd name="connsiteY0" fmla="*/ 62 h 4031418"/>
              <a:gd name="connsiteX1" fmla="*/ 3334838 w 3503695"/>
              <a:gd name="connsiteY1" fmla="*/ 150223 h 4031418"/>
              <a:gd name="connsiteX2" fmla="*/ 3334838 w 3503695"/>
              <a:gd name="connsiteY2" fmla="*/ 3890810 h 4031418"/>
              <a:gd name="connsiteX3" fmla="*/ 174362 w 3503695"/>
              <a:gd name="connsiteY3" fmla="*/ 3890810 h 4031418"/>
              <a:gd name="connsiteX4" fmla="*/ 174362 w 3503695"/>
              <a:gd name="connsiteY4" fmla="*/ 150223 h 4031418"/>
              <a:gd name="connsiteX5" fmla="*/ 1744346 w 3503695"/>
              <a:gd name="connsiteY5" fmla="*/ 62 h 4031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3695" h="4031418">
                <a:moveTo>
                  <a:pt x="1744346" y="62"/>
                </a:moveTo>
                <a:cubicBezTo>
                  <a:pt x="2475376" y="-1972"/>
                  <a:pt x="3209826" y="46047"/>
                  <a:pt x="3334838" y="150223"/>
                </a:cubicBezTo>
                <a:cubicBezTo>
                  <a:pt x="3580957" y="358576"/>
                  <a:pt x="3537984" y="3718268"/>
                  <a:pt x="3334838" y="3890810"/>
                </a:cubicBezTo>
                <a:cubicBezTo>
                  <a:pt x="3127786" y="4063352"/>
                  <a:pt x="408761" y="4092652"/>
                  <a:pt x="174362" y="3890810"/>
                </a:cubicBezTo>
                <a:cubicBezTo>
                  <a:pt x="-63943" y="3688968"/>
                  <a:pt x="-52223" y="342299"/>
                  <a:pt x="174362" y="150223"/>
                </a:cubicBezTo>
                <a:cubicBezTo>
                  <a:pt x="285702" y="54185"/>
                  <a:pt x="1013315" y="2097"/>
                  <a:pt x="1744346" y="62"/>
                </a:cubicBezTo>
                <a:close/>
              </a:path>
            </a:pathLst>
          </a:custGeom>
          <a:solidFill>
            <a:schemeClr val="accent2">
              <a:lumMod val="20000"/>
              <a:lumOff val="80000"/>
            </a:schemeClr>
          </a:solidFill>
        </p:spPr>
        <p:txBody>
          <a:bodyPr wrap="square" tIns="365760">
            <a:noAutofit/>
          </a:bodyPr>
          <a:lstStyle>
            <a:lvl1pPr marL="0" indent="0" algn="ctr">
              <a:buNone/>
              <a:defRPr/>
            </a:lvl1pPr>
          </a:lstStyle>
          <a:p>
            <a:r>
              <a:rPr lang="en-US"/>
              <a:t>Click icon to add picture</a:t>
            </a:r>
            <a:endParaRPr lang="en-US" dirty="0"/>
          </a:p>
        </p:txBody>
      </p:sp>
      <p:sp>
        <p:nvSpPr>
          <p:cNvPr id="20" name="Text Placeholder 16"/>
          <p:cNvSpPr>
            <a:spLocks noGrp="1"/>
          </p:cNvSpPr>
          <p:nvPr>
            <p:ph type="body" sz="quarter" idx="16"/>
          </p:nvPr>
        </p:nvSpPr>
        <p:spPr>
          <a:xfrm>
            <a:off x="5566714" y="5181600"/>
            <a:ext cx="3566160" cy="493776"/>
          </a:xfrm>
        </p:spPr>
        <p:txBody>
          <a:bodyPr>
            <a:normAutofit/>
          </a:bodyPr>
          <a:lstStyle>
            <a:lvl1pPr marL="0" indent="0">
              <a:buNone/>
              <a:defRPr sz="1800"/>
            </a:lvl1pPr>
            <a:lvl2pPr marL="0" indent="0">
              <a:spcBef>
                <a:spcPts val="1200"/>
              </a:spcBef>
              <a:buNone/>
              <a:defRPr sz="1800"/>
            </a:lvl2pPr>
            <a:lvl3pPr marL="0" indent="0">
              <a:spcBef>
                <a:spcPts val="1200"/>
              </a:spcBef>
              <a:buNone/>
              <a:defRPr sz="1800"/>
            </a:lvl3pPr>
            <a:lvl4pPr marL="0" indent="0">
              <a:spcBef>
                <a:spcPts val="1200"/>
              </a:spcBef>
              <a:buNone/>
              <a:defRPr sz="1800"/>
            </a:lvl4pPr>
            <a:lvl5pPr marL="0" indent="0">
              <a:spcBef>
                <a:spcPts val="1200"/>
              </a:spcBef>
              <a:buNone/>
              <a:defRPr sz="1800"/>
            </a:lvl5pPr>
          </a:lstStyle>
          <a:p>
            <a:pPr lvl="0"/>
            <a:r>
              <a:rPr lang="en-US"/>
              <a:t>Edit Master text styles</a:t>
            </a:r>
          </a:p>
        </p:txBody>
      </p:sp>
    </p:spTree>
    <p:extLst>
      <p:ext uri="{BB962C8B-B14F-4D97-AF65-F5344CB8AC3E}">
        <p14:creationId xmlns:p14="http://schemas.microsoft.com/office/powerpoint/2010/main" val="20377723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Freeform 5"/>
          <p:cNvSpPr>
            <a:spLocks/>
          </p:cNvSpPr>
          <p:nvPr/>
        </p:nvSpPr>
        <p:spPr bwMode="gray">
          <a:xfrm>
            <a:off x="804333" y="1695450"/>
            <a:ext cx="5596467" cy="3295650"/>
          </a:xfrm>
          <a:custGeom>
            <a:avLst/>
            <a:gdLst>
              <a:gd name="T0" fmla="*/ 1279 w 1347"/>
              <a:gd name="T1" fmla="*/ 919 h 986"/>
              <a:gd name="T2" fmla="*/ 65 w 1347"/>
              <a:gd name="T3" fmla="*/ 919 h 986"/>
              <a:gd name="T4" fmla="*/ 65 w 1347"/>
              <a:gd name="T5" fmla="*/ 64 h 986"/>
              <a:gd name="T6" fmla="*/ 1279 w 1347"/>
              <a:gd name="T7" fmla="*/ 64 h 986"/>
              <a:gd name="T8" fmla="*/ 1279 w 1347"/>
              <a:gd name="T9" fmla="*/ 919 h 986"/>
            </a:gdLst>
            <a:ahLst/>
            <a:cxnLst>
              <a:cxn ang="0">
                <a:pos x="T0" y="T1"/>
              </a:cxn>
              <a:cxn ang="0">
                <a:pos x="T2" y="T3"/>
              </a:cxn>
              <a:cxn ang="0">
                <a:pos x="T4" y="T5"/>
              </a:cxn>
              <a:cxn ang="0">
                <a:pos x="T6" y="T7"/>
              </a:cxn>
              <a:cxn ang="0">
                <a:pos x="T8" y="T9"/>
              </a:cxn>
            </a:cxnLst>
            <a:rect l="0" t="0" r="r" b="b"/>
            <a:pathLst>
              <a:path w="1347" h="986">
                <a:moveTo>
                  <a:pt x="1279" y="919"/>
                </a:moveTo>
                <a:cubicBezTo>
                  <a:pt x="1211" y="986"/>
                  <a:pt x="121" y="974"/>
                  <a:pt x="65" y="919"/>
                </a:cubicBezTo>
                <a:cubicBezTo>
                  <a:pt x="9" y="863"/>
                  <a:pt x="0" y="128"/>
                  <a:pt x="65" y="64"/>
                </a:cubicBezTo>
                <a:cubicBezTo>
                  <a:pt x="130" y="0"/>
                  <a:pt x="1217" y="3"/>
                  <a:pt x="1279" y="64"/>
                </a:cubicBezTo>
                <a:cubicBezTo>
                  <a:pt x="1341" y="125"/>
                  <a:pt x="1347" y="852"/>
                  <a:pt x="1279" y="919"/>
                </a:cubicBezTo>
                <a:close/>
              </a:path>
            </a:pathLst>
          </a:custGeom>
          <a:solidFill>
            <a:srgbClr val="FFFFFF"/>
          </a:solidFill>
          <a:ln>
            <a:noFill/>
          </a:ln>
          <a:effectLst>
            <a:outerShdw blurRad="317500" dist="63500" dir="2700000" algn="tl" rotWithShape="0">
              <a:prstClr val="black">
                <a:alpha val="3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p:txBody>
          <a:bodyPr anchor="b"/>
          <a:lstStyle>
            <a:lvl1pPr>
              <a:defRPr sz="3200"/>
            </a:lvl1pPr>
          </a:lstStyle>
          <a:p>
            <a:r>
              <a:rPr lang="en-US"/>
              <a:t>Click to edit Master title style</a:t>
            </a:r>
          </a:p>
        </p:txBody>
      </p:sp>
      <p:sp>
        <p:nvSpPr>
          <p:cNvPr id="12" name="Picture Placeholder 11" descr="An empty placeholder to add an image. Click on the placeholder and select the image that you wish to add"/>
          <p:cNvSpPr>
            <a:spLocks noGrp="1"/>
          </p:cNvSpPr>
          <p:nvPr>
            <p:ph type="pic" idx="1"/>
          </p:nvPr>
        </p:nvSpPr>
        <p:spPr>
          <a:xfrm>
            <a:off x="1006022" y="1874520"/>
            <a:ext cx="5193089" cy="2937510"/>
          </a:xfrm>
          <a:custGeom>
            <a:avLst/>
            <a:gdLst>
              <a:gd name="connsiteX0" fmla="*/ 2531359 w 5066932"/>
              <a:gd name="connsiteY0" fmla="*/ 21 h 2945784"/>
              <a:gd name="connsiteX1" fmla="*/ 4878015 w 5066932"/>
              <a:gd name="connsiteY1" fmla="*/ 145719 h 2945784"/>
              <a:gd name="connsiteX2" fmla="*/ 4878015 w 5066932"/>
              <a:gd name="connsiteY2" fmla="*/ 2803241 h 2945784"/>
              <a:gd name="connsiteX3" fmla="*/ 175988 w 5066932"/>
              <a:gd name="connsiteY3" fmla="*/ 2803241 h 2945784"/>
              <a:gd name="connsiteX4" fmla="*/ 175988 w 5066932"/>
              <a:gd name="connsiteY4" fmla="*/ 145719 h 2945784"/>
              <a:gd name="connsiteX5" fmla="*/ 2531359 w 5066932"/>
              <a:gd name="connsiteY5" fmla="*/ 21 h 2945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66932" h="2945784">
                <a:moveTo>
                  <a:pt x="2531359" y="21"/>
                </a:moveTo>
                <a:cubicBezTo>
                  <a:pt x="3645379" y="1187"/>
                  <a:pt x="4757946" y="50918"/>
                  <a:pt x="4878015" y="145719"/>
                </a:cubicBezTo>
                <a:cubicBezTo>
                  <a:pt x="5118151" y="335320"/>
                  <a:pt x="5141390" y="2594991"/>
                  <a:pt x="4878015" y="2803241"/>
                </a:cubicBezTo>
                <a:cubicBezTo>
                  <a:pt x="4614639" y="3011491"/>
                  <a:pt x="392886" y="2974193"/>
                  <a:pt x="175988" y="2803241"/>
                </a:cubicBezTo>
                <a:cubicBezTo>
                  <a:pt x="-40909" y="2629181"/>
                  <a:pt x="-75768" y="344644"/>
                  <a:pt x="175988" y="145719"/>
                </a:cubicBezTo>
                <a:cubicBezTo>
                  <a:pt x="301866" y="46256"/>
                  <a:pt x="1417339" y="-1144"/>
                  <a:pt x="2531359" y="21"/>
                </a:cubicBezTo>
                <a:close/>
              </a:path>
            </a:pathLst>
          </a:custGeom>
          <a:solidFill>
            <a:schemeClr val="accent2">
              <a:lumMod val="20000"/>
              <a:lumOff val="80000"/>
            </a:schemeClr>
          </a:solidFill>
        </p:spPr>
        <p:txBody>
          <a:bodyPr wrap="square" tIns="36576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010400" y="2245995"/>
            <a:ext cx="3657600" cy="219456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7FC8593D-7C47-471E-A8DF-97AC4FFD13F5}" type="datetimeFigureOut">
              <a:rPr lang="en-US" smtClean="0"/>
              <a:t>1/28/2023</a:t>
            </a:fld>
            <a:endParaRPr lang="en-US"/>
          </a:p>
        </p:txBody>
      </p:sp>
      <p:sp>
        <p:nvSpPr>
          <p:cNvPr id="7" name="Slide Number Placeholder 6"/>
          <p:cNvSpPr>
            <a:spLocks noGrp="1"/>
          </p:cNvSpPr>
          <p:nvPr>
            <p:ph type="sldNum" sz="quarter" idx="12"/>
          </p:nvPr>
        </p:nvSpPr>
        <p:spPr/>
        <p:txBody>
          <a:bodyPr/>
          <a:lstStyle/>
          <a:p>
            <a:fld id="{289D71E3-7D81-4C24-B9D8-6B108755C64C}" type="slidenum">
              <a:rPr lang="en-US" smtClean="0"/>
              <a:t>‹#›</a:t>
            </a:fld>
            <a:endParaRPr lang="en-US"/>
          </a:p>
        </p:txBody>
      </p:sp>
    </p:spTree>
    <p:extLst>
      <p:ext uri="{BB962C8B-B14F-4D97-AF65-F5344CB8AC3E}">
        <p14:creationId xmlns:p14="http://schemas.microsoft.com/office/powerpoint/2010/main" val="6513188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7FC8593D-7C47-471E-A8DF-97AC4FFD13F5}" type="datetimeFigureOut">
              <a:rPr lang="en-US" smtClean="0"/>
              <a:t>1/28/2023</a:t>
            </a:fld>
            <a:endParaRPr lang="en-US"/>
          </a:p>
        </p:txBody>
      </p:sp>
      <p:sp>
        <p:nvSpPr>
          <p:cNvPr id="6" name="Slide Number Placeholder 5"/>
          <p:cNvSpPr>
            <a:spLocks noGrp="1"/>
          </p:cNvSpPr>
          <p:nvPr>
            <p:ph type="sldNum" sz="quarter" idx="12"/>
          </p:nvPr>
        </p:nvSpPr>
        <p:spPr/>
        <p:txBody>
          <a:bodyPr/>
          <a:lstStyle/>
          <a:p>
            <a:fld id="{289D71E3-7D81-4C24-B9D8-6B108755C64C}" type="slidenum">
              <a:rPr lang="en-US" smtClean="0"/>
              <a:t>‹#›</a:t>
            </a:fld>
            <a:endParaRPr lang="en-US"/>
          </a:p>
        </p:txBody>
      </p:sp>
    </p:spTree>
    <p:extLst>
      <p:ext uri="{BB962C8B-B14F-4D97-AF65-F5344CB8AC3E}">
        <p14:creationId xmlns:p14="http://schemas.microsoft.com/office/powerpoint/2010/main" val="10357397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l="2124" r="323" b="422"/>
          <a:stretch/>
        </p:blipFill>
        <p:spPr>
          <a:xfrm>
            <a:off x="1524" y="1"/>
            <a:ext cx="12188952" cy="6858000"/>
          </a:xfrm>
          <a:prstGeom prst="rect">
            <a:avLst/>
          </a:prstGeom>
        </p:spPr>
      </p:pic>
      <p:sp>
        <p:nvSpPr>
          <p:cNvPr id="2" name="Title 1"/>
          <p:cNvSpPr>
            <a:spLocks noGrp="1"/>
          </p:cNvSpPr>
          <p:nvPr>
            <p:ph type="ctrTitle"/>
          </p:nvPr>
        </p:nvSpPr>
        <p:spPr>
          <a:xfrm>
            <a:off x="838200" y="533400"/>
            <a:ext cx="8458200" cy="1828800"/>
          </a:xfrm>
        </p:spPr>
        <p:txBody>
          <a:bodyPr anchor="b">
            <a:norm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838200" y="2438400"/>
            <a:ext cx="7086600" cy="914400"/>
          </a:xfrm>
        </p:spPr>
        <p:txBody>
          <a:bodyPr>
            <a:normAutofit/>
          </a:bodyPr>
          <a:lstStyle>
            <a:lvl1pPr marL="0" indent="0" algn="l">
              <a:spcBef>
                <a:spcPts val="1200"/>
              </a:spcBef>
              <a:buNone/>
              <a:defRPr sz="24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1544510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C1EF"/>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0D10F2-669D-75CF-8908-E92DC1B92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87DAA-022C-2F3D-655E-7E1FBFDB9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A2D5F4-87C1-FFC2-002A-EA4E9640A6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AF001E-B2DD-4179-A753-D0CF0809F32B}" type="datetimeFigureOut">
              <a:rPr lang="en-US" smtClean="0"/>
              <a:t>1/28/2023</a:t>
            </a:fld>
            <a:endParaRPr lang="en-US"/>
          </a:p>
        </p:txBody>
      </p:sp>
      <p:sp>
        <p:nvSpPr>
          <p:cNvPr id="5" name="Footer Placeholder 4">
            <a:extLst>
              <a:ext uri="{FF2B5EF4-FFF2-40B4-BE49-F238E27FC236}">
                <a16:creationId xmlns:a16="http://schemas.microsoft.com/office/drawing/2014/main" id="{5EB5105C-31AC-8B64-A02C-98A04CFE0D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F6ECE38-EAAA-5916-574D-59874AF2EB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D22E78-F8D0-499D-A69F-76ECB0E0D898}" type="slidenum">
              <a:rPr lang="en-US" smtClean="0"/>
              <a:t>‹#›</a:t>
            </a:fld>
            <a:endParaRPr lang="en-US"/>
          </a:p>
        </p:txBody>
      </p:sp>
    </p:spTree>
    <p:extLst>
      <p:ext uri="{BB962C8B-B14F-4D97-AF65-F5344CB8AC3E}">
        <p14:creationId xmlns:p14="http://schemas.microsoft.com/office/powerpoint/2010/main" val="9329563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51" r:id="rId3"/>
    <p:sldLayoutId id="2147483652" r:id="rId4"/>
    <p:sldLayoutId id="2147483653" r:id="rId5"/>
    <p:sldLayoutId id="2147483654" r:id="rId6"/>
    <p:sldLayoutId id="2147483655" r:id="rId7"/>
    <p:sldLayoutId id="2147483656" r:id="rId8"/>
    <p:sldLayoutId id="2147483665"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7" cstate="print">
            <a:extLst>
              <a:ext uri="{28A0092B-C50C-407E-A947-70E740481C1C}">
                <a14:useLocalDpi xmlns:a14="http://schemas.microsoft.com/office/drawing/2010/main" val="0"/>
              </a:ext>
            </a:extLst>
          </a:blip>
          <a:srcRect l="525" t="511" r="525" b="2999"/>
          <a:stretch/>
        </p:blipFill>
        <p:spPr>
          <a:xfrm>
            <a:off x="0" y="0"/>
            <a:ext cx="12188826" cy="6858000"/>
          </a:xfrm>
          <a:prstGeom prst="rect">
            <a:avLst/>
          </a:prstGeom>
        </p:spPr>
      </p:pic>
      <p:sp>
        <p:nvSpPr>
          <p:cNvPr id="2" name="Title Placeholder 1"/>
          <p:cNvSpPr>
            <a:spLocks noGrp="1"/>
          </p:cNvSpPr>
          <p:nvPr>
            <p:ph type="title"/>
          </p:nvPr>
        </p:nvSpPr>
        <p:spPr>
          <a:xfrm>
            <a:off x="838200" y="365126"/>
            <a:ext cx="9829800" cy="108267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524000" y="1828800"/>
            <a:ext cx="9144000" cy="347472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209800" y="6416675"/>
            <a:ext cx="4572000" cy="365125"/>
          </a:xfrm>
          <a:prstGeom prst="rect">
            <a:avLst/>
          </a:prstGeom>
        </p:spPr>
        <p:txBody>
          <a:bodyPr vert="horz" lIns="91440" tIns="45720" rIns="91440" bIns="45720" rtlCol="0" anchor="ctr"/>
          <a:lstStyle>
            <a:lvl1pPr algn="l">
              <a:defRPr sz="1100">
                <a:solidFill>
                  <a:schemeClr val="tx1"/>
                </a:solidFill>
              </a:defRPr>
            </a:lvl1pPr>
          </a:lstStyle>
          <a:p>
            <a:r>
              <a:rPr lang="en-US" dirty="0"/>
              <a:t>Add a footer</a:t>
            </a:r>
          </a:p>
        </p:txBody>
      </p:sp>
      <p:sp>
        <p:nvSpPr>
          <p:cNvPr id="4" name="Date Placeholder 3"/>
          <p:cNvSpPr>
            <a:spLocks noGrp="1"/>
          </p:cNvSpPr>
          <p:nvPr>
            <p:ph type="dt" sz="half" idx="2"/>
          </p:nvPr>
        </p:nvSpPr>
        <p:spPr>
          <a:xfrm>
            <a:off x="7010400" y="6416675"/>
            <a:ext cx="1371600" cy="365125"/>
          </a:xfrm>
          <a:prstGeom prst="rect">
            <a:avLst/>
          </a:prstGeom>
        </p:spPr>
        <p:txBody>
          <a:bodyPr vert="horz" lIns="91440" tIns="45720" rIns="91440" bIns="45720" rtlCol="0" anchor="ctr"/>
          <a:lstStyle>
            <a:lvl1pPr algn="r">
              <a:defRPr sz="1100">
                <a:solidFill>
                  <a:schemeClr val="tx1"/>
                </a:solidFill>
              </a:defRPr>
            </a:lvl1pPr>
          </a:lstStyle>
          <a:p>
            <a:fld id="{7FC8593D-7C47-471E-A8DF-97AC4FFD13F5}" type="datetimeFigureOut">
              <a:rPr lang="en-US" smtClean="0"/>
              <a:pPr/>
              <a:t>1/28/2023</a:t>
            </a:fld>
            <a:endParaRPr lang="en-US" dirty="0"/>
          </a:p>
        </p:txBody>
      </p:sp>
      <p:sp>
        <p:nvSpPr>
          <p:cNvPr id="6" name="Slide Number Placeholder 5"/>
          <p:cNvSpPr>
            <a:spLocks noGrp="1"/>
          </p:cNvSpPr>
          <p:nvPr>
            <p:ph type="sldNum" sz="quarter" idx="4"/>
          </p:nvPr>
        </p:nvSpPr>
        <p:spPr>
          <a:xfrm>
            <a:off x="8610600" y="6416675"/>
            <a:ext cx="838200" cy="365125"/>
          </a:xfrm>
          <a:prstGeom prst="rect">
            <a:avLst/>
          </a:prstGeom>
        </p:spPr>
        <p:txBody>
          <a:bodyPr vert="horz" lIns="91440" tIns="45720" rIns="91440" bIns="45720" rtlCol="0" anchor="ctr"/>
          <a:lstStyle>
            <a:lvl1pPr algn="r">
              <a:defRPr sz="1100">
                <a:solidFill>
                  <a:schemeClr val="tx1"/>
                </a:solidFill>
              </a:defRPr>
            </a:lvl1pPr>
          </a:lstStyle>
          <a:p>
            <a:fld id="{289D71E3-7D81-4C24-B9D8-6B108755C64C}" type="slidenum">
              <a:rPr lang="en-US" smtClean="0"/>
              <a:pPr/>
              <a:t>‹#›</a:t>
            </a:fld>
            <a:endParaRPr lang="en-US" dirty="0"/>
          </a:p>
        </p:txBody>
      </p:sp>
    </p:spTree>
    <p:extLst>
      <p:ext uri="{BB962C8B-B14F-4D97-AF65-F5344CB8AC3E}">
        <p14:creationId xmlns:p14="http://schemas.microsoft.com/office/powerpoint/2010/main" val="361654518"/>
      </p:ext>
    </p:extLst>
  </p:cSld>
  <p:clrMap bg1="lt1" tx1="dk1" bg2="lt2" tx2="dk2" accent1="accent1" accent2="accent2" accent3="accent3" accent4="accent4" accent5="accent5" accent6="accent6" hlink="hlink" folHlink="folHlink"/>
  <p:sldLayoutIdLst>
    <p:sldLayoutId id="2147483663" r:id="rId1"/>
    <p:sldLayoutId id="2147483660" r:id="rId2"/>
    <p:sldLayoutId id="2147483657" r:id="rId3"/>
    <p:sldLayoutId id="2147483650" r:id="rId4"/>
    <p:sldLayoutId id="2147483649" r:id="rId5"/>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Arial" panose="020B0604020202020204"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2pPr>
      <a:lvl3pPr marL="685800" indent="-18288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4pPr>
      <a:lvl5pPr marL="11430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6pPr>
      <a:lvl7pPr marL="16002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8pPr>
      <a:lvl9pPr marL="20574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image" Target="../media/image6.jp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hyperlink" Target="http://www.bbc.co.uk/learningenglish" TargetMode="External"/><Relationship Id="rId1" Type="http://schemas.openxmlformats.org/officeDocument/2006/relationships/slideLayout" Target="../slideLayouts/slideLayout15.xm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5.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9.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15.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hyperlink" Target="mailto:shyani.s@iit.ac.lk" TargetMode="External"/><Relationship Id="rId2" Type="http://schemas.openxmlformats.org/officeDocument/2006/relationships/hyperlink" Target="mailto:antoinette.h@iit.ac.lk" TargetMode="External"/><Relationship Id="rId1" Type="http://schemas.openxmlformats.org/officeDocument/2006/relationships/slideLayout" Target="../slideLayouts/slideLayout15.xml"/><Relationship Id="rId5" Type="http://schemas.openxmlformats.org/officeDocument/2006/relationships/hyperlink" Target="mailto:nethmini.w@iit.ac.lk" TargetMode="External"/><Relationship Id="rId4" Type="http://schemas.openxmlformats.org/officeDocument/2006/relationships/hyperlink" Target="mailto:kaumadee.r@iit.ac.l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85151-5362-9A1A-E537-59E3EF245025}"/>
              </a:ext>
            </a:extLst>
          </p:cNvPr>
          <p:cNvSpPr>
            <a:spLocks noGrp="1"/>
          </p:cNvSpPr>
          <p:nvPr>
            <p:ph type="ctrTitle"/>
          </p:nvPr>
        </p:nvSpPr>
        <p:spPr>
          <a:xfrm>
            <a:off x="791571" y="3176516"/>
            <a:ext cx="10822674" cy="2033517"/>
          </a:xfrm>
        </p:spPr>
        <p:txBody>
          <a:bodyPr>
            <a:normAutofit/>
          </a:bodyPr>
          <a:lstStyle/>
          <a:p>
            <a:r>
              <a:rPr lang="en-US" sz="4000" dirty="0">
                <a:solidFill>
                  <a:srgbClr val="0070C0"/>
                </a:solidFill>
                <a:latin typeface="Baskerville Old Face" panose="02020602080505020303" pitchFamily="18" charset="0"/>
              </a:rPr>
              <a:t>DOC 311 ACADEMIC SKILLS FOR </a:t>
            </a:r>
            <a:br>
              <a:rPr lang="en-US" sz="4000" dirty="0">
                <a:solidFill>
                  <a:srgbClr val="0070C0"/>
                </a:solidFill>
                <a:latin typeface="Baskerville Old Face" panose="02020602080505020303" pitchFamily="18" charset="0"/>
              </a:rPr>
            </a:br>
            <a:r>
              <a:rPr lang="en-US" sz="4000" dirty="0">
                <a:solidFill>
                  <a:srgbClr val="0070C0"/>
                </a:solidFill>
                <a:latin typeface="Baskerville Old Face" panose="02020602080505020303" pitchFamily="18" charset="0"/>
              </a:rPr>
              <a:t>HIGHER EDUCATION</a:t>
            </a:r>
            <a:br>
              <a:rPr lang="en-US" sz="4000" dirty="0">
                <a:solidFill>
                  <a:srgbClr val="0070C0"/>
                </a:solidFill>
                <a:latin typeface="Baskerville Old Face" panose="02020602080505020303" pitchFamily="18" charset="0"/>
              </a:rPr>
            </a:br>
            <a:r>
              <a:rPr lang="en-US" sz="3200" dirty="0">
                <a:solidFill>
                  <a:srgbClr val="0070C0"/>
                </a:solidFill>
                <a:latin typeface="Baskerville Old Face" panose="02020602080505020303" pitchFamily="18" charset="0"/>
              </a:rPr>
              <a:t>JANUARY – APRIL 2023</a:t>
            </a:r>
            <a:endParaRPr lang="en-US" sz="4000" dirty="0">
              <a:solidFill>
                <a:srgbClr val="0070C0"/>
              </a:solidFill>
              <a:latin typeface="Baskerville Old Face" panose="02020602080505020303" pitchFamily="18" charset="0"/>
            </a:endParaRPr>
          </a:p>
        </p:txBody>
      </p:sp>
      <p:sp>
        <p:nvSpPr>
          <p:cNvPr id="3" name="Subtitle 2">
            <a:extLst>
              <a:ext uri="{FF2B5EF4-FFF2-40B4-BE49-F238E27FC236}">
                <a16:creationId xmlns:a16="http://schemas.microsoft.com/office/drawing/2014/main" id="{D25B4CC6-FED1-20F0-5B18-218255FD9992}"/>
              </a:ext>
            </a:extLst>
          </p:cNvPr>
          <p:cNvSpPr>
            <a:spLocks noGrp="1"/>
          </p:cNvSpPr>
          <p:nvPr>
            <p:ph type="subTitle" idx="1"/>
          </p:nvPr>
        </p:nvSpPr>
        <p:spPr>
          <a:xfrm>
            <a:off x="903027" y="695065"/>
            <a:ext cx="10385946" cy="1655762"/>
          </a:xfrm>
        </p:spPr>
        <p:txBody>
          <a:bodyPr>
            <a:normAutofit/>
          </a:bodyPr>
          <a:lstStyle/>
          <a:p>
            <a:r>
              <a:rPr lang="en-US" sz="6000" b="1" dirty="0">
                <a:solidFill>
                  <a:srgbClr val="FF0000"/>
                </a:solidFill>
                <a:latin typeface="Baskerville Old Face" panose="02020602080505020303" pitchFamily="18" charset="0"/>
              </a:rPr>
              <a:t>Welcome to the module ASHE!</a:t>
            </a:r>
          </a:p>
        </p:txBody>
      </p:sp>
      <p:sp>
        <p:nvSpPr>
          <p:cNvPr id="4" name="Date Placeholder 3">
            <a:extLst>
              <a:ext uri="{FF2B5EF4-FFF2-40B4-BE49-F238E27FC236}">
                <a16:creationId xmlns:a16="http://schemas.microsoft.com/office/drawing/2014/main" id="{31408A5D-F92F-27F3-8D4A-DA0FD6006F9C}"/>
              </a:ext>
            </a:extLst>
          </p:cNvPr>
          <p:cNvSpPr>
            <a:spLocks noGrp="1"/>
          </p:cNvSpPr>
          <p:nvPr>
            <p:ph type="dt" sz="half" idx="10"/>
          </p:nvPr>
        </p:nvSpPr>
        <p:spPr/>
        <p:txBody>
          <a:bodyPr/>
          <a:lstStyle/>
          <a:p>
            <a:fld id="{27F153F3-25A5-4F7E-8C15-5194108873C4}" type="datetime1">
              <a:rPr lang="en-US" smtClean="0"/>
              <a:t>1/28/2023</a:t>
            </a:fld>
            <a:endParaRPr lang="en-US"/>
          </a:p>
        </p:txBody>
      </p:sp>
      <p:sp>
        <p:nvSpPr>
          <p:cNvPr id="6" name="Slide Number Placeholder 5">
            <a:extLst>
              <a:ext uri="{FF2B5EF4-FFF2-40B4-BE49-F238E27FC236}">
                <a16:creationId xmlns:a16="http://schemas.microsoft.com/office/drawing/2014/main" id="{C73FBA09-4234-93A2-8D83-249B651A59F7}"/>
              </a:ext>
            </a:extLst>
          </p:cNvPr>
          <p:cNvSpPr>
            <a:spLocks noGrp="1"/>
          </p:cNvSpPr>
          <p:nvPr>
            <p:ph type="sldNum" sz="quarter" idx="12"/>
          </p:nvPr>
        </p:nvSpPr>
        <p:spPr/>
        <p:txBody>
          <a:bodyPr/>
          <a:lstStyle/>
          <a:p>
            <a:fld id="{D8D22E78-F8D0-499D-A69F-76ECB0E0D898}" type="slidenum">
              <a:rPr lang="en-US" smtClean="0"/>
              <a:t>1</a:t>
            </a:fld>
            <a:endParaRPr lang="en-US"/>
          </a:p>
        </p:txBody>
      </p:sp>
    </p:spTree>
    <p:extLst>
      <p:ext uri="{BB962C8B-B14F-4D97-AF65-F5344CB8AC3E}">
        <p14:creationId xmlns:p14="http://schemas.microsoft.com/office/powerpoint/2010/main" val="3341412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F3103-04A3-C283-5624-1FBF8451D2B2}"/>
              </a:ext>
            </a:extLst>
          </p:cNvPr>
          <p:cNvSpPr>
            <a:spLocks noGrp="1"/>
          </p:cNvSpPr>
          <p:nvPr>
            <p:ph type="title"/>
          </p:nvPr>
        </p:nvSpPr>
        <p:spPr>
          <a:xfrm>
            <a:off x="323557" y="0"/>
            <a:ext cx="11366695" cy="801858"/>
          </a:xfrm>
        </p:spPr>
        <p:txBody>
          <a:bodyPr/>
          <a:lstStyle/>
          <a:p>
            <a:r>
              <a:rPr lang="en-US" dirty="0">
                <a:solidFill>
                  <a:srgbClr val="FF0000"/>
                </a:solidFill>
                <a:latin typeface="Baskerville Old Face" panose="02020602080505020303" pitchFamily="18" charset="0"/>
              </a:rPr>
              <a:t>A few ground rules …</a:t>
            </a:r>
          </a:p>
        </p:txBody>
      </p:sp>
      <p:sp>
        <p:nvSpPr>
          <p:cNvPr id="3" name="Content Placeholder 2">
            <a:extLst>
              <a:ext uri="{FF2B5EF4-FFF2-40B4-BE49-F238E27FC236}">
                <a16:creationId xmlns:a16="http://schemas.microsoft.com/office/drawing/2014/main" id="{C9141B3B-7092-493B-CCE5-6409C1757477}"/>
              </a:ext>
            </a:extLst>
          </p:cNvPr>
          <p:cNvSpPr>
            <a:spLocks noGrp="1"/>
          </p:cNvSpPr>
          <p:nvPr>
            <p:ph idx="1"/>
          </p:nvPr>
        </p:nvSpPr>
        <p:spPr>
          <a:xfrm>
            <a:off x="501748" y="942536"/>
            <a:ext cx="11366694" cy="5387926"/>
          </a:xfrm>
        </p:spPr>
        <p:txBody>
          <a:bodyPr>
            <a:normAutofit fontScale="47500" lnSpcReduction="20000"/>
          </a:bodyPr>
          <a:lstStyle/>
          <a:p>
            <a:pPr>
              <a:lnSpc>
                <a:spcPct val="120000"/>
              </a:lnSpc>
            </a:pPr>
            <a:r>
              <a:rPr lang="en-US" sz="6000" dirty="0">
                <a:latin typeface="Baskerville Old Face" panose="02020602080505020303" pitchFamily="18" charset="0"/>
              </a:rPr>
              <a:t>One lecture (at two locations 5LA and 5LB in parallel).  You cannot join online.</a:t>
            </a:r>
          </a:p>
          <a:p>
            <a:pPr>
              <a:lnSpc>
                <a:spcPct val="120000"/>
              </a:lnSpc>
            </a:pPr>
            <a:r>
              <a:rPr lang="en-US" sz="6000" dirty="0">
                <a:latin typeface="Baskerville Old Face" panose="02020602080505020303" pitchFamily="18" charset="0"/>
              </a:rPr>
              <a:t> Your Mobile </a:t>
            </a:r>
            <a:r>
              <a:rPr lang="en-US" sz="6700" dirty="0">
                <a:latin typeface="Baskerville Old Face" panose="02020602080505020303" pitchFamily="18" charset="0"/>
              </a:rPr>
              <a:t>phone</a:t>
            </a:r>
            <a:r>
              <a:rPr lang="en-US" sz="6000" dirty="0">
                <a:latin typeface="Baskerville Old Face" panose="02020602080505020303" pitchFamily="18" charset="0"/>
              </a:rPr>
              <a:t> (Cell phone) should be in your bag during the lecture. It should not be on the table.  </a:t>
            </a:r>
          </a:p>
          <a:p>
            <a:pPr>
              <a:lnSpc>
                <a:spcPct val="120000"/>
              </a:lnSpc>
            </a:pPr>
            <a:r>
              <a:rPr lang="en-US" sz="6000" dirty="0">
                <a:latin typeface="Baskerville Old Face" panose="02020602080505020303" pitchFamily="18" charset="0"/>
              </a:rPr>
              <a:t>Laptops should be closed until the lecturer requests you to use them.</a:t>
            </a:r>
          </a:p>
          <a:p>
            <a:pPr>
              <a:lnSpc>
                <a:spcPct val="120000"/>
              </a:lnSpc>
            </a:pPr>
            <a:r>
              <a:rPr lang="en-US" sz="6000" dirty="0">
                <a:latin typeface="Baskerville Old Face" panose="02020602080505020303" pitchFamily="18" charset="0"/>
              </a:rPr>
              <a:t>If you come late, come in and stand near the door, until the lecturer </a:t>
            </a:r>
          </a:p>
          <a:p>
            <a:pPr marL="0" indent="0">
              <a:lnSpc>
                <a:spcPct val="120000"/>
              </a:lnSpc>
              <a:buNone/>
            </a:pPr>
            <a:r>
              <a:rPr lang="en-US" sz="6000" dirty="0">
                <a:latin typeface="Baskerville Old Face" panose="02020602080505020303" pitchFamily="18" charset="0"/>
              </a:rPr>
              <a:t>   lets you in. However, this should be only on a very rare occasion.</a:t>
            </a:r>
          </a:p>
          <a:p>
            <a:pPr>
              <a:lnSpc>
                <a:spcPct val="120000"/>
              </a:lnSpc>
            </a:pPr>
            <a:r>
              <a:rPr lang="en-US" sz="6000" dirty="0">
                <a:latin typeface="Baskerville Old Face" panose="02020602080505020303" pitchFamily="18" charset="0"/>
              </a:rPr>
              <a:t>Words for vocabulary improvement</a:t>
            </a:r>
          </a:p>
          <a:p>
            <a:pPr marL="0" indent="0">
              <a:lnSpc>
                <a:spcPct val="120000"/>
              </a:lnSpc>
              <a:buNone/>
            </a:pPr>
            <a:r>
              <a:rPr lang="en-US" sz="6000" dirty="0">
                <a:latin typeface="Baskerville Old Face" panose="02020602080505020303" pitchFamily="18" charset="0"/>
              </a:rPr>
              <a:t>  A word list of the most frequently used words will be shared on the LMS. </a:t>
            </a:r>
            <a:br>
              <a:rPr lang="en-US" sz="6000" dirty="0">
                <a:latin typeface="Baskerville Old Face" panose="02020602080505020303" pitchFamily="18" charset="0"/>
              </a:rPr>
            </a:br>
            <a:endParaRPr lang="en-US" sz="6000" dirty="0">
              <a:latin typeface="Baskerville Old Face" panose="02020602080505020303" pitchFamily="18" charset="0"/>
            </a:endParaRPr>
          </a:p>
          <a:p>
            <a:pPr marL="0" indent="0">
              <a:buNone/>
            </a:pPr>
            <a:endParaRPr lang="en-US" dirty="0"/>
          </a:p>
        </p:txBody>
      </p:sp>
      <p:sp>
        <p:nvSpPr>
          <p:cNvPr id="4" name="Date Placeholder 3">
            <a:extLst>
              <a:ext uri="{FF2B5EF4-FFF2-40B4-BE49-F238E27FC236}">
                <a16:creationId xmlns:a16="http://schemas.microsoft.com/office/drawing/2014/main" id="{BE49F4AE-9005-6E68-FEE1-AF76A6C54F9E}"/>
              </a:ext>
            </a:extLst>
          </p:cNvPr>
          <p:cNvSpPr>
            <a:spLocks noGrp="1"/>
          </p:cNvSpPr>
          <p:nvPr>
            <p:ph type="dt" sz="half" idx="10"/>
          </p:nvPr>
        </p:nvSpPr>
        <p:spPr/>
        <p:txBody>
          <a:bodyPr/>
          <a:lstStyle/>
          <a:p>
            <a:fld id="{9623A1E4-D881-46DF-9110-FD2820599E34}" type="datetime1">
              <a:rPr lang="en-US" smtClean="0"/>
              <a:t>1/28/2023</a:t>
            </a:fld>
            <a:endParaRPr lang="en-US"/>
          </a:p>
        </p:txBody>
      </p:sp>
      <p:sp>
        <p:nvSpPr>
          <p:cNvPr id="5" name="Footer Placeholder 4">
            <a:extLst>
              <a:ext uri="{FF2B5EF4-FFF2-40B4-BE49-F238E27FC236}">
                <a16:creationId xmlns:a16="http://schemas.microsoft.com/office/drawing/2014/main" id="{5FC26B58-0B6F-E8EF-0E3C-82612F4C6014}"/>
              </a:ext>
            </a:extLst>
          </p:cNvPr>
          <p:cNvSpPr>
            <a:spLocks noGrp="1"/>
          </p:cNvSpPr>
          <p:nvPr>
            <p:ph type="ftr" sz="quarter" idx="11"/>
          </p:nvPr>
        </p:nvSpPr>
        <p:spPr/>
        <p:txBody>
          <a:bodyPr/>
          <a:lstStyle/>
          <a:p>
            <a:r>
              <a:rPr lang="en-US" dirty="0"/>
              <a:t>Antoinette </a:t>
            </a:r>
            <a:r>
              <a:rPr lang="en-US" dirty="0" err="1"/>
              <a:t>Vanlangenberg</a:t>
            </a:r>
            <a:r>
              <a:rPr lang="en-US" dirty="0"/>
              <a:t> Hettiaratchy IIT ASHE 2023</a:t>
            </a:r>
          </a:p>
        </p:txBody>
      </p:sp>
      <p:sp>
        <p:nvSpPr>
          <p:cNvPr id="6" name="Slide Number Placeholder 5">
            <a:extLst>
              <a:ext uri="{FF2B5EF4-FFF2-40B4-BE49-F238E27FC236}">
                <a16:creationId xmlns:a16="http://schemas.microsoft.com/office/drawing/2014/main" id="{E1040482-7D1A-13CA-D3AD-26D513450D9B}"/>
              </a:ext>
            </a:extLst>
          </p:cNvPr>
          <p:cNvSpPr>
            <a:spLocks noGrp="1"/>
          </p:cNvSpPr>
          <p:nvPr>
            <p:ph type="sldNum" sz="quarter" idx="12"/>
          </p:nvPr>
        </p:nvSpPr>
        <p:spPr/>
        <p:txBody>
          <a:bodyPr/>
          <a:lstStyle/>
          <a:p>
            <a:fld id="{D8D22E78-F8D0-499D-A69F-76ECB0E0D898}" type="slidenum">
              <a:rPr lang="en-US" smtClean="0"/>
              <a:t>2</a:t>
            </a:fld>
            <a:endParaRPr lang="en-US"/>
          </a:p>
        </p:txBody>
      </p:sp>
    </p:spTree>
    <p:extLst>
      <p:ext uri="{BB962C8B-B14F-4D97-AF65-F5344CB8AC3E}">
        <p14:creationId xmlns:p14="http://schemas.microsoft.com/office/powerpoint/2010/main" val="255267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51EFF-2861-A1A2-6CB7-90A83A927E09}"/>
              </a:ext>
            </a:extLst>
          </p:cNvPr>
          <p:cNvSpPr>
            <a:spLocks noGrp="1"/>
          </p:cNvSpPr>
          <p:nvPr>
            <p:ph type="title"/>
          </p:nvPr>
        </p:nvSpPr>
        <p:spPr>
          <a:xfrm>
            <a:off x="422031" y="211015"/>
            <a:ext cx="11268221" cy="1083213"/>
          </a:xfrm>
        </p:spPr>
        <p:txBody>
          <a:bodyPr/>
          <a:lstStyle/>
          <a:p>
            <a:r>
              <a:rPr lang="en-US" dirty="0">
                <a:solidFill>
                  <a:srgbClr val="FF0000"/>
                </a:solidFill>
                <a:latin typeface="Baskerville Old Face" panose="02020602080505020303" pitchFamily="18" charset="0"/>
              </a:rPr>
              <a:t>Some important information …</a:t>
            </a:r>
          </a:p>
        </p:txBody>
      </p:sp>
      <p:sp>
        <p:nvSpPr>
          <p:cNvPr id="3" name="Content Placeholder 2">
            <a:extLst>
              <a:ext uri="{FF2B5EF4-FFF2-40B4-BE49-F238E27FC236}">
                <a16:creationId xmlns:a16="http://schemas.microsoft.com/office/drawing/2014/main" id="{A0CD5DDD-CAD2-DEBE-BAF3-F4C3E188E076}"/>
              </a:ext>
            </a:extLst>
          </p:cNvPr>
          <p:cNvSpPr>
            <a:spLocks noGrp="1"/>
          </p:cNvSpPr>
          <p:nvPr>
            <p:ph idx="1"/>
          </p:nvPr>
        </p:nvSpPr>
        <p:spPr>
          <a:xfrm>
            <a:off x="422031" y="1294228"/>
            <a:ext cx="11155680" cy="4882735"/>
          </a:xfrm>
        </p:spPr>
        <p:txBody>
          <a:bodyPr>
            <a:normAutofit/>
          </a:bodyPr>
          <a:lstStyle/>
          <a:p>
            <a:r>
              <a:rPr lang="en-US" sz="3200" dirty="0">
                <a:latin typeface="Baskerville Old Face" panose="02020602080505020303" pitchFamily="18" charset="0"/>
              </a:rPr>
              <a:t>Your module calendar is on the LMS. </a:t>
            </a:r>
          </a:p>
          <a:p>
            <a:r>
              <a:rPr lang="en-US" sz="3200" dirty="0">
                <a:latin typeface="Baskerville Old Face" panose="02020602080505020303" pitchFamily="18" charset="0"/>
              </a:rPr>
              <a:t>All lecture material will be available on the LMS. </a:t>
            </a:r>
          </a:p>
          <a:p>
            <a:pPr>
              <a:lnSpc>
                <a:spcPct val="120000"/>
              </a:lnSpc>
            </a:pPr>
            <a:r>
              <a:rPr lang="en-US" sz="3200" dirty="0">
                <a:latin typeface="Baskerville Old Face" panose="02020602080505020303" pitchFamily="18" charset="0"/>
              </a:rPr>
              <a:t>Words for vocabulary improvement</a:t>
            </a:r>
          </a:p>
          <a:p>
            <a:pPr marL="0" indent="0">
              <a:lnSpc>
                <a:spcPct val="120000"/>
              </a:lnSpc>
              <a:buNone/>
            </a:pPr>
            <a:r>
              <a:rPr lang="en-US" sz="3200" dirty="0">
                <a:latin typeface="Baskerville Old Face" panose="02020602080505020303" pitchFamily="18" charset="0"/>
              </a:rPr>
              <a:t>  A word list of the most frequently used words related to Academic     </a:t>
            </a:r>
          </a:p>
          <a:p>
            <a:pPr marL="0" indent="0">
              <a:lnSpc>
                <a:spcPct val="120000"/>
              </a:lnSpc>
              <a:buNone/>
            </a:pPr>
            <a:r>
              <a:rPr lang="en-US" sz="3200" dirty="0">
                <a:latin typeface="Baskerville Old Face" panose="02020602080505020303" pitchFamily="18" charset="0"/>
              </a:rPr>
              <a:t>   skills will be shared on the LMS. Go through these words and     </a:t>
            </a:r>
          </a:p>
          <a:p>
            <a:pPr marL="0" indent="0">
              <a:lnSpc>
                <a:spcPct val="120000"/>
              </a:lnSpc>
              <a:buNone/>
            </a:pPr>
            <a:r>
              <a:rPr lang="en-US" sz="3200" dirty="0">
                <a:latin typeface="Baskerville Old Face" panose="02020602080505020303" pitchFamily="18" charset="0"/>
              </a:rPr>
              <a:t>   learn their meanings, as many as possible.</a:t>
            </a:r>
            <a:br>
              <a:rPr lang="en-US" sz="3200" dirty="0">
                <a:latin typeface="Baskerville Old Face" panose="02020602080505020303" pitchFamily="18" charset="0"/>
              </a:rPr>
            </a:br>
            <a:endParaRPr lang="en-US" sz="3200" dirty="0">
              <a:latin typeface="Baskerville Old Face" panose="02020602080505020303" pitchFamily="18" charset="0"/>
            </a:endParaRPr>
          </a:p>
          <a:p>
            <a:endParaRPr lang="en-US" sz="3200" dirty="0">
              <a:latin typeface="Baskerville Old Face" panose="02020602080505020303" pitchFamily="18" charset="0"/>
            </a:endParaRPr>
          </a:p>
        </p:txBody>
      </p:sp>
      <p:sp>
        <p:nvSpPr>
          <p:cNvPr id="4" name="Date Placeholder 3">
            <a:extLst>
              <a:ext uri="{FF2B5EF4-FFF2-40B4-BE49-F238E27FC236}">
                <a16:creationId xmlns:a16="http://schemas.microsoft.com/office/drawing/2014/main" id="{A0F4B6E9-3544-20C7-C013-81EA78A3C61D}"/>
              </a:ext>
            </a:extLst>
          </p:cNvPr>
          <p:cNvSpPr>
            <a:spLocks noGrp="1"/>
          </p:cNvSpPr>
          <p:nvPr>
            <p:ph type="dt" sz="half" idx="10"/>
          </p:nvPr>
        </p:nvSpPr>
        <p:spPr/>
        <p:txBody>
          <a:bodyPr/>
          <a:lstStyle/>
          <a:p>
            <a:fld id="{FBDF560D-CC94-44EB-8B1B-28A9EE552508}" type="datetime1">
              <a:rPr lang="en-US" smtClean="0"/>
              <a:t>1/28/2023</a:t>
            </a:fld>
            <a:endParaRPr lang="en-US"/>
          </a:p>
        </p:txBody>
      </p:sp>
      <p:sp>
        <p:nvSpPr>
          <p:cNvPr id="5" name="Footer Placeholder 4">
            <a:extLst>
              <a:ext uri="{FF2B5EF4-FFF2-40B4-BE49-F238E27FC236}">
                <a16:creationId xmlns:a16="http://schemas.microsoft.com/office/drawing/2014/main" id="{23790C66-D5C7-70FC-4B01-34A2BE5EBF8B}"/>
              </a:ext>
            </a:extLst>
          </p:cNvPr>
          <p:cNvSpPr>
            <a:spLocks noGrp="1"/>
          </p:cNvSpPr>
          <p:nvPr>
            <p:ph type="ftr" sz="quarter" idx="11"/>
          </p:nvPr>
        </p:nvSpPr>
        <p:spPr/>
        <p:txBody>
          <a:bodyPr/>
          <a:lstStyle/>
          <a:p>
            <a:r>
              <a:rPr lang="en-US"/>
              <a:t>Antoinette Vanlangenberg Hettiaratchy IIT ASHE 2023</a:t>
            </a:r>
          </a:p>
        </p:txBody>
      </p:sp>
      <p:sp>
        <p:nvSpPr>
          <p:cNvPr id="6" name="Slide Number Placeholder 5">
            <a:extLst>
              <a:ext uri="{FF2B5EF4-FFF2-40B4-BE49-F238E27FC236}">
                <a16:creationId xmlns:a16="http://schemas.microsoft.com/office/drawing/2014/main" id="{E9A60AEF-43AB-7B1B-9EE1-F1E1B2107482}"/>
              </a:ext>
            </a:extLst>
          </p:cNvPr>
          <p:cNvSpPr>
            <a:spLocks noGrp="1"/>
          </p:cNvSpPr>
          <p:nvPr>
            <p:ph type="sldNum" sz="quarter" idx="12"/>
          </p:nvPr>
        </p:nvSpPr>
        <p:spPr/>
        <p:txBody>
          <a:bodyPr/>
          <a:lstStyle/>
          <a:p>
            <a:fld id="{D8D22E78-F8D0-499D-A69F-76ECB0E0D898}" type="slidenum">
              <a:rPr lang="en-US" smtClean="0"/>
              <a:t>3</a:t>
            </a:fld>
            <a:endParaRPr lang="en-US"/>
          </a:p>
        </p:txBody>
      </p:sp>
    </p:spTree>
    <p:extLst>
      <p:ext uri="{BB962C8B-B14F-4D97-AF65-F5344CB8AC3E}">
        <p14:creationId xmlns:p14="http://schemas.microsoft.com/office/powerpoint/2010/main" val="3402961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33400"/>
            <a:ext cx="10363200" cy="762000"/>
          </a:xfrm>
        </p:spPr>
        <p:txBody>
          <a:bodyPr>
            <a:noAutofit/>
          </a:bodyPr>
          <a:lstStyle/>
          <a:p>
            <a:pPr algn="ctr"/>
            <a:r>
              <a:rPr lang="en-US" sz="4800" b="1" dirty="0">
                <a:solidFill>
                  <a:srgbClr val="0070C0"/>
                </a:solidFill>
              </a:rPr>
              <a:t>Academic Skills for Higher Education </a:t>
            </a:r>
          </a:p>
        </p:txBody>
      </p:sp>
      <p:sp>
        <p:nvSpPr>
          <p:cNvPr id="3" name="Subtitle 2"/>
          <p:cNvSpPr>
            <a:spLocks noGrp="1"/>
          </p:cNvSpPr>
          <p:nvPr>
            <p:ph type="subTitle" idx="1"/>
          </p:nvPr>
        </p:nvSpPr>
        <p:spPr>
          <a:xfrm>
            <a:off x="838200" y="2362200"/>
            <a:ext cx="8077200" cy="1371600"/>
          </a:xfrm>
        </p:spPr>
        <p:txBody>
          <a:bodyPr>
            <a:noAutofit/>
          </a:bodyPr>
          <a:lstStyle/>
          <a:p>
            <a:pPr algn="ctr"/>
            <a:r>
              <a:rPr lang="en-US" sz="3600" b="1" dirty="0">
                <a:solidFill>
                  <a:srgbClr val="0070C0"/>
                </a:solidFill>
              </a:rPr>
              <a:t>DOC 311 Introduction to the Module</a:t>
            </a:r>
          </a:p>
          <a:p>
            <a:pPr algn="ctr"/>
            <a:r>
              <a:rPr lang="en-US" sz="3600" b="1" dirty="0">
                <a:solidFill>
                  <a:srgbClr val="0070C0"/>
                </a:solidFill>
              </a:rPr>
              <a:t>2022/2023</a:t>
            </a:r>
          </a:p>
        </p:txBody>
      </p:sp>
    </p:spTree>
    <p:extLst>
      <p:ext uri="{BB962C8B-B14F-4D97-AF65-F5344CB8AC3E}">
        <p14:creationId xmlns:p14="http://schemas.microsoft.com/office/powerpoint/2010/main" val="27980470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0363200" cy="609600"/>
          </a:xfrm>
        </p:spPr>
        <p:txBody>
          <a:bodyPr>
            <a:normAutofit/>
          </a:bodyPr>
          <a:lstStyle/>
          <a:p>
            <a:r>
              <a:rPr lang="en-US" b="1" dirty="0">
                <a:solidFill>
                  <a:srgbClr val="0070C0"/>
                </a:solidFill>
              </a:rPr>
              <a:t>Module Content and Aims</a:t>
            </a:r>
          </a:p>
        </p:txBody>
      </p:sp>
      <p:sp>
        <p:nvSpPr>
          <p:cNvPr id="3" name="Content Placeholder 2"/>
          <p:cNvSpPr>
            <a:spLocks noGrp="1"/>
          </p:cNvSpPr>
          <p:nvPr>
            <p:ph idx="1"/>
          </p:nvPr>
        </p:nvSpPr>
        <p:spPr>
          <a:xfrm>
            <a:off x="457200" y="1066800"/>
            <a:ext cx="11201400" cy="4236720"/>
          </a:xfrm>
        </p:spPr>
        <p:txBody>
          <a:bodyPr>
            <a:normAutofit/>
          </a:bodyPr>
          <a:lstStyle/>
          <a:p>
            <a:pPr marL="0" indent="0">
              <a:buNone/>
            </a:pPr>
            <a:r>
              <a:rPr lang="en-US" sz="2400" b="1" dirty="0">
                <a:solidFill>
                  <a:srgbClr val="FF0000"/>
                </a:solidFill>
                <a:latin typeface="+mj-lt"/>
              </a:rPr>
              <a:t>CONTENT</a:t>
            </a:r>
          </a:p>
          <a:p>
            <a:pPr marL="0" indent="0" algn="just">
              <a:buNone/>
            </a:pPr>
            <a:r>
              <a:rPr lang="en-GB" sz="2400" dirty="0">
                <a:latin typeface="+mj-lt"/>
              </a:rPr>
              <a:t>This module aims to enhance Academic skills, such as the art of writing, reading, speaking, and listening in English, which are essential for preparing project reports, doing assignments, delivering oral presentations, and developing certain soft skills needed to face the working world.</a:t>
            </a:r>
          </a:p>
          <a:p>
            <a:pPr marL="0" indent="0">
              <a:lnSpc>
                <a:spcPct val="130000"/>
              </a:lnSpc>
              <a:spcBef>
                <a:spcPts val="600"/>
              </a:spcBef>
              <a:spcAft>
                <a:spcPts val="600"/>
              </a:spcAft>
              <a:buNone/>
            </a:pPr>
            <a:r>
              <a:rPr lang="en-US" sz="2400" b="1" dirty="0">
                <a:solidFill>
                  <a:srgbClr val="FF0000"/>
                </a:solidFill>
                <a:latin typeface="+mj-lt"/>
              </a:rPr>
              <a:t>AIM</a:t>
            </a:r>
          </a:p>
          <a:p>
            <a:pPr lvl="0" algn="just">
              <a:spcBef>
                <a:spcPts val="600"/>
              </a:spcBef>
              <a:spcAft>
                <a:spcPts val="600"/>
              </a:spcAft>
            </a:pPr>
            <a:r>
              <a:rPr lang="en-GB" sz="2400" dirty="0">
                <a:latin typeface="+mj-lt"/>
              </a:rPr>
              <a:t>To help students to communicate their written and spoken ideas in an academic setting.</a:t>
            </a:r>
          </a:p>
          <a:p>
            <a:pPr lvl="0" algn="just">
              <a:spcBef>
                <a:spcPts val="600"/>
              </a:spcBef>
              <a:spcAft>
                <a:spcPts val="600"/>
              </a:spcAft>
            </a:pPr>
            <a:r>
              <a:rPr lang="en-GB" sz="2400" dirty="0">
                <a:latin typeface="+mj-lt"/>
              </a:rPr>
              <a:t>To develop knowledge on different forms of written and oral communications.</a:t>
            </a:r>
          </a:p>
          <a:p>
            <a:pPr marL="0" indent="0" algn="just">
              <a:buNone/>
            </a:pPr>
            <a:endParaRPr lang="en-US" sz="2400" b="1" dirty="0">
              <a:solidFill>
                <a:srgbClr val="FF0000"/>
              </a:solidFill>
              <a:latin typeface="+mj-lt"/>
            </a:endParaRPr>
          </a:p>
        </p:txBody>
      </p:sp>
    </p:spTree>
    <p:extLst>
      <p:ext uri="{BB962C8B-B14F-4D97-AF65-F5344CB8AC3E}">
        <p14:creationId xmlns:p14="http://schemas.microsoft.com/office/powerpoint/2010/main" val="13884532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10287000" cy="457200"/>
          </a:xfrm>
        </p:spPr>
        <p:txBody>
          <a:bodyPr>
            <a:normAutofit/>
          </a:bodyPr>
          <a:lstStyle/>
          <a:p>
            <a:r>
              <a:rPr lang="en-US" sz="2400" b="1" dirty="0">
                <a:solidFill>
                  <a:srgbClr val="FF0000"/>
                </a:solidFill>
              </a:rPr>
              <a:t>LEARNING OBJECTIVES</a:t>
            </a:r>
          </a:p>
        </p:txBody>
      </p:sp>
      <p:sp>
        <p:nvSpPr>
          <p:cNvPr id="3" name="Content Placeholder 2"/>
          <p:cNvSpPr>
            <a:spLocks noGrp="1"/>
          </p:cNvSpPr>
          <p:nvPr>
            <p:ph idx="1"/>
          </p:nvPr>
        </p:nvSpPr>
        <p:spPr>
          <a:xfrm>
            <a:off x="685800" y="914400"/>
            <a:ext cx="10439400" cy="4389120"/>
          </a:xfrm>
        </p:spPr>
        <p:txBody>
          <a:bodyPr>
            <a:normAutofit/>
          </a:bodyPr>
          <a:lstStyle/>
          <a:p>
            <a:pPr marL="0" indent="0">
              <a:lnSpc>
                <a:spcPct val="120000"/>
              </a:lnSpc>
              <a:spcBef>
                <a:spcPts val="600"/>
              </a:spcBef>
              <a:spcAft>
                <a:spcPts val="600"/>
              </a:spcAft>
              <a:buNone/>
            </a:pPr>
            <a:r>
              <a:rPr lang="en-GB" sz="2400" dirty="0">
                <a:latin typeface="+mj-lt"/>
              </a:rPr>
              <a:t>On completing this module, the students should be able to:</a:t>
            </a:r>
          </a:p>
          <a:p>
            <a:pPr lvl="0">
              <a:lnSpc>
                <a:spcPct val="120000"/>
              </a:lnSpc>
              <a:spcBef>
                <a:spcPts val="600"/>
              </a:spcBef>
              <a:spcAft>
                <a:spcPts val="600"/>
              </a:spcAft>
            </a:pPr>
            <a:r>
              <a:rPr lang="en-GB" sz="2400" dirty="0">
                <a:latin typeface="+mj-lt"/>
              </a:rPr>
              <a:t>Demonstrate the ability to use different forms of writing, paragraphs, essays, reports, etc.</a:t>
            </a:r>
          </a:p>
          <a:p>
            <a:pPr lvl="0">
              <a:lnSpc>
                <a:spcPct val="120000"/>
              </a:lnSpc>
              <a:spcBef>
                <a:spcPts val="600"/>
              </a:spcBef>
              <a:spcAft>
                <a:spcPts val="600"/>
              </a:spcAft>
            </a:pPr>
            <a:r>
              <a:rPr lang="en-GB" sz="2400" dirty="0">
                <a:latin typeface="+mj-lt"/>
              </a:rPr>
              <a:t>Prepare project reports. </a:t>
            </a:r>
          </a:p>
          <a:p>
            <a:pPr lvl="0">
              <a:lnSpc>
                <a:spcPct val="120000"/>
              </a:lnSpc>
              <a:spcBef>
                <a:spcPts val="600"/>
              </a:spcBef>
              <a:spcAft>
                <a:spcPts val="600"/>
              </a:spcAft>
            </a:pPr>
            <a:r>
              <a:rPr lang="en-GB" sz="2400" dirty="0">
                <a:latin typeface="+mj-lt"/>
              </a:rPr>
              <a:t>Demonstrate professional presentation techniques. </a:t>
            </a:r>
          </a:p>
          <a:p>
            <a:pPr lvl="0">
              <a:lnSpc>
                <a:spcPct val="120000"/>
              </a:lnSpc>
              <a:spcBef>
                <a:spcPts val="600"/>
              </a:spcBef>
              <a:spcAft>
                <a:spcPts val="600"/>
              </a:spcAft>
            </a:pPr>
            <a:r>
              <a:rPr lang="en-GB" sz="2400" dirty="0">
                <a:latin typeface="+mj-lt"/>
              </a:rPr>
              <a:t>Convey a given message or theme via presentations, speeches. </a:t>
            </a:r>
          </a:p>
          <a:p>
            <a:pPr lvl="0">
              <a:lnSpc>
                <a:spcPct val="120000"/>
              </a:lnSpc>
              <a:spcBef>
                <a:spcPts val="600"/>
              </a:spcBef>
              <a:spcAft>
                <a:spcPts val="600"/>
              </a:spcAft>
            </a:pPr>
            <a:r>
              <a:rPr lang="en-GB" sz="2400" dirty="0">
                <a:latin typeface="+mj-lt"/>
              </a:rPr>
              <a:t>Participate and contribute to group discussions.</a:t>
            </a:r>
          </a:p>
        </p:txBody>
      </p:sp>
    </p:spTree>
    <p:extLst>
      <p:ext uri="{BB962C8B-B14F-4D97-AF65-F5344CB8AC3E}">
        <p14:creationId xmlns:p14="http://schemas.microsoft.com/office/powerpoint/2010/main" val="30500802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10287000" cy="304800"/>
          </a:xfrm>
        </p:spPr>
        <p:txBody>
          <a:bodyPr>
            <a:normAutofit fontScale="90000"/>
          </a:bodyPr>
          <a:lstStyle/>
          <a:p>
            <a:r>
              <a:rPr lang="en-US" sz="2400" b="1" dirty="0">
                <a:solidFill>
                  <a:srgbClr val="FF0000"/>
                </a:solidFill>
              </a:rPr>
              <a:t>SYLLABUS CONTENT</a:t>
            </a:r>
          </a:p>
        </p:txBody>
      </p:sp>
      <p:sp>
        <p:nvSpPr>
          <p:cNvPr id="3" name="Content Placeholder 2"/>
          <p:cNvSpPr>
            <a:spLocks noGrp="1"/>
          </p:cNvSpPr>
          <p:nvPr>
            <p:ph idx="1"/>
          </p:nvPr>
        </p:nvSpPr>
        <p:spPr>
          <a:xfrm>
            <a:off x="381000" y="457200"/>
            <a:ext cx="11277600" cy="4876800"/>
          </a:xfrm>
        </p:spPr>
        <p:txBody>
          <a:bodyPr>
            <a:noAutofit/>
          </a:bodyPr>
          <a:lstStyle/>
          <a:p>
            <a:pPr marL="0" indent="0">
              <a:spcBef>
                <a:spcPts val="600"/>
              </a:spcBef>
              <a:spcAft>
                <a:spcPts val="600"/>
              </a:spcAft>
              <a:buNone/>
            </a:pPr>
            <a:r>
              <a:rPr lang="en-GB" sz="1800" b="1" dirty="0">
                <a:latin typeface="+mj-lt"/>
              </a:rPr>
              <a:t>Grammar</a:t>
            </a:r>
            <a:endParaRPr lang="en-GB" sz="1800" dirty="0">
              <a:latin typeface="+mj-lt"/>
            </a:endParaRPr>
          </a:p>
          <a:p>
            <a:pPr>
              <a:spcBef>
                <a:spcPts val="600"/>
              </a:spcBef>
              <a:spcAft>
                <a:spcPts val="600"/>
              </a:spcAft>
            </a:pPr>
            <a:r>
              <a:rPr lang="en-GB" sz="1800" dirty="0">
                <a:latin typeface="+mj-lt"/>
              </a:rPr>
              <a:t>Remedial English / Grammar: focussing on sentence construction and correct use of language.</a:t>
            </a:r>
          </a:p>
          <a:p>
            <a:pPr lvl="0">
              <a:spcBef>
                <a:spcPts val="600"/>
              </a:spcBef>
              <a:spcAft>
                <a:spcPts val="600"/>
              </a:spcAft>
              <a:buNone/>
            </a:pPr>
            <a:r>
              <a:rPr lang="en-GB" sz="1800" b="1" dirty="0">
                <a:latin typeface="+mj-lt"/>
              </a:rPr>
              <a:t>Oral Communication</a:t>
            </a:r>
            <a:endParaRPr lang="en-GB" sz="1800" dirty="0">
              <a:latin typeface="+mj-lt"/>
            </a:endParaRPr>
          </a:p>
          <a:p>
            <a:pPr>
              <a:spcBef>
                <a:spcPts val="600"/>
              </a:spcBef>
              <a:spcAft>
                <a:spcPts val="600"/>
              </a:spcAft>
            </a:pPr>
            <a:r>
              <a:rPr lang="en-GB" sz="1800" dirty="0">
                <a:latin typeface="+mj-lt"/>
              </a:rPr>
              <a:t>Conducting, presentations, group discussion</a:t>
            </a:r>
          </a:p>
          <a:p>
            <a:pPr lvl="0">
              <a:spcBef>
                <a:spcPts val="600"/>
              </a:spcBef>
              <a:spcAft>
                <a:spcPts val="600"/>
              </a:spcAft>
              <a:buNone/>
            </a:pPr>
            <a:r>
              <a:rPr lang="en-GB" sz="1800" b="1" dirty="0">
                <a:latin typeface="+mj-lt"/>
              </a:rPr>
              <a:t>Written Communication</a:t>
            </a:r>
            <a:endParaRPr lang="en-GB" sz="1800" dirty="0">
              <a:latin typeface="+mj-lt"/>
            </a:endParaRPr>
          </a:p>
          <a:p>
            <a:pPr>
              <a:spcBef>
                <a:spcPts val="600"/>
              </a:spcBef>
              <a:spcAft>
                <a:spcPts val="600"/>
              </a:spcAft>
            </a:pPr>
            <a:r>
              <a:rPr lang="en-GB" sz="1800" dirty="0">
                <a:latin typeface="+mj-lt"/>
              </a:rPr>
              <a:t>Summaries, essays, and writing articles to different forums</a:t>
            </a:r>
          </a:p>
          <a:p>
            <a:pPr lvl="0">
              <a:spcBef>
                <a:spcPts val="600"/>
              </a:spcBef>
              <a:spcAft>
                <a:spcPts val="600"/>
              </a:spcAft>
              <a:buNone/>
            </a:pPr>
            <a:r>
              <a:rPr lang="en-GB" sz="1800" b="1" dirty="0">
                <a:latin typeface="+mj-lt"/>
              </a:rPr>
              <a:t>Specialised Writing</a:t>
            </a:r>
            <a:r>
              <a:rPr lang="en-GB" sz="1800" dirty="0">
                <a:latin typeface="+mj-lt"/>
              </a:rPr>
              <a:t> </a:t>
            </a:r>
          </a:p>
          <a:p>
            <a:pPr>
              <a:spcBef>
                <a:spcPts val="600"/>
              </a:spcBef>
              <a:spcAft>
                <a:spcPts val="600"/>
              </a:spcAft>
            </a:pPr>
            <a:r>
              <a:rPr lang="en-GB" sz="1800" dirty="0">
                <a:latin typeface="+mj-lt"/>
              </a:rPr>
              <a:t>Report writing, narrative and descriptive writing, etc.</a:t>
            </a:r>
          </a:p>
          <a:p>
            <a:pPr lvl="0">
              <a:spcBef>
                <a:spcPts val="600"/>
              </a:spcBef>
              <a:spcAft>
                <a:spcPts val="600"/>
              </a:spcAft>
              <a:buNone/>
            </a:pPr>
            <a:r>
              <a:rPr lang="en-GB" sz="1800" b="1" dirty="0">
                <a:latin typeface="+mj-lt"/>
              </a:rPr>
              <a:t>Group Discussion</a:t>
            </a:r>
            <a:endParaRPr lang="en-GB" sz="1800" dirty="0">
              <a:latin typeface="+mj-lt"/>
            </a:endParaRPr>
          </a:p>
          <a:p>
            <a:pPr>
              <a:spcBef>
                <a:spcPts val="600"/>
              </a:spcBef>
              <a:spcAft>
                <a:spcPts val="600"/>
              </a:spcAft>
            </a:pPr>
            <a:r>
              <a:rPr lang="en-GB" sz="1800" dirty="0">
                <a:latin typeface="+mj-lt"/>
              </a:rPr>
              <a:t>Conducting meetings, group assignments, etc. </a:t>
            </a:r>
          </a:p>
          <a:p>
            <a:pPr lvl="0">
              <a:spcBef>
                <a:spcPts val="600"/>
              </a:spcBef>
              <a:spcAft>
                <a:spcPts val="600"/>
              </a:spcAft>
              <a:buNone/>
            </a:pPr>
            <a:r>
              <a:rPr lang="en-GB" sz="1800" b="1" dirty="0">
                <a:latin typeface="+mj-lt"/>
              </a:rPr>
              <a:t>Presentation Techniques</a:t>
            </a:r>
            <a:endParaRPr lang="en-GB" sz="1800" dirty="0">
              <a:latin typeface="+mj-lt"/>
            </a:endParaRPr>
          </a:p>
          <a:p>
            <a:pPr>
              <a:spcBef>
                <a:spcPts val="600"/>
              </a:spcBef>
              <a:spcAft>
                <a:spcPts val="600"/>
              </a:spcAft>
            </a:pPr>
            <a:r>
              <a:rPr lang="en-GB" sz="1800" dirty="0">
                <a:latin typeface="+mj-lt"/>
              </a:rPr>
              <a:t>Formal and informal presentations (group or individual).</a:t>
            </a:r>
            <a:endParaRPr lang="en-US" sz="1800" dirty="0">
              <a:latin typeface="+mj-lt"/>
            </a:endParaRPr>
          </a:p>
        </p:txBody>
      </p:sp>
    </p:spTree>
    <p:extLst>
      <p:ext uri="{BB962C8B-B14F-4D97-AF65-F5344CB8AC3E}">
        <p14:creationId xmlns:p14="http://schemas.microsoft.com/office/powerpoint/2010/main" val="33506011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0363200" cy="533400"/>
          </a:xfrm>
        </p:spPr>
        <p:txBody>
          <a:bodyPr>
            <a:normAutofit/>
          </a:bodyPr>
          <a:lstStyle/>
          <a:p>
            <a:r>
              <a:rPr lang="en-US" sz="2400" b="1" dirty="0">
                <a:solidFill>
                  <a:srgbClr val="FF0000"/>
                </a:solidFill>
              </a:rPr>
              <a:t>RECOMMENDED READING</a:t>
            </a:r>
          </a:p>
        </p:txBody>
      </p:sp>
      <p:pic>
        <p:nvPicPr>
          <p:cNvPr id="13" name="Picture Placeholder 12"/>
          <p:cNvPicPr>
            <a:picLocks noGrp="1" noChangeAspect="1"/>
          </p:cNvPicPr>
          <p:nvPr>
            <p:ph type="pic" idx="1"/>
          </p:nvPr>
        </p:nvPicPr>
        <p:blipFill>
          <a:blip r:embed="rId3">
            <a:extLst>
              <a:ext uri="{28A0092B-C50C-407E-A947-70E740481C1C}">
                <a14:useLocalDpi xmlns:a14="http://schemas.microsoft.com/office/drawing/2010/main" val="0"/>
              </a:ext>
            </a:extLst>
          </a:blip>
          <a:srcRect l="4671" r="4671"/>
          <a:stretch>
            <a:fillRect/>
          </a:stretch>
        </p:blipFill>
        <p:spPr>
          <a:xfrm>
            <a:off x="914400" y="1752600"/>
            <a:ext cx="5334000" cy="3185583"/>
          </a:xfrm>
        </p:spPr>
      </p:pic>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58400" y="2286000"/>
            <a:ext cx="1636610" cy="1846997"/>
          </a:xfrm>
          <a:prstGeom prst="rect">
            <a:avLst/>
          </a:prstGeom>
        </p:spPr>
      </p:pic>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6636808" y="1897591"/>
            <a:ext cx="3642784" cy="2438400"/>
          </a:xfrm>
          <a:prstGeom prst="rect">
            <a:avLst/>
          </a:prstGeom>
        </p:spPr>
      </p:pic>
    </p:spTree>
    <p:extLst>
      <p:ext uri="{BB962C8B-B14F-4D97-AF65-F5344CB8AC3E}">
        <p14:creationId xmlns:p14="http://schemas.microsoft.com/office/powerpoint/2010/main" val="23338939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10515600" cy="609600"/>
          </a:xfrm>
        </p:spPr>
        <p:txBody>
          <a:bodyPr>
            <a:normAutofit/>
          </a:bodyPr>
          <a:lstStyle/>
          <a:p>
            <a:r>
              <a:rPr lang="en-US" sz="2400" b="1" dirty="0">
                <a:solidFill>
                  <a:srgbClr val="FF0000"/>
                </a:solidFill>
              </a:rPr>
              <a:t>RECOMMENDED READING – Text Books</a:t>
            </a:r>
            <a:endParaRPr lang="en-US" sz="2400" dirty="0"/>
          </a:p>
        </p:txBody>
      </p:sp>
      <p:sp>
        <p:nvSpPr>
          <p:cNvPr id="5" name="Rectangle 4"/>
          <p:cNvSpPr/>
          <p:nvPr/>
        </p:nvSpPr>
        <p:spPr>
          <a:xfrm>
            <a:off x="304800" y="609600"/>
            <a:ext cx="11430000" cy="4308872"/>
          </a:xfrm>
          <a:prstGeom prst="rect">
            <a:avLst/>
          </a:prstGeom>
        </p:spPr>
        <p:txBody>
          <a:bodyPr wrap="square">
            <a:spAutoFit/>
          </a:bodyPr>
          <a:lstStyle/>
          <a:p>
            <a:pPr marL="520700" lvl="0" indent="-520700">
              <a:buNone/>
            </a:pPr>
            <a:r>
              <a:rPr lang="en-GB" dirty="0"/>
              <a:t>1.	Cottrell, S., (2003). </a:t>
            </a:r>
            <a:r>
              <a:rPr lang="en-GB" i="1" dirty="0"/>
              <a:t>The study skills handbook</a:t>
            </a:r>
            <a:r>
              <a:rPr lang="en-GB" dirty="0"/>
              <a:t>. 2nd ed. Basingstoke, Hampshire: Palgrave Macmillan.</a:t>
            </a:r>
          </a:p>
          <a:p>
            <a:pPr marL="520700" indent="-520700" algn="r">
              <a:spcBef>
                <a:spcPts val="0"/>
              </a:spcBef>
              <a:buNone/>
            </a:pPr>
            <a:r>
              <a:rPr lang="en-GB" dirty="0"/>
              <a:t>					</a:t>
            </a:r>
            <a:r>
              <a:rPr lang="en-GB" b="1" dirty="0">
                <a:solidFill>
                  <a:schemeClr val="accent3">
                    <a:lumMod val="50000"/>
                  </a:schemeClr>
                </a:solidFill>
              </a:rPr>
              <a:t>(</a:t>
            </a:r>
            <a:r>
              <a:rPr lang="en-GB" b="1" i="1" dirty="0">
                <a:solidFill>
                  <a:schemeClr val="accent3">
                    <a:lumMod val="50000"/>
                  </a:schemeClr>
                </a:solidFill>
              </a:rPr>
              <a:t>library call number: 371 COT C-4</a:t>
            </a:r>
            <a:r>
              <a:rPr lang="en-GB" b="1" dirty="0">
                <a:solidFill>
                  <a:schemeClr val="accent3">
                    <a:lumMod val="50000"/>
                  </a:schemeClr>
                </a:solidFill>
              </a:rPr>
              <a:t>)</a:t>
            </a:r>
          </a:p>
          <a:p>
            <a:pPr marL="520700" indent="-520700">
              <a:spcBef>
                <a:spcPts val="1200"/>
              </a:spcBef>
              <a:buNone/>
            </a:pPr>
            <a:r>
              <a:rPr lang="en-GB" dirty="0"/>
              <a:t>2.	</a:t>
            </a:r>
            <a:r>
              <a:rPr lang="en-GB" dirty="0" err="1"/>
              <a:t>Greetham</a:t>
            </a:r>
            <a:r>
              <a:rPr lang="en-GB" dirty="0"/>
              <a:t>, B., (2001). </a:t>
            </a:r>
            <a:r>
              <a:rPr lang="en-GB" i="1" dirty="0"/>
              <a:t>How to write better essays</a:t>
            </a:r>
            <a:r>
              <a:rPr lang="en-GB" dirty="0"/>
              <a:t>. Basingstoke, Hampshire: Palgrave Macmillan.</a:t>
            </a:r>
          </a:p>
          <a:p>
            <a:pPr marL="520700" indent="-520700" algn="r">
              <a:spcBef>
                <a:spcPts val="0"/>
              </a:spcBef>
              <a:buNone/>
            </a:pPr>
            <a:r>
              <a:rPr lang="en-GB" dirty="0"/>
              <a:t>					</a:t>
            </a:r>
            <a:r>
              <a:rPr lang="en-GB" b="1" dirty="0">
                <a:solidFill>
                  <a:schemeClr val="accent3">
                    <a:lumMod val="50000"/>
                  </a:schemeClr>
                </a:solidFill>
              </a:rPr>
              <a:t>(</a:t>
            </a:r>
            <a:r>
              <a:rPr lang="en-GB" b="1" i="1" dirty="0">
                <a:solidFill>
                  <a:schemeClr val="accent3">
                    <a:lumMod val="50000"/>
                  </a:schemeClr>
                </a:solidFill>
              </a:rPr>
              <a:t>library call number: 808.02 GREI C-2</a:t>
            </a:r>
            <a:r>
              <a:rPr lang="en-GB" b="1" dirty="0">
                <a:solidFill>
                  <a:schemeClr val="accent3">
                    <a:lumMod val="50000"/>
                  </a:schemeClr>
                </a:solidFill>
              </a:rPr>
              <a:t>)</a:t>
            </a:r>
          </a:p>
          <a:p>
            <a:pPr marL="520700" lvl="0" indent="-520700">
              <a:spcBef>
                <a:spcPts val="1200"/>
              </a:spcBef>
              <a:buNone/>
            </a:pPr>
            <a:r>
              <a:rPr lang="en-GB" dirty="0"/>
              <a:t>3.	Harvard Business School, (2007). </a:t>
            </a:r>
            <a:r>
              <a:rPr lang="en-GB" i="1" dirty="0"/>
              <a:t>Giving presentations: expert solutions to everyday challenges</a:t>
            </a:r>
            <a:r>
              <a:rPr lang="en-GB" dirty="0"/>
              <a:t>. Boston, Mass.: Harvard Business School Press.</a:t>
            </a:r>
          </a:p>
          <a:p>
            <a:pPr marL="520700" indent="-520700" algn="r">
              <a:spcBef>
                <a:spcPts val="0"/>
              </a:spcBef>
              <a:buNone/>
            </a:pPr>
            <a:r>
              <a:rPr lang="en-GB" dirty="0"/>
              <a:t>				</a:t>
            </a:r>
            <a:r>
              <a:rPr lang="en-GB" b="1" dirty="0">
                <a:solidFill>
                  <a:schemeClr val="accent3">
                    <a:lumMod val="50000"/>
                  </a:schemeClr>
                </a:solidFill>
              </a:rPr>
              <a:t>(</a:t>
            </a:r>
            <a:r>
              <a:rPr lang="en-GB" b="1" i="1" dirty="0">
                <a:solidFill>
                  <a:schemeClr val="accent3">
                    <a:lumMod val="50000"/>
                  </a:schemeClr>
                </a:solidFill>
              </a:rPr>
              <a:t>Reference copy – please ask librarian for book</a:t>
            </a:r>
            <a:r>
              <a:rPr lang="en-GB" b="1" dirty="0">
                <a:solidFill>
                  <a:schemeClr val="accent3">
                    <a:lumMod val="50000"/>
                  </a:schemeClr>
                </a:solidFill>
              </a:rPr>
              <a:t>)</a:t>
            </a:r>
          </a:p>
          <a:p>
            <a:pPr marL="520700" lvl="0" indent="-520700">
              <a:spcBef>
                <a:spcPts val="1200"/>
              </a:spcBef>
              <a:buNone/>
            </a:pPr>
            <a:r>
              <a:rPr lang="en-GB" dirty="0"/>
              <a:t>4.	Jay, R. and Jay, A., (2004). </a:t>
            </a:r>
            <a:r>
              <a:rPr lang="en-GB" i="1" dirty="0"/>
              <a:t>Effective presentations: how to create and deliver a winning presentation</a:t>
            </a:r>
            <a:r>
              <a:rPr lang="en-GB" dirty="0"/>
              <a:t>. London: Pearson Education</a:t>
            </a:r>
          </a:p>
          <a:p>
            <a:pPr marL="520700" lvl="0" indent="-520700" algn="r">
              <a:spcBef>
                <a:spcPts val="0"/>
              </a:spcBef>
              <a:buNone/>
            </a:pPr>
            <a:r>
              <a:rPr lang="en-GB" dirty="0"/>
              <a:t>					</a:t>
            </a:r>
            <a:r>
              <a:rPr lang="en-GB" b="1" dirty="0">
                <a:solidFill>
                  <a:schemeClr val="accent3">
                    <a:lumMod val="50000"/>
                  </a:schemeClr>
                </a:solidFill>
              </a:rPr>
              <a:t>(</a:t>
            </a:r>
            <a:r>
              <a:rPr lang="en-GB" b="1" i="1" dirty="0">
                <a:solidFill>
                  <a:schemeClr val="accent3">
                    <a:lumMod val="50000"/>
                  </a:schemeClr>
                </a:solidFill>
              </a:rPr>
              <a:t>Library call number: 808.66 JAY C-2</a:t>
            </a:r>
            <a:r>
              <a:rPr lang="en-GB" b="1" dirty="0">
                <a:solidFill>
                  <a:schemeClr val="accent3">
                    <a:lumMod val="50000"/>
                  </a:schemeClr>
                </a:solidFill>
              </a:rPr>
              <a:t>)</a:t>
            </a:r>
          </a:p>
          <a:p>
            <a:pPr marL="520700" indent="-520700">
              <a:spcBef>
                <a:spcPts val="1200"/>
              </a:spcBef>
              <a:buNone/>
            </a:pPr>
            <a:r>
              <a:rPr lang="en-GB" dirty="0"/>
              <a:t>5.	Wren, P.C. and Martin, H., (2005). </a:t>
            </a:r>
            <a:r>
              <a:rPr lang="en-GB" i="1" dirty="0"/>
              <a:t>High School English Grammar &amp; Composition</a:t>
            </a:r>
            <a:r>
              <a:rPr lang="en-GB" dirty="0"/>
              <a:t>. Revised by N. D. V. </a:t>
            </a:r>
            <a:r>
              <a:rPr lang="en-GB" dirty="0" err="1"/>
              <a:t>Prasada</a:t>
            </a:r>
            <a:r>
              <a:rPr lang="en-GB" dirty="0"/>
              <a:t> Rao. New Delhi: S. Chand.</a:t>
            </a:r>
          </a:p>
          <a:p>
            <a:pPr marL="520700" indent="-520700" algn="r">
              <a:spcBef>
                <a:spcPts val="0"/>
              </a:spcBef>
              <a:buNone/>
            </a:pPr>
            <a:r>
              <a:rPr lang="en-GB" dirty="0"/>
              <a:t>	</a:t>
            </a:r>
            <a:r>
              <a:rPr lang="en-GB" b="1" dirty="0">
                <a:solidFill>
                  <a:schemeClr val="accent3">
                    <a:lumMod val="50000"/>
                  </a:schemeClr>
                </a:solidFill>
              </a:rPr>
              <a:t>(</a:t>
            </a:r>
            <a:r>
              <a:rPr lang="en-GB" b="1" i="1" dirty="0">
                <a:solidFill>
                  <a:schemeClr val="accent3">
                    <a:lumMod val="50000"/>
                  </a:schemeClr>
                </a:solidFill>
              </a:rPr>
              <a:t>Library call number: 808</a:t>
            </a:r>
            <a:r>
              <a:rPr lang="en-GB" b="1" dirty="0">
                <a:solidFill>
                  <a:schemeClr val="accent3">
                    <a:lumMod val="50000"/>
                  </a:schemeClr>
                </a:solidFill>
              </a:rPr>
              <a:t>)</a:t>
            </a:r>
            <a:endParaRPr lang="en-US" dirty="0"/>
          </a:p>
        </p:txBody>
      </p:sp>
      <p:pic>
        <p:nvPicPr>
          <p:cNvPr id="7"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62600" y="4495800"/>
            <a:ext cx="1295400" cy="1509215"/>
          </a:xfrm>
          <a:prstGeom prst="rect">
            <a:avLst/>
          </a:prstGeom>
        </p:spPr>
      </p:pic>
    </p:spTree>
    <p:extLst>
      <p:ext uri="{BB962C8B-B14F-4D97-AF65-F5344CB8AC3E}">
        <p14:creationId xmlns:p14="http://schemas.microsoft.com/office/powerpoint/2010/main" val="34788998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11277600" cy="457200"/>
          </a:xfrm>
        </p:spPr>
        <p:txBody>
          <a:bodyPr>
            <a:normAutofit/>
          </a:bodyPr>
          <a:lstStyle/>
          <a:p>
            <a:r>
              <a:rPr lang="en-US" sz="2400" b="1" dirty="0">
                <a:solidFill>
                  <a:srgbClr val="FF0000"/>
                </a:solidFill>
              </a:rPr>
              <a:t>RECOMMENDED READING (Cont’d…)</a:t>
            </a:r>
            <a:endParaRPr lang="en-US" sz="2400" dirty="0"/>
          </a:p>
        </p:txBody>
      </p:sp>
      <p:sp>
        <p:nvSpPr>
          <p:cNvPr id="3" name="Content Placeholder 2"/>
          <p:cNvSpPr>
            <a:spLocks noGrp="1"/>
          </p:cNvSpPr>
          <p:nvPr>
            <p:ph idx="1"/>
          </p:nvPr>
        </p:nvSpPr>
        <p:spPr>
          <a:xfrm>
            <a:off x="381000" y="685800"/>
            <a:ext cx="11277600" cy="4419600"/>
          </a:xfrm>
        </p:spPr>
        <p:txBody>
          <a:bodyPr>
            <a:normAutofit/>
          </a:bodyPr>
          <a:lstStyle/>
          <a:p>
            <a:pPr marL="0" lvl="0" indent="0" eaLnBrk="0" fontAlgn="base" hangingPunct="0">
              <a:lnSpc>
                <a:spcPct val="100000"/>
              </a:lnSpc>
              <a:spcBef>
                <a:spcPts val="400"/>
              </a:spcBef>
              <a:spcAft>
                <a:spcPts val="400"/>
              </a:spcAft>
              <a:buClr>
                <a:srgbClr val="003399"/>
              </a:buClr>
              <a:buSzPct val="80000"/>
              <a:buNone/>
            </a:pPr>
            <a:r>
              <a:rPr lang="en-GB" sz="2600" b="1" u="sng" dirty="0">
                <a:solidFill>
                  <a:prstClr val="black"/>
                </a:solidFill>
                <a:latin typeface="+mj-lt"/>
                <a:cs typeface="Arial" pitchFamily="34" charset="0"/>
              </a:rPr>
              <a:t>General Reading</a:t>
            </a:r>
          </a:p>
          <a:p>
            <a:pPr marL="914400" lvl="0" indent="-914400" eaLnBrk="0" fontAlgn="base" hangingPunct="0">
              <a:lnSpc>
                <a:spcPct val="100000"/>
              </a:lnSpc>
              <a:spcBef>
                <a:spcPts val="400"/>
              </a:spcBef>
              <a:spcAft>
                <a:spcPts val="400"/>
              </a:spcAft>
              <a:buClr>
                <a:srgbClr val="003399"/>
              </a:buClr>
              <a:buSzPct val="80000"/>
              <a:buNone/>
            </a:pPr>
            <a:r>
              <a:rPr lang="en-GB" i="1" dirty="0">
                <a:solidFill>
                  <a:prstClr val="black"/>
                </a:solidFill>
                <a:latin typeface="+mj-lt"/>
                <a:cs typeface="Arial" pitchFamily="34" charset="0"/>
              </a:rPr>
              <a:t>Reader’s Digest Magazine</a:t>
            </a:r>
            <a:r>
              <a:rPr lang="en-GB" dirty="0">
                <a:solidFill>
                  <a:prstClr val="black"/>
                </a:solidFill>
                <a:latin typeface="+mj-lt"/>
                <a:cs typeface="Arial" pitchFamily="34" charset="0"/>
              </a:rPr>
              <a:t> (monthly magazine) </a:t>
            </a:r>
          </a:p>
          <a:p>
            <a:pPr marL="914400" lvl="0" indent="-914400" eaLnBrk="0" fontAlgn="base" hangingPunct="0">
              <a:lnSpc>
                <a:spcPct val="100000"/>
              </a:lnSpc>
              <a:spcBef>
                <a:spcPts val="400"/>
              </a:spcBef>
              <a:spcAft>
                <a:spcPts val="400"/>
              </a:spcAft>
              <a:buClr>
                <a:srgbClr val="003399"/>
              </a:buClr>
              <a:buSzPct val="80000"/>
              <a:buNone/>
            </a:pPr>
            <a:r>
              <a:rPr lang="en-GB" dirty="0">
                <a:solidFill>
                  <a:prstClr val="black"/>
                </a:solidFill>
                <a:latin typeface="+mj-lt"/>
                <a:cs typeface="Arial" pitchFamily="34" charset="0"/>
              </a:rPr>
              <a:t>									</a:t>
            </a:r>
            <a:r>
              <a:rPr lang="en-GB" dirty="0">
                <a:solidFill>
                  <a:prstClr val="black"/>
                </a:solidFill>
                <a:cs typeface="Arial" pitchFamily="34" charset="0"/>
              </a:rPr>
              <a:t>IIT library</a:t>
            </a:r>
            <a:endParaRPr lang="en-GB" dirty="0">
              <a:solidFill>
                <a:prstClr val="black"/>
              </a:solidFill>
              <a:latin typeface="+mj-lt"/>
              <a:cs typeface="Arial" pitchFamily="34" charset="0"/>
            </a:endParaRPr>
          </a:p>
          <a:p>
            <a:pPr marL="914400" lvl="0" indent="-914400" eaLnBrk="0" fontAlgn="base" hangingPunct="0">
              <a:lnSpc>
                <a:spcPct val="100000"/>
              </a:lnSpc>
              <a:spcBef>
                <a:spcPts val="400"/>
              </a:spcBef>
              <a:spcAft>
                <a:spcPts val="400"/>
              </a:spcAft>
              <a:buClr>
                <a:srgbClr val="003399"/>
              </a:buClr>
              <a:buSzPct val="80000"/>
              <a:buNone/>
            </a:pPr>
            <a:r>
              <a:rPr lang="en-GB" i="1" dirty="0">
                <a:solidFill>
                  <a:prstClr val="black"/>
                </a:solidFill>
                <a:latin typeface="+mj-lt"/>
                <a:cs typeface="Arial" pitchFamily="34" charset="0"/>
              </a:rPr>
              <a:t>National Geographic Magazine</a:t>
            </a:r>
            <a:endParaRPr lang="en-GB" dirty="0">
              <a:solidFill>
                <a:prstClr val="black"/>
              </a:solidFill>
              <a:latin typeface="+mj-lt"/>
              <a:cs typeface="Arial" pitchFamily="34" charset="0"/>
            </a:endParaRPr>
          </a:p>
          <a:p>
            <a:pPr marL="0" lvl="0" indent="0" eaLnBrk="0" fontAlgn="base" hangingPunct="0">
              <a:lnSpc>
                <a:spcPct val="100000"/>
              </a:lnSpc>
              <a:spcBef>
                <a:spcPts val="400"/>
              </a:spcBef>
              <a:spcAft>
                <a:spcPts val="400"/>
              </a:spcAft>
              <a:buClr>
                <a:srgbClr val="003399"/>
              </a:buClr>
              <a:buSzPct val="80000"/>
              <a:buNone/>
            </a:pPr>
            <a:endParaRPr lang="en-GB" sz="2600" b="1" u="sng" dirty="0">
              <a:solidFill>
                <a:prstClr val="black"/>
              </a:solidFill>
              <a:latin typeface="+mj-lt"/>
              <a:cs typeface="Arial" pitchFamily="34" charset="0"/>
            </a:endParaRPr>
          </a:p>
          <a:p>
            <a:pPr marL="0" lvl="0" indent="0" eaLnBrk="0" fontAlgn="base" hangingPunct="0">
              <a:lnSpc>
                <a:spcPct val="100000"/>
              </a:lnSpc>
              <a:spcBef>
                <a:spcPts val="400"/>
              </a:spcBef>
              <a:spcAft>
                <a:spcPts val="400"/>
              </a:spcAft>
              <a:buClr>
                <a:srgbClr val="003399"/>
              </a:buClr>
              <a:buSzPct val="80000"/>
              <a:buNone/>
            </a:pPr>
            <a:endParaRPr lang="en-GB" sz="2600" b="1" u="sng" dirty="0">
              <a:solidFill>
                <a:prstClr val="black"/>
              </a:solidFill>
              <a:latin typeface="+mj-lt"/>
              <a:cs typeface="Arial" pitchFamily="34" charset="0"/>
            </a:endParaRPr>
          </a:p>
          <a:p>
            <a:pPr marL="0" lvl="0" indent="0" eaLnBrk="0" fontAlgn="base" hangingPunct="0">
              <a:lnSpc>
                <a:spcPct val="100000"/>
              </a:lnSpc>
              <a:spcBef>
                <a:spcPts val="400"/>
              </a:spcBef>
              <a:spcAft>
                <a:spcPts val="400"/>
              </a:spcAft>
              <a:buClr>
                <a:srgbClr val="003399"/>
              </a:buClr>
              <a:buSzPct val="80000"/>
              <a:buNone/>
            </a:pPr>
            <a:r>
              <a:rPr lang="en-GB" sz="2600" b="1" u="sng" dirty="0">
                <a:solidFill>
                  <a:prstClr val="black"/>
                </a:solidFill>
                <a:latin typeface="+mj-lt"/>
                <a:cs typeface="Arial" pitchFamily="34" charset="0"/>
              </a:rPr>
              <a:t>Online:</a:t>
            </a:r>
          </a:p>
          <a:p>
            <a:pPr marL="0" lvl="0" indent="0" eaLnBrk="0" fontAlgn="base" hangingPunct="0">
              <a:lnSpc>
                <a:spcPct val="100000"/>
              </a:lnSpc>
              <a:spcBef>
                <a:spcPts val="400"/>
              </a:spcBef>
              <a:spcAft>
                <a:spcPts val="400"/>
              </a:spcAft>
              <a:buClr>
                <a:srgbClr val="003399"/>
              </a:buClr>
              <a:buSzPct val="80000"/>
              <a:buNone/>
            </a:pPr>
            <a:r>
              <a:rPr lang="en-US" sz="2600" dirty="0">
                <a:solidFill>
                  <a:prstClr val="black"/>
                </a:solidFill>
                <a:latin typeface="+mj-lt"/>
                <a:cs typeface="Arial" pitchFamily="34" charset="0"/>
              </a:rPr>
              <a:t>BBC Learning English:</a:t>
            </a:r>
          </a:p>
          <a:p>
            <a:pPr marL="0" lvl="0" indent="0" eaLnBrk="0" fontAlgn="base" hangingPunct="0">
              <a:lnSpc>
                <a:spcPct val="100000"/>
              </a:lnSpc>
              <a:spcBef>
                <a:spcPts val="400"/>
              </a:spcBef>
              <a:spcAft>
                <a:spcPts val="400"/>
              </a:spcAft>
              <a:buClr>
                <a:srgbClr val="003399"/>
              </a:buClr>
              <a:buSzPct val="80000"/>
              <a:buNone/>
            </a:pPr>
            <a:r>
              <a:rPr lang="en-US" sz="2600" b="1" u="sng" dirty="0">
                <a:solidFill>
                  <a:prstClr val="black"/>
                </a:solidFill>
                <a:latin typeface="+mj-lt"/>
                <a:cs typeface="Arial" pitchFamily="34" charset="0"/>
                <a:hlinkClick r:id="rId2"/>
              </a:rPr>
              <a:t>http://www.bbc.co.uk/learningenglish</a:t>
            </a:r>
            <a:endParaRPr lang="en-US" sz="2600" b="1" u="sng" dirty="0">
              <a:solidFill>
                <a:prstClr val="black"/>
              </a:solidFill>
              <a:latin typeface="+mj-lt"/>
              <a:cs typeface="Arial" pitchFamily="34" charset="0"/>
            </a:endParaRPr>
          </a:p>
          <a:p>
            <a:endParaRPr lang="en-US" dirty="0"/>
          </a:p>
        </p:txBody>
      </p:sp>
      <p:sp>
        <p:nvSpPr>
          <p:cNvPr id="4" name="Right Brace 3"/>
          <p:cNvSpPr/>
          <p:nvPr/>
        </p:nvSpPr>
        <p:spPr>
          <a:xfrm>
            <a:off x="7968588" y="1028700"/>
            <a:ext cx="642012" cy="2019300"/>
          </a:xfrm>
          <a:prstGeom prst="rightBrace">
            <a:avLst>
              <a:gd name="adj1" fmla="val 8333"/>
              <a:gd name="adj2" fmla="val 4829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dirty="0">
              <a:solidFill>
                <a:srgbClr val="FF0000"/>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3158" y="841612"/>
            <a:ext cx="1676399" cy="144438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0" y="1828800"/>
            <a:ext cx="1676400" cy="1676400"/>
          </a:xfrm>
          <a:prstGeom prst="rect">
            <a:avLst/>
          </a:prstGeom>
        </p:spPr>
      </p:pic>
    </p:spTree>
    <p:extLst>
      <p:ext uri="{BB962C8B-B14F-4D97-AF65-F5344CB8AC3E}">
        <p14:creationId xmlns:p14="http://schemas.microsoft.com/office/powerpoint/2010/main" val="6877229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2959"/>
            <a:ext cx="10210800" cy="533400"/>
          </a:xfrm>
        </p:spPr>
        <p:txBody>
          <a:bodyPr>
            <a:normAutofit/>
          </a:bodyPr>
          <a:lstStyle/>
          <a:p>
            <a:r>
              <a:rPr lang="en-US" sz="2000" b="1" dirty="0">
                <a:solidFill>
                  <a:srgbClr val="FF0000"/>
                </a:solidFill>
              </a:rPr>
              <a:t>FIRST THINGS FIRST …</a:t>
            </a:r>
          </a:p>
        </p:txBody>
      </p:sp>
      <p:sp>
        <p:nvSpPr>
          <p:cNvPr id="3" name="Content Placeholder 2"/>
          <p:cNvSpPr>
            <a:spLocks noGrp="1"/>
          </p:cNvSpPr>
          <p:nvPr>
            <p:ph idx="1"/>
          </p:nvPr>
        </p:nvSpPr>
        <p:spPr>
          <a:xfrm>
            <a:off x="609600" y="914400"/>
            <a:ext cx="10668000" cy="4114800"/>
          </a:xfrm>
        </p:spPr>
        <p:txBody>
          <a:bodyPr/>
          <a:lstStyle/>
          <a:p>
            <a:pPr marL="0" indent="0">
              <a:spcBef>
                <a:spcPts val="1200"/>
              </a:spcBef>
              <a:spcAft>
                <a:spcPts val="600"/>
              </a:spcAft>
              <a:buNone/>
              <a:defRPr/>
            </a:pPr>
            <a:r>
              <a:rPr lang="en-GB" b="1" dirty="0">
                <a:latin typeface="+mj-lt"/>
              </a:rPr>
              <a:t>Let’s look at a few important class rules …</a:t>
            </a:r>
          </a:p>
          <a:p>
            <a:pPr>
              <a:spcBef>
                <a:spcPts val="1200"/>
              </a:spcBef>
              <a:spcAft>
                <a:spcPts val="600"/>
              </a:spcAft>
              <a:defRPr/>
            </a:pPr>
            <a:r>
              <a:rPr lang="en-GB" sz="2800" dirty="0">
                <a:latin typeface="+mj-lt"/>
              </a:rPr>
              <a:t>Attendance (80%+)</a:t>
            </a:r>
          </a:p>
          <a:p>
            <a:pPr>
              <a:spcBef>
                <a:spcPts val="1200"/>
              </a:spcBef>
              <a:spcAft>
                <a:spcPts val="600"/>
              </a:spcAft>
              <a:defRPr/>
            </a:pPr>
            <a:r>
              <a:rPr lang="en-GB" sz="2800" dirty="0">
                <a:latin typeface="+mj-lt"/>
              </a:rPr>
              <a:t>Punctuality</a:t>
            </a:r>
          </a:p>
          <a:p>
            <a:pPr>
              <a:spcBef>
                <a:spcPts val="1200"/>
              </a:spcBef>
              <a:spcAft>
                <a:spcPts val="600"/>
              </a:spcAft>
              <a:defRPr/>
            </a:pPr>
            <a:r>
              <a:rPr lang="en-GB" sz="2800" dirty="0">
                <a:latin typeface="+mj-lt"/>
              </a:rPr>
              <a:t>Participation in class discussion and activities</a:t>
            </a:r>
          </a:p>
          <a:p>
            <a:pPr>
              <a:spcBef>
                <a:spcPts val="1200"/>
              </a:spcBef>
              <a:spcAft>
                <a:spcPts val="600"/>
              </a:spcAft>
              <a:defRPr/>
            </a:pPr>
            <a:r>
              <a:rPr lang="en-GB" sz="2800" dirty="0">
                <a:latin typeface="+mj-lt"/>
              </a:rPr>
              <a:t>No disruptions during lectures, please!</a:t>
            </a:r>
          </a:p>
          <a:p>
            <a:pPr>
              <a:spcBef>
                <a:spcPts val="1200"/>
              </a:spcBef>
              <a:spcAft>
                <a:spcPts val="600"/>
              </a:spcAft>
              <a:defRPr/>
            </a:pPr>
            <a:r>
              <a:rPr lang="en-GB" sz="2800" dirty="0">
                <a:latin typeface="+mj-lt"/>
              </a:rPr>
              <a:t>Mobile phones</a:t>
            </a:r>
          </a:p>
          <a:p>
            <a:pPr>
              <a:spcBef>
                <a:spcPts val="1200"/>
              </a:spcBef>
              <a:spcAft>
                <a:spcPts val="600"/>
              </a:spcAft>
              <a:defRPr/>
            </a:pPr>
            <a:r>
              <a:rPr lang="en-US" sz="2800" dirty="0">
                <a:latin typeface="+mj-lt"/>
              </a:rPr>
              <a:t>Respect each other</a:t>
            </a:r>
            <a:endParaRPr lang="en-GB" sz="2800" dirty="0">
              <a:latin typeface="+mj-l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3786473"/>
            <a:ext cx="990600" cy="91439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00" y="847439"/>
            <a:ext cx="1524000" cy="162934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1000" y="2476785"/>
            <a:ext cx="2514600" cy="2619376"/>
          </a:xfrm>
          <a:prstGeom prst="rect">
            <a:avLst/>
          </a:prstGeom>
        </p:spPr>
      </p:pic>
    </p:spTree>
    <p:extLst>
      <p:ext uri="{BB962C8B-B14F-4D97-AF65-F5344CB8AC3E}">
        <p14:creationId xmlns:p14="http://schemas.microsoft.com/office/powerpoint/2010/main" val="22003354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685800" y="5983224"/>
            <a:ext cx="8915400" cy="493776"/>
          </a:xfrm>
        </p:spPr>
        <p:txBody>
          <a:bodyPr/>
          <a:lstStyle/>
          <a:p>
            <a:pPr algn="ctr"/>
            <a:r>
              <a:rPr lang="en-US" b="1" dirty="0">
                <a:solidFill>
                  <a:srgbClr val="FF0000"/>
                </a:solidFill>
              </a:rPr>
              <a:t>Attendance will be marked at all sessions</a:t>
            </a:r>
          </a:p>
        </p:txBody>
      </p:sp>
      <p:pic>
        <p:nvPicPr>
          <p:cNvPr id="6" name="Picture Placeholder 5" descr="A girl holding ice cream cone"/>
          <p:cNvPicPr>
            <a:picLocks noGrp="1" noChangeAspect="1"/>
          </p:cNvPicPr>
          <p:nvPr>
            <p:ph type="pic" sz="quarter" idx="13"/>
          </p:nvPr>
        </p:nvPicPr>
        <p:blipFill rotWithShape="1">
          <a:blip r:embed="rId3" cstate="print">
            <a:extLst>
              <a:ext uri="{28A0092B-C50C-407E-A947-70E740481C1C}">
                <a14:useLocalDpi xmlns:a14="http://schemas.microsoft.com/office/drawing/2010/main" val="0"/>
              </a:ext>
            </a:extLst>
          </a:blip>
          <a:srcRect l="165" r="165"/>
          <a:stretch/>
        </p:blipFill>
        <p:spPr>
          <a:xfrm>
            <a:off x="990600" y="1126481"/>
            <a:ext cx="3638453" cy="3750319"/>
          </a:xfrm>
        </p:spPr>
      </p:pic>
      <p:sp>
        <p:nvSpPr>
          <p:cNvPr id="4" name="Text Placeholder 3"/>
          <p:cNvSpPr>
            <a:spLocks noGrp="1"/>
          </p:cNvSpPr>
          <p:nvPr>
            <p:ph type="body" sz="quarter" idx="14"/>
          </p:nvPr>
        </p:nvSpPr>
        <p:spPr>
          <a:xfrm>
            <a:off x="457200" y="5181601"/>
            <a:ext cx="4267200" cy="493776"/>
          </a:xfrm>
        </p:spPr>
        <p:txBody>
          <a:bodyPr>
            <a:normAutofit fontScale="92500"/>
          </a:bodyPr>
          <a:lstStyle/>
          <a:p>
            <a:pPr algn="ctr"/>
            <a:r>
              <a:rPr lang="en-US" sz="2400" b="1" dirty="0">
                <a:latin typeface="+mj-lt"/>
              </a:rPr>
              <a:t>Lectu</a:t>
            </a:r>
            <a:r>
              <a:rPr lang="en-US" sz="2000" b="1" dirty="0">
                <a:latin typeface="+mj-lt"/>
              </a:rPr>
              <a:t>r</a:t>
            </a:r>
            <a:r>
              <a:rPr lang="en-US" sz="2400" b="1" dirty="0">
                <a:latin typeface="+mj-lt"/>
              </a:rPr>
              <a:t>e 2 one hour sessions/week</a:t>
            </a:r>
            <a:endParaRPr lang="en-US" sz="1100" b="1" dirty="0">
              <a:latin typeface="+mj-lt"/>
            </a:endParaRPr>
          </a:p>
        </p:txBody>
      </p:sp>
      <p:pic>
        <p:nvPicPr>
          <p:cNvPr id="3" name="Picture Placeholder 2" descr="Balloons flying in the sky"/>
          <p:cNvPicPr>
            <a:picLocks noGrp="1" noChangeAspect="1"/>
          </p:cNvPicPr>
          <p:nvPr>
            <p:ph type="pic" sz="quarter" idx="15"/>
          </p:nvPr>
        </p:nvPicPr>
        <p:blipFill>
          <a:blip r:embed="rId4" cstate="print">
            <a:extLst>
              <a:ext uri="{28A0092B-C50C-407E-A947-70E740481C1C}">
                <a14:useLocalDpi xmlns:a14="http://schemas.microsoft.com/office/drawing/2010/main" val="0"/>
              </a:ext>
            </a:extLst>
          </a:blip>
          <a:srcRect l="1502" r="1502"/>
          <a:stretch>
            <a:fillRect/>
          </a:stretch>
        </p:blipFill>
        <p:spPr/>
      </p:pic>
      <p:sp>
        <p:nvSpPr>
          <p:cNvPr id="5" name="Text Placeholder 4"/>
          <p:cNvSpPr>
            <a:spLocks noGrp="1"/>
          </p:cNvSpPr>
          <p:nvPr>
            <p:ph type="body" sz="quarter" idx="16"/>
          </p:nvPr>
        </p:nvSpPr>
        <p:spPr>
          <a:xfrm>
            <a:off x="5530568" y="5181600"/>
            <a:ext cx="4146832" cy="493776"/>
          </a:xfrm>
        </p:spPr>
        <p:txBody>
          <a:bodyPr>
            <a:noAutofit/>
          </a:bodyPr>
          <a:lstStyle/>
          <a:p>
            <a:pPr algn="ctr"/>
            <a:r>
              <a:rPr lang="en-US" sz="3200" b="1" dirty="0">
                <a:latin typeface="+mj-lt"/>
              </a:rPr>
              <a:t>Tutorial 2 hours/week</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4000" y="990600"/>
            <a:ext cx="4114800" cy="3962400"/>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200" y="832514"/>
            <a:ext cx="3921150" cy="4120486"/>
          </a:xfrm>
          <a:prstGeom prst="rect">
            <a:avLst/>
          </a:prstGeom>
        </p:spPr>
      </p:pic>
    </p:spTree>
    <p:extLst>
      <p:ext uri="{BB962C8B-B14F-4D97-AF65-F5344CB8AC3E}">
        <p14:creationId xmlns:p14="http://schemas.microsoft.com/office/powerpoint/2010/main" val="38644400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9753600" cy="457200"/>
          </a:xfrm>
        </p:spPr>
        <p:txBody>
          <a:bodyPr>
            <a:normAutofit/>
          </a:bodyPr>
          <a:lstStyle/>
          <a:p>
            <a:r>
              <a:rPr lang="en-US" sz="2400" b="1" dirty="0">
                <a:solidFill>
                  <a:srgbClr val="FF0000"/>
                </a:solidFill>
              </a:rPr>
              <a:t>What to Expect in Higher Education</a:t>
            </a:r>
          </a:p>
        </p:txBody>
      </p:sp>
      <p:sp>
        <p:nvSpPr>
          <p:cNvPr id="3" name="Content Placeholder 2"/>
          <p:cNvSpPr>
            <a:spLocks noGrp="1"/>
          </p:cNvSpPr>
          <p:nvPr>
            <p:ph idx="1"/>
          </p:nvPr>
        </p:nvSpPr>
        <p:spPr>
          <a:xfrm>
            <a:off x="491319" y="838200"/>
            <a:ext cx="11125200" cy="4267200"/>
          </a:xfrm>
        </p:spPr>
        <p:txBody>
          <a:bodyPr>
            <a:noAutofit/>
          </a:bodyPr>
          <a:lstStyle/>
          <a:p>
            <a:pPr>
              <a:spcAft>
                <a:spcPct val="0"/>
              </a:spcAft>
              <a:buFont typeface="Arial" charset="0"/>
              <a:buNone/>
            </a:pPr>
            <a:r>
              <a:rPr lang="en-US" sz="2400" b="1" dirty="0">
                <a:solidFill>
                  <a:srgbClr val="7030A0"/>
                </a:solidFill>
                <a:latin typeface="+mj-lt"/>
                <a:cs typeface="Arial" charset="0"/>
              </a:rPr>
              <a:t>Seeing your lecturers</a:t>
            </a:r>
          </a:p>
          <a:p>
            <a:r>
              <a:rPr lang="en-US" sz="2400" dirty="0">
                <a:latin typeface="+mj-lt"/>
                <a:cs typeface="Arial" charset="0"/>
              </a:rPr>
              <a:t>University lecturers are likely to be much less available than your teachers at school.</a:t>
            </a:r>
          </a:p>
          <a:p>
            <a:pPr marL="0" indent="0">
              <a:buNone/>
            </a:pPr>
            <a:r>
              <a:rPr lang="en-US" sz="2400" dirty="0">
                <a:latin typeface="+mj-lt"/>
                <a:cs typeface="Arial" charset="0"/>
              </a:rPr>
              <a:t>	But… </a:t>
            </a:r>
          </a:p>
          <a:p>
            <a:pPr marL="2171700" lvl="5">
              <a:spcAft>
                <a:spcPts val="600"/>
              </a:spcAft>
            </a:pPr>
            <a:r>
              <a:rPr lang="en-US" sz="2400" dirty="0">
                <a:latin typeface="+mj-lt"/>
                <a:cs typeface="Arial" charset="0"/>
              </a:rPr>
              <a:t>Keep lines of communication open.</a:t>
            </a:r>
          </a:p>
          <a:p>
            <a:pPr marL="2857500" lvl="8">
              <a:spcAft>
                <a:spcPts val="600"/>
              </a:spcAft>
            </a:pPr>
            <a:r>
              <a:rPr lang="en-US" sz="2400" dirty="0">
                <a:latin typeface="+mj-lt"/>
                <a:cs typeface="Arial" charset="0"/>
              </a:rPr>
              <a:t>Make appointments.</a:t>
            </a:r>
          </a:p>
          <a:p>
            <a:pPr marL="1257300" lvl="1">
              <a:spcBef>
                <a:spcPts val="600"/>
              </a:spcBef>
              <a:spcAft>
                <a:spcPts val="600"/>
              </a:spcAft>
            </a:pPr>
            <a:endParaRPr lang="en-US" sz="2800" dirty="0">
              <a:latin typeface="+mj-lt"/>
              <a:cs typeface="Arial" charset="0"/>
            </a:endParaRPr>
          </a:p>
          <a:p>
            <a:pPr marL="342900" lvl="1" indent="-342900">
              <a:spcBef>
                <a:spcPts val="600"/>
              </a:spcBef>
              <a:spcAft>
                <a:spcPts val="600"/>
              </a:spcAft>
              <a:buFont typeface="Arial" charset="0"/>
              <a:buChar char="●"/>
            </a:pPr>
            <a:r>
              <a:rPr lang="en-US" sz="2400" b="1" dirty="0">
                <a:solidFill>
                  <a:srgbClr val="0000FF"/>
                </a:solidFill>
                <a:latin typeface="+mj-lt"/>
                <a:cs typeface="Arial" charset="0"/>
              </a:rPr>
              <a:t>Level Coordinator</a:t>
            </a:r>
          </a:p>
          <a:p>
            <a:pPr marL="342900" lvl="1" indent="-342900">
              <a:spcBef>
                <a:spcPts val="600"/>
              </a:spcBef>
              <a:spcAft>
                <a:spcPts val="600"/>
              </a:spcAft>
              <a:buFont typeface="Arial" charset="0"/>
              <a:buChar char="●"/>
            </a:pPr>
            <a:r>
              <a:rPr lang="en-US" sz="2400" b="1" dirty="0">
                <a:solidFill>
                  <a:srgbClr val="0000FF"/>
                </a:solidFill>
                <a:latin typeface="+mj-lt"/>
                <a:cs typeface="Arial" charset="0"/>
              </a:rPr>
              <a:t>Class Representatives (batch reps)</a:t>
            </a:r>
            <a:endParaRPr lang="en-US" sz="2000" dirty="0">
              <a:solidFill>
                <a:srgbClr val="0000FF"/>
              </a:solidFill>
              <a:latin typeface="+mj-l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2800" y="1905000"/>
            <a:ext cx="2400300" cy="16764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53919" y="3040490"/>
            <a:ext cx="1115248" cy="1150510"/>
          </a:xfrm>
          <a:prstGeom prst="rect">
            <a:avLst/>
          </a:prstGeom>
        </p:spPr>
      </p:pic>
    </p:spTree>
    <p:extLst>
      <p:ext uri="{BB962C8B-B14F-4D97-AF65-F5344CB8AC3E}">
        <p14:creationId xmlns:p14="http://schemas.microsoft.com/office/powerpoint/2010/main" val="18986121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609600" y="228600"/>
            <a:ext cx="10972800" cy="419100"/>
          </a:xfrm>
        </p:spPr>
        <p:txBody>
          <a:bodyPr>
            <a:normAutofit fontScale="90000"/>
          </a:bodyPr>
          <a:lstStyle/>
          <a:p>
            <a:r>
              <a:rPr lang="en-US" sz="2600" dirty="0"/>
              <a:t>What Does ‘Independent Study’ Suggest to You?</a:t>
            </a:r>
          </a:p>
        </p:txBody>
      </p:sp>
      <p:sp>
        <p:nvSpPr>
          <p:cNvPr id="8195" name="Content Placeholder 2"/>
          <p:cNvSpPr>
            <a:spLocks noGrp="1"/>
          </p:cNvSpPr>
          <p:nvPr>
            <p:ph idx="1"/>
          </p:nvPr>
        </p:nvSpPr>
        <p:spPr>
          <a:xfrm>
            <a:off x="1371600" y="647700"/>
            <a:ext cx="9753600" cy="5446615"/>
          </a:xfrm>
          <a:ln/>
        </p:spPr>
        <p:txBody>
          <a:bodyPr/>
          <a:lstStyle/>
          <a:p>
            <a:pPr>
              <a:buFont typeface="Arial" charset="0"/>
              <a:buNone/>
            </a:pPr>
            <a:r>
              <a:rPr>
                <a:latin typeface="Arial" charset="0"/>
                <a:cs typeface="Arial" charset="0"/>
              </a:rPr>
              <a:t> </a:t>
            </a:r>
            <a:endParaRPr dirty="0">
              <a:latin typeface="Arial" charset="0"/>
              <a:cs typeface="Arial" charset="0"/>
            </a:endParaRPr>
          </a:p>
        </p:txBody>
      </p:sp>
      <p:sp>
        <p:nvSpPr>
          <p:cNvPr id="8196"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CAC7618-CBAC-432C-BD32-11EBD3654C3D}" type="slidenum">
              <a:rPr lang="en-GB" smtClean="0">
                <a:solidFill>
                  <a:srgbClr val="014B89"/>
                </a:solidFill>
                <a:latin typeface="Gill Sans MT" pitchFamily="34" charset="0"/>
              </a:rPr>
              <a:pPr eaLnBrk="1" hangingPunct="1"/>
              <a:t>14</a:t>
            </a:fld>
            <a:endParaRPr lang="en-GB">
              <a:solidFill>
                <a:srgbClr val="014B89"/>
              </a:solidFill>
              <a:latin typeface="Gill Sans MT" pitchFamily="34" charset="0"/>
            </a:endParaRPr>
          </a:p>
        </p:txBody>
      </p:sp>
      <p:sp>
        <p:nvSpPr>
          <p:cNvPr id="6" name="Rounded Rectangle 5"/>
          <p:cNvSpPr/>
          <p:nvPr/>
        </p:nvSpPr>
        <p:spPr>
          <a:xfrm>
            <a:off x="4951413" y="3156857"/>
            <a:ext cx="2590800" cy="838200"/>
          </a:xfrm>
          <a:prstGeom prst="roundRect">
            <a:avLst/>
          </a:prstGeom>
          <a:solidFill>
            <a:srgbClr val="008000">
              <a:alpha val="87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bg1"/>
                </a:solidFill>
              </a:rPr>
              <a:t>Independent Study</a:t>
            </a:r>
          </a:p>
        </p:txBody>
      </p:sp>
      <p:sp>
        <p:nvSpPr>
          <p:cNvPr id="7" name="Rounded Rectangle 6"/>
          <p:cNvSpPr/>
          <p:nvPr/>
        </p:nvSpPr>
        <p:spPr>
          <a:xfrm>
            <a:off x="5181600" y="990600"/>
            <a:ext cx="205740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Free time</a:t>
            </a:r>
          </a:p>
        </p:txBody>
      </p:sp>
      <p:sp>
        <p:nvSpPr>
          <p:cNvPr id="9" name="Rounded Rectangle 8"/>
          <p:cNvSpPr/>
          <p:nvPr/>
        </p:nvSpPr>
        <p:spPr>
          <a:xfrm>
            <a:off x="7848600" y="1066800"/>
            <a:ext cx="205740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Being in control</a:t>
            </a:r>
          </a:p>
        </p:txBody>
      </p:sp>
      <p:sp>
        <p:nvSpPr>
          <p:cNvPr id="11" name="Rounded Rectangle 10"/>
          <p:cNvSpPr/>
          <p:nvPr/>
        </p:nvSpPr>
        <p:spPr>
          <a:xfrm>
            <a:off x="8267700" y="2209800"/>
            <a:ext cx="205740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Working on my own</a:t>
            </a:r>
          </a:p>
        </p:txBody>
      </p:sp>
      <p:sp>
        <p:nvSpPr>
          <p:cNvPr id="12" name="Rounded Rectangle 11"/>
          <p:cNvSpPr/>
          <p:nvPr/>
        </p:nvSpPr>
        <p:spPr>
          <a:xfrm>
            <a:off x="8539675" y="3858065"/>
            <a:ext cx="205740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Enjoyment</a:t>
            </a:r>
          </a:p>
        </p:txBody>
      </p:sp>
      <p:sp>
        <p:nvSpPr>
          <p:cNvPr id="13" name="Rounded Rectangle 12"/>
          <p:cNvSpPr/>
          <p:nvPr/>
        </p:nvSpPr>
        <p:spPr>
          <a:xfrm>
            <a:off x="7239000" y="5239353"/>
            <a:ext cx="205740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Finding support</a:t>
            </a:r>
          </a:p>
        </p:txBody>
      </p:sp>
      <p:sp>
        <p:nvSpPr>
          <p:cNvPr id="14" name="Rounded Rectangle 13"/>
          <p:cNvSpPr/>
          <p:nvPr/>
        </p:nvSpPr>
        <p:spPr>
          <a:xfrm>
            <a:off x="2209800" y="4900832"/>
            <a:ext cx="205740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Managing my time</a:t>
            </a:r>
          </a:p>
        </p:txBody>
      </p:sp>
      <p:sp>
        <p:nvSpPr>
          <p:cNvPr id="15" name="Rounded Rectangle 14"/>
          <p:cNvSpPr/>
          <p:nvPr/>
        </p:nvSpPr>
        <p:spPr>
          <a:xfrm>
            <a:off x="1956582" y="2438399"/>
            <a:ext cx="205740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Freedom</a:t>
            </a:r>
          </a:p>
        </p:txBody>
      </p:sp>
      <p:sp>
        <p:nvSpPr>
          <p:cNvPr id="16" name="Rounded Rectangle 15"/>
          <p:cNvSpPr/>
          <p:nvPr/>
        </p:nvSpPr>
        <p:spPr>
          <a:xfrm>
            <a:off x="1981200" y="3819525"/>
            <a:ext cx="205740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Isolation</a:t>
            </a:r>
          </a:p>
        </p:txBody>
      </p:sp>
      <p:sp>
        <p:nvSpPr>
          <p:cNvPr id="17" name="Rounded Rectangle 16"/>
          <p:cNvSpPr/>
          <p:nvPr/>
        </p:nvSpPr>
        <p:spPr>
          <a:xfrm>
            <a:off x="4594652" y="5399314"/>
            <a:ext cx="2287588" cy="95257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Teachers to guide you all the time</a:t>
            </a:r>
          </a:p>
        </p:txBody>
      </p:sp>
      <p:sp>
        <p:nvSpPr>
          <p:cNvPr id="18" name="Rounded Rectangle 17"/>
          <p:cNvSpPr/>
          <p:nvPr/>
        </p:nvSpPr>
        <p:spPr>
          <a:xfrm>
            <a:off x="2286000" y="1066800"/>
            <a:ext cx="205740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Making my own success</a:t>
            </a:r>
          </a:p>
        </p:txBody>
      </p:sp>
      <p:cxnSp>
        <p:nvCxnSpPr>
          <p:cNvPr id="20" name="Straight Arrow Connector 19"/>
          <p:cNvCxnSpPr/>
          <p:nvPr/>
        </p:nvCxnSpPr>
        <p:spPr>
          <a:xfrm rot="16200000" flipV="1">
            <a:off x="4305300" y="1714500"/>
            <a:ext cx="1524000" cy="14478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5258594" y="2439194"/>
            <a:ext cx="1524000"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6399214" y="1752600"/>
            <a:ext cx="1525587" cy="14493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6667500" y="2641209"/>
            <a:ext cx="1600200" cy="6477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7467600" y="3600450"/>
            <a:ext cx="1143000" cy="43815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7162800" y="4038600"/>
            <a:ext cx="914400" cy="11430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H="1">
            <a:off x="4267200" y="4038600"/>
            <a:ext cx="1219200" cy="9906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a:off x="5791200" y="4044461"/>
            <a:ext cx="328246" cy="1289539"/>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6" idx="1"/>
            <a:endCxn id="16" idx="3"/>
          </p:cNvCxnSpPr>
          <p:nvPr/>
        </p:nvCxnSpPr>
        <p:spPr>
          <a:xfrm flipH="1">
            <a:off x="4038601" y="3575957"/>
            <a:ext cx="912813" cy="58646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endCxn id="15" idx="3"/>
          </p:cNvCxnSpPr>
          <p:nvPr/>
        </p:nvCxnSpPr>
        <p:spPr>
          <a:xfrm rot="10800000">
            <a:off x="4013982" y="2781299"/>
            <a:ext cx="990600" cy="6477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9" name="Picture 2" descr="D:\My Pictures\university educatio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10334" y="5933989"/>
            <a:ext cx="951332" cy="634811"/>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13"/>
          <p:cNvSpPr>
            <a:spLocks noGrp="1" noChangeArrowheads="1"/>
          </p:cNvSpPr>
          <p:nvPr>
            <p:ph type="ftr" sz="quarter" idx="4294967295"/>
          </p:nvPr>
        </p:nvSpPr>
        <p:spPr bwMode="auto">
          <a:xfrm>
            <a:off x="4800600" y="6610350"/>
            <a:ext cx="3124200" cy="247650"/>
          </a:xfrm>
          <a:prstGeom prst="rect">
            <a:avLst/>
          </a:prstGeom>
          <a:noFill/>
          <a:ln w="9525">
            <a:noFill/>
            <a:miter lim="800000"/>
            <a:headEnd/>
            <a:tailEnd/>
          </a:ln>
          <a:effectLst/>
        </p:spPr>
        <p:txBody>
          <a:bodyPr vert="horz" wrap="square" lIns="91440" tIns="45720" rIns="91440" bIns="45720" numCol="1" rtlCol="0" anchor="t" anchorCtr="0" compatLnSpc="1">
            <a:prstTxWarp prst="textNoShape">
              <a:avLst/>
            </a:prstTxWarp>
          </a:bodyPr>
          <a:lstStyle>
            <a:lvl1pPr algn="ctr">
              <a:defRPr sz="1200">
                <a:latin typeface="Times New Roman" pitchFamily="18" charset="0"/>
              </a:defRPr>
            </a:lvl1pPr>
          </a:lstStyle>
          <a:p>
            <a:pPr>
              <a:defRPr/>
            </a:pPr>
            <a:r>
              <a:rPr lang="en-US"/>
              <a:t>Foundation Certificate Course</a:t>
            </a:r>
            <a:endParaRPr lang="en-GB" dirty="0"/>
          </a:p>
        </p:txBody>
      </p:sp>
      <p:sp>
        <p:nvSpPr>
          <p:cNvPr id="32" name="Date Placeholder 8"/>
          <p:cNvSpPr>
            <a:spLocks noGrp="1" noChangeArrowheads="1"/>
          </p:cNvSpPr>
          <p:nvPr>
            <p:ph type="dt" sz="half" idx="2"/>
          </p:nvPr>
        </p:nvSpPr>
        <p:spPr bwMode="auto">
          <a:xfrm>
            <a:off x="1828800" y="6553200"/>
            <a:ext cx="2133600" cy="304800"/>
          </a:xfrm>
          <a:prstGeom prst="rect">
            <a:avLst/>
          </a:prstGeom>
          <a:noFill/>
          <a:ln w="9525">
            <a:noFill/>
            <a:miter lim="800000"/>
            <a:headEnd/>
            <a:tailEnd/>
          </a:ln>
          <a:effectLst/>
        </p:spPr>
        <p:txBody>
          <a:bodyPr vert="horz" wrap="square" lIns="91440" tIns="45720" rIns="91440" bIns="45720" numCol="1" rtlCol="0" anchor="t" anchorCtr="0" compatLnSpc="1">
            <a:prstTxWarp prst="textNoShape">
              <a:avLst/>
            </a:prstTxWarp>
            <a:noAutofit/>
          </a:bodyPr>
          <a:lstStyle>
            <a:lvl1pPr>
              <a:defRPr sz="1400">
                <a:cs typeface="Arial" charset="0"/>
              </a:defRPr>
            </a:lvl1pPr>
          </a:lstStyle>
          <a:p>
            <a:pPr>
              <a:defRPr/>
            </a:pPr>
            <a:r>
              <a:rPr lang="en-GB"/>
              <a:t>© </a:t>
            </a:r>
            <a:r>
              <a:rPr lang="en-GB" sz="1200">
                <a:latin typeface="Times New Roman" pitchFamily="18" charset="0"/>
              </a:rPr>
              <a:t>IIT 2018/19 – SS</a:t>
            </a:r>
            <a:endParaRPr lang="en-GB" sz="1200" dirty="0">
              <a:latin typeface="Times New Roman" pitchFamily="18" charset="0"/>
            </a:endParaRPr>
          </a:p>
        </p:txBody>
      </p:sp>
    </p:spTree>
    <p:extLst>
      <p:ext uri="{BB962C8B-B14F-4D97-AF65-F5344CB8AC3E}">
        <p14:creationId xmlns:p14="http://schemas.microsoft.com/office/powerpoint/2010/main" val="37123802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grpId="0" nodeType="clickEffect">
                                  <p:stCondLst>
                                    <p:cond delay="0"/>
                                  </p:stCondLst>
                                  <p:childTnLst>
                                    <p:animClr clrSpc="rgb" dir="cw">
                                      <p:cBhvr override="childStyle">
                                        <p:cTn id="6" dur="500" fill="hold"/>
                                        <p:tgtEl>
                                          <p:spTgt spid="7"/>
                                        </p:tgtEl>
                                        <p:attrNameLst>
                                          <p:attrName>style.color</p:attrName>
                                        </p:attrNameLst>
                                      </p:cBhvr>
                                      <p:to>
                                        <a:srgbClr val="008000"/>
                                      </p:to>
                                    </p:animClr>
                                  </p:childTnLst>
                                </p:cTn>
                              </p:par>
                              <p:par>
                                <p:cTn id="7" presetID="3" presetClass="emph" presetSubtype="2" fill="hold" grpId="0" nodeType="withEffect">
                                  <p:stCondLst>
                                    <p:cond delay="0"/>
                                  </p:stCondLst>
                                  <p:childTnLst>
                                    <p:animClr clrSpc="rgb" dir="cw">
                                      <p:cBhvr override="childStyle">
                                        <p:cTn id="8" dur="500" fill="hold"/>
                                        <p:tgtEl>
                                          <p:spTgt spid="9"/>
                                        </p:tgtEl>
                                        <p:attrNameLst>
                                          <p:attrName>style.color</p:attrName>
                                        </p:attrNameLst>
                                      </p:cBhvr>
                                      <p:to>
                                        <a:srgbClr val="008000"/>
                                      </p:to>
                                    </p:animClr>
                                  </p:childTnLst>
                                </p:cTn>
                              </p:par>
                              <p:par>
                                <p:cTn id="9" presetID="3" presetClass="emph" presetSubtype="2" fill="hold" grpId="0" nodeType="withEffect">
                                  <p:stCondLst>
                                    <p:cond delay="0"/>
                                  </p:stCondLst>
                                  <p:childTnLst>
                                    <p:animClr clrSpc="rgb" dir="cw">
                                      <p:cBhvr override="childStyle">
                                        <p:cTn id="10" dur="500" fill="hold"/>
                                        <p:tgtEl>
                                          <p:spTgt spid="11"/>
                                        </p:tgtEl>
                                        <p:attrNameLst>
                                          <p:attrName>style.color</p:attrName>
                                        </p:attrNameLst>
                                      </p:cBhvr>
                                      <p:to>
                                        <a:srgbClr val="008000"/>
                                      </p:to>
                                    </p:animClr>
                                  </p:childTnLst>
                                </p:cTn>
                              </p:par>
                              <p:par>
                                <p:cTn id="11" presetID="3" presetClass="emph" presetSubtype="2" fill="hold" nodeType="withEffect">
                                  <p:stCondLst>
                                    <p:cond delay="0"/>
                                  </p:stCondLst>
                                  <p:childTnLst>
                                    <p:animClr clrSpc="rgb" dir="cw">
                                      <p:cBhvr override="childStyle">
                                        <p:cTn id="12" dur="500" fill="hold"/>
                                        <p:tgtEl>
                                          <p:spTgt spid="12">
                                            <p:txEl>
                                              <p:pRg st="0" end="0"/>
                                            </p:txEl>
                                          </p:spTgt>
                                        </p:tgtEl>
                                        <p:attrNameLst>
                                          <p:attrName>style.color</p:attrName>
                                        </p:attrNameLst>
                                      </p:cBhvr>
                                      <p:to>
                                        <a:srgbClr val="008000"/>
                                      </p:to>
                                    </p:animClr>
                                  </p:childTnLst>
                                </p:cTn>
                              </p:par>
                              <p:par>
                                <p:cTn id="13" presetID="3" presetClass="emph" presetSubtype="2" fill="hold" grpId="0" nodeType="withEffect">
                                  <p:stCondLst>
                                    <p:cond delay="0"/>
                                  </p:stCondLst>
                                  <p:childTnLst>
                                    <p:animClr clrSpc="rgb" dir="cw">
                                      <p:cBhvr override="childStyle">
                                        <p:cTn id="14" dur="500" fill="hold"/>
                                        <p:tgtEl>
                                          <p:spTgt spid="13"/>
                                        </p:tgtEl>
                                        <p:attrNameLst>
                                          <p:attrName>style.color</p:attrName>
                                        </p:attrNameLst>
                                      </p:cBhvr>
                                      <p:to>
                                        <a:srgbClr val="008000"/>
                                      </p:to>
                                    </p:animClr>
                                  </p:childTnLst>
                                </p:cTn>
                              </p:par>
                              <p:par>
                                <p:cTn id="15" presetID="3" presetClass="emph" presetSubtype="2" fill="hold" nodeType="withEffect">
                                  <p:stCondLst>
                                    <p:cond delay="0"/>
                                  </p:stCondLst>
                                  <p:childTnLst>
                                    <p:animClr clrSpc="rgb" dir="cw">
                                      <p:cBhvr override="childStyle">
                                        <p:cTn id="16" dur="500" fill="hold"/>
                                        <p:tgtEl>
                                          <p:spTgt spid="17">
                                            <p:txEl>
                                              <p:pRg st="0" end="0"/>
                                            </p:txEl>
                                          </p:spTgt>
                                        </p:tgtEl>
                                        <p:attrNameLst>
                                          <p:attrName>style.color</p:attrName>
                                        </p:attrNameLst>
                                      </p:cBhvr>
                                      <p:to>
                                        <a:srgbClr val="FF0000"/>
                                      </p:to>
                                    </p:animClr>
                                  </p:childTnLst>
                                </p:cTn>
                              </p:par>
                              <p:par>
                                <p:cTn id="17" presetID="3" presetClass="emph" presetSubtype="2" fill="hold" grpId="0" nodeType="withEffect">
                                  <p:stCondLst>
                                    <p:cond delay="0"/>
                                  </p:stCondLst>
                                  <p:childTnLst>
                                    <p:animClr clrSpc="rgb" dir="cw">
                                      <p:cBhvr override="childStyle">
                                        <p:cTn id="18" dur="500" fill="hold"/>
                                        <p:tgtEl>
                                          <p:spTgt spid="14"/>
                                        </p:tgtEl>
                                        <p:attrNameLst>
                                          <p:attrName>style.color</p:attrName>
                                        </p:attrNameLst>
                                      </p:cBhvr>
                                      <p:to>
                                        <a:srgbClr val="008000"/>
                                      </p:to>
                                    </p:animClr>
                                  </p:childTnLst>
                                </p:cTn>
                              </p:par>
                              <p:par>
                                <p:cTn id="19" presetID="3" presetClass="emph" presetSubtype="2" fill="hold" grpId="0" nodeType="withEffect">
                                  <p:stCondLst>
                                    <p:cond delay="0"/>
                                  </p:stCondLst>
                                  <p:childTnLst>
                                    <p:animClr clrSpc="rgb" dir="cw">
                                      <p:cBhvr override="childStyle">
                                        <p:cTn id="20" dur="500" fill="hold"/>
                                        <p:tgtEl>
                                          <p:spTgt spid="16"/>
                                        </p:tgtEl>
                                        <p:attrNameLst>
                                          <p:attrName>style.color</p:attrName>
                                        </p:attrNameLst>
                                      </p:cBhvr>
                                      <p:to>
                                        <a:srgbClr val="008000"/>
                                      </p:to>
                                    </p:animClr>
                                  </p:childTnLst>
                                </p:cTn>
                              </p:par>
                              <p:par>
                                <p:cTn id="21" presetID="3" presetClass="emph" presetSubtype="2" fill="hold" grpId="0" nodeType="withEffect">
                                  <p:stCondLst>
                                    <p:cond delay="0"/>
                                  </p:stCondLst>
                                  <p:childTnLst>
                                    <p:animClr clrSpc="rgb" dir="cw">
                                      <p:cBhvr override="childStyle">
                                        <p:cTn id="22" dur="500" fill="hold"/>
                                        <p:tgtEl>
                                          <p:spTgt spid="15"/>
                                        </p:tgtEl>
                                        <p:attrNameLst>
                                          <p:attrName>style.color</p:attrName>
                                        </p:attrNameLst>
                                      </p:cBhvr>
                                      <p:to>
                                        <a:srgbClr val="008000"/>
                                      </p:to>
                                    </p:animClr>
                                  </p:childTnLst>
                                </p:cTn>
                              </p:par>
                              <p:par>
                                <p:cTn id="23" presetID="3" presetClass="emph" presetSubtype="2" fill="hold" grpId="0" nodeType="withEffect">
                                  <p:stCondLst>
                                    <p:cond delay="0"/>
                                  </p:stCondLst>
                                  <p:childTnLst>
                                    <p:animClr clrSpc="rgb" dir="cw">
                                      <p:cBhvr override="childStyle">
                                        <p:cTn id="24" dur="500" fill="hold"/>
                                        <p:tgtEl>
                                          <p:spTgt spid="18"/>
                                        </p:tgtEl>
                                        <p:attrNameLst>
                                          <p:attrName>style.color</p:attrName>
                                        </p:attrNameLst>
                                      </p:cBhvr>
                                      <p:to>
                                        <a:srgbClr val="008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4" grpId="0" animBg="1"/>
      <p:bldP spid="15" grpId="0" animBg="1"/>
      <p:bldP spid="16"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686" y="152400"/>
            <a:ext cx="10225314" cy="533400"/>
          </a:xfrm>
        </p:spPr>
        <p:txBody>
          <a:bodyPr>
            <a:normAutofit/>
          </a:bodyPr>
          <a:lstStyle/>
          <a:p>
            <a:r>
              <a:rPr lang="en-US" sz="2400" b="1" dirty="0">
                <a:solidFill>
                  <a:srgbClr val="FF0000"/>
                </a:solidFill>
              </a:rPr>
              <a:t>ASSIGNMENTS AND ASSESSMENT</a:t>
            </a:r>
          </a:p>
        </p:txBody>
      </p:sp>
      <p:sp>
        <p:nvSpPr>
          <p:cNvPr id="4" name="Content Placeholder 2"/>
          <p:cNvSpPr>
            <a:spLocks noGrp="1"/>
          </p:cNvSpPr>
          <p:nvPr>
            <p:ph idx="1"/>
          </p:nvPr>
        </p:nvSpPr>
        <p:spPr>
          <a:xfrm>
            <a:off x="685800" y="838200"/>
            <a:ext cx="10820400" cy="4267200"/>
          </a:xfrm>
          <a:ln/>
        </p:spPr>
        <p:txBody>
          <a:bodyPr/>
          <a:lstStyle/>
          <a:p>
            <a:pPr>
              <a:buFont typeface="Arial" charset="0"/>
              <a:buNone/>
            </a:pPr>
            <a:r>
              <a:rPr dirty="0">
                <a:latin typeface="Arial" charset="0"/>
                <a:cs typeface="Arial" charset="0"/>
              </a:rPr>
              <a:t> </a:t>
            </a:r>
          </a:p>
        </p:txBody>
      </p:sp>
      <p:sp>
        <p:nvSpPr>
          <p:cNvPr id="5" name="Content Placeholder 2"/>
          <p:cNvSpPr txBox="1">
            <a:spLocks/>
          </p:cNvSpPr>
          <p:nvPr/>
        </p:nvSpPr>
        <p:spPr>
          <a:xfrm>
            <a:off x="290286" y="841828"/>
            <a:ext cx="8244114" cy="5482771"/>
          </a:xfrm>
          <a:prstGeom prst="rect">
            <a:avLst/>
          </a:prstGeom>
          <a:ln/>
        </p:spPr>
        <p:txBody>
          <a:bodyPr vert="horz" lIns="91440" tIns="45720" rIns="91440" bIns="45720" rtlCol="0">
            <a:normAutofit/>
          </a:bodyPr>
          <a:lstStyle>
            <a:lvl1pPr marL="228600" indent="-228600" algn="l" defTabSz="914400" rtl="0" eaLnBrk="1" latinLnBrk="0" hangingPunct="1">
              <a:lnSpc>
                <a:spcPct val="90000"/>
              </a:lnSpc>
              <a:spcBef>
                <a:spcPts val="1800"/>
              </a:spcBef>
              <a:buFont typeface="Arial" panose="020B0604020202020204"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2pPr>
            <a:lvl3pPr marL="685800" indent="-18288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4pPr>
            <a:lvl5pPr marL="11430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6pPr>
            <a:lvl7pPr marL="16002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8pPr>
            <a:lvl9pPr marL="20574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9pPr>
          </a:lstStyle>
          <a:p>
            <a:pPr>
              <a:buFont typeface="Arial" charset="0"/>
              <a:buNone/>
            </a:pPr>
            <a:r>
              <a:rPr lang="en-US">
                <a:latin typeface="Arial" charset="0"/>
                <a:cs typeface="Arial" charset="0"/>
              </a:rPr>
              <a:t> </a:t>
            </a:r>
            <a:endParaRPr lang="en-US" dirty="0">
              <a:latin typeface="Arial" charset="0"/>
              <a:cs typeface="Arial" charset="0"/>
            </a:endParaRPr>
          </a:p>
        </p:txBody>
      </p:sp>
      <p:sp>
        <p:nvSpPr>
          <p:cNvPr id="6" name="Content Placeholder 2"/>
          <p:cNvSpPr txBox="1">
            <a:spLocks/>
          </p:cNvSpPr>
          <p:nvPr/>
        </p:nvSpPr>
        <p:spPr>
          <a:xfrm>
            <a:off x="290286" y="841828"/>
            <a:ext cx="8853714" cy="5711372"/>
          </a:xfrm>
          <a:prstGeom prst="rect">
            <a:avLst/>
          </a:prstGeom>
          <a:ln/>
        </p:spPr>
        <p:txBody>
          <a:bodyPr vert="horz" lIns="91440" tIns="45720" rIns="91440" bIns="45720" rtlCol="0">
            <a:normAutofit/>
          </a:bodyPr>
          <a:lstStyle>
            <a:lvl1pPr marL="228600" indent="-228600" algn="l" defTabSz="914400" rtl="0" eaLnBrk="1" latinLnBrk="0" hangingPunct="1">
              <a:lnSpc>
                <a:spcPct val="90000"/>
              </a:lnSpc>
              <a:spcBef>
                <a:spcPts val="1800"/>
              </a:spcBef>
              <a:buFont typeface="Arial" panose="020B0604020202020204"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2pPr>
            <a:lvl3pPr marL="685800" indent="-18288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4pPr>
            <a:lvl5pPr marL="11430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6pPr>
            <a:lvl7pPr marL="16002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8pPr>
            <a:lvl9pPr marL="20574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9pPr>
          </a:lstStyle>
          <a:p>
            <a:pPr>
              <a:buFont typeface="Arial" charset="0"/>
              <a:buNone/>
            </a:pPr>
            <a:r>
              <a:rPr lang="en-US">
                <a:latin typeface="Arial" charset="0"/>
                <a:cs typeface="Arial" charset="0"/>
              </a:rPr>
              <a:t> </a:t>
            </a:r>
            <a:endParaRPr lang="en-US" dirty="0">
              <a:latin typeface="Arial" charset="0"/>
              <a:cs typeface="Arial" charset="0"/>
            </a:endParaRPr>
          </a:p>
        </p:txBody>
      </p:sp>
      <p:sp>
        <p:nvSpPr>
          <p:cNvPr id="7" name="Content Placeholder 2"/>
          <p:cNvSpPr txBox="1">
            <a:spLocks/>
          </p:cNvSpPr>
          <p:nvPr/>
        </p:nvSpPr>
        <p:spPr bwMode="auto">
          <a:xfrm>
            <a:off x="444960" y="838200"/>
            <a:ext cx="11061239" cy="42956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ts val="400"/>
              </a:spcBef>
              <a:spcAft>
                <a:spcPts val="400"/>
              </a:spcAft>
              <a:buClr>
                <a:srgbClr val="003399"/>
              </a:buClr>
              <a:buSzPct val="80000"/>
              <a:buFont typeface="Arial" charset="0"/>
              <a:buChar char="●"/>
              <a:defRPr lang="en-US" sz="2000" kern="1200" dirty="0" smtClean="0">
                <a:solidFill>
                  <a:schemeClr val="tx1"/>
                </a:solidFill>
                <a:latin typeface="Arial" pitchFamily="34" charset="0"/>
                <a:ea typeface="+mn-ea"/>
                <a:cs typeface="Arial" pitchFamily="34" charset="0"/>
              </a:defRPr>
            </a:lvl1pPr>
            <a:lvl2pPr marL="742950" indent="-285750" algn="l" rtl="0" eaLnBrk="0" fontAlgn="base" hangingPunct="0">
              <a:spcBef>
                <a:spcPts val="400"/>
              </a:spcBef>
              <a:spcAft>
                <a:spcPts val="400"/>
              </a:spcAft>
              <a:buClr>
                <a:srgbClr val="003399"/>
              </a:buClr>
              <a:buSzPct val="80000"/>
              <a:buFont typeface="Arial" charset="0"/>
              <a:buChar char="–"/>
              <a:defRPr lang="en-US" sz="1800" kern="1200" dirty="0" smtClean="0">
                <a:solidFill>
                  <a:schemeClr val="tx1"/>
                </a:solidFill>
                <a:latin typeface="Arial" pitchFamily="34" charset="0"/>
                <a:ea typeface="+mn-ea"/>
                <a:cs typeface="Arial" pitchFamily="34" charset="0"/>
              </a:defRPr>
            </a:lvl2pPr>
            <a:lvl3pPr marL="1143000" indent="-228600" algn="l" rtl="0" eaLnBrk="0" fontAlgn="base" hangingPunct="0">
              <a:spcBef>
                <a:spcPts val="400"/>
              </a:spcBef>
              <a:spcAft>
                <a:spcPts val="400"/>
              </a:spcAft>
              <a:buClr>
                <a:srgbClr val="003399"/>
              </a:buClr>
              <a:buSzPct val="80000"/>
              <a:buFont typeface="Arial" charset="0"/>
              <a:buChar char="•"/>
              <a:defRPr lang="en-US" sz="1600" kern="1200" dirty="0" smtClean="0">
                <a:solidFill>
                  <a:schemeClr val="tx1"/>
                </a:solidFill>
                <a:latin typeface="Arial" pitchFamily="34" charset="0"/>
                <a:ea typeface="+mn-ea"/>
                <a:cs typeface="Arial" pitchFamily="34" charset="0"/>
              </a:defRPr>
            </a:lvl3pPr>
            <a:lvl4pPr marL="1600200" indent="-228600" algn="l" rtl="0" eaLnBrk="0" fontAlgn="base" hangingPunct="0">
              <a:spcBef>
                <a:spcPts val="400"/>
              </a:spcBef>
              <a:spcAft>
                <a:spcPts val="400"/>
              </a:spcAft>
              <a:buClr>
                <a:srgbClr val="003399"/>
              </a:buClr>
              <a:buSzPct val="80000"/>
              <a:buFont typeface="Arial" charset="0"/>
              <a:buChar char="–"/>
              <a:defRPr lang="en-US" sz="1400" kern="1200" dirty="0" smtClean="0">
                <a:solidFill>
                  <a:schemeClr val="tx1"/>
                </a:solidFill>
                <a:latin typeface="Arial" pitchFamily="34" charset="0"/>
                <a:ea typeface="+mn-ea"/>
                <a:cs typeface="Arial" pitchFamily="34" charset="0"/>
              </a:defRPr>
            </a:lvl4pPr>
            <a:lvl5pPr marL="2057400" indent="-228600" algn="l" rtl="0" eaLnBrk="0" fontAlgn="base" hangingPunct="0">
              <a:spcBef>
                <a:spcPts val="400"/>
              </a:spcBef>
              <a:spcAft>
                <a:spcPts val="400"/>
              </a:spcAft>
              <a:buClr>
                <a:srgbClr val="003399"/>
              </a:buClr>
              <a:buSzPct val="80000"/>
              <a:buFont typeface="Arial" charset="0"/>
              <a:buChar char="»"/>
              <a:defRPr lang="en-GB" sz="1200" kern="1200" dirty="0" smtClean="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600"/>
              </a:spcBef>
              <a:spcAft>
                <a:spcPts val="600"/>
              </a:spcAft>
              <a:buNone/>
              <a:defRPr/>
            </a:pPr>
            <a:r>
              <a:rPr lang="en-US" sz="2400" dirty="0">
                <a:latin typeface="+mj-lt"/>
                <a:cs typeface="Arial" charset="0"/>
              </a:rPr>
              <a:t>Each module varies in how your work is assessed. </a:t>
            </a:r>
          </a:p>
          <a:p>
            <a:pPr marL="0" indent="0">
              <a:lnSpc>
                <a:spcPct val="120000"/>
              </a:lnSpc>
              <a:spcBef>
                <a:spcPts val="600"/>
              </a:spcBef>
              <a:spcAft>
                <a:spcPts val="600"/>
              </a:spcAft>
              <a:buNone/>
              <a:defRPr/>
            </a:pPr>
            <a:r>
              <a:rPr lang="en-US" sz="2400" b="1" dirty="0">
                <a:solidFill>
                  <a:srgbClr val="003399"/>
                </a:solidFill>
                <a:latin typeface="+mj-lt"/>
                <a:cs typeface="Arial" charset="0"/>
              </a:rPr>
              <a:t>Academic Skills in Higher Education (ASHE) (DOC311)</a:t>
            </a:r>
          </a:p>
          <a:p>
            <a:pPr marL="1773238" indent="-1773238">
              <a:lnSpc>
                <a:spcPct val="120000"/>
              </a:lnSpc>
              <a:spcBef>
                <a:spcPts val="600"/>
              </a:spcBef>
              <a:spcAft>
                <a:spcPts val="600"/>
              </a:spcAft>
              <a:buNone/>
            </a:pPr>
            <a:r>
              <a:rPr lang="en-US" sz="2400" b="1" dirty="0">
                <a:latin typeface="+mj-lt"/>
              </a:rPr>
              <a:t>Examination</a:t>
            </a:r>
            <a:r>
              <a:rPr lang="en-US" sz="2400" dirty="0">
                <a:latin typeface="+mj-lt"/>
              </a:rPr>
              <a:t>:	</a:t>
            </a:r>
            <a:r>
              <a:rPr lang="en-US" sz="2400" b="1" dirty="0">
                <a:solidFill>
                  <a:srgbClr val="FF0000"/>
                </a:solidFill>
                <a:latin typeface="+mj-lt"/>
              </a:rPr>
              <a:t>40% </a:t>
            </a:r>
            <a:r>
              <a:rPr lang="en-US" sz="2400" dirty="0">
                <a:latin typeface="+mj-lt"/>
              </a:rPr>
              <a:t>of the marks are for a written examination of two hours’ duration (end of term).</a:t>
            </a:r>
          </a:p>
          <a:p>
            <a:pPr marL="1773238" indent="-1773238">
              <a:lnSpc>
                <a:spcPct val="120000"/>
              </a:lnSpc>
              <a:spcBef>
                <a:spcPts val="600"/>
              </a:spcBef>
              <a:spcAft>
                <a:spcPts val="600"/>
              </a:spcAft>
              <a:buNone/>
            </a:pPr>
            <a:r>
              <a:rPr lang="en-US" sz="2400" dirty="0">
                <a:latin typeface="+mj-lt"/>
              </a:rPr>
              <a:t>	The exam includes an assessment of knowledge and application of topics covered at lectures and tutorials.</a:t>
            </a:r>
          </a:p>
          <a:p>
            <a:pPr marL="1773238" indent="-1773238">
              <a:lnSpc>
                <a:spcPct val="120000"/>
              </a:lnSpc>
              <a:spcBef>
                <a:spcPts val="600"/>
              </a:spcBef>
              <a:spcAft>
                <a:spcPts val="0"/>
              </a:spcAft>
              <a:buNone/>
            </a:pPr>
            <a:r>
              <a:rPr lang="en-US" sz="2400" b="1" dirty="0">
                <a:latin typeface="+mj-lt"/>
              </a:rPr>
              <a:t>Coursework</a:t>
            </a:r>
            <a:r>
              <a:rPr lang="en-US" sz="2400" dirty="0">
                <a:latin typeface="+mj-lt"/>
              </a:rPr>
              <a:t>:	</a:t>
            </a:r>
            <a:r>
              <a:rPr lang="en-US" sz="2400" b="1" dirty="0">
                <a:solidFill>
                  <a:srgbClr val="FF0000"/>
                </a:solidFill>
                <a:latin typeface="+mj-lt"/>
              </a:rPr>
              <a:t>60% </a:t>
            </a:r>
            <a:r>
              <a:rPr lang="en-US" sz="2400" dirty="0">
                <a:latin typeface="+mj-lt"/>
              </a:rPr>
              <a:t>of the marks are for a group report and a group presentation, </a:t>
            </a:r>
          </a:p>
          <a:p>
            <a:pPr marL="1773238" indent="-1773238">
              <a:lnSpc>
                <a:spcPct val="120000"/>
              </a:lnSpc>
              <a:spcBef>
                <a:spcPts val="600"/>
              </a:spcBef>
              <a:spcAft>
                <a:spcPts val="0"/>
              </a:spcAft>
              <a:buNone/>
            </a:pPr>
            <a:r>
              <a:rPr lang="en-US" sz="2400" dirty="0">
                <a:latin typeface="+mj-lt"/>
              </a:rPr>
              <a:t>                       an in- class test.</a:t>
            </a:r>
          </a:p>
        </p:txBody>
      </p:sp>
    </p:spTree>
    <p:extLst>
      <p:ext uri="{BB962C8B-B14F-4D97-AF65-F5344CB8AC3E}">
        <p14:creationId xmlns:p14="http://schemas.microsoft.com/office/powerpoint/2010/main" val="1103437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7"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9829800" cy="609600"/>
          </a:xfrm>
        </p:spPr>
        <p:txBody>
          <a:bodyPr>
            <a:normAutofit/>
          </a:bodyPr>
          <a:lstStyle/>
          <a:p>
            <a:r>
              <a:rPr lang="en-US" sz="2400" b="1" dirty="0">
                <a:solidFill>
                  <a:srgbClr val="FF0000"/>
                </a:solidFill>
              </a:rPr>
              <a:t>ASSESSMENTS</a:t>
            </a:r>
          </a:p>
        </p:txBody>
      </p:sp>
      <p:sp>
        <p:nvSpPr>
          <p:cNvPr id="3" name="Content Placeholder 2"/>
          <p:cNvSpPr>
            <a:spLocks noGrp="1"/>
          </p:cNvSpPr>
          <p:nvPr>
            <p:ph idx="1"/>
          </p:nvPr>
        </p:nvSpPr>
        <p:spPr>
          <a:xfrm>
            <a:off x="685800" y="1295400"/>
            <a:ext cx="10972800" cy="3505200"/>
          </a:xfrm>
        </p:spPr>
        <p:txBody>
          <a:bodyPr>
            <a:normAutofit/>
          </a:bodyPr>
          <a:lstStyle/>
          <a:p>
            <a:pPr marL="0" indent="0">
              <a:buNone/>
            </a:pPr>
            <a:r>
              <a:rPr lang="en-US" sz="2600" b="1" dirty="0">
                <a:solidFill>
                  <a:srgbClr val="003399"/>
                </a:solidFill>
                <a:latin typeface="+mj-lt"/>
                <a:cs typeface="Arial" charset="0"/>
              </a:rPr>
              <a:t>Academic Skills in Higher Education (ASHE) (DOC311)</a:t>
            </a:r>
          </a:p>
          <a:p>
            <a:pPr marL="0" indent="0">
              <a:lnSpc>
                <a:spcPct val="120000"/>
              </a:lnSpc>
              <a:spcBef>
                <a:spcPts val="600"/>
              </a:spcBef>
              <a:spcAft>
                <a:spcPts val="600"/>
              </a:spcAft>
              <a:buNone/>
            </a:pPr>
            <a:endParaRPr lang="en-US" b="1" dirty="0"/>
          </a:p>
          <a:p>
            <a:pPr marL="0" indent="0">
              <a:lnSpc>
                <a:spcPct val="120000"/>
              </a:lnSpc>
              <a:spcBef>
                <a:spcPts val="600"/>
              </a:spcBef>
              <a:spcAft>
                <a:spcPts val="600"/>
              </a:spcAft>
              <a:buNone/>
            </a:pPr>
            <a:r>
              <a:rPr lang="en-US" sz="2600" b="1" dirty="0">
                <a:latin typeface="+mj-lt"/>
              </a:rPr>
              <a:t>Coursework Breakdown:</a:t>
            </a:r>
            <a:endParaRPr lang="en-US" sz="2600" dirty="0">
              <a:latin typeface="+mj-lt"/>
            </a:endParaRPr>
          </a:p>
          <a:p>
            <a:pPr>
              <a:lnSpc>
                <a:spcPct val="120000"/>
              </a:lnSpc>
              <a:spcBef>
                <a:spcPts val="600"/>
              </a:spcBef>
              <a:spcAft>
                <a:spcPts val="600"/>
              </a:spcAft>
            </a:pPr>
            <a:r>
              <a:rPr lang="en-US" sz="2600" dirty="0">
                <a:latin typeface="+mj-lt"/>
              </a:rPr>
              <a:t>In-Class Test 1 - 				</a:t>
            </a:r>
            <a:r>
              <a:rPr lang="en-US" sz="2600" dirty="0">
                <a:latin typeface="+mj-lt"/>
                <a:ea typeface="Calibri" panose="020F0502020204030204" pitchFamily="34" charset="0"/>
                <a:cs typeface="Times New Roman" panose="02020603050405020304" pitchFamily="18" charset="0"/>
              </a:rPr>
              <a:t>	- </a:t>
            </a:r>
            <a:r>
              <a:rPr lang="en-US" sz="2600" dirty="0">
                <a:latin typeface="+mj-lt"/>
              </a:rPr>
              <a:t>30%</a:t>
            </a:r>
          </a:p>
          <a:p>
            <a:pPr>
              <a:lnSpc>
                <a:spcPct val="120000"/>
              </a:lnSpc>
              <a:spcBef>
                <a:spcPts val="600"/>
              </a:spcBef>
              <a:spcAft>
                <a:spcPts val="600"/>
              </a:spcAft>
            </a:pPr>
            <a:r>
              <a:rPr lang="en-US" sz="2600" dirty="0">
                <a:latin typeface="+mj-lt"/>
              </a:rPr>
              <a:t>Assignment 1 – </a:t>
            </a:r>
            <a:r>
              <a:rPr lang="en-US" sz="2600" dirty="0">
                <a:latin typeface="+mj-lt"/>
                <a:ea typeface="Calibri" panose="020F0502020204030204" pitchFamily="34" charset="0"/>
                <a:cs typeface="Times New Roman" panose="02020603050405020304" pitchFamily="18" charset="0"/>
              </a:rPr>
              <a:t>Presentation (group)		- </a:t>
            </a:r>
            <a:r>
              <a:rPr lang="en-US" sz="2600" dirty="0">
                <a:latin typeface="+mj-lt"/>
              </a:rPr>
              <a:t>25%</a:t>
            </a:r>
          </a:p>
          <a:p>
            <a:pPr>
              <a:lnSpc>
                <a:spcPct val="120000"/>
              </a:lnSpc>
              <a:spcBef>
                <a:spcPts val="600"/>
              </a:spcBef>
              <a:spcAft>
                <a:spcPts val="600"/>
              </a:spcAft>
            </a:pPr>
            <a:r>
              <a:rPr lang="en-US" sz="2600" dirty="0">
                <a:latin typeface="+mj-lt"/>
              </a:rPr>
              <a:t>Attendance &amp; In-class activities	  		-   5%</a:t>
            </a:r>
          </a:p>
          <a:p>
            <a:pPr marL="342900" lvl="1" indent="-342900">
              <a:lnSpc>
                <a:spcPct val="120000"/>
              </a:lnSpc>
              <a:spcBef>
                <a:spcPts val="600"/>
              </a:spcBef>
              <a:spcAft>
                <a:spcPts val="600"/>
              </a:spcAft>
              <a:buClr>
                <a:srgbClr val="700000"/>
              </a:buClr>
              <a:buFont typeface="Arial" charset="0"/>
              <a:buNone/>
              <a:defRPr/>
            </a:pPr>
            <a:endParaRPr lang="en-US" sz="2000" dirty="0">
              <a:solidFill>
                <a:srgbClr val="FF0000"/>
              </a:solidFill>
              <a:latin typeface="Arial" charset="0"/>
              <a:cs typeface="Arial" charset="0"/>
            </a:endParaRPr>
          </a:p>
          <a:p>
            <a:endParaRPr lang="en-US" dirty="0"/>
          </a:p>
        </p:txBody>
      </p:sp>
    </p:spTree>
    <p:extLst>
      <p:ext uri="{BB962C8B-B14F-4D97-AF65-F5344CB8AC3E}">
        <p14:creationId xmlns:p14="http://schemas.microsoft.com/office/powerpoint/2010/main" val="21937930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0439400" cy="549274"/>
          </a:xfrm>
        </p:spPr>
        <p:txBody>
          <a:bodyPr>
            <a:normAutofit/>
          </a:bodyPr>
          <a:lstStyle/>
          <a:p>
            <a:r>
              <a:rPr lang="en-US" sz="2400" b="1" dirty="0">
                <a:solidFill>
                  <a:srgbClr val="FF0000"/>
                </a:solidFill>
              </a:rPr>
              <a:t>Assignments and Assessment</a:t>
            </a:r>
          </a:p>
        </p:txBody>
      </p:sp>
      <p:sp>
        <p:nvSpPr>
          <p:cNvPr id="3" name="Content Placeholder 2"/>
          <p:cNvSpPr>
            <a:spLocks noGrp="1"/>
          </p:cNvSpPr>
          <p:nvPr>
            <p:ph idx="1"/>
          </p:nvPr>
        </p:nvSpPr>
        <p:spPr>
          <a:xfrm>
            <a:off x="457200" y="1143000"/>
            <a:ext cx="10820400" cy="3810000"/>
          </a:xfrm>
        </p:spPr>
        <p:txBody>
          <a:bodyPr>
            <a:normAutofit/>
          </a:bodyPr>
          <a:lstStyle/>
          <a:p>
            <a:pPr marL="342900" lvl="1" indent="-342900">
              <a:spcBef>
                <a:spcPts val="600"/>
              </a:spcBef>
              <a:spcAft>
                <a:spcPts val="600"/>
              </a:spcAft>
              <a:buClr>
                <a:srgbClr val="700000"/>
              </a:buClr>
              <a:buFont typeface="Arial" charset="0"/>
              <a:buNone/>
              <a:defRPr/>
            </a:pPr>
            <a:r>
              <a:rPr lang="en-US" sz="2400" b="1" dirty="0">
                <a:solidFill>
                  <a:srgbClr val="FF0000"/>
                </a:solidFill>
                <a:latin typeface="+mj-lt"/>
                <a:cs typeface="Arial" charset="0"/>
              </a:rPr>
              <a:t>Important</a:t>
            </a:r>
          </a:p>
          <a:p>
            <a:pPr marL="342900" lvl="1" indent="-342900">
              <a:spcBef>
                <a:spcPts val="600"/>
              </a:spcBef>
              <a:spcAft>
                <a:spcPts val="600"/>
              </a:spcAft>
              <a:buFont typeface="Wingdings" pitchFamily="2" charset="2"/>
              <a:buChar char="q"/>
              <a:defRPr/>
            </a:pPr>
            <a:r>
              <a:rPr lang="en-US" sz="2400" dirty="0">
                <a:solidFill>
                  <a:srgbClr val="003366"/>
                </a:solidFill>
                <a:latin typeface="+mj-lt"/>
                <a:cs typeface="Arial" charset="0"/>
              </a:rPr>
              <a:t>Deadlines – All assignments must be submitted on the due date (on time).</a:t>
            </a:r>
          </a:p>
          <a:p>
            <a:pPr marL="342900" lvl="1" indent="-342900">
              <a:spcBef>
                <a:spcPts val="600"/>
              </a:spcBef>
              <a:spcAft>
                <a:spcPts val="600"/>
              </a:spcAft>
              <a:buFont typeface="Wingdings" pitchFamily="2" charset="2"/>
              <a:buChar char="q"/>
              <a:defRPr/>
            </a:pPr>
            <a:r>
              <a:rPr lang="en-US" sz="2400" dirty="0">
                <a:solidFill>
                  <a:srgbClr val="003366"/>
                </a:solidFill>
                <a:latin typeface="+mj-lt"/>
                <a:cs typeface="Arial" charset="0"/>
              </a:rPr>
              <a:t>Late submissions will receive </a:t>
            </a:r>
            <a:r>
              <a:rPr lang="en-US" sz="2400" b="1" dirty="0">
                <a:solidFill>
                  <a:srgbClr val="FF0000"/>
                </a:solidFill>
                <a:latin typeface="+mj-lt"/>
                <a:cs typeface="Arial" charset="0"/>
              </a:rPr>
              <a:t>0</a:t>
            </a:r>
            <a:r>
              <a:rPr lang="en-US" sz="2400" dirty="0">
                <a:solidFill>
                  <a:srgbClr val="003366"/>
                </a:solidFill>
                <a:latin typeface="+mj-lt"/>
                <a:cs typeface="Arial" charset="0"/>
              </a:rPr>
              <a:t> marks.</a:t>
            </a:r>
          </a:p>
          <a:p>
            <a:pPr marL="342900" lvl="1" indent="-342900">
              <a:spcBef>
                <a:spcPts val="600"/>
              </a:spcBef>
              <a:spcAft>
                <a:spcPts val="600"/>
              </a:spcAft>
              <a:buFont typeface="Wingdings" pitchFamily="2" charset="2"/>
              <a:buChar char="q"/>
              <a:defRPr/>
            </a:pPr>
            <a:r>
              <a:rPr lang="en-US" sz="2400" dirty="0">
                <a:solidFill>
                  <a:srgbClr val="003366"/>
                </a:solidFill>
                <a:latin typeface="+mj-lt"/>
                <a:cs typeface="Arial" charset="0"/>
              </a:rPr>
              <a:t>Email submissions will not be accepted.</a:t>
            </a:r>
          </a:p>
          <a:p>
            <a:endParaRPr lang="en-US" sz="2400" dirty="0">
              <a:latin typeface="+mj-l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6774" y="3267075"/>
            <a:ext cx="2638425" cy="1914525"/>
          </a:xfrm>
          <a:prstGeom prst="rect">
            <a:avLst/>
          </a:prstGeom>
        </p:spPr>
      </p:pic>
    </p:spTree>
    <p:extLst>
      <p:ext uri="{BB962C8B-B14F-4D97-AF65-F5344CB8AC3E}">
        <p14:creationId xmlns:p14="http://schemas.microsoft.com/office/powerpoint/2010/main" val="13260696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9829800" cy="685800"/>
          </a:xfrm>
        </p:spPr>
        <p:txBody>
          <a:bodyPr>
            <a:normAutofit/>
          </a:bodyPr>
          <a:lstStyle/>
          <a:p>
            <a:r>
              <a:rPr lang="en-GB" sz="2400" b="1" dirty="0">
                <a:solidFill>
                  <a:srgbClr val="FF0000"/>
                </a:solidFill>
              </a:rPr>
              <a:t>MARKS</a:t>
            </a:r>
            <a:endParaRPr lang="en-US" sz="2400" b="1" dirty="0">
              <a:solidFill>
                <a:srgbClr val="FF0000"/>
              </a:solidFill>
            </a:endParaRPr>
          </a:p>
        </p:txBody>
      </p:sp>
      <p:sp>
        <p:nvSpPr>
          <p:cNvPr id="3" name="Content Placeholder 2"/>
          <p:cNvSpPr>
            <a:spLocks noGrp="1"/>
          </p:cNvSpPr>
          <p:nvPr>
            <p:ph idx="1"/>
          </p:nvPr>
        </p:nvSpPr>
        <p:spPr>
          <a:xfrm>
            <a:off x="838200" y="1219200"/>
            <a:ext cx="10668000" cy="3733800"/>
          </a:xfrm>
        </p:spPr>
        <p:txBody>
          <a:bodyPr/>
          <a:lstStyle/>
          <a:p>
            <a:pPr marL="0" indent="0">
              <a:spcBef>
                <a:spcPts val="600"/>
              </a:spcBef>
              <a:spcAft>
                <a:spcPts val="600"/>
              </a:spcAft>
              <a:buNone/>
              <a:defRPr/>
            </a:pPr>
            <a:r>
              <a:rPr lang="en-US" sz="2400" dirty="0">
                <a:latin typeface="+mj-lt"/>
                <a:cs typeface="Arial" charset="0"/>
              </a:rPr>
              <a:t>Marking scheme usually followed at IIT.</a:t>
            </a:r>
          </a:p>
          <a:p>
            <a:pPr marL="900113">
              <a:spcBef>
                <a:spcPts val="1200"/>
              </a:spcBef>
              <a:spcAft>
                <a:spcPts val="1200"/>
              </a:spcAft>
              <a:buFont typeface="Arial" charset="0"/>
              <a:buNone/>
              <a:tabLst>
                <a:tab pos="900113" algn="l"/>
              </a:tabLst>
              <a:defRPr/>
            </a:pPr>
            <a:r>
              <a:rPr lang="en-US" sz="2400" dirty="0">
                <a:latin typeface="+mj-lt"/>
                <a:cs typeface="Arial" charset="0"/>
              </a:rPr>
              <a:t>	70% and above = A </a:t>
            </a:r>
          </a:p>
          <a:p>
            <a:pPr marL="900113">
              <a:spcBef>
                <a:spcPts val="1200"/>
              </a:spcBef>
              <a:spcAft>
                <a:spcPts val="1200"/>
              </a:spcAft>
              <a:buFont typeface="Arial" charset="0"/>
              <a:buNone/>
              <a:tabLst>
                <a:tab pos="900113" algn="l"/>
              </a:tabLst>
              <a:defRPr/>
            </a:pPr>
            <a:r>
              <a:rPr lang="en-US" sz="2400" dirty="0">
                <a:latin typeface="+mj-lt"/>
                <a:cs typeface="Arial" charset="0"/>
              </a:rPr>
              <a:t>	60-69% = B </a:t>
            </a:r>
          </a:p>
          <a:p>
            <a:pPr marL="900113">
              <a:spcBef>
                <a:spcPts val="1200"/>
              </a:spcBef>
              <a:spcAft>
                <a:spcPts val="1200"/>
              </a:spcAft>
              <a:buFont typeface="Arial" charset="0"/>
              <a:buNone/>
              <a:tabLst>
                <a:tab pos="900113" algn="l"/>
              </a:tabLst>
              <a:defRPr/>
            </a:pPr>
            <a:r>
              <a:rPr lang="en-US" sz="2400" dirty="0">
                <a:latin typeface="+mj-lt"/>
                <a:cs typeface="Arial" charset="0"/>
              </a:rPr>
              <a:t>	50-59% = C</a:t>
            </a:r>
          </a:p>
          <a:p>
            <a:pPr marL="900113">
              <a:spcBef>
                <a:spcPts val="1200"/>
              </a:spcBef>
              <a:spcAft>
                <a:spcPts val="1200"/>
              </a:spcAft>
              <a:buFont typeface="Arial" charset="0"/>
              <a:buNone/>
              <a:tabLst>
                <a:tab pos="900113" algn="l"/>
              </a:tabLst>
              <a:defRPr/>
            </a:pPr>
            <a:r>
              <a:rPr lang="en-US" sz="2400" dirty="0">
                <a:latin typeface="+mj-lt"/>
                <a:cs typeface="Arial" charset="0"/>
              </a:rPr>
              <a:t>	40-49% = Pass</a:t>
            </a:r>
          </a:p>
          <a:p>
            <a:pPr marL="900113">
              <a:spcBef>
                <a:spcPts val="1200"/>
              </a:spcBef>
              <a:spcAft>
                <a:spcPts val="1200"/>
              </a:spcAft>
              <a:buFont typeface="Arial" charset="0"/>
              <a:buNone/>
              <a:tabLst>
                <a:tab pos="900113" algn="l"/>
              </a:tabLst>
              <a:defRPr/>
            </a:pPr>
            <a:r>
              <a:rPr lang="en-US" sz="2400" dirty="0">
                <a:latin typeface="+mj-lt"/>
                <a:cs typeface="Arial" charset="0"/>
              </a:rPr>
              <a:t>	39% and below = referred or fail</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800" y="1905000"/>
            <a:ext cx="2619375" cy="1743075"/>
          </a:xfrm>
          <a:prstGeom prst="rect">
            <a:avLst/>
          </a:prstGeom>
        </p:spPr>
      </p:pic>
    </p:spTree>
    <p:extLst>
      <p:ext uri="{BB962C8B-B14F-4D97-AF65-F5344CB8AC3E}">
        <p14:creationId xmlns:p14="http://schemas.microsoft.com/office/powerpoint/2010/main" val="41506104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10210800" cy="533400"/>
          </a:xfrm>
        </p:spPr>
        <p:txBody>
          <a:bodyPr>
            <a:normAutofit/>
          </a:bodyPr>
          <a:lstStyle/>
          <a:p>
            <a:r>
              <a:rPr lang="en-US" sz="2400" b="1" dirty="0">
                <a:solidFill>
                  <a:srgbClr val="FF0000"/>
                </a:solidFill>
              </a:rPr>
              <a:t>ASSIGNMENTS</a:t>
            </a:r>
          </a:p>
        </p:txBody>
      </p:sp>
      <p:sp>
        <p:nvSpPr>
          <p:cNvPr id="3" name="Content Placeholder 2"/>
          <p:cNvSpPr>
            <a:spLocks noGrp="1"/>
          </p:cNvSpPr>
          <p:nvPr>
            <p:ph idx="1"/>
          </p:nvPr>
        </p:nvSpPr>
        <p:spPr>
          <a:xfrm>
            <a:off x="457200" y="457200"/>
            <a:ext cx="11430000" cy="4800600"/>
          </a:xfrm>
        </p:spPr>
        <p:txBody>
          <a:bodyPr>
            <a:noAutofit/>
          </a:bodyPr>
          <a:lstStyle/>
          <a:p>
            <a:pPr marL="0" indent="0">
              <a:lnSpc>
                <a:spcPct val="120000"/>
              </a:lnSpc>
              <a:spcBef>
                <a:spcPts val="600"/>
              </a:spcBef>
              <a:spcAft>
                <a:spcPts val="0"/>
              </a:spcAft>
              <a:buNone/>
            </a:pPr>
            <a:r>
              <a:rPr lang="en-US" sz="2400" dirty="0">
                <a:solidFill>
                  <a:schemeClr val="tx2"/>
                </a:solidFill>
                <a:latin typeface="+mj-lt"/>
                <a:cs typeface="Arial" charset="0"/>
              </a:rPr>
              <a:t>Assignments serve a number of purposes. </a:t>
            </a:r>
          </a:p>
          <a:p>
            <a:pPr lvl="1">
              <a:lnSpc>
                <a:spcPct val="120000"/>
              </a:lnSpc>
              <a:spcBef>
                <a:spcPts val="0"/>
              </a:spcBef>
              <a:spcAft>
                <a:spcPts val="600"/>
              </a:spcAft>
            </a:pPr>
            <a:r>
              <a:rPr lang="en-US" sz="2400" dirty="0">
                <a:solidFill>
                  <a:schemeClr val="tx2"/>
                </a:solidFill>
                <a:latin typeface="+mj-lt"/>
                <a:cs typeface="Arial" charset="0"/>
              </a:rPr>
              <a:t>They provide an opportunity for you to receive feedback.</a:t>
            </a:r>
          </a:p>
          <a:p>
            <a:pPr lvl="1">
              <a:lnSpc>
                <a:spcPct val="100000"/>
              </a:lnSpc>
              <a:spcBef>
                <a:spcPts val="600"/>
              </a:spcBef>
              <a:spcAft>
                <a:spcPts val="600"/>
              </a:spcAft>
            </a:pPr>
            <a:r>
              <a:rPr lang="en-US" sz="2400" dirty="0">
                <a:solidFill>
                  <a:schemeClr val="tx2"/>
                </a:solidFill>
                <a:latin typeface="+mj-lt"/>
                <a:cs typeface="Arial" charset="0"/>
              </a:rPr>
              <a:t>Assignments will give you the opportunity to develop your learning in the major topics and areas that are covered during the course or module.</a:t>
            </a:r>
          </a:p>
          <a:p>
            <a:pPr lvl="1">
              <a:lnSpc>
                <a:spcPct val="120000"/>
              </a:lnSpc>
              <a:spcBef>
                <a:spcPts val="600"/>
              </a:spcBef>
              <a:spcAft>
                <a:spcPts val="600"/>
              </a:spcAft>
            </a:pPr>
            <a:r>
              <a:rPr lang="en-US" sz="2400" dirty="0">
                <a:solidFill>
                  <a:schemeClr val="tx2"/>
                </a:solidFill>
                <a:latin typeface="+mj-lt"/>
                <a:cs typeface="Arial" charset="0"/>
              </a:rPr>
              <a:t>They will allow you to develop your analytical, critical, and evaluative abilities.</a:t>
            </a:r>
          </a:p>
          <a:p>
            <a:pPr lvl="1">
              <a:lnSpc>
                <a:spcPct val="120000"/>
              </a:lnSpc>
              <a:spcBef>
                <a:spcPts val="600"/>
              </a:spcBef>
              <a:spcAft>
                <a:spcPts val="600"/>
              </a:spcAft>
            </a:pPr>
            <a:r>
              <a:rPr lang="en-US" sz="2400" dirty="0">
                <a:solidFill>
                  <a:schemeClr val="tx2"/>
                </a:solidFill>
                <a:latin typeface="+mj-lt"/>
                <a:cs typeface="Arial" charset="0"/>
              </a:rPr>
              <a:t>They will help you to improve practical skills such as</a:t>
            </a:r>
          </a:p>
          <a:p>
            <a:pPr lvl="2">
              <a:lnSpc>
                <a:spcPct val="120000"/>
              </a:lnSpc>
              <a:spcAft>
                <a:spcPts val="600"/>
              </a:spcAft>
            </a:pPr>
            <a:r>
              <a:rPr lang="en-US" sz="2400" dirty="0">
                <a:solidFill>
                  <a:schemeClr val="tx2"/>
                </a:solidFill>
                <a:latin typeface="+mj-lt"/>
                <a:cs typeface="Arial" charset="0"/>
              </a:rPr>
              <a:t>Writing skills (preparing structured essays, reports).</a:t>
            </a:r>
          </a:p>
          <a:p>
            <a:pPr lvl="2">
              <a:lnSpc>
                <a:spcPct val="120000"/>
              </a:lnSpc>
              <a:spcAft>
                <a:spcPts val="600"/>
              </a:spcAft>
            </a:pPr>
            <a:r>
              <a:rPr lang="en-US" sz="2400" dirty="0">
                <a:solidFill>
                  <a:schemeClr val="tx2"/>
                </a:solidFill>
                <a:latin typeface="+mj-lt"/>
                <a:cs typeface="Arial" charset="0"/>
              </a:rPr>
              <a:t>Interpersonal skills (particularly informing, persuading, and gathering information).</a:t>
            </a:r>
          </a:p>
          <a:p>
            <a:pPr lvl="2">
              <a:lnSpc>
                <a:spcPct val="120000"/>
              </a:lnSpc>
              <a:spcAft>
                <a:spcPts val="600"/>
              </a:spcAft>
            </a:pPr>
            <a:r>
              <a:rPr lang="en-US" sz="2000" dirty="0">
                <a:solidFill>
                  <a:schemeClr val="tx2"/>
                </a:solidFill>
                <a:latin typeface="+mj-lt"/>
                <a:cs typeface="Arial" charset="0"/>
              </a:rPr>
              <a:t>Presentations skills</a:t>
            </a:r>
          </a:p>
          <a:p>
            <a:pPr lvl="2">
              <a:lnSpc>
                <a:spcPct val="120000"/>
              </a:lnSpc>
              <a:spcAft>
                <a:spcPts val="600"/>
              </a:spcAft>
            </a:pPr>
            <a:endParaRPr lang="en-US" sz="2400" dirty="0">
              <a:solidFill>
                <a:schemeClr val="tx2"/>
              </a:solidFill>
              <a:latin typeface="+mj-lt"/>
              <a:cs typeface="Arial" charset="0"/>
            </a:endParaRPr>
          </a:p>
        </p:txBody>
      </p:sp>
    </p:spTree>
    <p:extLst>
      <p:ext uri="{BB962C8B-B14F-4D97-AF65-F5344CB8AC3E}">
        <p14:creationId xmlns:p14="http://schemas.microsoft.com/office/powerpoint/2010/main" val="26613291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9829800" cy="457200"/>
          </a:xfrm>
        </p:spPr>
        <p:txBody>
          <a:bodyPr>
            <a:noAutofit/>
          </a:bodyPr>
          <a:lstStyle/>
          <a:p>
            <a:r>
              <a:rPr lang="en-US" sz="2400" b="1" dirty="0">
                <a:solidFill>
                  <a:srgbClr val="FF0000"/>
                </a:solidFill>
              </a:rPr>
              <a:t>WHAT IS EXPECTED FROM YOU</a:t>
            </a:r>
          </a:p>
        </p:txBody>
      </p:sp>
      <p:sp>
        <p:nvSpPr>
          <p:cNvPr id="3" name="Content Placeholder 2"/>
          <p:cNvSpPr>
            <a:spLocks noGrp="1"/>
          </p:cNvSpPr>
          <p:nvPr>
            <p:ph idx="1"/>
          </p:nvPr>
        </p:nvSpPr>
        <p:spPr>
          <a:xfrm>
            <a:off x="838200" y="1219200"/>
            <a:ext cx="10287000" cy="3505200"/>
          </a:xfrm>
        </p:spPr>
        <p:txBody>
          <a:bodyPr/>
          <a:lstStyle/>
          <a:p>
            <a:pPr>
              <a:spcBef>
                <a:spcPts val="600"/>
              </a:spcBef>
              <a:spcAft>
                <a:spcPts val="600"/>
              </a:spcAft>
            </a:pPr>
            <a:r>
              <a:rPr lang="en-US" dirty="0">
                <a:latin typeface="Arial" charset="0"/>
                <a:cs typeface="Arial" charset="0"/>
              </a:rPr>
              <a:t>Independence.</a:t>
            </a:r>
          </a:p>
          <a:p>
            <a:pPr>
              <a:spcBef>
                <a:spcPts val="600"/>
              </a:spcBef>
              <a:spcAft>
                <a:spcPts val="600"/>
              </a:spcAft>
            </a:pPr>
            <a:r>
              <a:rPr lang="en-US" dirty="0">
                <a:latin typeface="Arial" charset="0"/>
                <a:cs typeface="Arial" charset="0"/>
              </a:rPr>
              <a:t>Self-motivation.</a:t>
            </a:r>
          </a:p>
          <a:p>
            <a:pPr>
              <a:spcBef>
                <a:spcPts val="600"/>
              </a:spcBef>
              <a:spcAft>
                <a:spcPts val="600"/>
              </a:spcAft>
            </a:pPr>
            <a:r>
              <a:rPr lang="en-US" dirty="0">
                <a:latin typeface="Arial" charset="0"/>
                <a:cs typeface="Arial" charset="0"/>
              </a:rPr>
              <a:t>In-class participation.</a:t>
            </a:r>
          </a:p>
          <a:p>
            <a:pPr>
              <a:spcBef>
                <a:spcPts val="600"/>
              </a:spcBef>
              <a:spcAft>
                <a:spcPts val="600"/>
              </a:spcAft>
            </a:pPr>
            <a:r>
              <a:rPr lang="en-US" dirty="0">
                <a:latin typeface="Arial" charset="0"/>
                <a:cs typeface="Arial" charset="0"/>
              </a:rPr>
              <a:t>The ability to work with others.</a:t>
            </a:r>
          </a:p>
          <a:p>
            <a:pPr>
              <a:spcBef>
                <a:spcPts val="600"/>
              </a:spcBef>
              <a:spcAft>
                <a:spcPts val="600"/>
              </a:spcAft>
            </a:pPr>
            <a:r>
              <a:rPr lang="en-US" dirty="0">
                <a:latin typeface="Arial" charset="0"/>
                <a:cs typeface="Arial" charset="0"/>
              </a:rPr>
              <a:t>The ability to work things out for yourself.</a:t>
            </a:r>
          </a:p>
          <a:p>
            <a:pPr>
              <a:spcBef>
                <a:spcPts val="600"/>
              </a:spcBef>
              <a:spcAft>
                <a:spcPts val="600"/>
              </a:spcAft>
            </a:pPr>
            <a:r>
              <a:rPr lang="en-US" dirty="0">
                <a:latin typeface="Arial" charset="0"/>
                <a:cs typeface="Arial" charset="0"/>
              </a:rPr>
              <a:t>The ability to set goals to improve your work.</a:t>
            </a:r>
          </a:p>
          <a:p>
            <a:pPr>
              <a:spcBef>
                <a:spcPts val="600"/>
              </a:spcBef>
              <a:spcAft>
                <a:spcPts val="600"/>
              </a:spcAft>
            </a:pPr>
            <a:r>
              <a:rPr lang="en-US" dirty="0">
                <a:latin typeface="Arial" charset="0"/>
                <a:cs typeface="Arial" charset="0"/>
              </a:rPr>
              <a:t>The ability to organize your time.</a:t>
            </a:r>
          </a:p>
          <a:p>
            <a:pPr>
              <a:spcBef>
                <a:spcPts val="600"/>
              </a:spcBef>
              <a:spcAft>
                <a:spcPts val="600"/>
              </a:spcAft>
            </a:pPr>
            <a:r>
              <a:rPr lang="en-US" dirty="0">
                <a:latin typeface="Arial" charset="0"/>
                <a:cs typeface="Arial" charset="0"/>
              </a:rPr>
              <a:t>The ability to work out when, how, and where you learn best.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4025" y="921508"/>
            <a:ext cx="2581275" cy="177165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48700" y="2796227"/>
            <a:ext cx="2476500" cy="1847850"/>
          </a:xfrm>
          <a:prstGeom prst="rect">
            <a:avLst/>
          </a:prstGeom>
        </p:spPr>
      </p:pic>
    </p:spTree>
    <p:extLst>
      <p:ext uri="{BB962C8B-B14F-4D97-AF65-F5344CB8AC3E}">
        <p14:creationId xmlns:p14="http://schemas.microsoft.com/office/powerpoint/2010/main" val="26999480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15" descr="http://www.citytowninfo.com/images/education-news/public-is-frustrated-with-higher-education-10021901.jpg"/>
          <p:cNvPicPr>
            <a:picLocks noChangeAspect="1" noChangeArrowheads="1"/>
          </p:cNvPicPr>
          <p:nvPr/>
        </p:nvPicPr>
        <p:blipFill>
          <a:blip r:embed="rId3" cstate="print">
            <a:lum contrast="-20000"/>
            <a:extLst>
              <a:ext uri="{28A0092B-C50C-407E-A947-70E740481C1C}">
                <a14:useLocalDpi xmlns:a14="http://schemas.microsoft.com/office/drawing/2010/main" val="0"/>
              </a:ext>
            </a:extLst>
          </a:blip>
          <a:srcRect/>
          <a:stretch>
            <a:fillRect/>
          </a:stretch>
        </p:blipFill>
        <p:spPr bwMode="auto">
          <a:xfrm>
            <a:off x="4572000" y="1371600"/>
            <a:ext cx="2971800" cy="390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Content Placeholder 2"/>
          <p:cNvSpPr>
            <a:spLocks noGrp="1"/>
          </p:cNvSpPr>
          <p:nvPr>
            <p:ph idx="1"/>
          </p:nvPr>
        </p:nvSpPr>
        <p:spPr>
          <a:xfrm>
            <a:off x="609600" y="152400"/>
            <a:ext cx="10972800" cy="5126038"/>
          </a:xfrm>
          <a:ln/>
        </p:spPr>
        <p:txBody>
          <a:bodyPr/>
          <a:lstStyle/>
          <a:p>
            <a:pPr>
              <a:buFont typeface="Arial" charset="0"/>
              <a:buNone/>
            </a:pPr>
            <a:endParaRPr sz="4000" dirty="0">
              <a:latin typeface="Arial" charset="0"/>
              <a:cs typeface="Arial" charset="0"/>
            </a:endParaRPr>
          </a:p>
          <a:p>
            <a:pPr>
              <a:buFont typeface="Arial" charset="0"/>
              <a:buNone/>
            </a:pPr>
            <a:endParaRPr sz="4000" dirty="0">
              <a:latin typeface="Arial" charset="0"/>
              <a:cs typeface="Arial" charset="0"/>
            </a:endParaRPr>
          </a:p>
          <a:p>
            <a:pPr>
              <a:buFont typeface="Arial" charset="0"/>
              <a:buNone/>
            </a:pPr>
            <a:endParaRPr sz="4000" dirty="0">
              <a:latin typeface="Arial" charset="0"/>
              <a:cs typeface="Arial" charset="0"/>
            </a:endParaRPr>
          </a:p>
          <a:p>
            <a:pPr>
              <a:buFont typeface="Arial" charset="0"/>
              <a:buNone/>
            </a:pPr>
            <a:endParaRPr sz="4000" dirty="0">
              <a:latin typeface="Arial" charset="0"/>
              <a:cs typeface="Arial" charset="0"/>
            </a:endParaRPr>
          </a:p>
          <a:p>
            <a:pPr>
              <a:buFont typeface="Arial" charset="0"/>
              <a:buNone/>
            </a:pPr>
            <a:endParaRPr sz="4000" dirty="0">
              <a:latin typeface="Arial" charset="0"/>
              <a:cs typeface="Arial" charset="0"/>
            </a:endParaRPr>
          </a:p>
          <a:p>
            <a:pPr>
              <a:buFont typeface="Arial" charset="0"/>
              <a:buNone/>
            </a:pPr>
            <a:endParaRPr sz="4000" dirty="0">
              <a:latin typeface="Arial" charset="0"/>
              <a:cs typeface="Arial" charset="0"/>
            </a:endParaRPr>
          </a:p>
        </p:txBody>
      </p:sp>
      <p:sp>
        <p:nvSpPr>
          <p:cNvPr id="16389"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6FA0862-8A75-407C-A54A-670F37DA533A}" type="slidenum">
              <a:rPr lang="en-GB" smtClean="0">
                <a:solidFill>
                  <a:srgbClr val="014B89"/>
                </a:solidFill>
                <a:latin typeface="Gill Sans MT" pitchFamily="34" charset="0"/>
              </a:rPr>
              <a:pPr eaLnBrk="1" hangingPunct="1"/>
              <a:t>21</a:t>
            </a:fld>
            <a:endParaRPr lang="en-GB">
              <a:solidFill>
                <a:srgbClr val="014B89"/>
              </a:solidFill>
              <a:latin typeface="Gill Sans MT" pitchFamily="34" charset="0"/>
            </a:endParaRPr>
          </a:p>
        </p:txBody>
      </p:sp>
      <p:sp>
        <p:nvSpPr>
          <p:cNvPr id="16390" name="TextBox 7"/>
          <p:cNvSpPr txBox="1">
            <a:spLocks noChangeArrowheads="1"/>
          </p:cNvSpPr>
          <p:nvPr/>
        </p:nvSpPr>
        <p:spPr bwMode="auto">
          <a:xfrm rot="-1244215">
            <a:off x="2452688" y="773113"/>
            <a:ext cx="26606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GB" sz="4400" dirty="0">
                <a:latin typeface="Segoe Print" pitchFamily="2" charset="0"/>
              </a:rPr>
              <a:t>Scared ?</a:t>
            </a:r>
          </a:p>
        </p:txBody>
      </p:sp>
      <p:sp>
        <p:nvSpPr>
          <p:cNvPr id="16391" name="TextBox 8"/>
          <p:cNvSpPr txBox="1">
            <a:spLocks noChangeArrowheads="1"/>
          </p:cNvSpPr>
          <p:nvPr/>
        </p:nvSpPr>
        <p:spPr bwMode="auto">
          <a:xfrm rot="699923">
            <a:off x="7435850" y="1068389"/>
            <a:ext cx="26606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GB" sz="4400" dirty="0">
                <a:latin typeface="Segoe Print" pitchFamily="2" charset="0"/>
              </a:rPr>
              <a:t>Doubts ?</a:t>
            </a:r>
          </a:p>
        </p:txBody>
      </p:sp>
      <p:sp>
        <p:nvSpPr>
          <p:cNvPr id="16392" name="TextBox 9"/>
          <p:cNvSpPr txBox="1">
            <a:spLocks noChangeArrowheads="1"/>
          </p:cNvSpPr>
          <p:nvPr/>
        </p:nvSpPr>
        <p:spPr bwMode="auto">
          <a:xfrm rot="2447320">
            <a:off x="1789114" y="3670300"/>
            <a:ext cx="3024187"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GB" sz="4400" dirty="0">
                <a:latin typeface="Segoe Print" pitchFamily="2" charset="0"/>
              </a:rPr>
              <a:t>Worried</a:t>
            </a:r>
            <a:r>
              <a:rPr lang="en-GB" sz="4000" dirty="0"/>
              <a:t> ?</a:t>
            </a:r>
          </a:p>
        </p:txBody>
      </p:sp>
      <p:sp>
        <p:nvSpPr>
          <p:cNvPr id="16393" name="TextBox 10"/>
          <p:cNvSpPr txBox="1">
            <a:spLocks noChangeArrowheads="1"/>
          </p:cNvSpPr>
          <p:nvPr/>
        </p:nvSpPr>
        <p:spPr bwMode="auto">
          <a:xfrm rot="-2504042">
            <a:off x="7599363" y="3921125"/>
            <a:ext cx="35814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GB" sz="4400" dirty="0">
                <a:latin typeface="Segoe Print" pitchFamily="2" charset="0"/>
              </a:rPr>
              <a:t>Questions ?</a:t>
            </a:r>
          </a:p>
        </p:txBody>
      </p:sp>
      <p:sp>
        <p:nvSpPr>
          <p:cNvPr id="16394" name="TextBox 11"/>
          <p:cNvSpPr txBox="1">
            <a:spLocks noChangeArrowheads="1"/>
          </p:cNvSpPr>
          <p:nvPr/>
        </p:nvSpPr>
        <p:spPr bwMode="auto">
          <a:xfrm>
            <a:off x="4319588" y="5599113"/>
            <a:ext cx="2995612"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GB" sz="4400" dirty="0">
                <a:latin typeface="Segoe Print" pitchFamily="2" charset="0"/>
              </a:rPr>
              <a:t>Anxious ?</a:t>
            </a:r>
          </a:p>
        </p:txBody>
      </p:sp>
      <p:pic>
        <p:nvPicPr>
          <p:cNvPr id="15" name="Picture 2" descr="D:\My Pictures\university educati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77400" y="304801"/>
            <a:ext cx="951332" cy="634811"/>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3"/>
          <p:cNvSpPr>
            <a:spLocks noGrp="1" noChangeArrowheads="1"/>
          </p:cNvSpPr>
          <p:nvPr>
            <p:ph type="ftr" sz="quarter" idx="4294967295"/>
          </p:nvPr>
        </p:nvSpPr>
        <p:spPr bwMode="auto">
          <a:xfrm>
            <a:off x="4800600" y="6610350"/>
            <a:ext cx="3124200" cy="247650"/>
          </a:xfrm>
          <a:prstGeom prst="rect">
            <a:avLst/>
          </a:prstGeom>
          <a:noFill/>
          <a:ln w="9525">
            <a:noFill/>
            <a:miter lim="800000"/>
            <a:headEnd/>
            <a:tailEnd/>
          </a:ln>
          <a:effectLst/>
        </p:spPr>
        <p:txBody>
          <a:bodyPr vert="horz" wrap="square" lIns="91440" tIns="45720" rIns="91440" bIns="45720" numCol="1" rtlCol="0" anchor="t" anchorCtr="0" compatLnSpc="1">
            <a:prstTxWarp prst="textNoShape">
              <a:avLst/>
            </a:prstTxWarp>
          </a:bodyPr>
          <a:lstStyle>
            <a:lvl1pPr algn="ctr">
              <a:defRPr sz="1200">
                <a:latin typeface="Times New Roman" pitchFamily="18" charset="0"/>
              </a:defRPr>
            </a:lvl1pPr>
          </a:lstStyle>
          <a:p>
            <a:pPr>
              <a:defRPr/>
            </a:pPr>
            <a:r>
              <a:rPr lang="en-US" dirty="0"/>
              <a:t>Foundation Certificate Course</a:t>
            </a:r>
            <a:endParaRPr lang="en-GB" dirty="0"/>
          </a:p>
        </p:txBody>
      </p:sp>
      <p:sp>
        <p:nvSpPr>
          <p:cNvPr id="14" name="Date Placeholder 8"/>
          <p:cNvSpPr>
            <a:spLocks noGrp="1" noChangeArrowheads="1"/>
          </p:cNvSpPr>
          <p:nvPr>
            <p:ph type="dt" sz="half" idx="2"/>
          </p:nvPr>
        </p:nvSpPr>
        <p:spPr bwMode="auto">
          <a:xfrm>
            <a:off x="1828800" y="6553200"/>
            <a:ext cx="2133600" cy="304800"/>
          </a:xfrm>
          <a:prstGeom prst="rect">
            <a:avLst/>
          </a:prstGeom>
          <a:noFill/>
          <a:ln w="9525">
            <a:noFill/>
            <a:miter lim="800000"/>
            <a:headEnd/>
            <a:tailEnd/>
          </a:ln>
          <a:effectLst/>
        </p:spPr>
        <p:txBody>
          <a:bodyPr vert="horz" wrap="square" lIns="91440" tIns="45720" rIns="91440" bIns="45720" numCol="1" rtlCol="0" anchor="t" anchorCtr="0" compatLnSpc="1">
            <a:prstTxWarp prst="textNoShape">
              <a:avLst/>
            </a:prstTxWarp>
            <a:noAutofit/>
          </a:bodyPr>
          <a:lstStyle>
            <a:lvl1pPr>
              <a:defRPr sz="1400">
                <a:cs typeface="Arial" charset="0"/>
              </a:defRPr>
            </a:lvl1pPr>
          </a:lstStyle>
          <a:p>
            <a:pPr>
              <a:defRPr/>
            </a:pPr>
            <a:r>
              <a:rPr lang="en-GB" dirty="0"/>
              <a:t>© </a:t>
            </a:r>
            <a:r>
              <a:rPr lang="en-GB" sz="1200" dirty="0">
                <a:latin typeface="Times New Roman" pitchFamily="18" charset="0"/>
              </a:rPr>
              <a:t>IIT 2018/19 – SS</a:t>
            </a:r>
          </a:p>
        </p:txBody>
      </p:sp>
      <p:sp>
        <p:nvSpPr>
          <p:cNvPr id="3" name="TextBox 2"/>
          <p:cNvSpPr txBox="1"/>
          <p:nvPr/>
        </p:nvSpPr>
        <p:spPr>
          <a:xfrm>
            <a:off x="1968938" y="5278438"/>
            <a:ext cx="1764862" cy="338554"/>
          </a:xfrm>
          <a:prstGeom prst="rect">
            <a:avLst/>
          </a:prstGeom>
          <a:noFill/>
        </p:spPr>
        <p:txBody>
          <a:bodyPr wrap="square" rtlCol="0">
            <a:spAutoFit/>
          </a:bodyPr>
          <a:lstStyle/>
          <a:p>
            <a:r>
              <a:rPr lang="en-US" sz="1600" b="1" dirty="0"/>
              <a:t>Created by SS</a:t>
            </a:r>
          </a:p>
        </p:txBody>
      </p:sp>
    </p:spTree>
    <p:extLst>
      <p:ext uri="{BB962C8B-B14F-4D97-AF65-F5344CB8AC3E}">
        <p14:creationId xmlns:p14="http://schemas.microsoft.com/office/powerpoint/2010/main" val="39078500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9829800" cy="457200"/>
          </a:xfrm>
        </p:spPr>
        <p:txBody>
          <a:bodyPr>
            <a:normAutofit/>
          </a:bodyPr>
          <a:lstStyle/>
          <a:p>
            <a:r>
              <a:rPr lang="en-US" sz="2400" b="1" dirty="0">
                <a:solidFill>
                  <a:srgbClr val="FF0000"/>
                </a:solidFill>
              </a:rPr>
              <a:t>MANAGING ANXIETIES</a:t>
            </a:r>
          </a:p>
        </p:txBody>
      </p:sp>
      <p:sp>
        <p:nvSpPr>
          <p:cNvPr id="3" name="Content Placeholder 2"/>
          <p:cNvSpPr>
            <a:spLocks noGrp="1"/>
          </p:cNvSpPr>
          <p:nvPr>
            <p:ph idx="1"/>
          </p:nvPr>
        </p:nvSpPr>
        <p:spPr>
          <a:xfrm>
            <a:off x="838200" y="838200"/>
            <a:ext cx="9829800" cy="4465320"/>
          </a:xfrm>
        </p:spPr>
        <p:txBody>
          <a:bodyPr/>
          <a:lstStyle/>
          <a:p>
            <a:pPr>
              <a:buFont typeface="Arial" charset="0"/>
              <a:buNone/>
            </a:pPr>
            <a:r>
              <a:rPr lang="en-US" sz="2400" b="1" dirty="0">
                <a:solidFill>
                  <a:srgbClr val="FF0000"/>
                </a:solidFill>
                <a:latin typeface="+mj-lt"/>
                <a:cs typeface="Arial" charset="0"/>
              </a:rPr>
              <a:t>Setting priorities</a:t>
            </a:r>
          </a:p>
          <a:p>
            <a:pPr>
              <a:buFont typeface="Arial" charset="0"/>
              <a:buNone/>
            </a:pPr>
            <a:endParaRPr lang="en-US" dirty="0">
              <a:latin typeface="Arial" charset="0"/>
              <a:cs typeface="Arial" charset="0"/>
            </a:endParaRPr>
          </a:p>
          <a:p>
            <a:r>
              <a:rPr lang="en-US" sz="2400" dirty="0">
                <a:latin typeface="+mj-lt"/>
                <a:cs typeface="Arial" charset="0"/>
              </a:rPr>
              <a:t>What needs to be done immediately?</a:t>
            </a:r>
          </a:p>
          <a:p>
            <a:endParaRPr lang="en-US" sz="2400" dirty="0">
              <a:latin typeface="+mj-lt"/>
              <a:cs typeface="Arial" charset="0"/>
            </a:endParaRPr>
          </a:p>
          <a:p>
            <a:r>
              <a:rPr lang="en-US" sz="2400" dirty="0">
                <a:latin typeface="+mj-lt"/>
                <a:cs typeface="Arial" charset="0"/>
              </a:rPr>
              <a:t>Which things can wait?</a:t>
            </a:r>
          </a:p>
          <a:p>
            <a:endParaRPr lang="en-US" sz="2400" dirty="0">
              <a:latin typeface="+mj-lt"/>
              <a:cs typeface="Arial" charset="0"/>
            </a:endParaRPr>
          </a:p>
          <a:p>
            <a:r>
              <a:rPr lang="en-US" sz="2400" dirty="0">
                <a:latin typeface="+mj-lt"/>
                <a:cs typeface="Arial" charset="0"/>
              </a:rPr>
              <a:t>In which order do you need to deal with these anxieties?</a:t>
            </a:r>
          </a:p>
          <a:p>
            <a:pPr marL="0" indent="0">
              <a:buNone/>
            </a:pPr>
            <a:endParaRPr lang="en-US" sz="2400" dirty="0">
              <a:latin typeface="+mj-lt"/>
            </a:endParaRPr>
          </a:p>
        </p:txBody>
      </p:sp>
    </p:spTree>
    <p:extLst>
      <p:ext uri="{BB962C8B-B14F-4D97-AF65-F5344CB8AC3E}">
        <p14:creationId xmlns:p14="http://schemas.microsoft.com/office/powerpoint/2010/main" val="9414420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0363200" cy="457200"/>
          </a:xfrm>
        </p:spPr>
        <p:txBody>
          <a:bodyPr>
            <a:normAutofit/>
          </a:bodyPr>
          <a:lstStyle/>
          <a:p>
            <a:r>
              <a:rPr lang="en-US" sz="2400" b="1" dirty="0">
                <a:solidFill>
                  <a:srgbClr val="FF0000"/>
                </a:solidFill>
              </a:rPr>
              <a:t>MANAGING ANXIETIES</a:t>
            </a:r>
          </a:p>
        </p:txBody>
      </p:sp>
      <p:sp>
        <p:nvSpPr>
          <p:cNvPr id="3" name="Content Placeholder 2"/>
          <p:cNvSpPr>
            <a:spLocks noGrp="1"/>
          </p:cNvSpPr>
          <p:nvPr>
            <p:ph idx="1"/>
          </p:nvPr>
        </p:nvSpPr>
        <p:spPr>
          <a:xfrm>
            <a:off x="304800" y="838200"/>
            <a:ext cx="11658600" cy="4876800"/>
          </a:xfrm>
        </p:spPr>
        <p:txBody>
          <a:bodyPr>
            <a:normAutofit fontScale="32500" lnSpcReduction="20000"/>
          </a:bodyPr>
          <a:lstStyle/>
          <a:p>
            <a:pPr>
              <a:lnSpc>
                <a:spcPct val="120000"/>
              </a:lnSpc>
              <a:spcBef>
                <a:spcPts val="600"/>
              </a:spcBef>
              <a:spcAft>
                <a:spcPts val="600"/>
              </a:spcAft>
              <a:buFont typeface="Arial" charset="0"/>
              <a:buNone/>
              <a:defRPr/>
            </a:pPr>
            <a:r>
              <a:rPr lang="en-US" sz="5500" b="1" dirty="0">
                <a:solidFill>
                  <a:srgbClr val="0033CC"/>
                </a:solidFill>
                <a:latin typeface="+mj-lt"/>
              </a:rPr>
              <a:t>Reflection</a:t>
            </a:r>
          </a:p>
          <a:p>
            <a:pPr>
              <a:lnSpc>
                <a:spcPct val="120000"/>
              </a:lnSpc>
              <a:spcBef>
                <a:spcPts val="600"/>
              </a:spcBef>
              <a:spcAft>
                <a:spcPts val="600"/>
              </a:spcAft>
              <a:buFont typeface="Arial" charset="0"/>
              <a:buNone/>
              <a:defRPr/>
            </a:pPr>
            <a:r>
              <a:rPr lang="en-US" sz="4900" dirty="0">
                <a:latin typeface="+mj-lt"/>
              </a:rPr>
              <a:t>It helps if you write down and think about your worries.</a:t>
            </a:r>
          </a:p>
          <a:p>
            <a:pPr lvl="1">
              <a:lnSpc>
                <a:spcPct val="120000"/>
              </a:lnSpc>
              <a:spcBef>
                <a:spcPts val="600"/>
              </a:spcBef>
              <a:spcAft>
                <a:spcPts val="600"/>
              </a:spcAft>
              <a:defRPr/>
            </a:pPr>
            <a:r>
              <a:rPr lang="en-US" sz="4900" dirty="0">
                <a:latin typeface="+mj-lt"/>
              </a:rPr>
              <a:t>Note down difficult subject areas.</a:t>
            </a:r>
          </a:p>
          <a:p>
            <a:pPr lvl="1">
              <a:lnSpc>
                <a:spcPct val="120000"/>
              </a:lnSpc>
              <a:spcBef>
                <a:spcPts val="600"/>
              </a:spcBef>
              <a:spcAft>
                <a:spcPts val="600"/>
              </a:spcAft>
              <a:defRPr/>
            </a:pPr>
            <a:r>
              <a:rPr lang="en-US" sz="4900" dirty="0">
                <a:latin typeface="+mj-lt"/>
              </a:rPr>
              <a:t>Write down your desired outcomes and how your plan to achieve them.</a:t>
            </a:r>
          </a:p>
          <a:p>
            <a:pPr>
              <a:lnSpc>
                <a:spcPct val="120000"/>
              </a:lnSpc>
              <a:spcBef>
                <a:spcPts val="600"/>
              </a:spcBef>
              <a:spcAft>
                <a:spcPts val="600"/>
              </a:spcAft>
              <a:buFont typeface="Arial" charset="0"/>
              <a:buNone/>
              <a:defRPr/>
            </a:pPr>
            <a:r>
              <a:rPr lang="en-US" sz="4900" b="1" i="1" dirty="0">
                <a:latin typeface="+mj-lt"/>
              </a:rPr>
              <a:t>Example</a:t>
            </a:r>
            <a:r>
              <a:rPr lang="en-US" sz="4900" b="1" dirty="0">
                <a:latin typeface="+mj-lt"/>
              </a:rPr>
              <a:t>:</a:t>
            </a:r>
          </a:p>
          <a:p>
            <a:pPr>
              <a:lnSpc>
                <a:spcPct val="120000"/>
              </a:lnSpc>
              <a:spcBef>
                <a:spcPts val="600"/>
              </a:spcBef>
              <a:spcAft>
                <a:spcPts val="600"/>
              </a:spcAft>
              <a:buFont typeface="Arial" charset="0"/>
              <a:buNone/>
              <a:defRPr/>
            </a:pPr>
            <a:r>
              <a:rPr lang="en-US" sz="5500" i="1" dirty="0">
                <a:latin typeface="+mj-lt"/>
              </a:rPr>
              <a:t>Anxiety or worry</a:t>
            </a:r>
            <a:r>
              <a:rPr lang="en-US" sz="5500" dirty="0">
                <a:latin typeface="+mj-lt"/>
              </a:rPr>
              <a:t>:  'Introduction to Programming' may be a new subject for you and you are worried that it may be difficult for you to grasp.</a:t>
            </a:r>
          </a:p>
          <a:p>
            <a:pPr marL="2222500" lvl="1" indent="-1765300">
              <a:lnSpc>
                <a:spcPct val="120000"/>
              </a:lnSpc>
              <a:spcBef>
                <a:spcPts val="600"/>
              </a:spcBef>
              <a:spcAft>
                <a:spcPts val="600"/>
              </a:spcAft>
              <a:buFont typeface="Arial" charset="0"/>
              <a:buNone/>
              <a:tabLst>
                <a:tab pos="2243138" algn="l"/>
              </a:tabLst>
              <a:defRPr/>
            </a:pPr>
            <a:r>
              <a:rPr lang="en-US" sz="4900" i="1" dirty="0">
                <a:latin typeface="+mj-lt"/>
              </a:rPr>
              <a:t>Outcome</a:t>
            </a:r>
            <a:r>
              <a:rPr lang="en-US" sz="4900" dirty="0">
                <a:latin typeface="+mj-lt"/>
              </a:rPr>
              <a:t>: 	To learn.</a:t>
            </a:r>
          </a:p>
          <a:p>
            <a:pPr marL="2243138" lvl="1" indent="-1785938">
              <a:lnSpc>
                <a:spcPct val="120000"/>
              </a:lnSpc>
              <a:spcBef>
                <a:spcPts val="600"/>
              </a:spcBef>
              <a:spcAft>
                <a:spcPts val="600"/>
              </a:spcAft>
              <a:buFont typeface="Arial" charset="0"/>
              <a:buNone/>
              <a:tabLst>
                <a:tab pos="2243138" algn="l"/>
              </a:tabLst>
              <a:defRPr/>
            </a:pPr>
            <a:r>
              <a:rPr lang="en-US" sz="4900" i="1" dirty="0">
                <a:latin typeface="+mj-lt"/>
              </a:rPr>
              <a:t>Plan</a:t>
            </a:r>
            <a:r>
              <a:rPr lang="en-US" sz="4900" dirty="0">
                <a:latin typeface="+mj-lt"/>
              </a:rPr>
              <a:t> </a:t>
            </a:r>
            <a:r>
              <a:rPr lang="en-US" sz="4900" i="1" dirty="0">
                <a:latin typeface="+mj-lt"/>
              </a:rPr>
              <a:t>:</a:t>
            </a:r>
            <a:r>
              <a:rPr lang="en-US" sz="4900" dirty="0">
                <a:latin typeface="+mj-lt"/>
              </a:rPr>
              <a:t>	Do self-study (internet, library)</a:t>
            </a:r>
          </a:p>
          <a:p>
            <a:pPr lvl="1">
              <a:lnSpc>
                <a:spcPct val="120000"/>
              </a:lnSpc>
              <a:spcBef>
                <a:spcPts val="600"/>
              </a:spcBef>
              <a:spcAft>
                <a:spcPts val="600"/>
              </a:spcAft>
              <a:buFont typeface="Arial" charset="0"/>
              <a:buNone/>
              <a:tabLst>
                <a:tab pos="2243138" algn="l"/>
              </a:tabLst>
              <a:defRPr/>
            </a:pPr>
            <a:r>
              <a:rPr lang="en-US" sz="4900" dirty="0">
                <a:latin typeface="+mj-lt"/>
              </a:rPr>
              <a:t>		Pay close attention during lectures.</a:t>
            </a:r>
          </a:p>
          <a:p>
            <a:pPr lvl="1">
              <a:lnSpc>
                <a:spcPct val="120000"/>
              </a:lnSpc>
              <a:spcBef>
                <a:spcPts val="600"/>
              </a:spcBef>
              <a:spcAft>
                <a:spcPts val="600"/>
              </a:spcAft>
              <a:buFont typeface="Arial" charset="0"/>
              <a:buNone/>
              <a:tabLst>
                <a:tab pos="2243138" algn="l"/>
              </a:tabLst>
              <a:defRPr/>
            </a:pPr>
            <a:r>
              <a:rPr lang="en-US" sz="4900" dirty="0">
                <a:latin typeface="+mj-lt"/>
              </a:rPr>
              <a:t>		Seek help from lecturers, classmates, etc.</a:t>
            </a:r>
          </a:p>
          <a:p>
            <a:pPr marL="1714500" lvl="7" indent="-342900">
              <a:lnSpc>
                <a:spcPct val="120000"/>
              </a:lnSpc>
              <a:spcAft>
                <a:spcPts val="600"/>
              </a:spcAft>
              <a:buFont typeface="Arial" charset="0"/>
              <a:buChar char="●"/>
              <a:defRPr/>
            </a:pPr>
            <a:r>
              <a:rPr lang="en-US" sz="4900" dirty="0">
                <a:latin typeface="+mj-lt"/>
              </a:rPr>
              <a:t>Record and evaluate your progress.</a:t>
            </a:r>
          </a:p>
          <a:p>
            <a:endParaRPr lang="en-US" dirty="0"/>
          </a:p>
        </p:txBody>
      </p:sp>
    </p:spTree>
    <p:extLst>
      <p:ext uri="{BB962C8B-B14F-4D97-AF65-F5344CB8AC3E}">
        <p14:creationId xmlns:p14="http://schemas.microsoft.com/office/powerpoint/2010/main" val="38991773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0363200" cy="533400"/>
          </a:xfrm>
        </p:spPr>
        <p:txBody>
          <a:bodyPr>
            <a:normAutofit/>
          </a:bodyPr>
          <a:lstStyle/>
          <a:p>
            <a:r>
              <a:rPr lang="en-US" sz="2400" b="1" dirty="0">
                <a:solidFill>
                  <a:srgbClr val="FF0000"/>
                </a:solidFill>
              </a:rPr>
              <a:t>MANAGING ANXIETIES</a:t>
            </a:r>
          </a:p>
        </p:txBody>
      </p:sp>
      <p:sp>
        <p:nvSpPr>
          <p:cNvPr id="3" name="Content Placeholder 2"/>
          <p:cNvSpPr>
            <a:spLocks noGrp="1"/>
          </p:cNvSpPr>
          <p:nvPr>
            <p:ph idx="1"/>
          </p:nvPr>
        </p:nvSpPr>
        <p:spPr>
          <a:xfrm>
            <a:off x="381000" y="838200"/>
            <a:ext cx="10896600" cy="4114800"/>
          </a:xfrm>
        </p:spPr>
        <p:txBody>
          <a:bodyPr>
            <a:normAutofit lnSpcReduction="10000"/>
          </a:bodyPr>
          <a:lstStyle/>
          <a:p>
            <a:r>
              <a:rPr lang="en-US" sz="2800" b="1" dirty="0">
                <a:solidFill>
                  <a:srgbClr val="7030A0"/>
                </a:solidFill>
                <a:latin typeface="+mj-lt"/>
              </a:rPr>
              <a:t>Always try to be Positive!</a:t>
            </a:r>
          </a:p>
          <a:p>
            <a:endParaRPr lang="en-US" sz="2800" b="1" dirty="0">
              <a:solidFill>
                <a:srgbClr val="7030A0"/>
              </a:solidFill>
              <a:latin typeface="+mj-lt"/>
            </a:endParaRPr>
          </a:p>
          <a:p>
            <a:endParaRPr lang="en-US" sz="2800" b="1" dirty="0">
              <a:solidFill>
                <a:srgbClr val="7030A0"/>
              </a:solidFill>
              <a:latin typeface="+mj-lt"/>
            </a:endParaRPr>
          </a:p>
          <a:p>
            <a:endParaRPr lang="en-US" sz="2800" b="1" dirty="0">
              <a:solidFill>
                <a:srgbClr val="7030A0"/>
              </a:solidFill>
              <a:latin typeface="+mj-lt"/>
            </a:endParaRPr>
          </a:p>
          <a:p>
            <a:endParaRPr lang="en-US" sz="2800" b="1" dirty="0">
              <a:solidFill>
                <a:srgbClr val="7030A0"/>
              </a:solidFill>
              <a:latin typeface="+mj-lt"/>
            </a:endParaRPr>
          </a:p>
          <a:p>
            <a:pPr marL="0" indent="0">
              <a:buNone/>
            </a:pPr>
            <a:endParaRPr lang="en-US" sz="2800" b="1" dirty="0">
              <a:solidFill>
                <a:srgbClr val="7030A0"/>
              </a:solidFill>
              <a:latin typeface="+mj-lt"/>
            </a:endParaRPr>
          </a:p>
          <a:p>
            <a:pPr marL="342900" lvl="1" indent="-342900">
              <a:buClr>
                <a:srgbClr val="700000"/>
              </a:buClr>
              <a:buFont typeface="Arial" charset="0"/>
              <a:buNone/>
            </a:pPr>
            <a:r>
              <a:rPr lang="en-US" sz="1600" dirty="0">
                <a:latin typeface="+mj-lt"/>
                <a:cs typeface="Arial" charset="0"/>
              </a:rPr>
              <a:t>References:</a:t>
            </a:r>
          </a:p>
          <a:p>
            <a:pPr marL="342900" lvl="1" indent="-342900">
              <a:buClr>
                <a:srgbClr val="700000"/>
              </a:buClr>
              <a:buFont typeface="Arial" charset="0"/>
              <a:buNone/>
            </a:pPr>
            <a:r>
              <a:rPr lang="en-US" sz="1600" dirty="0">
                <a:latin typeface="+mj-lt"/>
                <a:cs typeface="Arial" charset="0"/>
              </a:rPr>
              <a:t>Cottrell, S., (2003). </a:t>
            </a:r>
            <a:r>
              <a:rPr lang="en-US" sz="1600" i="1" dirty="0">
                <a:latin typeface="+mj-lt"/>
                <a:cs typeface="Arial" charset="0"/>
              </a:rPr>
              <a:t>The Study Skills Handbook.</a:t>
            </a:r>
            <a:r>
              <a:rPr lang="en-US" sz="1600" dirty="0">
                <a:latin typeface="+mj-lt"/>
                <a:cs typeface="Arial" charset="0"/>
              </a:rPr>
              <a:t> 3</a:t>
            </a:r>
            <a:r>
              <a:rPr lang="en-US" sz="1600" baseline="30000" dirty="0">
                <a:latin typeface="+mj-lt"/>
                <a:cs typeface="Arial" charset="0"/>
              </a:rPr>
              <a:t>rd</a:t>
            </a:r>
            <a:r>
              <a:rPr lang="en-US" sz="1600" dirty="0">
                <a:latin typeface="+mj-lt"/>
                <a:cs typeface="Arial" charset="0"/>
              </a:rPr>
              <a:t> ed. Basingstoke, Hampshire: Palgrave Macmillan</a:t>
            </a:r>
            <a:r>
              <a:rPr lang="en-US" sz="1600" dirty="0">
                <a:latin typeface="Arial" charset="0"/>
                <a:cs typeface="Arial" charset="0"/>
              </a:rPr>
              <a:t>.</a:t>
            </a:r>
            <a:endParaRPr lang="en-US" sz="1200" dirty="0">
              <a:latin typeface="Arial" charset="0"/>
              <a:cs typeface="Arial" charset="0"/>
            </a:endParaRPr>
          </a:p>
          <a:p>
            <a:pPr marL="0" indent="0">
              <a:buNone/>
            </a:pPr>
            <a:endParaRPr lang="en-US" sz="2800" b="1" dirty="0">
              <a:solidFill>
                <a:srgbClr val="7030A0"/>
              </a:solidFill>
              <a:latin typeface="+mj-lt"/>
            </a:endParaRPr>
          </a:p>
          <a:p>
            <a:endParaRPr lang="en-US" sz="2800" b="1" dirty="0">
              <a:solidFill>
                <a:srgbClr val="7030A0"/>
              </a:solidFill>
              <a:latin typeface="+mj-l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1219200"/>
            <a:ext cx="2133600" cy="314808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3887" y="1447800"/>
            <a:ext cx="2057400" cy="28956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7800" y="1447800"/>
            <a:ext cx="1905000" cy="2662309"/>
          </a:xfrm>
          <a:prstGeom prst="rect">
            <a:avLst/>
          </a:prstGeom>
        </p:spPr>
      </p:pic>
    </p:spTree>
    <p:extLst>
      <p:ext uri="{BB962C8B-B14F-4D97-AF65-F5344CB8AC3E}">
        <p14:creationId xmlns:p14="http://schemas.microsoft.com/office/powerpoint/2010/main" val="22064001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0"/>
            <a:ext cx="9906000" cy="457200"/>
          </a:xfrm>
        </p:spPr>
        <p:txBody>
          <a:bodyPr>
            <a:normAutofit/>
          </a:bodyPr>
          <a:lstStyle/>
          <a:p>
            <a:r>
              <a:rPr lang="en-US" sz="2400" b="1" dirty="0">
                <a:solidFill>
                  <a:srgbClr val="FF0000"/>
                </a:solidFill>
              </a:rPr>
              <a:t>CONTACT DETAILS - Lecturers</a:t>
            </a:r>
          </a:p>
        </p:txBody>
      </p:sp>
      <p:sp>
        <p:nvSpPr>
          <p:cNvPr id="3" name="Content Placeholder 2"/>
          <p:cNvSpPr>
            <a:spLocks noGrp="1"/>
          </p:cNvSpPr>
          <p:nvPr>
            <p:ph idx="1"/>
          </p:nvPr>
        </p:nvSpPr>
        <p:spPr>
          <a:xfrm>
            <a:off x="762000" y="609600"/>
            <a:ext cx="10896600" cy="4343400"/>
          </a:xfrm>
        </p:spPr>
        <p:txBody>
          <a:bodyPr>
            <a:normAutofit/>
          </a:bodyPr>
          <a:lstStyle/>
          <a:p>
            <a:pPr marL="0" lvl="0" indent="0">
              <a:lnSpc>
                <a:spcPct val="120000"/>
              </a:lnSpc>
              <a:spcBef>
                <a:spcPts val="1200"/>
              </a:spcBef>
              <a:spcAft>
                <a:spcPts val="600"/>
              </a:spcAft>
              <a:buNone/>
              <a:defRPr/>
            </a:pPr>
            <a:r>
              <a:rPr lang="en-US" sz="2400" dirty="0" err="1">
                <a:solidFill>
                  <a:schemeClr val="tx2"/>
                </a:solidFill>
                <a:latin typeface="+mj-lt"/>
              </a:rPr>
              <a:t>Ms</a:t>
            </a:r>
            <a:r>
              <a:rPr lang="en-US" sz="2400" dirty="0">
                <a:solidFill>
                  <a:schemeClr val="tx2"/>
                </a:solidFill>
                <a:latin typeface="+mj-lt"/>
              </a:rPr>
              <a:t> Antoinette </a:t>
            </a:r>
            <a:r>
              <a:rPr lang="en-US" sz="2400" dirty="0">
                <a:solidFill>
                  <a:prstClr val="black"/>
                </a:solidFill>
                <a:latin typeface="+mj-lt"/>
              </a:rPr>
              <a:t>Hettiaratchy – Senior Lecturer in English &amp; Module Leader</a:t>
            </a:r>
          </a:p>
          <a:p>
            <a:pPr lvl="0">
              <a:lnSpc>
                <a:spcPct val="120000"/>
              </a:lnSpc>
              <a:spcBef>
                <a:spcPts val="1200"/>
              </a:spcBef>
              <a:spcAft>
                <a:spcPts val="600"/>
              </a:spcAft>
              <a:defRPr/>
            </a:pPr>
            <a:r>
              <a:rPr lang="en-US" sz="2400" u="sng" dirty="0">
                <a:solidFill>
                  <a:prstClr val="black"/>
                </a:solidFill>
                <a:latin typeface="+mj-lt"/>
              </a:rPr>
              <a:t>Official email address</a:t>
            </a:r>
            <a:r>
              <a:rPr lang="en-US" sz="2400" dirty="0">
                <a:solidFill>
                  <a:prstClr val="black"/>
                </a:solidFill>
                <a:latin typeface="+mj-lt"/>
              </a:rPr>
              <a:t>:  </a:t>
            </a:r>
            <a:r>
              <a:rPr lang="en-US" sz="2400" dirty="0">
                <a:solidFill>
                  <a:prstClr val="black"/>
                </a:solidFill>
                <a:latin typeface="+mj-lt"/>
                <a:hlinkClick r:id="rId2"/>
              </a:rPr>
              <a:t>antoinette.h@iit.ac.lk</a:t>
            </a:r>
            <a:endParaRPr lang="en-US" sz="2400" dirty="0">
              <a:solidFill>
                <a:prstClr val="black"/>
              </a:solidFill>
              <a:latin typeface="+mj-lt"/>
            </a:endParaRPr>
          </a:p>
          <a:p>
            <a:pPr lvl="0">
              <a:lnSpc>
                <a:spcPct val="120000"/>
              </a:lnSpc>
              <a:spcBef>
                <a:spcPts val="1200"/>
              </a:spcBef>
              <a:spcAft>
                <a:spcPts val="600"/>
              </a:spcAft>
              <a:defRPr/>
            </a:pPr>
            <a:r>
              <a:rPr lang="en-US" sz="2400" u="sng" dirty="0">
                <a:solidFill>
                  <a:prstClr val="black"/>
                </a:solidFill>
                <a:latin typeface="+mj-lt"/>
              </a:rPr>
              <a:t>Mobile number</a:t>
            </a:r>
            <a:r>
              <a:rPr lang="en-US" sz="2400" dirty="0">
                <a:solidFill>
                  <a:prstClr val="black"/>
                </a:solidFill>
                <a:latin typeface="+mj-lt"/>
              </a:rPr>
              <a:t>: 0714774523 </a:t>
            </a:r>
          </a:p>
          <a:p>
            <a:pPr lvl="0">
              <a:lnSpc>
                <a:spcPct val="120000"/>
              </a:lnSpc>
              <a:spcBef>
                <a:spcPts val="1200"/>
              </a:spcBef>
              <a:spcAft>
                <a:spcPts val="600"/>
              </a:spcAft>
              <a:defRPr/>
            </a:pPr>
            <a:r>
              <a:rPr lang="en-US" sz="2400" dirty="0">
                <a:solidFill>
                  <a:prstClr val="black"/>
                </a:solidFill>
                <a:latin typeface="+mj-lt"/>
              </a:rPr>
              <a:t>Ms. </a:t>
            </a:r>
            <a:r>
              <a:rPr lang="en-US" sz="2400" dirty="0" err="1">
                <a:solidFill>
                  <a:prstClr val="black"/>
                </a:solidFill>
                <a:latin typeface="+mj-lt"/>
              </a:rPr>
              <a:t>Shyani</a:t>
            </a:r>
            <a:r>
              <a:rPr lang="en-US" sz="2400" dirty="0">
                <a:solidFill>
                  <a:prstClr val="black"/>
                </a:solidFill>
                <a:latin typeface="+mj-lt"/>
              </a:rPr>
              <a:t> Siriwardena – Senior Lecturer – </a:t>
            </a:r>
            <a:r>
              <a:rPr lang="en-US" sz="2400" dirty="0">
                <a:solidFill>
                  <a:prstClr val="black"/>
                </a:solidFill>
                <a:latin typeface="+mj-lt"/>
                <a:hlinkClick r:id="rId3"/>
              </a:rPr>
              <a:t>shyani.s@iit.ac.lk</a:t>
            </a:r>
            <a:endParaRPr lang="en-US" sz="2400" dirty="0">
              <a:solidFill>
                <a:prstClr val="black"/>
              </a:solidFill>
              <a:latin typeface="+mj-lt"/>
            </a:endParaRPr>
          </a:p>
          <a:p>
            <a:pPr lvl="0">
              <a:lnSpc>
                <a:spcPct val="120000"/>
              </a:lnSpc>
              <a:spcBef>
                <a:spcPts val="1200"/>
              </a:spcBef>
              <a:spcAft>
                <a:spcPts val="600"/>
              </a:spcAft>
              <a:defRPr/>
            </a:pPr>
            <a:r>
              <a:rPr lang="en-US" sz="2400" dirty="0">
                <a:solidFill>
                  <a:prstClr val="black"/>
                </a:solidFill>
                <a:latin typeface="+mj-lt"/>
              </a:rPr>
              <a:t>Ms. </a:t>
            </a:r>
            <a:r>
              <a:rPr lang="en-US" sz="2400" dirty="0" err="1">
                <a:solidFill>
                  <a:prstClr val="black"/>
                </a:solidFill>
                <a:latin typeface="+mj-lt"/>
              </a:rPr>
              <a:t>Kaumadee</a:t>
            </a:r>
            <a:r>
              <a:rPr lang="en-US" sz="2400" dirty="0">
                <a:solidFill>
                  <a:prstClr val="black"/>
                </a:solidFill>
                <a:latin typeface="+mj-lt"/>
              </a:rPr>
              <a:t> </a:t>
            </a:r>
            <a:r>
              <a:rPr lang="en-US" sz="2400" dirty="0" err="1">
                <a:solidFill>
                  <a:prstClr val="black"/>
                </a:solidFill>
                <a:latin typeface="+mj-lt"/>
              </a:rPr>
              <a:t>Rathnayake</a:t>
            </a:r>
            <a:r>
              <a:rPr lang="en-US" sz="2400" dirty="0">
                <a:solidFill>
                  <a:prstClr val="black"/>
                </a:solidFill>
                <a:latin typeface="+mj-lt"/>
              </a:rPr>
              <a:t> – Visiting Lecturer – </a:t>
            </a:r>
            <a:r>
              <a:rPr lang="en-US" sz="2400" dirty="0">
                <a:solidFill>
                  <a:prstClr val="black"/>
                </a:solidFill>
                <a:latin typeface="+mj-lt"/>
                <a:hlinkClick r:id="rId4"/>
              </a:rPr>
              <a:t>kaumadee.r@iit.ac.lk</a:t>
            </a:r>
            <a:endParaRPr lang="en-US" sz="2400" dirty="0">
              <a:solidFill>
                <a:prstClr val="black"/>
              </a:solidFill>
              <a:latin typeface="+mj-lt"/>
            </a:endParaRPr>
          </a:p>
          <a:p>
            <a:pPr lvl="0">
              <a:lnSpc>
                <a:spcPct val="120000"/>
              </a:lnSpc>
              <a:spcBef>
                <a:spcPts val="1200"/>
              </a:spcBef>
              <a:spcAft>
                <a:spcPts val="600"/>
              </a:spcAft>
              <a:defRPr/>
            </a:pPr>
            <a:r>
              <a:rPr lang="en-US" sz="2400" dirty="0">
                <a:solidFill>
                  <a:prstClr val="black"/>
                </a:solidFill>
                <a:latin typeface="+mj-lt"/>
              </a:rPr>
              <a:t>Ms. </a:t>
            </a:r>
            <a:r>
              <a:rPr lang="en-US" sz="2400" dirty="0" err="1">
                <a:solidFill>
                  <a:prstClr val="black"/>
                </a:solidFill>
                <a:latin typeface="+mj-lt"/>
              </a:rPr>
              <a:t>Nethmini</a:t>
            </a:r>
            <a:r>
              <a:rPr lang="en-US" sz="2400" dirty="0">
                <a:solidFill>
                  <a:prstClr val="black"/>
                </a:solidFill>
                <a:latin typeface="+mj-lt"/>
              </a:rPr>
              <a:t> </a:t>
            </a:r>
            <a:r>
              <a:rPr lang="en-US" sz="2400" dirty="0" err="1">
                <a:solidFill>
                  <a:prstClr val="black"/>
                </a:solidFill>
                <a:latin typeface="+mj-lt"/>
              </a:rPr>
              <a:t>Wasana</a:t>
            </a:r>
            <a:r>
              <a:rPr lang="en-US" sz="2400" dirty="0">
                <a:solidFill>
                  <a:prstClr val="black"/>
                </a:solidFill>
                <a:latin typeface="+mj-lt"/>
              </a:rPr>
              <a:t> – Assistant Lecturer – </a:t>
            </a:r>
            <a:r>
              <a:rPr lang="en-US" sz="2400" dirty="0">
                <a:solidFill>
                  <a:prstClr val="black"/>
                </a:solidFill>
                <a:latin typeface="+mj-lt"/>
                <a:hlinkClick r:id="rId5"/>
              </a:rPr>
              <a:t>nethmini.w@iit.ac.lk</a:t>
            </a:r>
            <a:endParaRPr lang="en-US" sz="2400" dirty="0">
              <a:solidFill>
                <a:prstClr val="black"/>
              </a:solidFill>
              <a:latin typeface="+mj-lt"/>
            </a:endParaRPr>
          </a:p>
          <a:p>
            <a:pPr lvl="0">
              <a:lnSpc>
                <a:spcPct val="120000"/>
              </a:lnSpc>
              <a:spcBef>
                <a:spcPts val="1200"/>
              </a:spcBef>
              <a:spcAft>
                <a:spcPts val="600"/>
              </a:spcAft>
              <a:defRPr/>
            </a:pPr>
            <a:endParaRPr lang="en-US" sz="2400" dirty="0">
              <a:solidFill>
                <a:prstClr val="black"/>
              </a:solidFill>
              <a:latin typeface="+mj-lt"/>
            </a:endParaRPr>
          </a:p>
          <a:p>
            <a:pPr marL="0" lvl="0" indent="0">
              <a:lnSpc>
                <a:spcPct val="120000"/>
              </a:lnSpc>
              <a:spcBef>
                <a:spcPts val="1200"/>
              </a:spcBef>
              <a:spcAft>
                <a:spcPts val="600"/>
              </a:spcAft>
              <a:buNone/>
              <a:defRPr/>
            </a:pPr>
            <a:endParaRPr lang="en-US" sz="2400" dirty="0">
              <a:solidFill>
                <a:prstClr val="black"/>
              </a:solidFill>
              <a:latin typeface="+mj-lt"/>
            </a:endParaRPr>
          </a:p>
          <a:p>
            <a:pPr marL="0" lvl="0" indent="0">
              <a:lnSpc>
                <a:spcPct val="120000"/>
              </a:lnSpc>
              <a:spcBef>
                <a:spcPts val="1200"/>
              </a:spcBef>
              <a:spcAft>
                <a:spcPts val="600"/>
              </a:spcAft>
              <a:buNone/>
              <a:defRPr/>
            </a:pPr>
            <a:endParaRPr lang="en-US" sz="2400" dirty="0">
              <a:solidFill>
                <a:prstClr val="black"/>
              </a:solidFill>
              <a:latin typeface="+mj-lt"/>
            </a:endParaRPr>
          </a:p>
          <a:p>
            <a:pPr marL="0" lvl="0" indent="0">
              <a:lnSpc>
                <a:spcPct val="120000"/>
              </a:lnSpc>
              <a:spcBef>
                <a:spcPts val="1200"/>
              </a:spcBef>
              <a:spcAft>
                <a:spcPts val="600"/>
              </a:spcAft>
              <a:buNone/>
              <a:defRPr/>
            </a:pPr>
            <a:endParaRPr lang="en-US" sz="2400" dirty="0">
              <a:solidFill>
                <a:prstClr val="black"/>
              </a:solidFill>
              <a:latin typeface="+mj-lt"/>
            </a:endParaRPr>
          </a:p>
          <a:p>
            <a:pPr marL="0" lvl="0" indent="0">
              <a:spcBef>
                <a:spcPts val="0"/>
              </a:spcBef>
              <a:spcAft>
                <a:spcPts val="0"/>
              </a:spcAft>
              <a:buNone/>
              <a:defRPr/>
            </a:pPr>
            <a:endParaRPr lang="en-US" dirty="0">
              <a:solidFill>
                <a:prstClr val="black"/>
              </a:solidFill>
            </a:endParaRPr>
          </a:p>
          <a:p>
            <a:endParaRPr lang="en-US" dirty="0"/>
          </a:p>
        </p:txBody>
      </p:sp>
    </p:spTree>
    <p:extLst>
      <p:ext uri="{BB962C8B-B14F-4D97-AF65-F5344CB8AC3E}">
        <p14:creationId xmlns:p14="http://schemas.microsoft.com/office/powerpoint/2010/main" val="32523601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Children Friends 16x9">
  <a:themeElements>
    <a:clrScheme name="ChildrenFriends">
      <a:dk1>
        <a:srgbClr val="404040"/>
      </a:dk1>
      <a:lt1>
        <a:sysClr val="window" lastClr="FFFFFF"/>
      </a:lt1>
      <a:dk2>
        <a:srgbClr val="000000"/>
      </a:dk2>
      <a:lt2>
        <a:srgbClr val="EAEAEA"/>
      </a:lt2>
      <a:accent1>
        <a:srgbClr val="A63121"/>
      </a:accent1>
      <a:accent2>
        <a:srgbClr val="318DCB"/>
      </a:accent2>
      <a:accent3>
        <a:srgbClr val="F28330"/>
      </a:accent3>
      <a:accent4>
        <a:srgbClr val="50B852"/>
      </a:accent4>
      <a:accent5>
        <a:srgbClr val="EEAD1D"/>
      </a:accent5>
      <a:accent6>
        <a:srgbClr val="A68555"/>
      </a:accent6>
      <a:hlink>
        <a:srgbClr val="F28330"/>
      </a:hlink>
      <a:folHlink>
        <a:srgbClr val="969696"/>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hoolyard kids education presentation, album (widescreen).potx" id="{B61009BD-7448-452D-9EB3-A92629EDAAF7}" vid="{D5A61431-CA5A-45CA-9A81-30AAFC8F1B2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1587</Words>
  <Application>Microsoft Office PowerPoint</Application>
  <PresentationFormat>Widescreen</PresentationFormat>
  <Paragraphs>218</Paragraphs>
  <Slides>25</Slides>
  <Notes>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25</vt:i4>
      </vt:variant>
    </vt:vector>
  </HeadingPairs>
  <TitlesOfParts>
    <vt:vector size="35" baseType="lpstr">
      <vt:lpstr>Arial</vt:lpstr>
      <vt:lpstr>Baskerville Old Face</vt:lpstr>
      <vt:lpstr>Calibri</vt:lpstr>
      <vt:lpstr>Calibri Light</vt:lpstr>
      <vt:lpstr>Gill Sans MT</vt:lpstr>
      <vt:lpstr>Segoe Print</vt:lpstr>
      <vt:lpstr>Times New Roman</vt:lpstr>
      <vt:lpstr>Wingdings</vt:lpstr>
      <vt:lpstr>Office Theme</vt:lpstr>
      <vt:lpstr>Children Friends 16x9</vt:lpstr>
      <vt:lpstr>DOC 311 ACADEMIC SKILLS FOR  HIGHER EDUCATION JANUARY – APRIL 2023</vt:lpstr>
      <vt:lpstr>A few ground rules …</vt:lpstr>
      <vt:lpstr>Some important information …</vt:lpstr>
      <vt:lpstr>Academic Skills for Higher Education </vt:lpstr>
      <vt:lpstr>Module Content and Aims</vt:lpstr>
      <vt:lpstr>LEARNING OBJECTIVES</vt:lpstr>
      <vt:lpstr>SYLLABUS CONTENT</vt:lpstr>
      <vt:lpstr>RECOMMENDED READING</vt:lpstr>
      <vt:lpstr>RECOMMENDED READING – Text Books</vt:lpstr>
      <vt:lpstr>RECOMMENDED READING (Cont’d…)</vt:lpstr>
      <vt:lpstr>FIRST THINGS FIRST …</vt:lpstr>
      <vt:lpstr>Attendance will be marked at all sessions</vt:lpstr>
      <vt:lpstr>What to Expect in Higher Education</vt:lpstr>
      <vt:lpstr>What Does ‘Independent Study’ Suggest to You?</vt:lpstr>
      <vt:lpstr>ASSIGNMENTS AND ASSESSMENT</vt:lpstr>
      <vt:lpstr>ASSESSMENTS</vt:lpstr>
      <vt:lpstr>Assignments and Assessment</vt:lpstr>
      <vt:lpstr>MARKS</vt:lpstr>
      <vt:lpstr>ASSIGNMENTS</vt:lpstr>
      <vt:lpstr>WHAT IS EXPECTED FROM YOU</vt:lpstr>
      <vt:lpstr>PowerPoint Presentation</vt:lpstr>
      <vt:lpstr>MANAGING ANXIETIES</vt:lpstr>
      <vt:lpstr>MANAGING ANXIETIES</vt:lpstr>
      <vt:lpstr>MANAGING ANXIETIES</vt:lpstr>
      <vt:lpstr>CONTACT DETAILS - Lecturers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 311 ACADEMIC SKILLS FOR  HIGHER EDUCATION JANUARY – APRIL 2023</dc:title>
  <dc:creator>Hettiaratchy, Antoinette</dc:creator>
  <cp:lastModifiedBy>Hettiaratchy, Antoinette</cp:lastModifiedBy>
  <cp:revision>3</cp:revision>
  <dcterms:created xsi:type="dcterms:W3CDTF">2023-01-24T18:39:18Z</dcterms:created>
  <dcterms:modified xsi:type="dcterms:W3CDTF">2023-01-28T15:46:19Z</dcterms:modified>
</cp:coreProperties>
</file>