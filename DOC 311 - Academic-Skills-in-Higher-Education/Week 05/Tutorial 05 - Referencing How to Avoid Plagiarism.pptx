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Lst>
  <p:notesMasterIdLst>
    <p:notesMasterId r:id="rId18"/>
  </p:notesMasterIdLst>
  <p:handoutMasterIdLst>
    <p:handoutMasterId r:id="rId19"/>
  </p:handoutMasterIdLst>
  <p:sldIdLst>
    <p:sldId id="258" r:id="rId2"/>
    <p:sldId id="265" r:id="rId3"/>
    <p:sldId id="294" r:id="rId4"/>
    <p:sldId id="299" r:id="rId5"/>
    <p:sldId id="268" r:id="rId6"/>
    <p:sldId id="298" r:id="rId7"/>
    <p:sldId id="277" r:id="rId8"/>
    <p:sldId id="263" r:id="rId9"/>
    <p:sldId id="279" r:id="rId10"/>
    <p:sldId id="278" r:id="rId11"/>
    <p:sldId id="280" r:id="rId12"/>
    <p:sldId id="284" r:id="rId13"/>
    <p:sldId id="300" r:id="rId14"/>
    <p:sldId id="264" r:id="rId15"/>
    <p:sldId id="290" r:id="rId16"/>
    <p:sldId id="283" r:id="rId17"/>
  </p:sldIdLst>
  <p:sldSz cx="9144000" cy="6858000" type="screen4x3"/>
  <p:notesSz cx="6743700" cy="9875838"/>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1">
          <p15:clr>
            <a:srgbClr val="A4A3A4"/>
          </p15:clr>
        </p15:guide>
        <p15:guide id="2" pos="21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FF"/>
    <a:srgbClr val="700000"/>
    <a:srgbClr val="405BCC"/>
    <a:srgbClr val="008000"/>
    <a:srgbClr val="E46C0A"/>
    <a:srgbClr val="FF33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36" autoAdjust="0"/>
    <p:restoredTop sz="93792" autoAdjust="0"/>
  </p:normalViewPr>
  <p:slideViewPr>
    <p:cSldViewPr>
      <p:cViewPr varScale="1">
        <p:scale>
          <a:sx n="77" d="100"/>
          <a:sy n="77" d="100"/>
        </p:scale>
        <p:origin x="1915"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842" y="-90"/>
      </p:cViewPr>
      <p:guideLst>
        <p:guide orient="horz" pos="3111"/>
        <p:guide pos="21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819525" y="9380538"/>
            <a:ext cx="2922588" cy="4937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1AD89CC-0F9D-4CD1-A731-F8E906AD8A0C}" type="slidenum">
              <a:rPr lang="en-GB" altLang="en-US"/>
              <a:pPr>
                <a:defRPr/>
              </a:pPr>
              <a:t>‹#›</a:t>
            </a:fld>
            <a:endParaRPr lang="en-GB" altLang="en-US"/>
          </a:p>
        </p:txBody>
      </p:sp>
    </p:spTree>
    <p:extLst>
      <p:ext uri="{BB962C8B-B14F-4D97-AF65-F5344CB8AC3E}">
        <p14:creationId xmlns:p14="http://schemas.microsoft.com/office/powerpoint/2010/main" val="2041237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2588" cy="493713"/>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p:cNvSpPr>
            <a:spLocks noGrp="1"/>
          </p:cNvSpPr>
          <p:nvPr>
            <p:ph type="dt" idx="1"/>
          </p:nvPr>
        </p:nvSpPr>
        <p:spPr>
          <a:xfrm>
            <a:off x="3819525" y="0"/>
            <a:ext cx="2922588" cy="493713"/>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15065FF-AC5E-4661-B67D-2447A0D15F90}" type="datetimeFigureOut">
              <a:rPr lang="en-US"/>
              <a:pPr>
                <a:defRPr/>
              </a:pPr>
              <a:t>6/19/2023</a:t>
            </a:fld>
            <a:endParaRPr lang="en-GB" dirty="0"/>
          </a:p>
        </p:txBody>
      </p:sp>
      <p:sp>
        <p:nvSpPr>
          <p:cNvPr id="4" name="Slide Image Placeholder 3"/>
          <p:cNvSpPr>
            <a:spLocks noGrp="1" noRot="1" noChangeAspect="1"/>
          </p:cNvSpPr>
          <p:nvPr>
            <p:ph type="sldImg" idx="2"/>
          </p:nvPr>
        </p:nvSpPr>
        <p:spPr>
          <a:xfrm>
            <a:off x="904875" y="741363"/>
            <a:ext cx="4933950" cy="370205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74688" y="4691063"/>
            <a:ext cx="5394325" cy="4443412"/>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7" name="Slide Number Placeholder 6"/>
          <p:cNvSpPr>
            <a:spLocks noGrp="1"/>
          </p:cNvSpPr>
          <p:nvPr>
            <p:ph type="sldNum" sz="quarter" idx="5"/>
          </p:nvPr>
        </p:nvSpPr>
        <p:spPr>
          <a:xfrm>
            <a:off x="3819525" y="9380538"/>
            <a:ext cx="2922588" cy="4937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79B4DCF3-3CBC-4F7C-8A48-AE526E7D6141}" type="slidenum">
              <a:rPr lang="en-GB" altLang="en-US"/>
              <a:pPr>
                <a:defRPr/>
              </a:pPr>
              <a:t>‹#›</a:t>
            </a:fld>
            <a:endParaRPr lang="en-GB" altLang="en-US"/>
          </a:p>
        </p:txBody>
      </p:sp>
    </p:spTree>
    <p:extLst>
      <p:ext uri="{BB962C8B-B14F-4D97-AF65-F5344CB8AC3E}">
        <p14:creationId xmlns:p14="http://schemas.microsoft.com/office/powerpoint/2010/main" val="3518485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AE5310DC-1AA4-451A-8911-19A2BE131870}" type="slidenum">
              <a:rPr lang="en-GB" altLang="en-US" sz="1200" smtClean="0">
                <a:latin typeface="Calibri" panose="020F0502020204030204" pitchFamily="34" charset="0"/>
              </a:rPr>
              <a:pPr>
                <a:spcBef>
                  <a:spcPct val="0"/>
                </a:spcBef>
              </a:pPr>
              <a:t>1</a:t>
            </a:fld>
            <a:endParaRPr lang="en-GB" altLang="en-US" sz="1200">
              <a:latin typeface="Calibri" panose="020F0502020204030204" pitchFamily="34" charset="0"/>
            </a:endParaRPr>
          </a:p>
        </p:txBody>
      </p:sp>
    </p:spTree>
    <p:extLst>
      <p:ext uri="{BB962C8B-B14F-4D97-AF65-F5344CB8AC3E}">
        <p14:creationId xmlns:p14="http://schemas.microsoft.com/office/powerpoint/2010/main" val="3474628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E4161AE9-67F3-4880-BC4B-3E1254EB73EA}" type="slidenum">
              <a:rPr lang="en-GB" altLang="en-US" sz="1200" smtClean="0">
                <a:latin typeface="Calibri" panose="020F0502020204030204" pitchFamily="34" charset="0"/>
              </a:rPr>
              <a:pPr>
                <a:spcBef>
                  <a:spcPct val="0"/>
                </a:spcBef>
              </a:pPr>
              <a:t>2</a:t>
            </a:fld>
            <a:endParaRPr lang="en-GB" altLang="en-US" sz="1200">
              <a:latin typeface="Calibri" panose="020F0502020204030204" pitchFamily="34" charset="0"/>
            </a:endParaRPr>
          </a:p>
        </p:txBody>
      </p:sp>
    </p:spTree>
    <p:extLst>
      <p:ext uri="{BB962C8B-B14F-4D97-AF65-F5344CB8AC3E}">
        <p14:creationId xmlns:p14="http://schemas.microsoft.com/office/powerpoint/2010/main" val="255367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13CB9D47-B46A-4CFB-834F-1B76A15BB34B}" type="slidenum">
              <a:rPr lang="en-GB" altLang="en-US" sz="1200" smtClean="0">
                <a:latin typeface="Calibri" panose="020F0502020204030204" pitchFamily="34" charset="0"/>
              </a:rPr>
              <a:pPr>
                <a:spcBef>
                  <a:spcPct val="0"/>
                </a:spcBef>
              </a:pPr>
              <a:t>5</a:t>
            </a:fld>
            <a:endParaRPr lang="en-GB" altLang="en-US" sz="1200">
              <a:latin typeface="Calibri" panose="020F0502020204030204" pitchFamily="34" charset="0"/>
            </a:endParaRPr>
          </a:p>
        </p:txBody>
      </p:sp>
    </p:spTree>
    <p:extLst>
      <p:ext uri="{BB962C8B-B14F-4D97-AF65-F5344CB8AC3E}">
        <p14:creationId xmlns:p14="http://schemas.microsoft.com/office/powerpoint/2010/main" val="4215965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C1126EE4-1051-4372-9D5D-67AE057CA57A}" type="slidenum">
              <a:rPr lang="en-GB" altLang="en-US" sz="1200" smtClean="0">
                <a:latin typeface="Calibri" panose="020F0502020204030204" pitchFamily="34" charset="0"/>
              </a:rPr>
              <a:pPr>
                <a:spcBef>
                  <a:spcPct val="0"/>
                </a:spcBef>
              </a:pPr>
              <a:t>7</a:t>
            </a:fld>
            <a:endParaRPr lang="en-GB" altLang="en-US" sz="1200">
              <a:latin typeface="Calibri" panose="020F0502020204030204" pitchFamily="34" charset="0"/>
            </a:endParaRPr>
          </a:p>
        </p:txBody>
      </p:sp>
    </p:spTree>
    <p:extLst>
      <p:ext uri="{BB962C8B-B14F-4D97-AF65-F5344CB8AC3E}">
        <p14:creationId xmlns:p14="http://schemas.microsoft.com/office/powerpoint/2010/main" val="2458971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8BD6E38F-7727-4B97-A076-CCB7C2B20DF0}" type="slidenum">
              <a:rPr lang="en-GB" altLang="en-US" sz="1200" smtClean="0">
                <a:latin typeface="Calibri" panose="020F0502020204030204" pitchFamily="34" charset="0"/>
              </a:rPr>
              <a:pPr>
                <a:spcBef>
                  <a:spcPct val="0"/>
                </a:spcBef>
              </a:pPr>
              <a:t>8</a:t>
            </a:fld>
            <a:endParaRPr lang="en-GB" altLang="en-US" sz="1200">
              <a:latin typeface="Calibri" panose="020F0502020204030204" pitchFamily="34" charset="0"/>
            </a:endParaRPr>
          </a:p>
        </p:txBody>
      </p:sp>
    </p:spTree>
    <p:extLst>
      <p:ext uri="{BB962C8B-B14F-4D97-AF65-F5344CB8AC3E}">
        <p14:creationId xmlns:p14="http://schemas.microsoft.com/office/powerpoint/2010/main" val="1605494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17B32513-1742-41F3-81BC-CD7CBC64EF0C}" type="slidenum">
              <a:rPr lang="en-GB" altLang="en-US" sz="1200" smtClean="0">
                <a:latin typeface="Calibri" panose="020F0502020204030204" pitchFamily="34" charset="0"/>
              </a:rPr>
              <a:pPr>
                <a:spcBef>
                  <a:spcPct val="0"/>
                </a:spcBef>
              </a:pPr>
              <a:t>9</a:t>
            </a:fld>
            <a:endParaRPr lang="en-GB" altLang="en-US" sz="1200">
              <a:latin typeface="Calibri" panose="020F0502020204030204" pitchFamily="34" charset="0"/>
            </a:endParaRPr>
          </a:p>
        </p:txBody>
      </p:sp>
    </p:spTree>
    <p:extLst>
      <p:ext uri="{BB962C8B-B14F-4D97-AF65-F5344CB8AC3E}">
        <p14:creationId xmlns:p14="http://schemas.microsoft.com/office/powerpoint/2010/main" val="3289722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A5FD7F85-DDA6-4627-AD63-6E253C6B5467}" type="slidenum">
              <a:rPr lang="en-GB" altLang="en-US" sz="1200" smtClean="0">
                <a:latin typeface="Calibri" panose="020F0502020204030204" pitchFamily="34" charset="0"/>
              </a:rPr>
              <a:pPr>
                <a:spcBef>
                  <a:spcPct val="0"/>
                </a:spcBef>
              </a:pPr>
              <a:t>10</a:t>
            </a:fld>
            <a:endParaRPr lang="en-GB" altLang="en-US" sz="1200">
              <a:latin typeface="Calibri" panose="020F0502020204030204" pitchFamily="34" charset="0"/>
            </a:endParaRPr>
          </a:p>
        </p:txBody>
      </p:sp>
    </p:spTree>
    <p:extLst>
      <p:ext uri="{BB962C8B-B14F-4D97-AF65-F5344CB8AC3E}">
        <p14:creationId xmlns:p14="http://schemas.microsoft.com/office/powerpoint/2010/main" val="2907726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a:t>Exercise 1 - Write out a reference for the following book, in the format given on the slide.</a:t>
            </a:r>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F6ED05B7-C6BF-4876-8832-8D1056333B98}" type="slidenum">
              <a:rPr lang="en-GB" altLang="en-US" sz="1200" smtClean="0">
                <a:latin typeface="Calibri" panose="020F0502020204030204" pitchFamily="34" charset="0"/>
              </a:rPr>
              <a:pPr>
                <a:spcBef>
                  <a:spcPct val="0"/>
                </a:spcBef>
              </a:pPr>
              <a:t>11</a:t>
            </a:fld>
            <a:endParaRPr lang="en-GB" altLang="en-US" sz="1200">
              <a:latin typeface="Calibri" panose="020F0502020204030204" pitchFamily="34" charset="0"/>
            </a:endParaRPr>
          </a:p>
        </p:txBody>
      </p:sp>
    </p:spTree>
    <p:extLst>
      <p:ext uri="{BB962C8B-B14F-4D97-AF65-F5344CB8AC3E}">
        <p14:creationId xmlns:p14="http://schemas.microsoft.com/office/powerpoint/2010/main" val="4021626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F9405B19-6128-4121-B501-0DA0B68B5FFB}" type="slidenum">
              <a:rPr lang="en-GB" altLang="en-US" sz="1200" smtClean="0">
                <a:latin typeface="Calibri" panose="020F0502020204030204" pitchFamily="34" charset="0"/>
              </a:rPr>
              <a:pPr>
                <a:spcBef>
                  <a:spcPct val="0"/>
                </a:spcBef>
              </a:pPr>
              <a:t>12</a:t>
            </a:fld>
            <a:endParaRPr lang="en-GB" altLang="en-US" sz="1200">
              <a:latin typeface="Calibri" panose="020F0502020204030204" pitchFamily="34" charset="0"/>
            </a:endParaRPr>
          </a:p>
        </p:txBody>
      </p:sp>
    </p:spTree>
    <p:extLst>
      <p:ext uri="{BB962C8B-B14F-4D97-AF65-F5344CB8AC3E}">
        <p14:creationId xmlns:p14="http://schemas.microsoft.com/office/powerpoint/2010/main" val="2739067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Cite = quote, mention</a:t>
            </a:r>
            <a:endParaRPr lang="en-GB" altLang="en-US"/>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B91608F9-20DD-4FDB-9CDD-0F0AA3D373D7}" type="slidenum">
              <a:rPr lang="en-GB" altLang="en-US" sz="1200" smtClean="0">
                <a:latin typeface="Calibri" panose="020F0502020204030204" pitchFamily="34" charset="0"/>
              </a:rPr>
              <a:pPr>
                <a:spcBef>
                  <a:spcPct val="0"/>
                </a:spcBef>
              </a:pPr>
              <a:t>14</a:t>
            </a:fld>
            <a:endParaRPr lang="en-GB" altLang="en-US" sz="1200">
              <a:latin typeface="Calibri" panose="020F0502020204030204" pitchFamily="34" charset="0"/>
            </a:endParaRPr>
          </a:p>
        </p:txBody>
      </p:sp>
    </p:spTree>
    <p:extLst>
      <p:ext uri="{BB962C8B-B14F-4D97-AF65-F5344CB8AC3E}">
        <p14:creationId xmlns:p14="http://schemas.microsoft.com/office/powerpoint/2010/main" val="4026183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501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0BA14AF1-A7FE-433E-8DB4-442E78B1AEA1}" type="slidenum">
              <a:rPr lang="en-GB" altLang="en-US" sz="1200" smtClean="0">
                <a:latin typeface="Calibri" panose="020F0502020204030204" pitchFamily="34" charset="0"/>
              </a:rPr>
              <a:pPr>
                <a:spcBef>
                  <a:spcPct val="0"/>
                </a:spcBef>
              </a:pPr>
              <a:t>15</a:t>
            </a:fld>
            <a:endParaRPr lang="en-GB" altLang="en-US" sz="1200">
              <a:latin typeface="Calibri" panose="020F0502020204030204" pitchFamily="34" charset="0"/>
            </a:endParaRPr>
          </a:p>
        </p:txBody>
      </p:sp>
    </p:spTree>
    <p:extLst>
      <p:ext uri="{BB962C8B-B14F-4D97-AF65-F5344CB8AC3E}">
        <p14:creationId xmlns:p14="http://schemas.microsoft.com/office/powerpoint/2010/main" val="3758927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522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Arial" panose="020B0604020202020204" pitchFamily="34" charset="0"/>
                <a:cs typeface="Arial" panose="020B0604020202020204" pitchFamily="34" charset="0"/>
              </a:defRPr>
            </a:lvl1pPr>
            <a:lvl2pPr marL="742950" indent="-285750">
              <a:spcBef>
                <a:spcPct val="30000"/>
              </a:spcBef>
              <a:defRPr sz="1000">
                <a:solidFill>
                  <a:schemeClr val="tx1"/>
                </a:solidFill>
                <a:latin typeface="Arial" panose="020B0604020202020204" pitchFamily="34" charset="0"/>
                <a:cs typeface="Arial" panose="020B0604020202020204" pitchFamily="34" charset="0"/>
              </a:defRPr>
            </a:lvl2pPr>
            <a:lvl3pPr marL="1143000" indent="-228600">
              <a:spcBef>
                <a:spcPct val="30000"/>
              </a:spcBef>
              <a:defRPr sz="1000">
                <a:solidFill>
                  <a:schemeClr val="tx1"/>
                </a:solidFill>
                <a:latin typeface="Arial" panose="020B0604020202020204" pitchFamily="34" charset="0"/>
                <a:cs typeface="Arial" panose="020B0604020202020204" pitchFamily="34" charset="0"/>
              </a:defRPr>
            </a:lvl3pPr>
            <a:lvl4pPr marL="1600200" indent="-228600">
              <a:spcBef>
                <a:spcPct val="30000"/>
              </a:spcBef>
              <a:defRPr sz="1000">
                <a:solidFill>
                  <a:schemeClr val="tx1"/>
                </a:solidFill>
                <a:latin typeface="Arial" panose="020B0604020202020204" pitchFamily="34" charset="0"/>
                <a:cs typeface="Arial" panose="020B0604020202020204" pitchFamily="34" charset="0"/>
              </a:defRPr>
            </a:lvl4pPr>
            <a:lvl5pPr marL="2057400" indent="-228600">
              <a:spcBef>
                <a:spcPct val="30000"/>
              </a:spcBef>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000">
                <a:solidFill>
                  <a:schemeClr val="tx1"/>
                </a:solidFill>
                <a:latin typeface="Arial" panose="020B0604020202020204" pitchFamily="34" charset="0"/>
                <a:cs typeface="Arial" panose="020B0604020202020204" pitchFamily="34" charset="0"/>
              </a:defRPr>
            </a:lvl9pPr>
          </a:lstStyle>
          <a:p>
            <a:pPr>
              <a:spcBef>
                <a:spcPct val="0"/>
              </a:spcBef>
            </a:pPr>
            <a:fld id="{9368C1ED-71BA-4C37-8A44-2F707BA6C62E}" type="slidenum">
              <a:rPr lang="en-GB" altLang="en-US" sz="1200" smtClean="0">
                <a:latin typeface="Calibri" panose="020F0502020204030204" pitchFamily="34" charset="0"/>
              </a:rPr>
              <a:pPr>
                <a:spcBef>
                  <a:spcPct val="0"/>
                </a:spcBef>
              </a:pPr>
              <a:t>16</a:t>
            </a:fld>
            <a:endParaRPr lang="en-GB" altLang="en-US" sz="1200">
              <a:latin typeface="Calibri" panose="020F0502020204030204" pitchFamily="34" charset="0"/>
            </a:endParaRPr>
          </a:p>
        </p:txBody>
      </p:sp>
    </p:spTree>
    <p:extLst>
      <p:ext uri="{BB962C8B-B14F-4D97-AF65-F5344CB8AC3E}">
        <p14:creationId xmlns:p14="http://schemas.microsoft.com/office/powerpoint/2010/main" val="3098165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lstStyle>
            <a:lvl1pPr>
              <a:defRPr b="1">
                <a:solidFill>
                  <a:srgbClr val="700000"/>
                </a:solidFill>
              </a:defRPr>
            </a:lvl1pPr>
          </a:lstStyle>
          <a:p>
            <a:r>
              <a:rPr lang="en-US" dirty="0"/>
              <a:t>Click to edit Master title style</a:t>
            </a:r>
            <a:endParaRPr lang="en-GB" dirty="0"/>
          </a:p>
        </p:txBody>
      </p:sp>
      <p:sp>
        <p:nvSpPr>
          <p:cNvPr id="4" name="Text Placeholder 2"/>
          <p:cNvSpPr>
            <a:spLocks noGrp="1"/>
          </p:cNvSpPr>
          <p:nvPr>
            <p:ph idx="1"/>
          </p:nvPr>
        </p:nvSpPr>
        <p:spPr bwMode="auto">
          <a:xfrm>
            <a:off x="457200" y="838200"/>
            <a:ext cx="8229600" cy="5562600"/>
          </a:xfrm>
          <a:prstGeom prst="rect">
            <a:avLst/>
          </a:prstGeom>
          <a:noFill/>
          <a:ln w="9525">
            <a:noFill/>
            <a:miter lim="800000"/>
            <a:headEnd/>
            <a:tailEnd/>
          </a:ln>
        </p:spPr>
        <p:txBody>
          <a:bodyPr/>
          <a:lstStyle>
            <a:lvl1pPr algn="l" rtl="0" eaLnBrk="0" fontAlgn="base" hangingPunct="0">
              <a:spcBef>
                <a:spcPts val="400"/>
              </a:spcBef>
              <a:spcAft>
                <a:spcPts val="400"/>
              </a:spcAft>
              <a:buFont typeface="Arial" charset="0"/>
              <a:defRPr lang="en-US" sz="2000" kern="1200" dirty="0" smtClean="0">
                <a:solidFill>
                  <a:schemeClr val="tx1"/>
                </a:solidFill>
                <a:latin typeface="Arial" pitchFamily="34" charset="0"/>
                <a:ea typeface="+mn-ea"/>
                <a:cs typeface="Arial" pitchFamily="34" charset="0"/>
              </a:defRPr>
            </a:lvl1pPr>
            <a:lvl2pPr algn="l" rtl="0" eaLnBrk="0" fontAlgn="base" hangingPunct="0">
              <a:spcBef>
                <a:spcPts val="400"/>
              </a:spcBef>
              <a:spcAft>
                <a:spcPts val="400"/>
              </a:spcAft>
              <a:buFont typeface="Arial" charset="0"/>
              <a:defRPr lang="en-US" sz="1800" kern="1200" dirty="0" smtClean="0">
                <a:solidFill>
                  <a:schemeClr val="tx1"/>
                </a:solidFill>
                <a:latin typeface="Arial" pitchFamily="34" charset="0"/>
                <a:ea typeface="+mn-ea"/>
                <a:cs typeface="Arial" pitchFamily="34" charset="0"/>
              </a:defRPr>
            </a:lvl2pPr>
            <a:lvl3pPr algn="l" rtl="0" eaLnBrk="0" fontAlgn="base" hangingPunct="0">
              <a:spcBef>
                <a:spcPts val="400"/>
              </a:spcBef>
              <a:spcAft>
                <a:spcPts val="400"/>
              </a:spcAft>
              <a:buFont typeface="Arial" charset="0"/>
              <a:defRPr lang="en-US" sz="1600" kern="1200" dirty="0" smtClean="0">
                <a:solidFill>
                  <a:schemeClr val="tx1"/>
                </a:solidFill>
                <a:latin typeface="Arial" pitchFamily="34" charset="0"/>
                <a:ea typeface="+mn-ea"/>
                <a:cs typeface="Arial" pitchFamily="34" charset="0"/>
              </a:defRPr>
            </a:lvl3pPr>
            <a:lvl4pPr algn="l" rtl="0" eaLnBrk="0" fontAlgn="base" hangingPunct="0">
              <a:spcBef>
                <a:spcPts val="400"/>
              </a:spcBef>
              <a:spcAft>
                <a:spcPts val="400"/>
              </a:spcAft>
              <a:buFont typeface="Arial" charset="0"/>
              <a:defRPr lang="en-US" sz="1400" kern="1200" dirty="0" smtClean="0">
                <a:solidFill>
                  <a:schemeClr val="tx1"/>
                </a:solidFill>
                <a:latin typeface="Arial" pitchFamily="34" charset="0"/>
                <a:ea typeface="+mn-ea"/>
                <a:cs typeface="Arial" pitchFamily="34" charset="0"/>
              </a:defRPr>
            </a:lvl4pPr>
            <a:lvl5pPr algn="l" rtl="0" eaLnBrk="0" fontAlgn="base" hangingPunct="0">
              <a:spcBef>
                <a:spcPts val="400"/>
              </a:spcBef>
              <a:spcAft>
                <a:spcPts val="400"/>
              </a:spcAft>
              <a:buFont typeface="Arial" charset="0"/>
              <a:defRPr lang="en-GB" sz="1200" kern="1200" dirty="0" smtClean="0">
                <a:solidFill>
                  <a:schemeClr val="tx1"/>
                </a:solidFill>
                <a:latin typeface="Arial" pitchFamily="34" charset="0"/>
                <a:ea typeface="+mn-ea"/>
                <a:cs typeface="Arial"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5" name="Slide Number Placeholder 21"/>
          <p:cNvSpPr>
            <a:spLocks noGrp="1"/>
          </p:cNvSpPr>
          <p:nvPr>
            <p:ph type="sldNum" sz="quarter" idx="10"/>
          </p:nvPr>
        </p:nvSpPr>
        <p:spPr/>
        <p:txBody>
          <a:bodyPr/>
          <a:lstStyle>
            <a:lvl1pPr>
              <a:defRPr/>
            </a:lvl1pPr>
          </a:lstStyle>
          <a:p>
            <a:pPr>
              <a:defRPr/>
            </a:pPr>
            <a:fld id="{4A31A05A-1D45-4E60-8E19-22AAC5DC4E88}" type="slidenum">
              <a:rPr lang="en-GB" altLang="en-US"/>
              <a:pPr>
                <a:defRPr/>
              </a:pPr>
              <a:t>‹#›</a:t>
            </a:fld>
            <a:endParaRPr lang="en-GB" altLang="en-US"/>
          </a:p>
        </p:txBody>
      </p:sp>
      <p:sp>
        <p:nvSpPr>
          <p:cNvPr id="6" name="Date Placeholder 5"/>
          <p:cNvSpPr>
            <a:spLocks noGrp="1" noChangeArrowheads="1"/>
          </p:cNvSpPr>
          <p:nvPr>
            <p:ph type="dt" sz="half" idx="11"/>
          </p:nvPr>
        </p:nvSpPr>
        <p:spPr>
          <a:xfrm>
            <a:off x="304800" y="6553200"/>
            <a:ext cx="2133600" cy="304800"/>
          </a:xfrm>
          <a:prstGeom prst="rect">
            <a:avLst/>
          </a:prstGeom>
          <a:ln/>
        </p:spPr>
        <p:txBody>
          <a:bodyPr/>
          <a:lstStyle>
            <a:lvl1pPr>
              <a:defRPr/>
            </a:lvl1pPr>
          </a:lstStyle>
          <a:p>
            <a:pPr>
              <a:defRPr/>
            </a:pPr>
            <a:r>
              <a:rPr lang="en-GB"/>
              <a:t>© </a:t>
            </a:r>
            <a:r>
              <a:rPr lang="en-GB" sz="1200">
                <a:latin typeface="Times New Roman" pitchFamily="18" charset="0"/>
              </a:rPr>
              <a:t>IIT 2021-22 – SS</a:t>
            </a:r>
            <a:endParaRPr lang="en-GB" sz="1200" dirty="0">
              <a:latin typeface="Times New Roman" pitchFamily="18" charset="0"/>
            </a:endParaRPr>
          </a:p>
        </p:txBody>
      </p:sp>
      <p:sp>
        <p:nvSpPr>
          <p:cNvPr id="7" name="Rectangle 13"/>
          <p:cNvSpPr>
            <a:spLocks noGrp="1" noChangeArrowheads="1"/>
          </p:cNvSpPr>
          <p:nvPr>
            <p:ph type="ftr" sz="quarter" idx="12"/>
          </p:nvPr>
        </p:nvSpPr>
        <p:spPr>
          <a:ln/>
        </p:spPr>
        <p:txBody>
          <a:bodyPr/>
          <a:lstStyle>
            <a:lvl1pPr>
              <a:defRPr/>
            </a:lvl1pPr>
          </a:lstStyle>
          <a:p>
            <a:pPr>
              <a:defRPr/>
            </a:pPr>
            <a:r>
              <a:rPr lang="en-GB"/>
              <a:t>Foundation Certificate Course</a:t>
            </a:r>
          </a:p>
        </p:txBody>
      </p:sp>
    </p:spTree>
    <p:extLst>
      <p:ext uri="{BB962C8B-B14F-4D97-AF65-F5344CB8AC3E}">
        <p14:creationId xmlns:p14="http://schemas.microsoft.com/office/powerpoint/2010/main" val="4665850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286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p:cNvSpPr>
            <a:spLocks noGrp="1"/>
          </p:cNvSpPr>
          <p:nvPr>
            <p:ph type="body" idx="1"/>
          </p:nvPr>
        </p:nvSpPr>
        <p:spPr bwMode="auto">
          <a:xfrm>
            <a:off x="457200" y="838200"/>
            <a:ext cx="82296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en-GB" altLang="en-US" dirty="0"/>
          </a:p>
        </p:txBody>
      </p:sp>
      <p:sp>
        <p:nvSpPr>
          <p:cNvPr id="12" name="Rectangle 11"/>
          <p:cNvSpPr/>
          <p:nvPr userDrawn="1"/>
        </p:nvSpPr>
        <p:spPr>
          <a:xfrm>
            <a:off x="0" y="0"/>
            <a:ext cx="304800" cy="6858000"/>
          </a:xfrm>
          <a:prstGeom prst="rect">
            <a:avLst/>
          </a:prstGeom>
          <a:gradFill flip="none" rotWithShape="1">
            <a:gsLst>
              <a:gs pos="0">
                <a:srgbClr val="700000">
                  <a:shade val="30000"/>
                  <a:satMod val="115000"/>
                </a:srgbClr>
              </a:gs>
              <a:gs pos="50000">
                <a:srgbClr val="700000">
                  <a:shade val="67500"/>
                  <a:satMod val="115000"/>
                </a:srgbClr>
              </a:gs>
              <a:gs pos="100000">
                <a:srgbClr val="700000">
                  <a:shade val="100000"/>
                  <a:satMod val="115000"/>
                </a:srgb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8" name="Slide Number Placeholder 21"/>
          <p:cNvSpPr>
            <a:spLocks noGrp="1"/>
          </p:cNvSpPr>
          <p:nvPr>
            <p:ph type="sldNum" sz="quarter" idx="4"/>
          </p:nvPr>
        </p:nvSpPr>
        <p:spPr>
          <a:xfrm>
            <a:off x="8613775" y="6305550"/>
            <a:ext cx="457200" cy="47625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200">
                <a:solidFill>
                  <a:srgbClr val="014B89"/>
                </a:solidFill>
                <a:latin typeface="Gill Sans MT" panose="020B0502020104020203" pitchFamily="34" charset="0"/>
              </a:defRPr>
            </a:lvl1pPr>
          </a:lstStyle>
          <a:p>
            <a:pPr>
              <a:defRPr/>
            </a:pPr>
            <a:fld id="{8E2C91E9-5570-4691-A4A0-7FE8C3F14E9F}" type="slidenum">
              <a:rPr lang="en-GB" altLang="en-US"/>
              <a:pPr>
                <a:defRPr/>
              </a:pPr>
              <a:t>‹#›</a:t>
            </a:fld>
            <a:endParaRPr lang="en-GB" altLang="en-US"/>
          </a:p>
        </p:txBody>
      </p:sp>
      <p:sp>
        <p:nvSpPr>
          <p:cNvPr id="1031" name="Text Box 10"/>
          <p:cNvSpPr txBox="1">
            <a:spLocks noChangeArrowheads="1"/>
          </p:cNvSpPr>
          <p:nvPr userDrawn="1"/>
        </p:nvSpPr>
        <p:spPr bwMode="auto">
          <a:xfrm>
            <a:off x="609600" y="0"/>
            <a:ext cx="2370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GB" altLang="en-US" sz="1200">
                <a:latin typeface="Times New Roman" panose="02020603050405020304" pitchFamily="18" charset="0"/>
              </a:rPr>
              <a:t>Informatics Institute of Technology</a:t>
            </a:r>
          </a:p>
        </p:txBody>
      </p:sp>
      <p:pic>
        <p:nvPicPr>
          <p:cNvPr id="1032" name="Picture 16" descr="IIT 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1000" y="0"/>
            <a:ext cx="280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11"/>
          <p:cNvSpPr>
            <a:spLocks noChangeArrowheads="1"/>
          </p:cNvSpPr>
          <p:nvPr userDrawn="1"/>
        </p:nvSpPr>
        <p:spPr bwMode="auto">
          <a:xfrm>
            <a:off x="6019800" y="0"/>
            <a:ext cx="31242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GB" altLang="en-US" sz="1200" dirty="0">
                <a:solidFill>
                  <a:srgbClr val="014B89"/>
                </a:solidFill>
                <a:latin typeface="Times New Roman" panose="02020603050405020304" pitchFamily="18" charset="0"/>
              </a:rPr>
              <a:t>DOC311 Academic Skills for Higher Education</a:t>
            </a:r>
            <a:endParaRPr lang="en-GB" altLang="en-US" sz="1200" dirty="0">
              <a:solidFill>
                <a:srgbClr val="014B89"/>
              </a:solidFill>
            </a:endParaRPr>
          </a:p>
        </p:txBody>
      </p:sp>
      <p:sp>
        <p:nvSpPr>
          <p:cNvPr id="16" name="Rectangle 13"/>
          <p:cNvSpPr>
            <a:spLocks noGrp="1" noChangeArrowheads="1"/>
          </p:cNvSpPr>
          <p:nvPr>
            <p:ph type="ftr" sz="quarter" idx="3"/>
          </p:nvPr>
        </p:nvSpPr>
        <p:spPr bwMode="auto">
          <a:xfrm>
            <a:off x="3276600" y="6610350"/>
            <a:ext cx="3124200" cy="2476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latin typeface="Times New Roman" pitchFamily="18" charset="0"/>
              </a:defRPr>
            </a:lvl1pPr>
          </a:lstStyle>
          <a:p>
            <a:pPr>
              <a:defRPr/>
            </a:pPr>
            <a:r>
              <a:rPr lang="en-GB"/>
              <a:t>Foundation Certificate Course</a:t>
            </a:r>
          </a:p>
        </p:txBody>
      </p:sp>
      <p:sp>
        <p:nvSpPr>
          <p:cNvPr id="11" name="Rectangle 7"/>
          <p:cNvSpPr>
            <a:spLocks noGrp="1" noChangeArrowheads="1"/>
          </p:cNvSpPr>
          <p:nvPr>
            <p:ph type="dt" sz="quarter" idx="2"/>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400">
                <a:cs typeface="Arial" panose="020B0604020202020204" pitchFamily="34" charset="0"/>
              </a:rPr>
              <a:t>© </a:t>
            </a:r>
            <a:r>
              <a:rPr lang="en-GB" altLang="en-US" sz="1200">
                <a:latin typeface="Times New Roman" panose="02020603050405020304" pitchFamily="18" charset="0"/>
                <a:cs typeface="Arial" panose="020B0604020202020204" pitchFamily="34" charset="0"/>
              </a:rPr>
              <a:t>IIT 2021-22 - SS</a:t>
            </a:r>
            <a:endParaRPr lang="en-GB" altLang="en-US" sz="1200" dirty="0">
              <a:latin typeface="Times New Roman" panose="02020603050405020304" pitchFamily="18"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1" r:id="rId1"/>
  </p:sldLayoutIdLst>
  <p:hf hdr="0" dt="0"/>
  <p:txStyles>
    <p:titleStyle>
      <a:lvl1pPr algn="ctr" rtl="0" eaLnBrk="0" fontAlgn="base" hangingPunct="0">
        <a:spcBef>
          <a:spcPct val="0"/>
        </a:spcBef>
        <a:spcAft>
          <a:spcPct val="0"/>
        </a:spcAft>
        <a:defRPr sz="2800" b="1" kern="1200">
          <a:solidFill>
            <a:srgbClr val="700000"/>
          </a:solidFill>
          <a:latin typeface="+mj-lt"/>
          <a:ea typeface="+mj-ea"/>
          <a:cs typeface="+mj-cs"/>
        </a:defRPr>
      </a:lvl1pPr>
      <a:lvl2pPr algn="ctr" rtl="0" eaLnBrk="0" fontAlgn="base" hangingPunct="0">
        <a:spcBef>
          <a:spcPct val="0"/>
        </a:spcBef>
        <a:spcAft>
          <a:spcPct val="0"/>
        </a:spcAft>
        <a:defRPr sz="2800" b="1">
          <a:solidFill>
            <a:srgbClr val="700000"/>
          </a:solidFill>
          <a:latin typeface="Arial" charset="0"/>
        </a:defRPr>
      </a:lvl2pPr>
      <a:lvl3pPr algn="ctr" rtl="0" eaLnBrk="0" fontAlgn="base" hangingPunct="0">
        <a:spcBef>
          <a:spcPct val="0"/>
        </a:spcBef>
        <a:spcAft>
          <a:spcPct val="0"/>
        </a:spcAft>
        <a:defRPr sz="2800" b="1">
          <a:solidFill>
            <a:srgbClr val="700000"/>
          </a:solidFill>
          <a:latin typeface="Arial" charset="0"/>
        </a:defRPr>
      </a:lvl3pPr>
      <a:lvl4pPr algn="ctr" rtl="0" eaLnBrk="0" fontAlgn="base" hangingPunct="0">
        <a:spcBef>
          <a:spcPct val="0"/>
        </a:spcBef>
        <a:spcAft>
          <a:spcPct val="0"/>
        </a:spcAft>
        <a:defRPr sz="2800" b="1">
          <a:solidFill>
            <a:srgbClr val="700000"/>
          </a:solidFill>
          <a:latin typeface="Arial" charset="0"/>
        </a:defRPr>
      </a:lvl4pPr>
      <a:lvl5pPr algn="ctr" rtl="0" eaLnBrk="0" fontAlgn="base" hangingPunct="0">
        <a:spcBef>
          <a:spcPct val="0"/>
        </a:spcBef>
        <a:spcAft>
          <a:spcPct val="0"/>
        </a:spcAft>
        <a:defRPr sz="2800" b="1">
          <a:solidFill>
            <a:srgbClr val="700000"/>
          </a:solidFill>
          <a:latin typeface="Arial" charset="0"/>
        </a:defRPr>
      </a:lvl5pPr>
      <a:lvl6pPr marL="457200" algn="ctr" rtl="0" fontAlgn="base">
        <a:spcBef>
          <a:spcPct val="0"/>
        </a:spcBef>
        <a:spcAft>
          <a:spcPct val="0"/>
        </a:spcAft>
        <a:defRPr sz="4400">
          <a:solidFill>
            <a:schemeClr val="tx1"/>
          </a:solidFill>
          <a:latin typeface="Arial" charset="0"/>
        </a:defRPr>
      </a:lvl6pPr>
      <a:lvl7pPr marL="914400" algn="ctr" rtl="0" fontAlgn="base">
        <a:spcBef>
          <a:spcPct val="0"/>
        </a:spcBef>
        <a:spcAft>
          <a:spcPct val="0"/>
        </a:spcAft>
        <a:defRPr sz="4400">
          <a:solidFill>
            <a:schemeClr val="tx1"/>
          </a:solidFill>
          <a:latin typeface="Arial" charset="0"/>
        </a:defRPr>
      </a:lvl7pPr>
      <a:lvl8pPr marL="1371600" algn="ctr" rtl="0" fontAlgn="base">
        <a:spcBef>
          <a:spcPct val="0"/>
        </a:spcBef>
        <a:spcAft>
          <a:spcPct val="0"/>
        </a:spcAft>
        <a:defRPr sz="4400">
          <a:solidFill>
            <a:schemeClr val="tx1"/>
          </a:solidFill>
          <a:latin typeface="Arial" charset="0"/>
        </a:defRPr>
      </a:lvl8pPr>
      <a:lvl9pPr marL="1828800" algn="ctr"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mn-lt"/>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mn-lt"/>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mn-lt"/>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www.mindtools.com/CommSkll/PresentationPlanningChecklist.ht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hyperlink" Target="https://www.nationalgeographic.com/animals/article/ancient-playful-wolves-evolved-domestic-dog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2.wmf"/></Relationships>
</file>

<file path=ppt/slides/_rels/slide16.xml.rels><?xml version="1.0" encoding="UTF-8" standalone="yes"?>
<Relationships xmlns="http://schemas.openxmlformats.org/package/2006/relationships"><Relationship Id="rId3" Type="http://schemas.openxmlformats.org/officeDocument/2006/relationships/hyperlink" Target="https://emedia.rmit.edu.au/learninglab/content/paraphrasing"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www.westminster.ac.uk/library-and-it/support-and-study-skills/guides-and-tutorials/referencing-your-work" TargetMode="External"/><Relationship Id="rId4" Type="http://schemas.openxmlformats.org/officeDocument/2006/relationships/hyperlink" Target="https://libguides.library.usyd.edu.au/c.php?g=508212&amp;p=34761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p:cNvSpPr>
            <a:spLocks noGrp="1"/>
          </p:cNvSpPr>
          <p:nvPr>
            <p:ph idx="1"/>
          </p:nvPr>
        </p:nvSpPr>
        <p:spPr>
          <a:xfrm>
            <a:off x="685800" y="3856038"/>
            <a:ext cx="7848600" cy="792162"/>
          </a:xfrm>
          <a:ln/>
        </p:spPr>
        <p:txBody>
          <a:bodyPr/>
          <a:lstStyle/>
          <a:p>
            <a:pPr>
              <a:buFont typeface="Arial" panose="020B0604020202020204" pitchFamily="34" charset="0"/>
              <a:buNone/>
            </a:pPr>
            <a:r>
              <a:rPr altLang="en-US" dirty="0"/>
              <a:t> </a:t>
            </a:r>
            <a:endParaRPr lang="en-GB" altLang="en-US" dirty="0"/>
          </a:p>
        </p:txBody>
      </p:sp>
      <p:sp>
        <p:nvSpPr>
          <p:cNvPr id="6" name="Rectangle 2"/>
          <p:cNvSpPr txBox="1">
            <a:spLocks noChangeArrowheads="1"/>
          </p:cNvSpPr>
          <p:nvPr/>
        </p:nvSpPr>
        <p:spPr bwMode="auto">
          <a:xfrm>
            <a:off x="533400" y="1524000"/>
            <a:ext cx="8382000" cy="2133600"/>
          </a:xfrm>
          <a:prstGeom prst="rect">
            <a:avLst/>
          </a:prstGeom>
          <a:noFill/>
          <a:ln w="9525">
            <a:noFill/>
            <a:miter lim="800000"/>
            <a:headEnd/>
            <a:tailEnd/>
          </a:ln>
        </p:spPr>
        <p:txBody>
          <a:bodyPr anchor="ctr"/>
          <a:lstStyle/>
          <a:p>
            <a:pPr algn="ctr">
              <a:defRPr/>
            </a:pPr>
            <a:r>
              <a:rPr lang="en-US" sz="3600" b="1" dirty="0">
                <a:solidFill>
                  <a:srgbClr val="700000"/>
                </a:solidFill>
                <a:latin typeface="Trebuchet MS" pitchFamily="34" charset="0"/>
                <a:ea typeface="+mj-ea"/>
                <a:cs typeface="+mj-cs"/>
              </a:rPr>
              <a:t>DOC311 </a:t>
            </a:r>
          </a:p>
          <a:p>
            <a:pPr algn="ctr">
              <a:defRPr/>
            </a:pPr>
            <a:r>
              <a:rPr lang="en-US" sz="3600" b="1" dirty="0">
                <a:solidFill>
                  <a:srgbClr val="700000"/>
                </a:solidFill>
                <a:latin typeface="Trebuchet MS" pitchFamily="34" charset="0"/>
                <a:ea typeface="+mj-ea"/>
                <a:cs typeface="+mj-cs"/>
              </a:rPr>
              <a:t>Academic Skills for Higher Education</a:t>
            </a:r>
            <a:br>
              <a:rPr lang="en-US" sz="3600" b="1" dirty="0">
                <a:solidFill>
                  <a:srgbClr val="700000"/>
                </a:solidFill>
                <a:latin typeface="Trebuchet MS" pitchFamily="34" charset="0"/>
                <a:ea typeface="+mj-ea"/>
                <a:cs typeface="+mj-cs"/>
              </a:rPr>
            </a:br>
            <a:br>
              <a:rPr lang="en-US" sz="2800" b="1" dirty="0">
                <a:solidFill>
                  <a:srgbClr val="700000"/>
                </a:solidFill>
                <a:latin typeface="Trebuchet MS" pitchFamily="34" charset="0"/>
                <a:ea typeface="+mj-ea"/>
                <a:cs typeface="+mj-cs"/>
              </a:rPr>
            </a:br>
            <a:r>
              <a:rPr lang="en-US" sz="2800" b="1" dirty="0">
                <a:solidFill>
                  <a:srgbClr val="700000"/>
                </a:solidFill>
                <a:latin typeface="Trebuchet MS" pitchFamily="34" charset="0"/>
                <a:ea typeface="+mj-ea"/>
                <a:cs typeface="+mj-cs"/>
              </a:rPr>
              <a:t>Referencing: How to Avoid Plagiarism</a:t>
            </a:r>
          </a:p>
        </p:txBody>
      </p:sp>
      <p:pic>
        <p:nvPicPr>
          <p:cNvPr id="4100" name="Picture 2" descr="D:\My Pictures\plagiarism.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4350" y="4924425"/>
            <a:ext cx="3549650" cy="194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7"/>
          <p:cNvSpPr>
            <a:spLocks noGrp="1" noChangeArrowheads="1"/>
          </p:cNvSpPr>
          <p:nvPr>
            <p:ph type="dt" sz="quarter" idx="4294967295"/>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400">
                <a:cs typeface="Arial" panose="020B0604020202020204" pitchFamily="34" charset="0"/>
              </a:rPr>
              <a:t>© </a:t>
            </a:r>
            <a:r>
              <a:rPr lang="en-GB" altLang="en-US" sz="1200">
                <a:latin typeface="Times New Roman" panose="02020603050405020304" pitchFamily="18" charset="0"/>
                <a:cs typeface="Arial" panose="020B0604020202020204" pitchFamily="34" charset="0"/>
              </a:rPr>
              <a:t>IIT 2022-23 - SS</a:t>
            </a:r>
            <a:endParaRPr lang="en-GB" altLang="en-US" sz="1200" dirty="0">
              <a:latin typeface="Times New Roman" panose="02020603050405020304" pitchFamily="18"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0" descr="D:\My Pictures\owl.jpg"/>
          <p:cNvPicPr>
            <a:picLocks noChangeAspect="1" noChangeArrowheads="1"/>
          </p:cNvPicPr>
          <p:nvPr/>
        </p:nvPicPr>
        <p:blipFill>
          <a:blip r:embed="rId3">
            <a:lum contrast="-20000"/>
            <a:extLst>
              <a:ext uri="{28A0092B-C50C-407E-A947-70E740481C1C}">
                <a14:useLocalDpi xmlns:a14="http://schemas.microsoft.com/office/drawing/2010/main" val="0"/>
              </a:ext>
            </a:extLst>
          </a:blip>
          <a:srcRect l="5560" r="8994"/>
          <a:stretch>
            <a:fillRect/>
          </a:stretch>
        </p:blipFill>
        <p:spPr bwMode="auto">
          <a:xfrm>
            <a:off x="304800" y="1295400"/>
            <a:ext cx="1676400"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Title 1"/>
          <p:cNvSpPr>
            <a:spLocks noGrp="1"/>
          </p:cNvSpPr>
          <p:nvPr>
            <p:ph type="title"/>
          </p:nvPr>
        </p:nvSpPr>
        <p:spPr/>
        <p:txBody>
          <a:bodyPr/>
          <a:lstStyle/>
          <a:p>
            <a:r>
              <a:rPr lang="en-US" altLang="en-US"/>
              <a:t>Plagiarism</a:t>
            </a:r>
            <a:endParaRPr lang="en-GB" altLang="en-US"/>
          </a:p>
        </p:txBody>
      </p:sp>
      <p:sp>
        <p:nvSpPr>
          <p:cNvPr id="10244" name="Content Placeholder 2"/>
          <p:cNvSpPr>
            <a:spLocks noGrp="1"/>
          </p:cNvSpPr>
          <p:nvPr>
            <p:ph idx="1"/>
          </p:nvPr>
        </p:nvSpPr>
        <p:spPr>
          <a:ln/>
        </p:spPr>
        <p:txBody>
          <a:bodyPr/>
          <a:lstStyle/>
          <a:p>
            <a:pPr>
              <a:buFont typeface="Arial" panose="020B0604020202020204" pitchFamily="34" charset="0"/>
              <a:buNone/>
            </a:pPr>
            <a:r>
              <a:rPr lang="en-GB" altLang="en-US" b="1" dirty="0"/>
              <a:t>	What is plagiarism?</a:t>
            </a:r>
            <a:endParaRPr lang="en-GB" altLang="en-US" dirty="0"/>
          </a:p>
          <a:p>
            <a:pPr>
              <a:buFont typeface="Arial" panose="020B0604020202020204" pitchFamily="34" charset="0"/>
              <a:buNone/>
            </a:pPr>
            <a:r>
              <a:rPr altLang="en-US" dirty="0"/>
              <a:t>	</a:t>
            </a:r>
          </a:p>
          <a:p>
            <a:pPr>
              <a:buFont typeface="Arial" panose="020B0604020202020204" pitchFamily="34" charset="0"/>
              <a:buNone/>
            </a:pPr>
            <a:endParaRPr altLang="en-US" dirty="0"/>
          </a:p>
          <a:p>
            <a:pPr>
              <a:spcBef>
                <a:spcPct val="0"/>
              </a:spcBef>
              <a:spcAft>
                <a:spcPct val="0"/>
              </a:spcAft>
              <a:buFont typeface="Arial" panose="020B0604020202020204" pitchFamily="34" charset="0"/>
              <a:buNone/>
            </a:pPr>
            <a:endParaRPr altLang="en-US" dirty="0"/>
          </a:p>
          <a:p>
            <a:pPr>
              <a:spcBef>
                <a:spcPct val="0"/>
              </a:spcBef>
              <a:spcAft>
                <a:spcPct val="0"/>
              </a:spcAft>
              <a:buFont typeface="Arial" panose="020B0604020202020204" pitchFamily="34" charset="0"/>
              <a:buNone/>
            </a:pPr>
            <a:endParaRPr altLang="en-US" dirty="0"/>
          </a:p>
          <a:p>
            <a:pPr>
              <a:spcBef>
                <a:spcPct val="0"/>
              </a:spcBef>
              <a:spcAft>
                <a:spcPct val="0"/>
              </a:spcAft>
              <a:buFont typeface="Arial" panose="020B0604020202020204" pitchFamily="34" charset="0"/>
              <a:buNone/>
            </a:pPr>
            <a:endParaRPr lang="en-GB" altLang="en-US" b="1" dirty="0"/>
          </a:p>
          <a:p>
            <a:pPr>
              <a:spcBef>
                <a:spcPct val="0"/>
              </a:spcBef>
              <a:spcAft>
                <a:spcPct val="0"/>
              </a:spcAft>
              <a:buFont typeface="Arial" panose="020B0604020202020204" pitchFamily="34" charset="0"/>
              <a:buNone/>
            </a:pPr>
            <a:r>
              <a:rPr lang="en-GB" altLang="en-US" b="1" dirty="0"/>
              <a:t>	</a:t>
            </a:r>
          </a:p>
          <a:p>
            <a:pPr>
              <a:spcAft>
                <a:spcPts val="600"/>
              </a:spcAft>
              <a:buFont typeface="Arial" panose="020B0604020202020204" pitchFamily="34" charset="0"/>
              <a:buNone/>
            </a:pPr>
            <a:r>
              <a:rPr lang="en-GB" altLang="en-US" b="1" dirty="0"/>
              <a:t>It includes</a:t>
            </a:r>
          </a:p>
          <a:p>
            <a:pPr>
              <a:spcBef>
                <a:spcPts val="600"/>
              </a:spcBef>
              <a:spcAft>
                <a:spcPts val="1200"/>
              </a:spcAft>
              <a:buFont typeface="Arial" panose="020B0604020202020204" pitchFamily="34" charset="0"/>
              <a:buChar char="●"/>
            </a:pPr>
            <a:r>
              <a:rPr lang="en-GB" altLang="en-US" dirty="0"/>
              <a:t>Copying a paragraph </a:t>
            </a:r>
            <a:r>
              <a:rPr lang="en-GB" altLang="en-US" dirty="0">
                <a:solidFill>
                  <a:srgbClr val="0409E4"/>
                </a:solidFill>
              </a:rPr>
              <a:t>verbatim</a:t>
            </a:r>
            <a:r>
              <a:rPr lang="en-GB" altLang="en-US" dirty="0"/>
              <a:t> from a source without any acknowledgement.</a:t>
            </a:r>
          </a:p>
          <a:p>
            <a:pPr>
              <a:spcBef>
                <a:spcPts val="600"/>
              </a:spcBef>
              <a:spcAft>
                <a:spcPts val="1200"/>
              </a:spcAft>
              <a:buFont typeface="Arial" panose="020B0604020202020204" pitchFamily="34" charset="0"/>
              <a:buChar char="●"/>
            </a:pPr>
            <a:r>
              <a:rPr lang="en-GB" altLang="en-US" dirty="0"/>
              <a:t>Copying a paragraph and making small changes.</a:t>
            </a:r>
          </a:p>
          <a:p>
            <a:pPr>
              <a:spcBef>
                <a:spcPts val="600"/>
              </a:spcBef>
              <a:spcAft>
                <a:spcPts val="1200"/>
              </a:spcAft>
              <a:buFont typeface="Arial" panose="020B0604020202020204" pitchFamily="34" charset="0"/>
              <a:buChar char="●"/>
            </a:pPr>
            <a:r>
              <a:rPr lang="en-GB" altLang="en-US" dirty="0"/>
              <a:t>Cutting and pasting a paragraph by using sentences from the original, putting them in a different order.</a:t>
            </a:r>
          </a:p>
          <a:p>
            <a:pPr>
              <a:spcBef>
                <a:spcPct val="0"/>
              </a:spcBef>
              <a:spcAft>
                <a:spcPct val="0"/>
              </a:spcAft>
              <a:buFont typeface="Arial" panose="020B0604020202020204" pitchFamily="34" charset="0"/>
              <a:buChar char="●"/>
            </a:pPr>
            <a:endParaRPr lang="en-GB" altLang="en-US" dirty="0"/>
          </a:p>
          <a:p>
            <a:pPr>
              <a:spcBef>
                <a:spcPct val="0"/>
              </a:spcBef>
              <a:buClr>
                <a:srgbClr val="0409E4"/>
              </a:buClr>
              <a:buFont typeface="Wingdings" panose="05000000000000000000" pitchFamily="2" charset="2"/>
              <a:buChar char="v"/>
            </a:pPr>
            <a:r>
              <a:rPr altLang="en-US" sz="1800" dirty="0"/>
              <a:t>[</a:t>
            </a:r>
            <a:r>
              <a:rPr lang="en-GB" altLang="en-US" dirty="0">
                <a:solidFill>
                  <a:srgbClr val="0409E4"/>
                </a:solidFill>
              </a:rPr>
              <a:t>verbatim</a:t>
            </a:r>
            <a:r>
              <a:rPr altLang="en-US" sz="1800" dirty="0"/>
              <a:t> = using exactly the same words]</a:t>
            </a:r>
            <a:endParaRPr lang="en-GB" altLang="en-US" sz="1800" dirty="0"/>
          </a:p>
        </p:txBody>
      </p:sp>
      <p:sp>
        <p:nvSpPr>
          <p:cNvPr id="10245"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7A883E44-556D-4A8B-8AC7-6469C72A35DA}"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2</a:t>
            </a:fld>
            <a:endParaRPr lang="en-GB" altLang="en-US" sz="1200">
              <a:solidFill>
                <a:srgbClr val="014B89"/>
              </a:solidFill>
              <a:latin typeface="Gill Sans MT" panose="020B0502020104020203" pitchFamily="34" charset="0"/>
            </a:endParaRPr>
          </a:p>
        </p:txBody>
      </p:sp>
      <p:sp>
        <p:nvSpPr>
          <p:cNvPr id="11" name="Rounded Rectangular Callout 10"/>
          <p:cNvSpPr/>
          <p:nvPr/>
        </p:nvSpPr>
        <p:spPr>
          <a:xfrm>
            <a:off x="2743200" y="1600200"/>
            <a:ext cx="6248400" cy="1797050"/>
          </a:xfrm>
          <a:prstGeom prst="wedgeRoundRectCallout">
            <a:avLst>
              <a:gd name="adj1" fmla="val -63740"/>
              <a:gd name="adj2" fmla="val -37786"/>
              <a:gd name="adj3" fmla="val 16667"/>
            </a:avLst>
          </a:prstGeom>
          <a:solidFill>
            <a:srgbClr val="0066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tIns="0" bIns="0" anchor="ctr">
            <a:spAutoFit/>
          </a:bodyPr>
          <a:lstStyle/>
          <a:p>
            <a:pPr algn="ctr" eaLnBrk="1" hangingPunct="1">
              <a:lnSpc>
                <a:spcPct val="130000"/>
              </a:lnSpc>
              <a:defRPr/>
            </a:pPr>
            <a:r>
              <a:rPr lang="en-US" sz="2000" dirty="0">
                <a:solidFill>
                  <a:schemeClr val="bg1"/>
                </a:solidFill>
                <a:latin typeface="Maiandra GD" pitchFamily="34" charset="0"/>
              </a:rPr>
              <a:t>Plagiarism is using someone else's ideas and / or words, inventions, images, including the work of other students, as your own, </a:t>
            </a:r>
            <a:r>
              <a:rPr lang="en-US" sz="2000" i="1" u="sng" dirty="0">
                <a:solidFill>
                  <a:schemeClr val="bg1"/>
                </a:solidFill>
                <a:latin typeface="Maiandra GD" pitchFamily="34" charset="0"/>
              </a:rPr>
              <a:t>without giving credit </a:t>
            </a:r>
            <a:r>
              <a:rPr lang="en-US" sz="2000" i="1" dirty="0">
                <a:solidFill>
                  <a:schemeClr val="bg1"/>
                </a:solidFill>
                <a:latin typeface="Maiandra GD" pitchFamily="34" charset="0"/>
              </a:rPr>
              <a:t>to the person who created them</a:t>
            </a:r>
            <a:r>
              <a:rPr lang="en-US" sz="2000" dirty="0">
                <a:solidFill>
                  <a:schemeClr val="bg1"/>
                </a:solidFill>
                <a:latin typeface="Maiandra GD" pitchFamily="34" charset="0"/>
              </a:rPr>
              <a:t>. </a:t>
            </a:r>
          </a:p>
        </p:txBody>
      </p:sp>
      <p:pic>
        <p:nvPicPr>
          <p:cNvPr id="10247" name="Picture 2" descr="D:\My Pictures\plagiarism.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0" name="Rectangle 7">
            <a:extLst>
              <a:ext uri="{FF2B5EF4-FFF2-40B4-BE49-F238E27FC236}">
                <a16:creationId xmlns:a16="http://schemas.microsoft.com/office/drawing/2014/main" id="{F07F3BAE-5421-40F6-BDAC-3C5CAD0A1C1C}"/>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a:t>Plagiarism – Univ. of Westminster</a:t>
            </a:r>
            <a:endParaRPr lang="en-GB" altLang="en-US"/>
          </a:p>
        </p:txBody>
      </p:sp>
      <p:sp>
        <p:nvSpPr>
          <p:cNvPr id="12291" name="Content Placeholder 2"/>
          <p:cNvSpPr>
            <a:spLocks noGrp="1"/>
          </p:cNvSpPr>
          <p:nvPr>
            <p:ph idx="1"/>
          </p:nvPr>
        </p:nvSpPr>
        <p:spPr>
          <a:ln/>
        </p:spPr>
        <p:txBody>
          <a:bodyPr/>
          <a:lstStyle/>
          <a:p>
            <a:pPr>
              <a:lnSpc>
                <a:spcPct val="120000"/>
              </a:lnSpc>
              <a:buFont typeface="Arial" panose="020B0604020202020204" pitchFamily="34" charset="0"/>
              <a:buNone/>
            </a:pPr>
            <a:r>
              <a:rPr altLang="en-US" sz="1800" b="1" dirty="0"/>
              <a:t>What does the University of Westminster say about plagiarism?</a:t>
            </a:r>
            <a:endParaRPr lang="en-GB" altLang="en-US" sz="1800" b="1" dirty="0"/>
          </a:p>
          <a:p>
            <a:pPr>
              <a:lnSpc>
                <a:spcPct val="120000"/>
              </a:lnSpc>
              <a:buFont typeface="Arial" panose="020B0604020202020204" pitchFamily="34" charset="0"/>
              <a:buChar char="●"/>
            </a:pPr>
            <a:r>
              <a:rPr lang="en-US" altLang="en-US" sz="1800" dirty="0"/>
              <a:t>Assessments which contain the unacknowledged published or unpublished words, thoughts,  judgements, ideas, structures or images of some other person or persons.  </a:t>
            </a:r>
          </a:p>
          <a:p>
            <a:pPr marL="684213" indent="0">
              <a:lnSpc>
                <a:spcPct val="120000"/>
              </a:lnSpc>
              <a:buNone/>
            </a:pPr>
            <a:r>
              <a:rPr lang="en-US" altLang="en-US" sz="1800" dirty="0"/>
              <a:t>This includes material downloaded from electronic sources, and material sourced or contracted from a third party</a:t>
            </a:r>
          </a:p>
          <a:p>
            <a:pPr>
              <a:lnSpc>
                <a:spcPct val="120000"/>
              </a:lnSpc>
              <a:buFont typeface="Arial" panose="020B0604020202020204" pitchFamily="34" charset="0"/>
              <a:buChar char="●"/>
            </a:pPr>
            <a:r>
              <a:rPr lang="en-US" altLang="en-US" sz="1800" dirty="0"/>
              <a:t>Assessment work which that student has previously submitted for assessment as part of the same or another module or course, or at another institution, without citing that it was used previously</a:t>
            </a:r>
          </a:p>
          <a:p>
            <a:pPr marL="0" indent="0" algn="r">
              <a:lnSpc>
                <a:spcPct val="120000"/>
              </a:lnSpc>
              <a:buNone/>
            </a:pPr>
            <a:r>
              <a:rPr lang="en-US" altLang="en-US" sz="1800" dirty="0"/>
              <a:t>		</a:t>
            </a:r>
            <a:r>
              <a:rPr lang="en-GB" altLang="en-US" sz="1600" dirty="0"/>
              <a:t>(University of Westminster, 2021).</a:t>
            </a:r>
          </a:p>
          <a:p>
            <a:pPr lvl="7">
              <a:lnSpc>
                <a:spcPct val="120000"/>
              </a:lnSpc>
              <a:buFont typeface="Arial" panose="020B0604020202020204" pitchFamily="34" charset="0"/>
              <a:buChar char="●"/>
            </a:pPr>
            <a:endParaRPr lang="en-US" altLang="en-US" sz="1800" dirty="0"/>
          </a:p>
          <a:p>
            <a:pPr>
              <a:lnSpc>
                <a:spcPct val="120000"/>
              </a:lnSpc>
              <a:buFont typeface="Arial" panose="020B0604020202020204" pitchFamily="34" charset="0"/>
              <a:buChar char="●"/>
            </a:pPr>
            <a:endParaRPr lang="en-GB" altLang="en-US" sz="1800" dirty="0"/>
          </a:p>
          <a:p>
            <a:pPr>
              <a:lnSpc>
                <a:spcPct val="120000"/>
              </a:lnSpc>
              <a:buFont typeface="Arial" panose="020B0604020202020204" pitchFamily="34" charset="0"/>
              <a:buChar char="●"/>
            </a:pPr>
            <a:endParaRPr lang="en-GB" altLang="en-US" sz="1800" dirty="0"/>
          </a:p>
        </p:txBody>
      </p:sp>
      <p:sp>
        <p:nvSpPr>
          <p:cNvPr id="12292"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7BC47ECD-121C-4F7D-8CB1-4F2C1A80D87B}"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3</a:t>
            </a:fld>
            <a:endParaRPr lang="en-GB" altLang="en-US" sz="1200">
              <a:solidFill>
                <a:srgbClr val="014B89"/>
              </a:solidFill>
              <a:latin typeface="Gill Sans MT" panose="020B0502020104020203" pitchFamily="34" charset="0"/>
            </a:endParaRPr>
          </a:p>
        </p:txBody>
      </p:sp>
      <p:grpSp>
        <p:nvGrpSpPr>
          <p:cNvPr id="12293" name="Group 5"/>
          <p:cNvGrpSpPr>
            <a:grpSpLocks/>
          </p:cNvGrpSpPr>
          <p:nvPr/>
        </p:nvGrpSpPr>
        <p:grpSpPr bwMode="auto">
          <a:xfrm>
            <a:off x="1337930" y="4393609"/>
            <a:ext cx="2579552" cy="2388191"/>
            <a:chOff x="5791200" y="4368800"/>
            <a:chExt cx="2838450" cy="2565400"/>
          </a:xfrm>
        </p:grpSpPr>
        <p:pic>
          <p:nvPicPr>
            <p:cNvPr id="12297" name="Picture 8" descr="D:\My Pictures\Referencing Plagiarism\plagiarism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4368800"/>
              <a:ext cx="1724025"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9" descr="pe03635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4648200"/>
              <a:ext cx="1954212"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294" name="Picture 2" descr="D:\My Pictures\plagiarism.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1" name="Rectangle 7">
            <a:extLst>
              <a:ext uri="{FF2B5EF4-FFF2-40B4-BE49-F238E27FC236}">
                <a16:creationId xmlns:a16="http://schemas.microsoft.com/office/drawing/2014/main" id="{81D0D0CF-A651-416A-8C93-0496B1B38423}"/>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a:t>Plagiarism – Univ. of Westminster</a:t>
            </a:r>
            <a:endParaRPr lang="en-GB" altLang="en-US"/>
          </a:p>
        </p:txBody>
      </p:sp>
      <p:sp>
        <p:nvSpPr>
          <p:cNvPr id="12291" name="Content Placeholder 2"/>
          <p:cNvSpPr>
            <a:spLocks noGrp="1"/>
          </p:cNvSpPr>
          <p:nvPr>
            <p:ph idx="1"/>
          </p:nvPr>
        </p:nvSpPr>
        <p:spPr>
          <a:ln/>
        </p:spPr>
        <p:txBody>
          <a:bodyPr/>
          <a:lstStyle/>
          <a:p>
            <a:pPr>
              <a:buFont typeface="Arial" panose="020B0604020202020204" pitchFamily="34" charset="0"/>
              <a:buChar char="●"/>
            </a:pPr>
            <a:endParaRPr altLang="en-US" sz="1800" dirty="0"/>
          </a:p>
          <a:p>
            <a:pPr>
              <a:buFont typeface="Arial" panose="020B0604020202020204" pitchFamily="34" charset="0"/>
              <a:buNone/>
            </a:pPr>
            <a:r>
              <a:rPr altLang="en-US" sz="1800" b="1" dirty="0"/>
              <a:t>Consequences of Plagiarism</a:t>
            </a:r>
          </a:p>
          <a:p>
            <a:pPr>
              <a:buFont typeface="Arial" panose="020B0604020202020204" pitchFamily="34" charset="0"/>
              <a:buChar char="●"/>
            </a:pPr>
            <a:r>
              <a:rPr altLang="en-US" sz="1800" dirty="0"/>
              <a:t>Plagiarism is a violation of student discipline and may incur a range of penalties including a reduction in marks, or being given a fail grade.</a:t>
            </a:r>
          </a:p>
          <a:p>
            <a:pPr>
              <a:spcBef>
                <a:spcPct val="0"/>
              </a:spcBef>
              <a:spcAft>
                <a:spcPct val="0"/>
              </a:spcAft>
              <a:buFont typeface="Arial" panose="020B0604020202020204" pitchFamily="34" charset="0"/>
              <a:buChar char="●"/>
            </a:pPr>
            <a:endParaRPr altLang="en-US" sz="1800" dirty="0"/>
          </a:p>
          <a:p>
            <a:pPr>
              <a:buFont typeface="Arial" panose="020B0604020202020204" pitchFamily="34" charset="0"/>
              <a:buChar char="●"/>
            </a:pPr>
            <a:r>
              <a:rPr altLang="en-US" sz="1800" dirty="0"/>
              <a:t>Most universities have strict penalties for students who submit </a:t>
            </a:r>
            <a:r>
              <a:rPr altLang="en-US" sz="1800" dirty="0" err="1"/>
              <a:t>plagiarised</a:t>
            </a:r>
            <a:r>
              <a:rPr altLang="en-US" sz="1800" dirty="0"/>
              <a:t> work.</a:t>
            </a:r>
          </a:p>
          <a:p>
            <a:pPr>
              <a:buFont typeface="Arial" panose="020B0604020202020204" pitchFamily="34" charset="0"/>
              <a:buChar char="●"/>
            </a:pPr>
            <a:endParaRPr lang="en-GB" altLang="en-US" sz="1800" dirty="0"/>
          </a:p>
          <a:p>
            <a:pPr>
              <a:buFont typeface="Arial" panose="020B0604020202020204" pitchFamily="34" charset="0"/>
              <a:buChar char="●"/>
            </a:pPr>
            <a:endParaRPr lang="en-GB" altLang="en-US" sz="1800" dirty="0"/>
          </a:p>
        </p:txBody>
      </p:sp>
      <p:sp>
        <p:nvSpPr>
          <p:cNvPr id="12292"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7BC47ECD-121C-4F7D-8CB1-4F2C1A80D87B}"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4</a:t>
            </a:fld>
            <a:endParaRPr lang="en-GB" altLang="en-US" sz="1200">
              <a:solidFill>
                <a:srgbClr val="014B89"/>
              </a:solidFill>
              <a:latin typeface="Gill Sans MT" panose="020B0502020104020203" pitchFamily="34" charset="0"/>
            </a:endParaRPr>
          </a:p>
        </p:txBody>
      </p:sp>
      <p:grpSp>
        <p:nvGrpSpPr>
          <p:cNvPr id="12293" name="Group 5"/>
          <p:cNvGrpSpPr>
            <a:grpSpLocks/>
          </p:cNvGrpSpPr>
          <p:nvPr/>
        </p:nvGrpSpPr>
        <p:grpSpPr bwMode="auto">
          <a:xfrm>
            <a:off x="5343525" y="3683000"/>
            <a:ext cx="2381250" cy="2336800"/>
            <a:chOff x="5791200" y="4368800"/>
            <a:chExt cx="2838450" cy="2565400"/>
          </a:xfrm>
        </p:grpSpPr>
        <p:pic>
          <p:nvPicPr>
            <p:cNvPr id="12297" name="Picture 8" descr="D:\My Pictures\Referencing Plagiarism\plagiarism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4368800"/>
              <a:ext cx="1724025"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9" descr="pe03635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4648200"/>
              <a:ext cx="1954212"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294" name="Picture 2" descr="D:\My Pictures\plagiarism.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1" name="Rectangle 7">
            <a:extLst>
              <a:ext uri="{FF2B5EF4-FFF2-40B4-BE49-F238E27FC236}">
                <a16:creationId xmlns:a16="http://schemas.microsoft.com/office/drawing/2014/main" id="{BEF08374-B1B7-4F19-9E9D-55CFBD21F7E5}"/>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extLst>
      <p:ext uri="{BB962C8B-B14F-4D97-AF65-F5344CB8AC3E}">
        <p14:creationId xmlns:p14="http://schemas.microsoft.com/office/powerpoint/2010/main" val="3905526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dirty="0"/>
              <a:t>Why is Plagiarism Wrong?</a:t>
            </a:r>
            <a:endParaRPr lang="en-GB" altLang="en-US" dirty="0"/>
          </a:p>
        </p:txBody>
      </p:sp>
      <p:sp>
        <p:nvSpPr>
          <p:cNvPr id="15363" name="Content Placeholder 2"/>
          <p:cNvSpPr>
            <a:spLocks noGrp="1"/>
          </p:cNvSpPr>
          <p:nvPr>
            <p:ph idx="1"/>
          </p:nvPr>
        </p:nvSpPr>
        <p:spPr>
          <a:ln/>
        </p:spPr>
        <p:txBody>
          <a:bodyPr/>
          <a:lstStyle/>
          <a:p>
            <a:pPr>
              <a:spcBef>
                <a:spcPts val="1200"/>
              </a:spcBef>
              <a:spcAft>
                <a:spcPts val="600"/>
              </a:spcAft>
              <a:buFont typeface="Arial" panose="020B0604020202020204" pitchFamily="34" charset="0"/>
              <a:buNone/>
            </a:pPr>
            <a:r>
              <a:rPr lang="en-GB" altLang="en-US" dirty="0"/>
              <a:t>Plagiarism is wrong for the following reasons: </a:t>
            </a:r>
          </a:p>
          <a:p>
            <a:pPr>
              <a:spcBef>
                <a:spcPts val="1200"/>
              </a:spcBef>
              <a:spcAft>
                <a:spcPts val="600"/>
              </a:spcAft>
              <a:buFont typeface="Arial" panose="020B0604020202020204" pitchFamily="34" charset="0"/>
              <a:buChar char="●"/>
            </a:pPr>
            <a:r>
              <a:rPr lang="en-GB" altLang="en-US" dirty="0"/>
              <a:t>It is dishonest, because it involves the theft of another person's information or ideas. </a:t>
            </a:r>
          </a:p>
          <a:p>
            <a:pPr>
              <a:spcBef>
                <a:spcPts val="1200"/>
              </a:spcBef>
              <a:spcAft>
                <a:spcPts val="600"/>
              </a:spcAft>
              <a:buFont typeface="Arial" panose="020B0604020202020204" pitchFamily="34" charset="0"/>
              <a:buChar char="●"/>
            </a:pPr>
            <a:r>
              <a:rPr lang="en-GB" altLang="en-US" dirty="0"/>
              <a:t>It is unfair to other students, because their work is graded against dishonest work. </a:t>
            </a:r>
          </a:p>
          <a:p>
            <a:pPr>
              <a:spcBef>
                <a:spcPts val="1200"/>
              </a:spcBef>
              <a:spcAft>
                <a:spcPts val="600"/>
              </a:spcAft>
              <a:buFont typeface="Arial" panose="020B0604020202020204" pitchFamily="34" charset="0"/>
              <a:buChar char="●"/>
            </a:pPr>
            <a:r>
              <a:rPr lang="en-GB" altLang="en-US" dirty="0"/>
              <a:t>It is disrespectful to lecturers, tutors, and teachers, because it is a betrayal of their trust. </a:t>
            </a:r>
          </a:p>
          <a:p>
            <a:pPr>
              <a:spcBef>
                <a:spcPts val="1200"/>
              </a:spcBef>
              <a:spcAft>
                <a:spcPts val="600"/>
              </a:spcAft>
              <a:buFont typeface="Arial" panose="020B0604020202020204" pitchFamily="34" charset="0"/>
              <a:buChar char="●"/>
            </a:pPr>
            <a:r>
              <a:rPr lang="en-GB" altLang="en-US" dirty="0"/>
              <a:t>It is harmful to the reputation of your university or college and the qualifications it awards. </a:t>
            </a:r>
          </a:p>
          <a:p>
            <a:pPr>
              <a:buFont typeface="Arial" panose="020B0604020202020204" pitchFamily="34" charset="0"/>
              <a:buChar char="●"/>
            </a:pPr>
            <a:endParaRPr lang="en-GB" altLang="en-US" dirty="0"/>
          </a:p>
        </p:txBody>
      </p:sp>
      <p:sp>
        <p:nvSpPr>
          <p:cNvPr id="15364"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65F4C57A-6EA1-446C-808E-72F69747BB58}"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5</a:t>
            </a:fld>
            <a:endParaRPr lang="en-GB" altLang="en-US" sz="1200">
              <a:solidFill>
                <a:srgbClr val="014B89"/>
              </a:solidFill>
              <a:latin typeface="Gill Sans MT" panose="020B0502020104020203" pitchFamily="34" charset="0"/>
            </a:endParaRPr>
          </a:p>
        </p:txBody>
      </p:sp>
      <p:pic>
        <p:nvPicPr>
          <p:cNvPr id="15365" name="Picture 8" descr="D:\My Pictures\Referencing Plagiarism\plagiarism_thef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4800600"/>
            <a:ext cx="3581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2" descr="D:\My Pictures\plagiarism.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9" name="Rectangle 7">
            <a:extLst>
              <a:ext uri="{FF2B5EF4-FFF2-40B4-BE49-F238E27FC236}">
                <a16:creationId xmlns:a16="http://schemas.microsoft.com/office/drawing/2014/main" id="{FE6F3BFB-21D0-4007-8ADA-101A5566FC5C}"/>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a:t>Referencing (Citing) Your Sources</a:t>
            </a:r>
            <a:endParaRPr lang="en-GB" altLang="en-US"/>
          </a:p>
        </p:txBody>
      </p:sp>
      <p:sp>
        <p:nvSpPr>
          <p:cNvPr id="18435" name="Content Placeholder 2"/>
          <p:cNvSpPr>
            <a:spLocks noGrp="1"/>
          </p:cNvSpPr>
          <p:nvPr>
            <p:ph idx="1"/>
          </p:nvPr>
        </p:nvSpPr>
        <p:spPr>
          <a:ln/>
        </p:spPr>
        <p:txBody>
          <a:bodyPr/>
          <a:lstStyle/>
          <a:p>
            <a:pPr>
              <a:spcAft>
                <a:spcPts val="1200"/>
              </a:spcAft>
              <a:buFont typeface="Arial" panose="020B0604020202020204" pitchFamily="34" charset="0"/>
              <a:buNone/>
            </a:pPr>
            <a:r>
              <a:rPr lang="en-GB" altLang="en-US" b="1"/>
              <a:t>What Does Referencing Mean?</a:t>
            </a:r>
            <a:endParaRPr lang="en-GB" altLang="en-US"/>
          </a:p>
          <a:p>
            <a:pPr>
              <a:spcBef>
                <a:spcPts val="600"/>
              </a:spcBef>
              <a:spcAft>
                <a:spcPts val="600"/>
              </a:spcAft>
              <a:buFont typeface="Arial" panose="020B0604020202020204" pitchFamily="34" charset="0"/>
              <a:buChar char="●"/>
            </a:pPr>
            <a:r>
              <a:rPr lang="en-GB" altLang="en-US"/>
              <a:t>When writing an academic piece of work, you need to acknowledge any ideas, information or quotations which are the work of other people. This is known as </a:t>
            </a:r>
            <a:r>
              <a:rPr lang="en-GB" altLang="en-US">
                <a:solidFill>
                  <a:srgbClr val="0000FF"/>
                </a:solidFill>
              </a:rPr>
              <a:t>referencing</a:t>
            </a:r>
            <a:r>
              <a:rPr lang="en-GB" altLang="en-US"/>
              <a:t> or </a:t>
            </a:r>
            <a:r>
              <a:rPr lang="en-GB" altLang="en-US">
                <a:solidFill>
                  <a:srgbClr val="0000FF"/>
                </a:solidFill>
              </a:rPr>
              <a:t>citing</a:t>
            </a:r>
            <a:r>
              <a:rPr lang="en-GB" altLang="en-US"/>
              <a:t>.</a:t>
            </a:r>
          </a:p>
          <a:p>
            <a:pPr>
              <a:spcBef>
                <a:spcPts val="1200"/>
              </a:spcBef>
              <a:spcAft>
                <a:spcPts val="600"/>
              </a:spcAft>
              <a:buFont typeface="Arial" panose="020B0604020202020204" pitchFamily="34" charset="0"/>
              <a:buChar char="●"/>
            </a:pPr>
            <a:r>
              <a:rPr lang="en-GB" altLang="en-US"/>
              <a:t>References (or “citations”) show that your writing is NOT based on your own ideas only, and that it is also based on the ideas, information, and evidence of others.</a:t>
            </a:r>
          </a:p>
          <a:p>
            <a:pPr>
              <a:buFont typeface="Arial" panose="020B0604020202020204" pitchFamily="34" charset="0"/>
              <a:buChar char="●"/>
            </a:pPr>
            <a:endParaRPr lang="en-GB" altLang="en-US"/>
          </a:p>
        </p:txBody>
      </p:sp>
      <p:sp>
        <p:nvSpPr>
          <p:cNvPr id="18436"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5DF6592F-DAA3-441A-9923-C9E38BFFFAE8}"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6</a:t>
            </a:fld>
            <a:endParaRPr lang="en-GB" altLang="en-US" sz="1200">
              <a:solidFill>
                <a:srgbClr val="014B89"/>
              </a:solidFill>
              <a:latin typeface="Gill Sans MT" panose="020B0502020104020203" pitchFamily="34" charset="0"/>
            </a:endParaRPr>
          </a:p>
        </p:txBody>
      </p:sp>
      <p:pic>
        <p:nvPicPr>
          <p:cNvPr id="18437" name="Picture 13" descr="D:\My Pictures\Referencing Plagiarism\plagiari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4572000"/>
            <a:ext cx="2057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2" descr="D:\My Pictures\plagiarism.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9" name="Rectangle 7">
            <a:extLst>
              <a:ext uri="{FF2B5EF4-FFF2-40B4-BE49-F238E27FC236}">
                <a16:creationId xmlns:a16="http://schemas.microsoft.com/office/drawing/2014/main" id="{8EBFF0A5-0D2F-4B57-BC16-03EF08467BA8}"/>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When to Reference (Cite) Your Sources</a:t>
            </a:r>
            <a:endParaRPr lang="en-GB" altLang="en-US"/>
          </a:p>
        </p:txBody>
      </p:sp>
      <p:sp>
        <p:nvSpPr>
          <p:cNvPr id="20483" name="Content Placeholder 2"/>
          <p:cNvSpPr>
            <a:spLocks noGrp="1"/>
          </p:cNvSpPr>
          <p:nvPr>
            <p:ph idx="1"/>
          </p:nvPr>
        </p:nvSpPr>
        <p:spPr>
          <a:ln/>
        </p:spPr>
        <p:txBody>
          <a:bodyPr/>
          <a:lstStyle/>
          <a:p>
            <a:pPr>
              <a:buFont typeface="Arial" panose="020B0604020202020204" pitchFamily="34" charset="0"/>
              <a:buChar char="●"/>
            </a:pPr>
            <a:r>
              <a:rPr altLang="en-US"/>
              <a:t>You should reference a source if you:</a:t>
            </a:r>
          </a:p>
          <a:p>
            <a:pPr>
              <a:buFont typeface="Arial" panose="020B0604020202020204" pitchFamily="34" charset="0"/>
              <a:buChar char="●"/>
            </a:pPr>
            <a:endParaRPr altLang="en-US"/>
          </a:p>
        </p:txBody>
      </p:sp>
      <p:sp>
        <p:nvSpPr>
          <p:cNvPr id="20484"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6BF1638C-42D2-40B1-9E79-4CC2AC5DAD05}"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7</a:t>
            </a:fld>
            <a:endParaRPr lang="en-GB" altLang="en-US" sz="1200">
              <a:solidFill>
                <a:srgbClr val="014B89"/>
              </a:solidFill>
              <a:latin typeface="Gill Sans MT" panose="020B0502020104020203" pitchFamily="34" charset="0"/>
            </a:endParaRPr>
          </a:p>
        </p:txBody>
      </p:sp>
      <p:pic>
        <p:nvPicPr>
          <p:cNvPr id="20485" name="Picture 2" descr="D:\My Pictures\plagiarism.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ounded Rectangle 10"/>
          <p:cNvSpPr/>
          <p:nvPr/>
        </p:nvSpPr>
        <p:spPr>
          <a:xfrm>
            <a:off x="1755775" y="2590800"/>
            <a:ext cx="5943600" cy="685800"/>
          </a:xfrm>
          <a:prstGeom prst="roundRect">
            <a:avLst/>
          </a:prstGeom>
          <a:solidFill>
            <a:srgbClr val="E46C0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cs typeface="Arial" charset="0"/>
              </a:rPr>
              <a:t>Copy (use their figures, tables, images, or structure)</a:t>
            </a:r>
            <a:endParaRPr lang="en-GB" sz="2000" dirty="0"/>
          </a:p>
        </p:txBody>
      </p:sp>
      <p:sp>
        <p:nvSpPr>
          <p:cNvPr id="12" name="Rounded Rectangle 11"/>
          <p:cNvSpPr/>
          <p:nvPr/>
        </p:nvSpPr>
        <p:spPr>
          <a:xfrm>
            <a:off x="1755775" y="4876800"/>
            <a:ext cx="5943600" cy="685800"/>
          </a:xfrm>
          <a:prstGeom prst="roundRect">
            <a:avLst/>
          </a:prstGeom>
          <a:solidFill>
            <a:srgbClr val="7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cs typeface="Arial" charset="0"/>
              </a:rPr>
              <a:t>Summarise (give a brief account of their ideas) </a:t>
            </a:r>
            <a:endParaRPr lang="en-GB" sz="2000" dirty="0"/>
          </a:p>
        </p:txBody>
      </p:sp>
      <p:sp>
        <p:nvSpPr>
          <p:cNvPr id="13" name="Rounded Rectangle 12"/>
          <p:cNvSpPr/>
          <p:nvPr/>
        </p:nvSpPr>
        <p:spPr>
          <a:xfrm>
            <a:off x="1752600" y="1447800"/>
            <a:ext cx="5943600" cy="685800"/>
          </a:xfrm>
          <a:prstGeom prst="roundRect">
            <a:avLst/>
          </a:prstGeom>
          <a:solidFill>
            <a:srgbClr val="008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cs typeface="Arial" charset="0"/>
              </a:rPr>
              <a:t>Quote (use their exact words)</a:t>
            </a:r>
            <a:endParaRPr lang="en-GB" sz="2000" dirty="0"/>
          </a:p>
        </p:txBody>
      </p:sp>
      <p:sp>
        <p:nvSpPr>
          <p:cNvPr id="14" name="Rounded Rectangle 13"/>
          <p:cNvSpPr/>
          <p:nvPr/>
        </p:nvSpPr>
        <p:spPr>
          <a:xfrm>
            <a:off x="1755775" y="3733800"/>
            <a:ext cx="5943600" cy="685800"/>
          </a:xfrm>
          <a:prstGeom prst="roundRect">
            <a:avLst/>
          </a:prstGeom>
          <a:solidFill>
            <a:srgbClr val="405BC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cs typeface="Arial" charset="0"/>
              </a:rPr>
              <a:t>Paraphrase (use their ideas in your own words) </a:t>
            </a:r>
            <a:endParaRPr lang="en-GB" sz="2000" dirty="0"/>
          </a:p>
        </p:txBody>
      </p:sp>
      <p:sp>
        <p:nvSpPr>
          <p:cNvPr id="20490"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5" name="Rectangle 7">
            <a:extLst>
              <a:ext uri="{FF2B5EF4-FFF2-40B4-BE49-F238E27FC236}">
                <a16:creationId xmlns:a16="http://schemas.microsoft.com/office/drawing/2014/main" id="{FA4AF10D-6940-4491-8B34-EB3E6C39DB96}"/>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a:t>Referencing Your Sources</a:t>
            </a:r>
            <a:endParaRPr lang="en-GB" altLang="en-US"/>
          </a:p>
        </p:txBody>
      </p:sp>
      <p:sp>
        <p:nvSpPr>
          <p:cNvPr id="3" name="Content Placeholder 2"/>
          <p:cNvSpPr>
            <a:spLocks noGrp="1"/>
          </p:cNvSpPr>
          <p:nvPr>
            <p:ph idx="1"/>
          </p:nvPr>
        </p:nvSpPr>
        <p:spPr>
          <a:xfrm>
            <a:off x="457200" y="838200"/>
            <a:ext cx="4114800" cy="5486400"/>
          </a:xfrm>
        </p:spPr>
        <p:txBody>
          <a:bodyPr/>
          <a:lstStyle/>
          <a:p>
            <a:pPr marL="457200" indent="-457200">
              <a:buFont typeface="Arial" charset="0"/>
              <a:buNone/>
              <a:defRPr/>
            </a:pPr>
            <a:r>
              <a:rPr lang="en-GB" sz="1800" dirty="0"/>
              <a:t>Citing sources </a:t>
            </a:r>
            <a:r>
              <a:rPr lang="en-GB" sz="1800" b="1" dirty="0"/>
              <a:t>within the text</a:t>
            </a:r>
            <a:r>
              <a:rPr lang="en-GB" sz="1800" dirty="0"/>
              <a:t>:</a:t>
            </a:r>
          </a:p>
          <a:p>
            <a:pPr marL="457200" indent="-457200">
              <a:buFont typeface="Arial" charset="0"/>
              <a:buAutoNum type="arabicPeriod"/>
              <a:defRPr/>
            </a:pPr>
            <a:endParaRPr lang="en-GB" sz="1800" dirty="0"/>
          </a:p>
          <a:p>
            <a:pPr marL="457200" indent="-457200">
              <a:buFont typeface="Arial" charset="0"/>
              <a:buNone/>
              <a:defRPr/>
            </a:pPr>
            <a:r>
              <a:rPr lang="en-GB" b="1" i="1" dirty="0">
                <a:solidFill>
                  <a:srgbClr val="700000"/>
                </a:solidFill>
                <a:latin typeface="Book Antiqua" pitchFamily="18" charset="0"/>
                <a:cs typeface="Arial" charset="0"/>
              </a:rPr>
              <a:t>Example 1: </a:t>
            </a:r>
          </a:p>
          <a:p>
            <a:pPr marL="457200" indent="-457200">
              <a:buFont typeface="Arial" charset="0"/>
              <a:buNone/>
              <a:defRPr/>
            </a:pPr>
            <a:r>
              <a:rPr lang="en-GB" sz="1800" i="1" dirty="0"/>
              <a:t>	</a:t>
            </a:r>
            <a:r>
              <a:rPr lang="en-GB" sz="1800" dirty="0"/>
              <a:t>You read in a book written by P Sheldrake that dogs were the first animals to be domesticated, and you use this information in your essay or report.  </a:t>
            </a:r>
          </a:p>
          <a:p>
            <a:pPr marL="457200" indent="-457200">
              <a:buFont typeface="Arial" charset="0"/>
              <a:buNone/>
              <a:defRPr/>
            </a:pPr>
            <a:r>
              <a:rPr lang="en-GB" sz="1800" dirty="0"/>
              <a:t>	This is how you would give a reference (cite) to the original information within the text .</a:t>
            </a:r>
          </a:p>
          <a:p>
            <a:pPr marL="457200" indent="-457200">
              <a:buFont typeface="Arial" charset="0"/>
              <a:buNone/>
              <a:defRPr/>
            </a:pPr>
            <a:endParaRPr sz="1800" dirty="0"/>
          </a:p>
          <a:p>
            <a:pPr marL="457200" indent="-457200">
              <a:buFont typeface="Arial" charset="0"/>
              <a:buNone/>
              <a:defRPr/>
            </a:pPr>
            <a:r>
              <a:rPr sz="1800" dirty="0"/>
              <a:t>	</a:t>
            </a:r>
            <a:r>
              <a:rPr lang="en-GB" sz="1800" dirty="0"/>
              <a:t> </a:t>
            </a:r>
            <a:endParaRPr sz="1800" dirty="0"/>
          </a:p>
          <a:p>
            <a:pPr marL="457200" indent="-457200">
              <a:buFont typeface="Arial" charset="0"/>
              <a:buNone/>
              <a:defRPr/>
            </a:pPr>
            <a:endParaRPr sz="1800" dirty="0"/>
          </a:p>
          <a:p>
            <a:pPr marL="236538" indent="-236538">
              <a:spcAft>
                <a:spcPts val="0"/>
              </a:spcAft>
              <a:buClr>
                <a:srgbClr val="008000"/>
              </a:buClr>
              <a:buFont typeface="Wingdings" pitchFamily="2" charset="2"/>
              <a:buChar char="v"/>
              <a:defRPr/>
            </a:pPr>
            <a:r>
              <a:rPr sz="1800" b="1" i="1" dirty="0">
                <a:solidFill>
                  <a:srgbClr val="008000"/>
                </a:solidFill>
                <a:latin typeface="+mn-lt"/>
                <a:cs typeface="+mn-cs"/>
              </a:rPr>
              <a:t>This is the information you </a:t>
            </a:r>
          </a:p>
          <a:p>
            <a:pPr marL="173038" indent="-173038">
              <a:spcBef>
                <a:spcPts val="0"/>
              </a:spcBef>
              <a:buClr>
                <a:srgbClr val="008000"/>
              </a:buClr>
              <a:buFont typeface="Arial" charset="0"/>
              <a:buNone/>
              <a:defRPr/>
            </a:pPr>
            <a:r>
              <a:rPr sz="1800" b="1" i="1" dirty="0">
                <a:solidFill>
                  <a:srgbClr val="008000"/>
                </a:solidFill>
                <a:latin typeface="+mn-lt"/>
                <a:cs typeface="+mn-cs"/>
              </a:rPr>
              <a:t>	   read in P Sheldrake's book.</a:t>
            </a:r>
            <a:endParaRPr lang="en-GB" sz="1800" b="1" i="1" dirty="0">
              <a:solidFill>
                <a:srgbClr val="008000"/>
              </a:solidFill>
              <a:latin typeface="+mn-lt"/>
              <a:cs typeface="+mn-cs"/>
            </a:endParaRPr>
          </a:p>
        </p:txBody>
      </p:sp>
      <p:sp>
        <p:nvSpPr>
          <p:cNvPr id="24580"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E8B3DF88-48AD-427C-BC2B-AD410A16BE9A}"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8</a:t>
            </a:fld>
            <a:endParaRPr lang="en-GB" altLang="en-US" sz="1200">
              <a:solidFill>
                <a:srgbClr val="014B89"/>
              </a:solidFill>
              <a:latin typeface="Gill Sans MT" panose="020B0502020104020203" pitchFamily="34" charset="0"/>
            </a:endParaRPr>
          </a:p>
        </p:txBody>
      </p:sp>
      <p:sp>
        <p:nvSpPr>
          <p:cNvPr id="9" name="Vertical Scroll 8"/>
          <p:cNvSpPr/>
          <p:nvPr/>
        </p:nvSpPr>
        <p:spPr>
          <a:xfrm>
            <a:off x="4267200" y="914400"/>
            <a:ext cx="4876800" cy="5181600"/>
          </a:xfrm>
          <a:prstGeom prst="verticalScroll">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indent="-457200" eaLnBrk="1" hangingPunct="1">
              <a:buFont typeface="Arial" charset="0"/>
              <a:buNone/>
              <a:defRPr/>
            </a:pPr>
            <a:r>
              <a:rPr lang="en-US" sz="1600" dirty="0"/>
              <a:t>	</a:t>
            </a:r>
            <a:r>
              <a:rPr lang="en-US" dirty="0">
                <a:solidFill>
                  <a:schemeClr val="tx1"/>
                </a:solidFill>
              </a:rPr>
              <a:t>Many anthropologists and archaeologists believe that </a:t>
            </a:r>
            <a:r>
              <a:rPr lang="en-US" b="1" i="1" dirty="0">
                <a:solidFill>
                  <a:srgbClr val="008000"/>
                </a:solidFill>
              </a:rPr>
              <a:t>dogs were the first animals to be domesticated for something other than a food source.*</a:t>
            </a:r>
            <a:r>
              <a:rPr lang="en-US" b="1" dirty="0">
                <a:solidFill>
                  <a:srgbClr val="008000"/>
                </a:solidFill>
              </a:rPr>
              <a:t> </a:t>
            </a:r>
            <a:r>
              <a:rPr lang="en-US" b="1" dirty="0">
                <a:solidFill>
                  <a:srgbClr val="0409E4"/>
                </a:solidFill>
              </a:rPr>
              <a:t>(  Citation  ) </a:t>
            </a:r>
            <a:r>
              <a:rPr lang="en-US" dirty="0">
                <a:solidFill>
                  <a:schemeClr val="tx1"/>
                </a:solidFill>
              </a:rPr>
              <a:t>Their wild ancestors were probably wolves rather than jackals.  The earliest evidence for domesticated dogs dates to around 11,000 BC, but it is possible that wolves were tamed and trained at an earlier date to help in hunting.</a:t>
            </a:r>
            <a:endParaRPr lang="en-US" i="1" dirty="0">
              <a:solidFill>
                <a:schemeClr val="tx1"/>
              </a:solidFill>
            </a:endParaRPr>
          </a:p>
        </p:txBody>
      </p:sp>
      <p:sp>
        <p:nvSpPr>
          <p:cNvPr id="10" name="Right Arrow 9"/>
          <p:cNvSpPr/>
          <p:nvPr/>
        </p:nvSpPr>
        <p:spPr>
          <a:xfrm>
            <a:off x="3657600" y="4267200"/>
            <a:ext cx="1066800" cy="381000"/>
          </a:xfrm>
          <a:prstGeom prst="rightArrow">
            <a:avLst/>
          </a:prstGeom>
          <a:solidFill>
            <a:srgbClr val="7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pic>
        <p:nvPicPr>
          <p:cNvPr id="24583" name="Picture 2" descr="D:\My Pictures\plagiarism.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2" name="Vertical Scroll 11"/>
          <p:cNvSpPr/>
          <p:nvPr/>
        </p:nvSpPr>
        <p:spPr>
          <a:xfrm>
            <a:off x="4404360" y="866775"/>
            <a:ext cx="4876800" cy="5181600"/>
          </a:xfrm>
          <a:prstGeom prst="verticalScroll">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indent="-457200" eaLnBrk="1" hangingPunct="1">
              <a:buFont typeface="Arial" charset="0"/>
              <a:buNone/>
              <a:defRPr/>
            </a:pPr>
            <a:r>
              <a:rPr lang="en-US" sz="1600" dirty="0"/>
              <a:t>	</a:t>
            </a:r>
            <a:r>
              <a:rPr lang="en-US" dirty="0">
                <a:solidFill>
                  <a:schemeClr val="tx1"/>
                </a:solidFill>
              </a:rPr>
              <a:t>Many anthropologists and archaeologists believe that </a:t>
            </a:r>
            <a:r>
              <a:rPr lang="en-US" b="1" i="1" dirty="0">
                <a:solidFill>
                  <a:srgbClr val="008000"/>
                </a:solidFill>
              </a:rPr>
              <a:t>dogs were the first animals to be domesticated for something other than a food source.*</a:t>
            </a:r>
            <a:r>
              <a:rPr lang="en-US" b="1" dirty="0">
                <a:solidFill>
                  <a:srgbClr val="008000"/>
                </a:solidFill>
              </a:rPr>
              <a:t> </a:t>
            </a:r>
            <a:r>
              <a:rPr lang="en-US" b="1" dirty="0">
                <a:solidFill>
                  <a:srgbClr val="0409E4"/>
                </a:solidFill>
              </a:rPr>
              <a:t>(Sheldrake, 2006) </a:t>
            </a:r>
            <a:r>
              <a:rPr lang="en-US" dirty="0">
                <a:solidFill>
                  <a:schemeClr val="tx1"/>
                </a:solidFill>
              </a:rPr>
              <a:t>Their wild ancestors were probably wolves rather than jackals.  The earliest evidence for domesticated dogs dates to around 11,000 BC, but it is possible that wolves were tamed and trained at an earlier date to help in hunting.</a:t>
            </a:r>
            <a:endParaRPr lang="en-US" i="1" dirty="0">
              <a:solidFill>
                <a:schemeClr val="tx1"/>
              </a:solidFill>
            </a:endParaRPr>
          </a:p>
        </p:txBody>
      </p:sp>
      <p:sp>
        <p:nvSpPr>
          <p:cNvPr id="11" name="Rectangle 7">
            <a:extLst>
              <a:ext uri="{FF2B5EF4-FFF2-40B4-BE49-F238E27FC236}">
                <a16:creationId xmlns:a16="http://schemas.microsoft.com/office/drawing/2014/main" id="{6A6FF183-F630-4457-95F6-567BD12754B7}"/>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a:t>Referencing Your Sources</a:t>
            </a:r>
            <a:endParaRPr lang="en-GB" altLang="en-US"/>
          </a:p>
        </p:txBody>
      </p:sp>
      <p:sp>
        <p:nvSpPr>
          <p:cNvPr id="3" name="Content Placeholder 2"/>
          <p:cNvSpPr>
            <a:spLocks noGrp="1"/>
          </p:cNvSpPr>
          <p:nvPr>
            <p:ph idx="1"/>
          </p:nvPr>
        </p:nvSpPr>
        <p:spPr>
          <a:xfrm>
            <a:off x="457200" y="838200"/>
            <a:ext cx="4572000" cy="5638800"/>
          </a:xfrm>
        </p:spPr>
        <p:txBody>
          <a:bodyPr/>
          <a:lstStyle/>
          <a:p>
            <a:pPr marL="457200" indent="-457200">
              <a:buFont typeface="Arial" charset="0"/>
              <a:buNone/>
              <a:defRPr/>
            </a:pPr>
            <a:r>
              <a:rPr lang="en-GB" b="1" i="1">
                <a:solidFill>
                  <a:srgbClr val="700000"/>
                </a:solidFill>
                <a:latin typeface="Book Antiqua" pitchFamily="18" charset="0"/>
                <a:cs typeface="Arial" charset="0"/>
              </a:rPr>
              <a:t>Example 2: </a:t>
            </a:r>
          </a:p>
          <a:p>
            <a:pPr>
              <a:buFont typeface="Arial" charset="0"/>
              <a:buNone/>
              <a:defRPr/>
            </a:pPr>
            <a:r>
              <a:rPr sz="1800">
                <a:latin typeface="Arial" charset="0"/>
                <a:cs typeface="Arial" charset="0"/>
              </a:rPr>
              <a:t>	If you use some text from Sheldrake's book without changing any words, you must use quotation marks ('</a:t>
            </a:r>
            <a:r>
              <a:rPr lang="en-GB" sz="1800">
                <a:latin typeface="Arial" charset="0"/>
                <a:cs typeface="Arial" charset="0"/>
              </a:rPr>
              <a:t>…’</a:t>
            </a:r>
            <a:r>
              <a:rPr sz="1800">
                <a:latin typeface="Arial" charset="0"/>
                <a:cs typeface="Arial" charset="0"/>
              </a:rPr>
              <a:t>) and must insert the author's name, date of publication and the page number of the quotation.</a:t>
            </a:r>
          </a:p>
          <a:p>
            <a:pPr>
              <a:spcAft>
                <a:spcPts val="0"/>
              </a:spcAft>
              <a:buFont typeface="Arial" charset="0"/>
              <a:buNone/>
              <a:defRPr/>
            </a:pPr>
            <a:endParaRPr sz="1800">
              <a:latin typeface="Arial" charset="0"/>
              <a:cs typeface="Arial" charset="0"/>
            </a:endParaRPr>
          </a:p>
          <a:p>
            <a:pPr>
              <a:spcBef>
                <a:spcPts val="0"/>
              </a:spcBef>
              <a:buClr>
                <a:srgbClr val="008000"/>
              </a:buClr>
              <a:buFont typeface="Wingdings" pitchFamily="2" charset="2"/>
              <a:buChar char="v"/>
              <a:defRPr/>
            </a:pPr>
            <a:r>
              <a:rPr sz="1800" b="1">
                <a:solidFill>
                  <a:srgbClr val="008000"/>
                </a:solidFill>
                <a:latin typeface="Arial" charset="0"/>
                <a:cs typeface="Arial" charset="0"/>
              </a:rPr>
              <a:t>These are the exact words that you have used from Sheldrake's book </a:t>
            </a:r>
            <a:r>
              <a:rPr lang="en-GB" sz="1800" b="1">
                <a:solidFill>
                  <a:srgbClr val="008000"/>
                </a:solidFill>
                <a:latin typeface="Arial" charset="0"/>
                <a:cs typeface="Arial" charset="0"/>
              </a:rPr>
              <a:t>–</a:t>
            </a:r>
            <a:r>
              <a:rPr sz="1800" b="1">
                <a:solidFill>
                  <a:srgbClr val="008000"/>
                </a:solidFill>
                <a:latin typeface="Arial" charset="0"/>
                <a:cs typeface="Arial" charset="0"/>
              </a:rPr>
              <a:t> a direct quote.</a:t>
            </a:r>
          </a:p>
          <a:p>
            <a:pPr>
              <a:buClr>
                <a:srgbClr val="008000"/>
              </a:buClr>
              <a:buFont typeface="Wingdings" pitchFamily="2" charset="2"/>
              <a:buChar char="v"/>
              <a:defRPr/>
            </a:pPr>
            <a:endParaRPr sz="1800">
              <a:solidFill>
                <a:srgbClr val="008000"/>
              </a:solidFill>
              <a:latin typeface="Arial" charset="0"/>
              <a:cs typeface="Arial" charset="0"/>
            </a:endParaRPr>
          </a:p>
          <a:p>
            <a:pPr>
              <a:buFont typeface="Arial" charset="0"/>
              <a:buNone/>
              <a:defRPr/>
            </a:pPr>
            <a:r>
              <a:rPr sz="1800">
                <a:latin typeface="Arial" charset="0"/>
                <a:cs typeface="Arial" charset="0"/>
              </a:rPr>
              <a:t> </a:t>
            </a:r>
          </a:p>
          <a:p>
            <a:pPr>
              <a:defRPr/>
            </a:pPr>
            <a:endParaRPr sz="1800">
              <a:latin typeface="Arial" charset="0"/>
              <a:cs typeface="Arial" charset="0"/>
            </a:endParaRPr>
          </a:p>
          <a:p>
            <a:pPr>
              <a:defRPr/>
            </a:pPr>
            <a:endParaRPr lang="en-GB" sz="1800">
              <a:latin typeface="Arial" charset="0"/>
              <a:cs typeface="Arial" charset="0"/>
            </a:endParaRPr>
          </a:p>
        </p:txBody>
      </p:sp>
      <p:sp>
        <p:nvSpPr>
          <p:cNvPr id="26628"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4637315D-88A6-45EC-B406-73E70578BEC3}"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9</a:t>
            </a:fld>
            <a:endParaRPr lang="en-GB" altLang="en-US" sz="1200">
              <a:solidFill>
                <a:srgbClr val="014B89"/>
              </a:solidFill>
              <a:latin typeface="Gill Sans MT" panose="020B0502020104020203" pitchFamily="34" charset="0"/>
            </a:endParaRPr>
          </a:p>
        </p:txBody>
      </p:sp>
      <p:sp>
        <p:nvSpPr>
          <p:cNvPr id="8" name="Vertical Scroll 7"/>
          <p:cNvSpPr/>
          <p:nvPr/>
        </p:nvSpPr>
        <p:spPr>
          <a:xfrm>
            <a:off x="4572000" y="1066800"/>
            <a:ext cx="4572000" cy="5029200"/>
          </a:xfrm>
          <a:prstGeom prst="verticalScroll">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182880" rIns="182880" anchor="ctr"/>
          <a:lstStyle/>
          <a:p>
            <a:pPr eaLnBrk="1" hangingPunct="1">
              <a:defRPr/>
            </a:pPr>
            <a:r>
              <a:rPr lang="en-US" b="1" dirty="0">
                <a:solidFill>
                  <a:srgbClr val="008000"/>
                </a:solidFill>
              </a:rPr>
              <a:t>‘The domestication of dogs long predated the domestication of other animals.’ * </a:t>
            </a:r>
            <a:r>
              <a:rPr lang="en-US" dirty="0">
                <a:solidFill>
                  <a:srgbClr val="0000FF"/>
                </a:solidFill>
              </a:rPr>
              <a:t>(</a:t>
            </a:r>
            <a:r>
              <a:rPr lang="en-US" b="1" dirty="0">
                <a:solidFill>
                  <a:srgbClr val="0000FF"/>
                </a:solidFill>
              </a:rPr>
              <a:t>Sheldrake, 2006: p.5</a:t>
            </a:r>
            <a:r>
              <a:rPr lang="en-US" dirty="0">
                <a:solidFill>
                  <a:srgbClr val="0000FF"/>
                </a:solidFill>
              </a:rPr>
              <a:t>).</a:t>
            </a:r>
            <a:r>
              <a:rPr lang="en-US" dirty="0"/>
              <a:t> </a:t>
            </a:r>
            <a:r>
              <a:rPr lang="en-US" dirty="0">
                <a:solidFill>
                  <a:schemeClr val="tx1"/>
                </a:solidFill>
              </a:rPr>
              <a:t>Their wild ancestors were probably wolves rather than jackals.  The earliest evidence for domesticated dogs dates to around 11,000 BC, but it is possible that wolves were tamed and trained at an earlier date to help in hunting.</a:t>
            </a:r>
          </a:p>
        </p:txBody>
      </p:sp>
      <p:sp>
        <p:nvSpPr>
          <p:cNvPr id="11" name="Right Arrow 10"/>
          <p:cNvSpPr/>
          <p:nvPr/>
        </p:nvSpPr>
        <p:spPr>
          <a:xfrm>
            <a:off x="3962400" y="2667000"/>
            <a:ext cx="1066800" cy="381000"/>
          </a:xfrm>
          <a:prstGeom prst="rightArrow">
            <a:avLst/>
          </a:prstGeom>
          <a:solidFill>
            <a:srgbClr val="7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 name="TextBox 9"/>
          <p:cNvSpPr txBox="1"/>
          <p:nvPr/>
        </p:nvSpPr>
        <p:spPr>
          <a:xfrm>
            <a:off x="685800" y="4267200"/>
            <a:ext cx="3810000" cy="2248853"/>
          </a:xfrm>
          <a:prstGeom prst="rect">
            <a:avLst/>
          </a:prstGeom>
          <a:solidFill>
            <a:srgbClr val="91ACE3">
              <a:alpha val="20000"/>
            </a:srgbClr>
          </a:solidFill>
          <a:ln cap="rnd">
            <a:solidFill>
              <a:schemeClr val="accent1"/>
            </a:solidFill>
          </a:ln>
          <a:scene3d>
            <a:camera prst="orthographicFront"/>
            <a:lightRig rig="harsh" dir="t"/>
          </a:scene3d>
          <a:sp3d prstMaterial="metal">
            <a:bevelT w="165100" prst="coolSlant"/>
          </a:sp3d>
        </p:spPr>
        <p:txBody>
          <a:bodyPr lIns="182880" tIns="108000" rIns="182880" bIns="108000">
            <a:spAutoFit/>
          </a:bodyPr>
          <a:lstStyle/>
          <a:p>
            <a:pPr eaLnBrk="1" hangingPunct="1">
              <a:lnSpc>
                <a:spcPct val="120000"/>
              </a:lnSpc>
              <a:defRPr/>
            </a:pPr>
            <a:r>
              <a:rPr lang="en-US" i="1" dirty="0">
                <a:latin typeface="Cambria" pitchFamily="18" charset="0"/>
              </a:rPr>
              <a:t>The full details of the book (author, title publisher, place of publication, year of publication, etc) must be given in the list of references or bibliography at the end of your report or essay.</a:t>
            </a:r>
          </a:p>
        </p:txBody>
      </p:sp>
      <p:pic>
        <p:nvPicPr>
          <p:cNvPr id="26634" name="Picture 2" descr="D:\My Pictures\plagiarism.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5"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2" name="Rectangle 7">
            <a:extLst>
              <a:ext uri="{FF2B5EF4-FFF2-40B4-BE49-F238E27FC236}">
                <a16:creationId xmlns:a16="http://schemas.microsoft.com/office/drawing/2014/main" id="{B4D796E7-BD91-4B66-A117-080791883C21}"/>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a:t>Referencing Your Sources - References</a:t>
            </a:r>
            <a:endParaRPr lang="en-GB" altLang="en-US" dirty="0"/>
          </a:p>
        </p:txBody>
      </p:sp>
      <p:sp>
        <p:nvSpPr>
          <p:cNvPr id="28675" name="Content Placeholder 2"/>
          <p:cNvSpPr>
            <a:spLocks noGrp="1"/>
          </p:cNvSpPr>
          <p:nvPr>
            <p:ph idx="1"/>
          </p:nvPr>
        </p:nvSpPr>
        <p:spPr>
          <a:ln/>
        </p:spPr>
        <p:txBody>
          <a:bodyPr/>
          <a:lstStyle/>
          <a:p>
            <a:pPr>
              <a:buFont typeface="Arial" panose="020B0604020202020204" pitchFamily="34" charset="0"/>
              <a:buChar char="●"/>
            </a:pPr>
            <a:r>
              <a:rPr altLang="en-US" sz="1800" dirty="0"/>
              <a:t>The </a:t>
            </a:r>
            <a:r>
              <a:rPr altLang="en-US" sz="1800" dirty="0">
                <a:solidFill>
                  <a:srgbClr val="0000FF"/>
                </a:solidFill>
              </a:rPr>
              <a:t>List of References </a:t>
            </a:r>
            <a:r>
              <a:rPr altLang="en-US" sz="1800" dirty="0"/>
              <a:t>at the end of your essay or report must contain the complete details of books, journals, reports, websites, etc. from which you took information for your written document.</a:t>
            </a:r>
          </a:p>
          <a:p>
            <a:pPr>
              <a:spcBef>
                <a:spcPts val="600"/>
              </a:spcBef>
              <a:spcAft>
                <a:spcPts val="600"/>
              </a:spcAft>
              <a:buFont typeface="Arial" panose="020B0604020202020204" pitchFamily="34" charset="0"/>
              <a:buNone/>
            </a:pPr>
            <a:endParaRPr altLang="en-US" sz="1800" dirty="0"/>
          </a:p>
          <a:p>
            <a:pPr>
              <a:buFont typeface="Arial" panose="020B0604020202020204" pitchFamily="34" charset="0"/>
              <a:buChar char="●"/>
            </a:pPr>
            <a:r>
              <a:rPr altLang="en-US" sz="1800" dirty="0"/>
              <a:t>This list is arranged in alphabetical order.</a:t>
            </a:r>
          </a:p>
          <a:p>
            <a:pPr>
              <a:buFont typeface="Arial" panose="020B0604020202020204" pitchFamily="34" charset="0"/>
              <a:buNone/>
            </a:pPr>
            <a:endParaRPr altLang="en-US" sz="1800" dirty="0"/>
          </a:p>
          <a:p>
            <a:pPr>
              <a:buFont typeface="Arial" panose="020B0604020202020204" pitchFamily="34" charset="0"/>
              <a:buNone/>
            </a:pPr>
            <a:r>
              <a:rPr lang="en-GB" altLang="en-US" b="1" i="1" dirty="0">
                <a:solidFill>
                  <a:srgbClr val="700000"/>
                </a:solidFill>
                <a:latin typeface="Book Antiqua" panose="02040602050305030304" pitchFamily="18" charset="0"/>
              </a:rPr>
              <a:t>Example</a:t>
            </a:r>
            <a:r>
              <a:rPr altLang="en-US" sz="1800" i="1" dirty="0"/>
              <a:t>:</a:t>
            </a:r>
          </a:p>
          <a:p>
            <a:pPr marL="342900" lvl="1" indent="-342900">
              <a:buClr>
                <a:srgbClr val="700000"/>
              </a:buClr>
              <a:buFont typeface="Arial" panose="020B0604020202020204" pitchFamily="34" charset="0"/>
              <a:buNone/>
            </a:pPr>
            <a:r>
              <a:rPr altLang="en-US" i="1" dirty="0"/>
              <a:t>	</a:t>
            </a:r>
          </a:p>
          <a:p>
            <a:pPr marL="342900" lvl="1" indent="-342900">
              <a:buClr>
                <a:srgbClr val="700000"/>
              </a:buClr>
              <a:buFont typeface="Arial" panose="020B0604020202020204" pitchFamily="34" charset="0"/>
              <a:buNone/>
            </a:pPr>
            <a:endParaRPr altLang="en-US" i="1" dirty="0"/>
          </a:p>
          <a:p>
            <a:pPr marL="342900" lvl="1" indent="-342900">
              <a:buClr>
                <a:srgbClr val="700000"/>
              </a:buClr>
              <a:buFont typeface="Arial" panose="020B0604020202020204" pitchFamily="34" charset="0"/>
              <a:buNone/>
            </a:pPr>
            <a:endParaRPr altLang="en-US" i="1" dirty="0"/>
          </a:p>
          <a:p>
            <a:pPr marL="342900" lvl="1" indent="-342900">
              <a:buClr>
                <a:srgbClr val="700000"/>
              </a:buClr>
              <a:buFont typeface="Arial" panose="020B0604020202020204" pitchFamily="34" charset="0"/>
              <a:buNone/>
            </a:pPr>
            <a:endParaRPr lang="en-GB" altLang="en-US" dirty="0"/>
          </a:p>
          <a:p>
            <a:pPr>
              <a:buFont typeface="Arial" panose="020B0604020202020204" pitchFamily="34" charset="0"/>
              <a:buNone/>
            </a:pPr>
            <a:endParaRPr altLang="en-US" sz="1800" dirty="0"/>
          </a:p>
          <a:p>
            <a:pPr>
              <a:buFont typeface="Arial" panose="020B0604020202020204" pitchFamily="34" charset="0"/>
              <a:buNone/>
            </a:pPr>
            <a:endParaRPr altLang="en-US" dirty="0"/>
          </a:p>
          <a:p>
            <a:pPr>
              <a:buFont typeface="Arial" panose="020B0604020202020204" pitchFamily="34" charset="0"/>
              <a:buChar char="●"/>
            </a:pPr>
            <a:endParaRPr lang="en-GB" altLang="en-US" dirty="0"/>
          </a:p>
        </p:txBody>
      </p:sp>
      <p:sp>
        <p:nvSpPr>
          <p:cNvPr id="28676"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B4F505EE-08BC-4001-8A48-798833FB9475}"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10</a:t>
            </a:fld>
            <a:endParaRPr lang="en-GB" altLang="en-US" sz="1200">
              <a:solidFill>
                <a:srgbClr val="014B89"/>
              </a:solidFill>
              <a:latin typeface="Gill Sans MT" panose="020B0502020104020203" pitchFamily="34" charset="0"/>
            </a:endParaRPr>
          </a:p>
        </p:txBody>
      </p:sp>
      <p:sp>
        <p:nvSpPr>
          <p:cNvPr id="9" name="Folded Corner 8"/>
          <p:cNvSpPr/>
          <p:nvPr/>
        </p:nvSpPr>
        <p:spPr>
          <a:xfrm>
            <a:off x="685800" y="3505200"/>
            <a:ext cx="8153400" cy="2514600"/>
          </a:xfrm>
          <a:prstGeom prst="foldedCorner">
            <a:avLst/>
          </a:prstGeom>
          <a:solidFill>
            <a:srgbClr val="9966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tIns="274320" bIns="0" anchor="ctr"/>
          <a:lstStyle/>
          <a:p>
            <a:pPr marL="271463" indent="-271463" eaLnBrk="1" hangingPunct="1">
              <a:defRPr/>
            </a:pPr>
            <a:r>
              <a:rPr lang="en-US" dirty="0">
                <a:solidFill>
                  <a:schemeClr val="tx1"/>
                </a:solidFill>
                <a:cs typeface="Arial" charset="0"/>
              </a:rPr>
              <a:t>Anderson, J. and Poole, M., (1998). </a:t>
            </a:r>
            <a:r>
              <a:rPr lang="en-US" i="1" dirty="0">
                <a:solidFill>
                  <a:schemeClr val="tx1"/>
                </a:solidFill>
                <a:cs typeface="Arial" charset="0"/>
              </a:rPr>
              <a:t>Assignment and thesis writing.</a:t>
            </a:r>
            <a:r>
              <a:rPr lang="en-US" dirty="0">
                <a:solidFill>
                  <a:schemeClr val="tx1"/>
                </a:solidFill>
                <a:cs typeface="Arial" charset="0"/>
              </a:rPr>
              <a:t> 3</a:t>
            </a:r>
            <a:r>
              <a:rPr lang="en-US" baseline="30000" dirty="0">
                <a:solidFill>
                  <a:schemeClr val="tx1"/>
                </a:solidFill>
                <a:cs typeface="Arial" charset="0"/>
              </a:rPr>
              <a:t>rd</a:t>
            </a:r>
            <a:r>
              <a:rPr lang="en-US" dirty="0">
                <a:solidFill>
                  <a:schemeClr val="tx1"/>
                </a:solidFill>
                <a:cs typeface="Arial" charset="0"/>
              </a:rPr>
              <a:t> ed. </a:t>
            </a:r>
            <a:r>
              <a:rPr lang="en-US" dirty="0" err="1">
                <a:solidFill>
                  <a:schemeClr val="tx1"/>
                </a:solidFill>
                <a:cs typeface="Arial" charset="0"/>
              </a:rPr>
              <a:t>Chichester</a:t>
            </a:r>
            <a:r>
              <a:rPr lang="en-US" dirty="0">
                <a:solidFill>
                  <a:schemeClr val="tx1"/>
                </a:solidFill>
                <a:cs typeface="Arial" charset="0"/>
              </a:rPr>
              <a:t>: John Wiley &amp; Sons.</a:t>
            </a:r>
            <a:endParaRPr lang="en-GB" dirty="0">
              <a:solidFill>
                <a:schemeClr val="tx1"/>
              </a:solidFill>
            </a:endParaRPr>
          </a:p>
          <a:p>
            <a:pPr marL="271463" indent="-271463" eaLnBrk="1" hangingPunct="1">
              <a:defRPr/>
            </a:pPr>
            <a:endParaRPr lang="en-US" dirty="0">
              <a:solidFill>
                <a:schemeClr val="tx1"/>
              </a:solidFill>
              <a:cs typeface="Arial" charset="0"/>
            </a:endParaRPr>
          </a:p>
          <a:p>
            <a:pPr marL="271463" indent="-271463" eaLnBrk="1" hangingPunct="1">
              <a:defRPr/>
            </a:pPr>
            <a:r>
              <a:rPr lang="en-GB" dirty="0">
                <a:solidFill>
                  <a:schemeClr val="tx1"/>
                </a:solidFill>
                <a:cs typeface="Arial" charset="0"/>
              </a:rPr>
              <a:t>Mindtools, (2022). </a:t>
            </a:r>
            <a:r>
              <a:rPr lang="en-GB" i="1" dirty="0">
                <a:solidFill>
                  <a:schemeClr val="tx1"/>
                </a:solidFill>
                <a:cs typeface="Arial" charset="0"/>
              </a:rPr>
              <a:t>The presentation planning checklist</a:t>
            </a:r>
            <a:r>
              <a:rPr lang="en-GB" dirty="0">
                <a:solidFill>
                  <a:schemeClr val="tx1"/>
                </a:solidFill>
                <a:cs typeface="Arial" charset="0"/>
              </a:rPr>
              <a:t>. [Online]. Available from: </a:t>
            </a:r>
            <a:r>
              <a:rPr lang="en-GB" dirty="0">
                <a:solidFill>
                  <a:schemeClr val="tx1"/>
                </a:solidFill>
                <a:cs typeface="Arial" charset="0"/>
                <a:hlinkClick r:id="rId3"/>
              </a:rPr>
              <a:t>http://www.mindtools.com/CommSkll/PresentationPlanningChecklist.htm</a:t>
            </a:r>
            <a:r>
              <a:rPr lang="en-GB" dirty="0">
                <a:solidFill>
                  <a:schemeClr val="tx1"/>
                </a:solidFill>
                <a:cs typeface="Arial" charset="0"/>
              </a:rPr>
              <a:t> [Accessed 8 March 2022].</a:t>
            </a:r>
          </a:p>
          <a:p>
            <a:pPr marL="271463" indent="-271463" eaLnBrk="1" hangingPunct="1">
              <a:defRPr/>
            </a:pPr>
            <a:endParaRPr lang="en-US" dirty="0">
              <a:solidFill>
                <a:schemeClr val="tx1"/>
              </a:solidFill>
              <a:cs typeface="Arial" charset="0"/>
            </a:endParaRPr>
          </a:p>
          <a:p>
            <a:pPr marL="271463" indent="-271463" eaLnBrk="1" hangingPunct="1">
              <a:spcAft>
                <a:spcPts val="0"/>
              </a:spcAft>
              <a:defRPr/>
            </a:pPr>
            <a:r>
              <a:rPr lang="en-US" dirty="0">
                <a:solidFill>
                  <a:schemeClr val="tx1"/>
                </a:solidFill>
              </a:rPr>
              <a:t>Sheldrake, P., (2006). </a:t>
            </a:r>
            <a:r>
              <a:rPr lang="en-US" i="1" dirty="0">
                <a:solidFill>
                  <a:schemeClr val="tx1"/>
                </a:solidFill>
              </a:rPr>
              <a:t>Domestic animals</a:t>
            </a:r>
            <a:r>
              <a:rPr lang="en-US" dirty="0">
                <a:solidFill>
                  <a:schemeClr val="tx1"/>
                </a:solidFill>
              </a:rPr>
              <a:t>. 3</a:t>
            </a:r>
            <a:r>
              <a:rPr lang="en-US" baseline="30000" dirty="0">
                <a:solidFill>
                  <a:schemeClr val="tx1"/>
                </a:solidFill>
              </a:rPr>
              <a:t>rd</a:t>
            </a:r>
            <a:r>
              <a:rPr lang="en-US" dirty="0">
                <a:solidFill>
                  <a:schemeClr val="tx1"/>
                </a:solidFill>
              </a:rPr>
              <a:t> ed. London: Sage Publishers. </a:t>
            </a:r>
          </a:p>
        </p:txBody>
      </p:sp>
      <p:pic>
        <p:nvPicPr>
          <p:cNvPr id="28678" name="Picture 2" descr="D:\My Pictures\plagiarism.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0" name="Rectangle 7">
            <a:extLst>
              <a:ext uri="{FF2B5EF4-FFF2-40B4-BE49-F238E27FC236}">
                <a16:creationId xmlns:a16="http://schemas.microsoft.com/office/drawing/2014/main" id="{6F567E8A-B318-4F22-A4F0-3D3E1E431FE6}"/>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a:t>Referencing Your Sources – Books</a:t>
            </a:r>
            <a:endParaRPr lang="en-GB" altLang="en-US"/>
          </a:p>
        </p:txBody>
      </p:sp>
      <p:sp>
        <p:nvSpPr>
          <p:cNvPr id="16387" name="Content Placeholder 2"/>
          <p:cNvSpPr>
            <a:spLocks noGrp="1"/>
          </p:cNvSpPr>
          <p:nvPr>
            <p:ph idx="1"/>
          </p:nvPr>
        </p:nvSpPr>
        <p:spPr/>
        <p:txBody>
          <a:bodyPr/>
          <a:lstStyle/>
          <a:p>
            <a:pPr>
              <a:defRPr/>
            </a:pPr>
            <a:r>
              <a:rPr sz="1800" dirty="0">
                <a:latin typeface="Arial" charset="0"/>
                <a:cs typeface="Arial" charset="0"/>
              </a:rPr>
              <a:t>Printed books should be referenced using the following format and punctuation (Harvard style of referencing).</a:t>
            </a:r>
          </a:p>
          <a:p>
            <a:pPr>
              <a:spcBef>
                <a:spcPts val="0"/>
              </a:spcBef>
              <a:spcAft>
                <a:spcPts val="0"/>
              </a:spcAft>
              <a:defRPr/>
            </a:pPr>
            <a:endParaRPr sz="1800" dirty="0">
              <a:latin typeface="Arial" charset="0"/>
              <a:cs typeface="Arial" charset="0"/>
            </a:endParaRPr>
          </a:p>
          <a:p>
            <a:pPr marL="690563">
              <a:buFont typeface="Wingdings" pitchFamily="2" charset="2"/>
              <a:buChar char="v"/>
              <a:defRPr/>
            </a:pPr>
            <a:r>
              <a:rPr sz="1800" dirty="0">
                <a:latin typeface="Arial" charset="0"/>
                <a:cs typeface="Arial" charset="0"/>
              </a:rPr>
              <a:t>Author/editor's surname and initials.,</a:t>
            </a:r>
          </a:p>
          <a:p>
            <a:pPr marL="690563">
              <a:buFont typeface="Wingdings" pitchFamily="2" charset="2"/>
              <a:buChar char="v"/>
              <a:defRPr/>
            </a:pPr>
            <a:r>
              <a:rPr sz="1800" dirty="0">
                <a:latin typeface="Arial" charset="0"/>
                <a:cs typeface="Arial" charset="0"/>
              </a:rPr>
              <a:t>(Year of publication).</a:t>
            </a:r>
          </a:p>
          <a:p>
            <a:pPr marL="690563">
              <a:buFont typeface="Wingdings" pitchFamily="2" charset="2"/>
              <a:buChar char="v"/>
              <a:defRPr/>
            </a:pPr>
            <a:r>
              <a:rPr sz="1800" dirty="0">
                <a:latin typeface="Arial" charset="0"/>
                <a:cs typeface="Arial" charset="0"/>
              </a:rPr>
              <a:t>Title of book: including subtitles. (in </a:t>
            </a:r>
            <a:r>
              <a:rPr sz="1800" i="1" dirty="0">
                <a:latin typeface="Arial" charset="0"/>
                <a:cs typeface="Arial" charset="0"/>
              </a:rPr>
              <a:t>italics</a:t>
            </a:r>
            <a:r>
              <a:rPr sz="1800" dirty="0">
                <a:latin typeface="Arial" charset="0"/>
                <a:cs typeface="Arial" charset="0"/>
              </a:rPr>
              <a:t> or underlined)</a:t>
            </a:r>
          </a:p>
          <a:p>
            <a:pPr marL="690563">
              <a:buFont typeface="Wingdings" pitchFamily="2" charset="2"/>
              <a:buChar char="v"/>
              <a:defRPr/>
            </a:pPr>
            <a:r>
              <a:rPr sz="1800" dirty="0">
                <a:latin typeface="Arial" charset="0"/>
                <a:cs typeface="Arial" charset="0"/>
              </a:rPr>
              <a:t>Edition. (if applicable)</a:t>
            </a:r>
          </a:p>
          <a:p>
            <a:pPr marL="690563">
              <a:buFont typeface="Wingdings" pitchFamily="2" charset="2"/>
              <a:buChar char="v"/>
              <a:defRPr/>
            </a:pPr>
            <a:r>
              <a:rPr sz="1800" dirty="0">
                <a:latin typeface="Arial" charset="0"/>
                <a:cs typeface="Arial" charset="0"/>
              </a:rPr>
              <a:t>Place of publication: (followed by a colon)</a:t>
            </a:r>
          </a:p>
          <a:p>
            <a:pPr marL="690563">
              <a:buFont typeface="Wingdings" pitchFamily="2" charset="2"/>
              <a:buChar char="v"/>
              <a:defRPr/>
            </a:pPr>
            <a:r>
              <a:rPr sz="1800" dirty="0">
                <a:latin typeface="Arial" charset="0"/>
                <a:cs typeface="Arial" charset="0"/>
              </a:rPr>
              <a:t>Name of publisher.</a:t>
            </a:r>
          </a:p>
          <a:p>
            <a:pPr>
              <a:buFont typeface="Arial" charset="0"/>
              <a:buNone/>
              <a:defRPr/>
            </a:pPr>
            <a:endParaRPr sz="1800" dirty="0">
              <a:latin typeface="Arial" charset="0"/>
              <a:cs typeface="Arial" charset="0"/>
            </a:endParaRPr>
          </a:p>
          <a:p>
            <a:pPr>
              <a:buFont typeface="Arial" charset="0"/>
              <a:buNone/>
              <a:defRPr/>
            </a:pPr>
            <a:r>
              <a:rPr lang="en-GB" b="1" i="1" dirty="0">
                <a:solidFill>
                  <a:srgbClr val="700000"/>
                </a:solidFill>
                <a:latin typeface="Book Antiqua" pitchFamily="18" charset="0"/>
                <a:cs typeface="Arial" charset="0"/>
              </a:rPr>
              <a:t>Example 1</a:t>
            </a:r>
          </a:p>
          <a:p>
            <a:pPr>
              <a:buFont typeface="Arial" charset="0"/>
              <a:buNone/>
              <a:defRPr/>
            </a:pPr>
            <a:r>
              <a:rPr sz="1800" b="1" dirty="0">
                <a:latin typeface="Arial" charset="0"/>
                <a:cs typeface="Arial" charset="0"/>
              </a:rPr>
              <a:t>Reference to a book.</a:t>
            </a:r>
          </a:p>
          <a:p>
            <a:pPr>
              <a:buFont typeface="Arial" charset="0"/>
              <a:buNone/>
              <a:defRPr/>
            </a:pPr>
            <a:r>
              <a:rPr dirty="0">
                <a:latin typeface="Arial" charset="0"/>
                <a:cs typeface="Arial" charset="0"/>
              </a:rPr>
              <a:t>	</a:t>
            </a:r>
          </a:p>
        </p:txBody>
      </p:sp>
      <p:sp>
        <p:nvSpPr>
          <p:cNvPr id="30724"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AC818AE6-9818-4AFD-AFE2-05B222AB7B57}"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11</a:t>
            </a:fld>
            <a:endParaRPr lang="en-GB" altLang="en-US" sz="1200">
              <a:solidFill>
                <a:srgbClr val="014B89"/>
              </a:solidFill>
              <a:latin typeface="Gill Sans MT" panose="020B0502020104020203" pitchFamily="34" charset="0"/>
            </a:endParaRPr>
          </a:p>
        </p:txBody>
      </p:sp>
      <p:pic>
        <p:nvPicPr>
          <p:cNvPr id="30725" name="Picture 6" descr="D:\My Pictures\Referencing Plagiarism\3book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1425" y="3429000"/>
            <a:ext cx="1223963"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lded Corner 8"/>
          <p:cNvSpPr/>
          <p:nvPr/>
        </p:nvSpPr>
        <p:spPr>
          <a:xfrm>
            <a:off x="762000" y="5334000"/>
            <a:ext cx="8153400" cy="1219200"/>
          </a:xfrm>
          <a:prstGeom prst="foldedCorner">
            <a:avLst/>
          </a:prstGeom>
          <a:solidFill>
            <a:srgbClr val="9966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dirty="0">
                <a:solidFill>
                  <a:schemeClr val="tx1"/>
                </a:solidFill>
                <a:cs typeface="Arial" charset="0"/>
              </a:rPr>
              <a:t>Sheldrake, R., (2006).  </a:t>
            </a:r>
            <a:r>
              <a:rPr lang="en-US" i="1" dirty="0">
                <a:solidFill>
                  <a:schemeClr val="tx1"/>
                </a:solidFill>
                <a:cs typeface="Arial" charset="0"/>
              </a:rPr>
              <a:t>Dogs that know when their owners are coming home: and other unexplained powers of animals.</a:t>
            </a:r>
            <a:r>
              <a:rPr lang="en-US" dirty="0">
                <a:solidFill>
                  <a:schemeClr val="tx1"/>
                </a:solidFill>
                <a:cs typeface="Arial" charset="0"/>
              </a:rPr>
              <a:t>  London: Arrow Books.</a:t>
            </a:r>
            <a:endParaRPr lang="en-GB" dirty="0">
              <a:solidFill>
                <a:schemeClr val="tx1"/>
              </a:solidFill>
            </a:endParaRPr>
          </a:p>
        </p:txBody>
      </p:sp>
      <p:pic>
        <p:nvPicPr>
          <p:cNvPr id="30727" name="Picture 2" descr="D:\My Pictures\plagiarism.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0" name="Rectangle 7">
            <a:extLst>
              <a:ext uri="{FF2B5EF4-FFF2-40B4-BE49-F238E27FC236}">
                <a16:creationId xmlns:a16="http://schemas.microsoft.com/office/drawing/2014/main" id="{FB598B85-C477-45D0-8E43-DBB00C5CF9AB}"/>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a:t>Referencing Your Sources – Websites</a:t>
            </a:r>
            <a:endParaRPr lang="en-GB" altLang="en-US"/>
          </a:p>
        </p:txBody>
      </p:sp>
      <p:sp>
        <p:nvSpPr>
          <p:cNvPr id="32771" name="Content Placeholder 2"/>
          <p:cNvSpPr>
            <a:spLocks noGrp="1"/>
          </p:cNvSpPr>
          <p:nvPr>
            <p:ph idx="1"/>
          </p:nvPr>
        </p:nvSpPr>
        <p:spPr>
          <a:ln/>
        </p:spPr>
        <p:txBody>
          <a:bodyPr/>
          <a:lstStyle/>
          <a:p>
            <a:pPr>
              <a:buFont typeface="Arial" panose="020B0604020202020204" pitchFamily="34" charset="0"/>
              <a:buNone/>
            </a:pPr>
            <a:r>
              <a:rPr lang="en-GB" altLang="en-US" b="1" i="1">
                <a:solidFill>
                  <a:srgbClr val="700000"/>
                </a:solidFill>
                <a:latin typeface="Book Antiqua" panose="02040602050305030304" pitchFamily="18" charset="0"/>
              </a:rPr>
              <a:t>Example 2</a:t>
            </a:r>
          </a:p>
          <a:p>
            <a:pPr>
              <a:spcBef>
                <a:spcPts val="600"/>
              </a:spcBef>
              <a:spcAft>
                <a:spcPts val="600"/>
              </a:spcAft>
              <a:buFont typeface="Arial" panose="020B0604020202020204" pitchFamily="34" charset="0"/>
              <a:buNone/>
            </a:pPr>
            <a:r>
              <a:rPr altLang="en-US" sz="1800" b="1"/>
              <a:t>Reference to a website or webpage.</a:t>
            </a:r>
          </a:p>
          <a:p>
            <a:pPr>
              <a:spcBef>
                <a:spcPts val="600"/>
              </a:spcBef>
              <a:spcAft>
                <a:spcPts val="600"/>
              </a:spcAft>
              <a:buFont typeface="Arial" panose="020B0604020202020204" pitchFamily="34" charset="0"/>
              <a:buNone/>
            </a:pPr>
            <a:endParaRPr altLang="en-US" sz="1800" b="1"/>
          </a:p>
          <a:p>
            <a:pPr>
              <a:spcBef>
                <a:spcPts val="600"/>
              </a:spcBef>
              <a:spcAft>
                <a:spcPts val="600"/>
              </a:spcAft>
              <a:buFont typeface="Arial" panose="020B0604020202020204" pitchFamily="34" charset="0"/>
              <a:buNone/>
            </a:pPr>
            <a:endParaRPr altLang="en-US" sz="1800" b="1"/>
          </a:p>
          <a:p>
            <a:pPr>
              <a:spcBef>
                <a:spcPts val="600"/>
              </a:spcBef>
              <a:spcAft>
                <a:spcPts val="600"/>
              </a:spcAft>
              <a:buFont typeface="Arial" panose="020B0604020202020204" pitchFamily="34" charset="0"/>
              <a:buNone/>
            </a:pPr>
            <a:endParaRPr altLang="en-US" sz="1800" b="1"/>
          </a:p>
          <a:p>
            <a:pPr>
              <a:spcBef>
                <a:spcPts val="600"/>
              </a:spcBef>
              <a:spcAft>
                <a:spcPts val="600"/>
              </a:spcAft>
              <a:buFont typeface="Arial" panose="020B0604020202020204" pitchFamily="34" charset="0"/>
              <a:buNone/>
            </a:pPr>
            <a:endParaRPr altLang="en-US" sz="1800" b="1"/>
          </a:p>
          <a:p>
            <a:pPr>
              <a:spcBef>
                <a:spcPts val="600"/>
              </a:spcBef>
              <a:spcAft>
                <a:spcPts val="600"/>
              </a:spcAft>
              <a:buFont typeface="Arial" panose="020B0604020202020204" pitchFamily="34" charset="0"/>
              <a:buNone/>
            </a:pPr>
            <a:endParaRPr altLang="en-US" sz="1800" b="1"/>
          </a:p>
          <a:p>
            <a:pPr>
              <a:spcBef>
                <a:spcPts val="600"/>
              </a:spcBef>
              <a:spcAft>
                <a:spcPts val="600"/>
              </a:spcAft>
              <a:buFont typeface="Arial" panose="020B0604020202020204" pitchFamily="34" charset="0"/>
              <a:buNone/>
            </a:pPr>
            <a:r>
              <a:rPr altLang="en-US" sz="1800"/>
              <a:t>	</a:t>
            </a:r>
          </a:p>
          <a:p>
            <a:pPr>
              <a:spcBef>
                <a:spcPts val="600"/>
              </a:spcBef>
              <a:spcAft>
                <a:spcPts val="600"/>
              </a:spcAft>
              <a:buFont typeface="Arial" panose="020B0604020202020204" pitchFamily="34" charset="0"/>
              <a:buNone/>
            </a:pPr>
            <a:endParaRPr altLang="en-US" sz="1800"/>
          </a:p>
          <a:p>
            <a:pPr>
              <a:spcBef>
                <a:spcPts val="600"/>
              </a:spcBef>
              <a:spcAft>
                <a:spcPts val="600"/>
              </a:spcAft>
              <a:buFont typeface="Arial" panose="020B0604020202020204" pitchFamily="34" charset="0"/>
              <a:buNone/>
            </a:pPr>
            <a:r>
              <a:rPr altLang="en-US" sz="1800"/>
              <a:t> </a:t>
            </a:r>
          </a:p>
          <a:p>
            <a:pPr>
              <a:spcBef>
                <a:spcPts val="600"/>
              </a:spcBef>
              <a:spcAft>
                <a:spcPts val="600"/>
              </a:spcAft>
              <a:buFont typeface="Arial" panose="020B0604020202020204" pitchFamily="34" charset="0"/>
              <a:buNone/>
            </a:pPr>
            <a:r>
              <a:rPr altLang="en-US" sz="1800"/>
              <a:t> </a:t>
            </a:r>
          </a:p>
        </p:txBody>
      </p:sp>
      <p:sp>
        <p:nvSpPr>
          <p:cNvPr id="32772"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1CCF849B-FAA7-4F12-A04E-D9BD5EE7E141}"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12</a:t>
            </a:fld>
            <a:endParaRPr lang="en-GB" altLang="en-US" sz="1200">
              <a:solidFill>
                <a:srgbClr val="014B89"/>
              </a:solidFill>
              <a:latin typeface="Gill Sans MT" panose="020B0502020104020203" pitchFamily="34" charset="0"/>
            </a:endParaRPr>
          </a:p>
        </p:txBody>
      </p:sp>
      <p:sp>
        <p:nvSpPr>
          <p:cNvPr id="10" name="Folded Corner 9"/>
          <p:cNvSpPr/>
          <p:nvPr/>
        </p:nvSpPr>
        <p:spPr>
          <a:xfrm>
            <a:off x="533400" y="4953000"/>
            <a:ext cx="8382000" cy="1447800"/>
          </a:xfrm>
          <a:prstGeom prst="foldedCorner">
            <a:avLst/>
          </a:prstGeom>
          <a:solidFill>
            <a:srgbClr val="9966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dirty="0">
                <a:solidFill>
                  <a:schemeClr val="tx1"/>
                </a:solidFill>
                <a:cs typeface="Arial" charset="0"/>
              </a:rPr>
              <a:t>National Geographic, (2020). </a:t>
            </a:r>
            <a:r>
              <a:rPr lang="en-US" i="1" dirty="0">
                <a:solidFill>
                  <a:schemeClr val="tx1"/>
                </a:solidFill>
                <a:cs typeface="Arial" charset="0"/>
              </a:rPr>
              <a:t>Ancient wolves that played with humans likely evolved into today's friendly dogs</a:t>
            </a:r>
            <a:r>
              <a:rPr lang="en-US" dirty="0">
                <a:solidFill>
                  <a:schemeClr val="tx1"/>
                </a:solidFill>
                <a:cs typeface="Arial" charset="0"/>
              </a:rPr>
              <a:t>. [Online]. Available from: </a:t>
            </a:r>
            <a:r>
              <a:rPr lang="en-US" dirty="0">
                <a:solidFill>
                  <a:schemeClr val="tx1"/>
                </a:solidFill>
                <a:cs typeface="Arial" charset="0"/>
                <a:hlinkClick r:id="rId3"/>
              </a:rPr>
              <a:t>https://www.nationalgeographic.com/animals/article/ancient-playful-wolves-evolved-domestic-dogs</a:t>
            </a:r>
            <a:r>
              <a:rPr lang="en-US" dirty="0">
                <a:solidFill>
                  <a:schemeClr val="tx1"/>
                </a:solidFill>
                <a:cs typeface="Arial" charset="0"/>
              </a:rPr>
              <a:t>. [Accessed 8 March 2022].</a:t>
            </a:r>
            <a:endParaRPr lang="en-GB" dirty="0">
              <a:solidFill>
                <a:schemeClr val="tx1"/>
              </a:solidFill>
            </a:endParaRPr>
          </a:p>
        </p:txBody>
      </p:sp>
      <p:pic>
        <p:nvPicPr>
          <p:cNvPr id="32774" name="Picture 2" descr="D:\My Pictures\plagiarism.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Vertical Scroll 10"/>
          <p:cNvSpPr/>
          <p:nvPr/>
        </p:nvSpPr>
        <p:spPr>
          <a:xfrm>
            <a:off x="4114800" y="1066800"/>
            <a:ext cx="4800600" cy="3276600"/>
          </a:xfrm>
          <a:prstGeom prst="verticalScroll">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457200" indent="-457200" eaLnBrk="1" hangingPunct="1">
              <a:buFont typeface="Arial" charset="0"/>
              <a:buNone/>
              <a:defRPr/>
            </a:pPr>
            <a:r>
              <a:rPr lang="en-US" sz="1600" dirty="0"/>
              <a:t>	</a:t>
            </a:r>
            <a:r>
              <a:rPr lang="en-US" dirty="0">
                <a:solidFill>
                  <a:schemeClr val="tx1"/>
                </a:solidFill>
              </a:rPr>
              <a:t>Research on the domestical of dogs in ongoing</a:t>
            </a:r>
            <a:r>
              <a:rPr lang="en-US" sz="1600" dirty="0">
                <a:solidFill>
                  <a:schemeClr val="tx1"/>
                </a:solidFill>
              </a:rPr>
              <a:t>. “</a:t>
            </a:r>
            <a:r>
              <a:rPr lang="en-US" b="1" i="1" dirty="0">
                <a:solidFill>
                  <a:srgbClr val="008000"/>
                </a:solidFill>
              </a:rPr>
              <a:t>While researchers continue to debate when, where, and how dogs were first domesticated, most agree that a wolf ancestor likely initiated the first contact with humans</a:t>
            </a:r>
            <a:r>
              <a:rPr lang="en-US" dirty="0">
                <a:solidFill>
                  <a:schemeClr val="tx1"/>
                </a:solidFill>
              </a:rPr>
              <a:t>” (</a:t>
            </a:r>
            <a:r>
              <a:rPr lang="en-US" b="1" dirty="0">
                <a:solidFill>
                  <a:srgbClr val="0000FF"/>
                </a:solidFill>
              </a:rPr>
              <a:t>National Geographic, 2020</a:t>
            </a:r>
            <a:r>
              <a:rPr lang="en-US" dirty="0">
                <a:solidFill>
                  <a:schemeClr val="tx1"/>
                </a:solidFill>
              </a:rPr>
              <a:t>)</a:t>
            </a:r>
            <a:endParaRPr lang="en-US" i="1" dirty="0">
              <a:solidFill>
                <a:schemeClr val="tx1"/>
              </a:solidFill>
            </a:endParaRPr>
          </a:p>
        </p:txBody>
      </p:sp>
      <p:sp>
        <p:nvSpPr>
          <p:cNvPr id="13" name="Right Arrow 12"/>
          <p:cNvSpPr/>
          <p:nvPr/>
        </p:nvSpPr>
        <p:spPr>
          <a:xfrm>
            <a:off x="3352800" y="2514600"/>
            <a:ext cx="1066800" cy="381000"/>
          </a:xfrm>
          <a:prstGeom prst="rightArrow">
            <a:avLst/>
          </a:prstGeom>
          <a:solidFill>
            <a:srgbClr val="7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32777" name="Rectangle 13"/>
          <p:cNvSpPr>
            <a:spLocks noChangeArrowheads="1"/>
          </p:cNvSpPr>
          <p:nvPr/>
        </p:nvSpPr>
        <p:spPr bwMode="auto">
          <a:xfrm>
            <a:off x="457200" y="1676400"/>
            <a:ext cx="31242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eaLnBrk="1" hangingPunct="1">
              <a:spcBef>
                <a:spcPts val="600"/>
              </a:spcBef>
              <a:spcAft>
                <a:spcPts val="600"/>
              </a:spcAft>
              <a:buClrTx/>
              <a:buSzTx/>
              <a:buFont typeface="Arial" panose="020B0604020202020204" pitchFamily="34" charset="0"/>
              <a:buNone/>
            </a:pPr>
            <a:r>
              <a:rPr lang="en-US" altLang="en-US" sz="1800">
                <a:cs typeface="Arial" panose="020B0604020202020204" pitchFamily="34" charset="0"/>
              </a:rPr>
              <a:t>If you use some information from a  website, this is how you would give a reference to the original information (cite) within the text.</a:t>
            </a:r>
          </a:p>
        </p:txBody>
      </p:sp>
      <p:sp>
        <p:nvSpPr>
          <p:cNvPr id="32778"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2" name="Rectangle 7">
            <a:extLst>
              <a:ext uri="{FF2B5EF4-FFF2-40B4-BE49-F238E27FC236}">
                <a16:creationId xmlns:a16="http://schemas.microsoft.com/office/drawing/2014/main" id="{C969DA41-0B27-462B-9723-AB6888CB3462}"/>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3240A-90AF-4FE7-B90E-4858DB52E705}"/>
              </a:ext>
            </a:extLst>
          </p:cNvPr>
          <p:cNvSpPr>
            <a:spLocks noGrp="1"/>
          </p:cNvSpPr>
          <p:nvPr>
            <p:ph type="title"/>
          </p:nvPr>
        </p:nvSpPr>
        <p:spPr/>
        <p:txBody>
          <a:bodyPr/>
          <a:lstStyle/>
          <a:p>
            <a:r>
              <a:rPr lang="en-US" dirty="0">
                <a:solidFill>
                  <a:srgbClr val="0033CC"/>
                </a:solidFill>
              </a:rPr>
              <a:t>	Video</a:t>
            </a:r>
          </a:p>
        </p:txBody>
      </p:sp>
      <p:pic>
        <p:nvPicPr>
          <p:cNvPr id="6" name="What is Referencing - RMIT Learning Lab">
            <a:hlinkClick r:id="" action="ppaction://media"/>
            <a:extLst>
              <a:ext uri="{FF2B5EF4-FFF2-40B4-BE49-F238E27FC236}">
                <a16:creationId xmlns:a16="http://schemas.microsoft.com/office/drawing/2014/main" id="{C6EDF1FD-D5C0-4C3D-B1C8-6098ED4DEEB7}"/>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612775" y="1257300"/>
            <a:ext cx="8229600" cy="4629150"/>
          </a:xfrm>
        </p:spPr>
      </p:pic>
      <p:sp>
        <p:nvSpPr>
          <p:cNvPr id="4" name="Slide Number Placeholder 3">
            <a:extLst>
              <a:ext uri="{FF2B5EF4-FFF2-40B4-BE49-F238E27FC236}">
                <a16:creationId xmlns:a16="http://schemas.microsoft.com/office/drawing/2014/main" id="{E69CA4E8-506E-41C0-8CF4-62F5D5C726AD}"/>
              </a:ext>
            </a:extLst>
          </p:cNvPr>
          <p:cNvSpPr>
            <a:spLocks noGrp="1"/>
          </p:cNvSpPr>
          <p:nvPr>
            <p:ph type="sldNum" sz="quarter" idx="10"/>
          </p:nvPr>
        </p:nvSpPr>
        <p:spPr/>
        <p:txBody>
          <a:bodyPr/>
          <a:lstStyle/>
          <a:p>
            <a:pPr>
              <a:defRPr/>
            </a:pPr>
            <a:fld id="{4A31A05A-1D45-4E60-8E19-22AAC5DC4E88}" type="slidenum">
              <a:rPr lang="en-GB" altLang="en-US" smtClean="0"/>
              <a:pPr>
                <a:defRPr/>
              </a:pPr>
              <a:t>13</a:t>
            </a:fld>
            <a:endParaRPr lang="en-GB" altLang="en-US"/>
          </a:p>
        </p:txBody>
      </p:sp>
      <p:sp>
        <p:nvSpPr>
          <p:cNvPr id="5" name="Footer Placeholder 4">
            <a:extLst>
              <a:ext uri="{FF2B5EF4-FFF2-40B4-BE49-F238E27FC236}">
                <a16:creationId xmlns:a16="http://schemas.microsoft.com/office/drawing/2014/main" id="{0A5A57D9-C729-4B6D-8409-4131C47D0AFE}"/>
              </a:ext>
            </a:extLst>
          </p:cNvPr>
          <p:cNvSpPr>
            <a:spLocks noGrp="1"/>
          </p:cNvSpPr>
          <p:nvPr>
            <p:ph type="ftr" sz="quarter" idx="12"/>
          </p:nvPr>
        </p:nvSpPr>
        <p:spPr/>
        <p:txBody>
          <a:bodyPr/>
          <a:lstStyle/>
          <a:p>
            <a:pPr>
              <a:defRPr/>
            </a:pPr>
            <a:r>
              <a:rPr lang="en-GB"/>
              <a:t>Foundation Certificate Course</a:t>
            </a:r>
          </a:p>
        </p:txBody>
      </p:sp>
      <p:pic>
        <p:nvPicPr>
          <p:cNvPr id="7" name="Picture 6">
            <a:extLst>
              <a:ext uri="{FF2B5EF4-FFF2-40B4-BE49-F238E27FC236}">
                <a16:creationId xmlns:a16="http://schemas.microsoft.com/office/drawing/2014/main" id="{A9C88098-90B5-49FB-8F44-11CC0D735193}"/>
              </a:ext>
            </a:extLst>
          </p:cNvPr>
          <p:cNvPicPr>
            <a:picLocks noChangeAspect="1"/>
          </p:cNvPicPr>
          <p:nvPr/>
        </p:nvPicPr>
        <p:blipFill>
          <a:blip r:embed="rId5">
            <a:clrChange>
              <a:clrFrom>
                <a:srgbClr val="F5F5F5"/>
              </a:clrFrom>
              <a:clrTo>
                <a:srgbClr val="F5F5F5">
                  <a:alpha val="0"/>
                </a:srgbClr>
              </a:clrTo>
            </a:clrChange>
          </a:blip>
          <a:stretch>
            <a:fillRect/>
          </a:stretch>
        </p:blipFill>
        <p:spPr>
          <a:xfrm>
            <a:off x="2667000" y="-152400"/>
            <a:ext cx="1547812" cy="1547812"/>
          </a:xfrm>
          <a:prstGeom prst="rect">
            <a:avLst/>
          </a:prstGeom>
        </p:spPr>
      </p:pic>
      <p:sp>
        <p:nvSpPr>
          <p:cNvPr id="8" name="Rectangle 7">
            <a:extLst>
              <a:ext uri="{FF2B5EF4-FFF2-40B4-BE49-F238E27FC236}">
                <a16:creationId xmlns:a16="http://schemas.microsoft.com/office/drawing/2014/main" id="{A026AE40-7E48-4834-8469-F76DA1A61390}"/>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extLst>
      <p:ext uri="{BB962C8B-B14F-4D97-AF65-F5344CB8AC3E}">
        <p14:creationId xmlns:p14="http://schemas.microsoft.com/office/powerpoint/2010/main" val="72291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500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10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a:t>Tips to Help Avoid Plagiarism</a:t>
            </a:r>
            <a:endParaRPr lang="en-GB" altLang="en-US"/>
          </a:p>
        </p:txBody>
      </p:sp>
      <p:sp>
        <p:nvSpPr>
          <p:cNvPr id="47107" name="Content Placeholder 2"/>
          <p:cNvSpPr>
            <a:spLocks noGrp="1"/>
          </p:cNvSpPr>
          <p:nvPr>
            <p:ph idx="1"/>
          </p:nvPr>
        </p:nvSpPr>
        <p:spPr>
          <a:ln/>
        </p:spPr>
        <p:txBody>
          <a:bodyPr/>
          <a:lstStyle/>
          <a:p>
            <a:pPr>
              <a:spcBef>
                <a:spcPts val="1200"/>
              </a:spcBef>
              <a:spcAft>
                <a:spcPts val="600"/>
              </a:spcAft>
              <a:buFont typeface="Arial" panose="020B0604020202020204" pitchFamily="34" charset="0"/>
              <a:buChar char="●"/>
            </a:pPr>
            <a:r>
              <a:rPr lang="en-GB" altLang="en-US" sz="1800" dirty="0"/>
              <a:t>Copy direct quotes word for word (verbatim) to ensure they have not been altered in any way, and acknowledge your source.</a:t>
            </a:r>
          </a:p>
          <a:p>
            <a:pPr>
              <a:spcBef>
                <a:spcPts val="1200"/>
              </a:spcBef>
              <a:spcAft>
                <a:spcPts val="600"/>
              </a:spcAft>
              <a:buFont typeface="Arial" panose="020B0604020202020204" pitchFamily="34" charset="0"/>
              <a:buChar char="●"/>
            </a:pPr>
            <a:r>
              <a:rPr lang="en-GB" altLang="en-US" sz="1800" dirty="0"/>
              <a:t>Be clear when note-taking to include details of the author and source.</a:t>
            </a:r>
          </a:p>
          <a:p>
            <a:pPr>
              <a:spcBef>
                <a:spcPts val="1200"/>
              </a:spcBef>
              <a:spcAft>
                <a:spcPts val="600"/>
              </a:spcAft>
              <a:buFont typeface="Arial" panose="020B0604020202020204" pitchFamily="34" charset="0"/>
              <a:buChar char="●"/>
            </a:pPr>
            <a:r>
              <a:rPr lang="en-GB" altLang="en-US" sz="1800" dirty="0"/>
              <a:t>Become familiar with methods of citing (referencing) sources within the text.</a:t>
            </a:r>
          </a:p>
          <a:p>
            <a:pPr>
              <a:spcBef>
                <a:spcPts val="1200"/>
              </a:spcBef>
              <a:spcAft>
                <a:spcPts val="600"/>
              </a:spcAft>
              <a:buFont typeface="Arial" panose="020B0604020202020204" pitchFamily="34" charset="0"/>
              <a:buChar char="●"/>
            </a:pPr>
            <a:r>
              <a:rPr lang="en-GB" altLang="en-US" sz="1800" dirty="0"/>
              <a:t>Only include passages vital to the argument.</a:t>
            </a:r>
          </a:p>
          <a:p>
            <a:pPr>
              <a:spcBef>
                <a:spcPts val="1200"/>
              </a:spcBef>
              <a:spcAft>
                <a:spcPts val="600"/>
              </a:spcAft>
              <a:buFont typeface="Arial" panose="020B0604020202020204" pitchFamily="34" charset="0"/>
              <a:buChar char="●"/>
            </a:pPr>
            <a:r>
              <a:rPr lang="en-GB" altLang="en-US" sz="1800" dirty="0"/>
              <a:t>Record your own views and thoughts on the topic before beginning to find information for an assignment, then use material by others to support or counter these arguments.</a:t>
            </a:r>
          </a:p>
          <a:p>
            <a:pPr>
              <a:spcBef>
                <a:spcPts val="1200"/>
              </a:spcBef>
              <a:spcAft>
                <a:spcPts val="600"/>
              </a:spcAft>
              <a:buFont typeface="Arial" panose="020B0604020202020204" pitchFamily="34" charset="0"/>
              <a:buChar char="●"/>
            </a:pPr>
            <a:r>
              <a:rPr lang="en-GB" altLang="en-US" sz="1800" dirty="0"/>
              <a:t>Be selective and do not include too many quotations.</a:t>
            </a:r>
          </a:p>
          <a:p>
            <a:pPr>
              <a:spcBef>
                <a:spcPts val="1200"/>
              </a:spcBef>
              <a:spcAft>
                <a:spcPts val="600"/>
              </a:spcAft>
              <a:buFont typeface="Arial" panose="020B0604020202020204" pitchFamily="34" charset="0"/>
              <a:buChar char="●"/>
            </a:pPr>
            <a:r>
              <a:rPr lang="en-GB" altLang="en-US" sz="1800" dirty="0"/>
              <a:t>Be careful when paraphrasing – to ensure that the material is used properly.</a:t>
            </a:r>
          </a:p>
          <a:p>
            <a:pPr>
              <a:spcBef>
                <a:spcPts val="1200"/>
              </a:spcBef>
              <a:spcAft>
                <a:spcPts val="600"/>
              </a:spcAft>
              <a:buFont typeface="Arial" panose="020B0604020202020204" pitchFamily="34" charset="0"/>
              <a:buChar char="●"/>
            </a:pPr>
            <a:r>
              <a:rPr lang="en-GB" altLang="en-US" sz="1800" dirty="0"/>
              <a:t>Write notes from memory, after reading the source.</a:t>
            </a:r>
          </a:p>
          <a:p>
            <a:pPr>
              <a:spcBef>
                <a:spcPct val="0"/>
              </a:spcBef>
              <a:spcAft>
                <a:spcPct val="0"/>
              </a:spcAft>
              <a:buFont typeface="Arial" panose="020B0604020202020204" pitchFamily="34" charset="0"/>
              <a:buNone/>
            </a:pPr>
            <a:r>
              <a:rPr altLang="en-US" sz="1600" dirty="0"/>
              <a:t>					(Rumsey, 2004)</a:t>
            </a:r>
            <a:endParaRPr lang="en-GB" altLang="en-US" sz="1400" dirty="0"/>
          </a:p>
          <a:p>
            <a:pPr>
              <a:buFont typeface="Arial" panose="020B0604020202020204" pitchFamily="34" charset="0"/>
              <a:buChar char="●"/>
            </a:pPr>
            <a:endParaRPr lang="en-GB" altLang="en-US" dirty="0"/>
          </a:p>
        </p:txBody>
      </p:sp>
      <p:sp>
        <p:nvSpPr>
          <p:cNvPr id="47108"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D298B0AD-F16A-4454-B668-1CE2E8961D87}"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14</a:t>
            </a:fld>
            <a:endParaRPr lang="en-GB" altLang="en-US" sz="1200">
              <a:solidFill>
                <a:srgbClr val="014B89"/>
              </a:solidFill>
              <a:latin typeface="Gill Sans MT" panose="020B0502020104020203" pitchFamily="34" charset="0"/>
            </a:endParaRPr>
          </a:p>
        </p:txBody>
      </p:sp>
      <p:pic>
        <p:nvPicPr>
          <p:cNvPr id="47109" name="Picture 9" descr="D:\My Pictures\helpful_tips_banner.jpg"/>
          <p:cNvPicPr>
            <a:picLocks noChangeAspect="1" noChangeArrowheads="1"/>
          </p:cNvPicPr>
          <p:nvPr/>
        </p:nvPicPr>
        <p:blipFill>
          <a:blip r:embed="rId3">
            <a:lum contrast="-20000"/>
            <a:extLst>
              <a:ext uri="{28A0092B-C50C-407E-A947-70E740481C1C}">
                <a14:useLocalDpi xmlns:a14="http://schemas.microsoft.com/office/drawing/2010/main" val="0"/>
              </a:ext>
            </a:extLst>
          </a:blip>
          <a:srcRect/>
          <a:stretch>
            <a:fillRect/>
          </a:stretch>
        </p:blipFill>
        <p:spPr bwMode="auto">
          <a:xfrm>
            <a:off x="6781800" y="5105400"/>
            <a:ext cx="1905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2" descr="D:\My Pictures\plagiarism.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1"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9" name="Rectangle 7">
            <a:extLst>
              <a:ext uri="{FF2B5EF4-FFF2-40B4-BE49-F238E27FC236}">
                <a16:creationId xmlns:a16="http://schemas.microsoft.com/office/drawing/2014/main" id="{C11A6119-9146-4AF7-B8E1-E7289BC10654}"/>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10" descr="D:\My Pictures\owl.jpg"/>
          <p:cNvPicPr>
            <a:picLocks noChangeAspect="1" noChangeArrowheads="1"/>
          </p:cNvPicPr>
          <p:nvPr/>
        </p:nvPicPr>
        <p:blipFill>
          <a:blip r:embed="rId3">
            <a:lum contrast="-10000"/>
            <a:extLst>
              <a:ext uri="{28A0092B-C50C-407E-A947-70E740481C1C}">
                <a14:useLocalDpi xmlns:a14="http://schemas.microsoft.com/office/drawing/2010/main" val="0"/>
              </a:ext>
            </a:extLst>
          </a:blip>
          <a:srcRect l="5560" r="8994"/>
          <a:stretch>
            <a:fillRect/>
          </a:stretch>
        </p:blipFill>
        <p:spPr bwMode="auto">
          <a:xfrm>
            <a:off x="7315200" y="4648200"/>
            <a:ext cx="18288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Title 1"/>
          <p:cNvSpPr>
            <a:spLocks noGrp="1"/>
          </p:cNvSpPr>
          <p:nvPr>
            <p:ph type="title"/>
          </p:nvPr>
        </p:nvSpPr>
        <p:spPr/>
        <p:txBody>
          <a:bodyPr/>
          <a:lstStyle/>
          <a:p>
            <a:r>
              <a:rPr lang="en-US" altLang="en-US"/>
              <a:t>Finally…</a:t>
            </a:r>
            <a:endParaRPr lang="en-GB" altLang="en-US"/>
          </a:p>
        </p:txBody>
      </p:sp>
      <p:sp>
        <p:nvSpPr>
          <p:cNvPr id="49156" name="Content Placeholder 2"/>
          <p:cNvSpPr>
            <a:spLocks noGrp="1"/>
          </p:cNvSpPr>
          <p:nvPr>
            <p:ph idx="1"/>
          </p:nvPr>
        </p:nvSpPr>
        <p:spPr>
          <a:ln/>
        </p:spPr>
        <p:txBody>
          <a:bodyPr/>
          <a:lstStyle/>
          <a:p>
            <a:pPr>
              <a:buFont typeface="Arial" panose="020B0604020202020204" pitchFamily="34" charset="0"/>
              <a:buChar char="●"/>
            </a:pPr>
            <a:endParaRPr lang="en-GB" altLang="en-US"/>
          </a:p>
          <a:p>
            <a:pPr>
              <a:buFont typeface="Arial" panose="020B0604020202020204" pitchFamily="34" charset="0"/>
              <a:buChar char="●"/>
            </a:pPr>
            <a:endParaRPr altLang="en-US"/>
          </a:p>
          <a:p>
            <a:pPr>
              <a:buFont typeface="Arial" panose="020B0604020202020204" pitchFamily="34" charset="0"/>
              <a:buChar char="●"/>
            </a:pPr>
            <a:endParaRPr altLang="en-US"/>
          </a:p>
          <a:p>
            <a:pPr>
              <a:buFont typeface="Arial" panose="020B0604020202020204" pitchFamily="34" charset="0"/>
              <a:buChar char="●"/>
            </a:pPr>
            <a:endParaRPr altLang="en-US"/>
          </a:p>
          <a:p>
            <a:pPr>
              <a:buFont typeface="Arial" panose="020B0604020202020204" pitchFamily="34" charset="0"/>
              <a:buChar char="●"/>
            </a:pPr>
            <a:endParaRPr altLang="en-US"/>
          </a:p>
          <a:p>
            <a:pPr>
              <a:buFont typeface="Arial" panose="020B0604020202020204" pitchFamily="34" charset="0"/>
              <a:buChar char="●"/>
            </a:pPr>
            <a:endParaRPr altLang="en-US"/>
          </a:p>
          <a:p>
            <a:pPr>
              <a:buFont typeface="Arial" panose="020B0604020202020204" pitchFamily="34" charset="0"/>
              <a:buChar char="●"/>
            </a:pPr>
            <a:endParaRPr altLang="en-US"/>
          </a:p>
          <a:p>
            <a:pPr>
              <a:buFont typeface="Arial" panose="020B0604020202020204" pitchFamily="34" charset="0"/>
              <a:buChar char="●"/>
            </a:pPr>
            <a:endParaRPr altLang="en-US"/>
          </a:p>
          <a:p>
            <a:pPr>
              <a:buFont typeface="Arial" panose="020B0604020202020204" pitchFamily="34" charset="0"/>
              <a:buChar char="●"/>
            </a:pPr>
            <a:endParaRPr altLang="en-US"/>
          </a:p>
          <a:p>
            <a:pPr>
              <a:buFont typeface="Arial" panose="020B0604020202020204" pitchFamily="34" charset="0"/>
              <a:buNone/>
            </a:pPr>
            <a:endParaRPr altLang="en-US"/>
          </a:p>
          <a:p>
            <a:pPr>
              <a:buFont typeface="Arial" panose="020B0604020202020204" pitchFamily="34" charset="0"/>
              <a:buNone/>
            </a:pPr>
            <a:endParaRPr altLang="en-US"/>
          </a:p>
          <a:p>
            <a:pPr>
              <a:buFont typeface="Arial" panose="020B0604020202020204" pitchFamily="34" charset="0"/>
              <a:buNone/>
            </a:pPr>
            <a:endParaRPr altLang="en-US"/>
          </a:p>
          <a:p>
            <a:pPr>
              <a:buFont typeface="Arial" panose="020B0604020202020204" pitchFamily="34" charset="0"/>
              <a:buNone/>
            </a:pPr>
            <a:r>
              <a:rPr altLang="en-US" b="1"/>
              <a:t>		</a:t>
            </a:r>
          </a:p>
          <a:p>
            <a:pPr>
              <a:buFont typeface="Arial" panose="020B0604020202020204" pitchFamily="34" charset="0"/>
              <a:buChar char="●"/>
            </a:pPr>
            <a:endParaRPr lang="en-GB" altLang="en-US"/>
          </a:p>
        </p:txBody>
      </p:sp>
      <p:sp>
        <p:nvSpPr>
          <p:cNvPr id="49157"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2A9EFE16-72F4-4F44-A3B6-696054CD02C0}"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15</a:t>
            </a:fld>
            <a:endParaRPr lang="en-GB" altLang="en-US" sz="1200">
              <a:solidFill>
                <a:srgbClr val="014B89"/>
              </a:solidFill>
              <a:latin typeface="Gill Sans MT" panose="020B0502020104020203" pitchFamily="34" charset="0"/>
            </a:endParaRPr>
          </a:p>
        </p:txBody>
      </p:sp>
      <p:sp>
        <p:nvSpPr>
          <p:cNvPr id="49158" name="AutoShape 5"/>
          <p:cNvSpPr>
            <a:spLocks noChangeArrowheads="1"/>
          </p:cNvSpPr>
          <p:nvPr/>
        </p:nvSpPr>
        <p:spPr bwMode="auto">
          <a:xfrm>
            <a:off x="6553200" y="228600"/>
            <a:ext cx="2590800" cy="1905000"/>
          </a:xfrm>
          <a:prstGeom prst="cloudCallout">
            <a:avLst>
              <a:gd name="adj1" fmla="val -67259"/>
              <a:gd name="adj2" fmla="val 49449"/>
            </a:avLst>
          </a:prstGeom>
          <a:solidFill>
            <a:schemeClr val="accent1"/>
          </a:solidFill>
          <a:ln w="9525">
            <a:solidFill>
              <a:schemeClr val="tx1"/>
            </a:solidFill>
            <a:round/>
            <a:headEnd/>
            <a:tailEnd/>
          </a:ln>
        </p:spPr>
        <p:txBody>
          <a:bodyPr wrap="none" anchor="ct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lgn="ctr" eaLnBrk="1" hangingPunct="1">
              <a:spcBef>
                <a:spcPct val="0"/>
              </a:spcBef>
              <a:spcAft>
                <a:spcPct val="0"/>
              </a:spcAft>
              <a:buClrTx/>
              <a:buSzTx/>
              <a:buFontTx/>
              <a:buNone/>
            </a:pPr>
            <a:r>
              <a:rPr lang="en-US" altLang="en-US"/>
              <a:t>  </a:t>
            </a:r>
          </a:p>
          <a:p>
            <a:pPr algn="ctr" eaLnBrk="1" hangingPunct="1">
              <a:spcBef>
                <a:spcPct val="0"/>
              </a:spcBef>
              <a:spcAft>
                <a:spcPct val="0"/>
              </a:spcAft>
              <a:buClrTx/>
              <a:buSzTx/>
              <a:buFontTx/>
              <a:buNone/>
            </a:pPr>
            <a:r>
              <a:rPr lang="en-US" altLang="en-US" b="1"/>
              <a:t>    Is your academic </a:t>
            </a:r>
          </a:p>
          <a:p>
            <a:pPr algn="ctr" eaLnBrk="1" hangingPunct="1">
              <a:spcBef>
                <a:spcPct val="0"/>
              </a:spcBef>
              <a:spcAft>
                <a:spcPct val="0"/>
              </a:spcAft>
              <a:buClrTx/>
              <a:buSzTx/>
              <a:buFontTx/>
              <a:buNone/>
            </a:pPr>
            <a:r>
              <a:rPr lang="en-US" altLang="en-US" b="1"/>
              <a:t>    reputation valuable</a:t>
            </a:r>
          </a:p>
          <a:p>
            <a:pPr algn="ctr" eaLnBrk="1" hangingPunct="1">
              <a:spcBef>
                <a:spcPct val="0"/>
              </a:spcBef>
              <a:spcAft>
                <a:spcPct val="0"/>
              </a:spcAft>
              <a:buClrTx/>
              <a:buSzTx/>
              <a:buFontTx/>
              <a:buNone/>
            </a:pPr>
            <a:r>
              <a:rPr lang="en-US" altLang="en-US" b="1"/>
              <a:t> to you?</a:t>
            </a:r>
          </a:p>
        </p:txBody>
      </p:sp>
      <p:sp>
        <p:nvSpPr>
          <p:cNvPr id="9" name="Rounded Rectangle 8"/>
          <p:cNvSpPr/>
          <p:nvPr/>
        </p:nvSpPr>
        <p:spPr>
          <a:xfrm>
            <a:off x="762000" y="1066800"/>
            <a:ext cx="4191000" cy="1371600"/>
          </a:xfrm>
          <a:prstGeom prst="roundRect">
            <a:avLst/>
          </a:prstGeom>
          <a:solidFill>
            <a:srgbClr val="008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dirty="0">
                <a:cs typeface="Arial" charset="0"/>
              </a:rPr>
              <a:t>When you copy, you cheat yourself... you limit your own learning.</a:t>
            </a:r>
          </a:p>
        </p:txBody>
      </p:sp>
      <p:sp>
        <p:nvSpPr>
          <p:cNvPr id="10" name="Rounded Rectangle 9"/>
          <p:cNvSpPr/>
          <p:nvPr/>
        </p:nvSpPr>
        <p:spPr>
          <a:xfrm>
            <a:off x="533400" y="3886200"/>
            <a:ext cx="6858000" cy="914400"/>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dirty="0">
                <a:cs typeface="Arial" charset="0"/>
              </a:rPr>
              <a:t> Remember… the responsibility to avoid plagiarism lies with the you, the writer, so…</a:t>
            </a:r>
          </a:p>
        </p:txBody>
      </p:sp>
      <p:sp>
        <p:nvSpPr>
          <p:cNvPr id="13" name="Rounded Rectangular Callout 12"/>
          <p:cNvSpPr/>
          <p:nvPr/>
        </p:nvSpPr>
        <p:spPr>
          <a:xfrm>
            <a:off x="1524000" y="5105400"/>
            <a:ext cx="4572000" cy="1447800"/>
          </a:xfrm>
          <a:prstGeom prst="wedgeRoundRectCallout">
            <a:avLst>
              <a:gd name="adj1" fmla="val 87697"/>
              <a:gd name="adj2" fmla="val -36810"/>
              <a:gd name="adj3" fmla="val 16667"/>
            </a:avLst>
          </a:prstGeom>
          <a:solidFill>
            <a:srgbClr val="0033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b="1" dirty="0">
                <a:cs typeface="Arial" charset="0"/>
              </a:rPr>
              <a:t>… cite and reference everything you use and study for your assignments. </a:t>
            </a:r>
            <a:endParaRPr lang="en-GB" dirty="0"/>
          </a:p>
        </p:txBody>
      </p:sp>
      <p:pic>
        <p:nvPicPr>
          <p:cNvPr id="49162" name="Picture 10" descr="bd05358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800600" y="2057400"/>
            <a:ext cx="1520825"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3" name="Picture 2" descr="D:\My Pictures\plagiarism.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6550" y="60198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4"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14" name="Rectangle 7">
            <a:extLst>
              <a:ext uri="{FF2B5EF4-FFF2-40B4-BE49-F238E27FC236}">
                <a16:creationId xmlns:a16="http://schemas.microsoft.com/office/drawing/2014/main" id="{92D6AB1E-BCC8-4F0C-AA05-0C8B0ED4522A}"/>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a:t>References</a:t>
            </a:r>
            <a:endParaRPr lang="en-GB" altLang="en-US"/>
          </a:p>
        </p:txBody>
      </p:sp>
      <p:sp>
        <p:nvSpPr>
          <p:cNvPr id="51203" name="Content Placeholder 2"/>
          <p:cNvSpPr>
            <a:spLocks noGrp="1"/>
          </p:cNvSpPr>
          <p:nvPr>
            <p:ph idx="1"/>
          </p:nvPr>
        </p:nvSpPr>
        <p:spPr>
          <a:ln/>
        </p:spPr>
        <p:txBody>
          <a:bodyPr/>
          <a:lstStyle/>
          <a:p>
            <a:pPr>
              <a:lnSpc>
                <a:spcPct val="120000"/>
              </a:lnSpc>
              <a:spcBef>
                <a:spcPts val="600"/>
              </a:spcBef>
              <a:spcAft>
                <a:spcPts val="600"/>
              </a:spcAft>
              <a:buFont typeface="Arial" panose="020B0604020202020204" pitchFamily="34" charset="0"/>
              <a:buNone/>
            </a:pPr>
            <a:r>
              <a:rPr lang="en-GB" altLang="en-US" sz="1600" dirty="0"/>
              <a:t>RMIT University. (2021) </a:t>
            </a:r>
            <a:r>
              <a:rPr lang="en-GB" altLang="en-US" sz="1600" i="1" dirty="0"/>
              <a:t>Paraphrasing</a:t>
            </a:r>
            <a:r>
              <a:rPr lang="en-GB" altLang="en-US" sz="1600" dirty="0"/>
              <a:t>. [online]. Available from: </a:t>
            </a:r>
            <a:r>
              <a:rPr lang="en-GB" altLang="en-US" sz="1600" u="sng" dirty="0">
                <a:hlinkClick r:id="rId3"/>
              </a:rPr>
              <a:t>https://emedia.rmit.edu.au/learninglab/content/paraphrasing</a:t>
            </a:r>
            <a:r>
              <a:rPr lang="en-GB" altLang="en-US" sz="1600" u="sng" dirty="0"/>
              <a:t>.</a:t>
            </a:r>
            <a:r>
              <a:rPr lang="en-GB" altLang="en-US" sz="1600" dirty="0"/>
              <a:t> [Accessed 8 March 2022].</a:t>
            </a:r>
          </a:p>
          <a:p>
            <a:pPr>
              <a:spcBef>
                <a:spcPts val="600"/>
              </a:spcBef>
              <a:spcAft>
                <a:spcPts val="600"/>
              </a:spcAft>
              <a:buFont typeface="Arial" panose="020B0604020202020204" pitchFamily="34" charset="0"/>
              <a:buNone/>
            </a:pPr>
            <a:r>
              <a:rPr lang="en-GB" altLang="en-US" sz="1600" dirty="0"/>
              <a:t>Rumsey, S., (2004). </a:t>
            </a:r>
            <a:r>
              <a:rPr lang="en-GB" altLang="en-US" sz="1600" i="1" dirty="0"/>
              <a:t>How to find information: a guide for  researchers.</a:t>
            </a:r>
            <a:r>
              <a:rPr lang="en-GB" altLang="en-US" sz="1600" dirty="0"/>
              <a:t> </a:t>
            </a:r>
          </a:p>
          <a:p>
            <a:pPr>
              <a:spcBef>
                <a:spcPct val="0"/>
              </a:spcBef>
              <a:spcAft>
                <a:spcPct val="0"/>
              </a:spcAft>
              <a:buFont typeface="Arial" panose="020B0604020202020204" pitchFamily="34" charset="0"/>
              <a:buNone/>
            </a:pPr>
            <a:r>
              <a:rPr lang="en-GB" altLang="en-US" sz="1600" dirty="0"/>
              <a:t>	Maidenhead: Open University Press.</a:t>
            </a:r>
          </a:p>
          <a:p>
            <a:pPr>
              <a:lnSpc>
                <a:spcPct val="120000"/>
              </a:lnSpc>
              <a:spcBef>
                <a:spcPts val="1200"/>
              </a:spcBef>
              <a:spcAft>
                <a:spcPts val="600"/>
              </a:spcAft>
              <a:buFont typeface="Arial" panose="020B0604020202020204" pitchFamily="34" charset="0"/>
              <a:buNone/>
            </a:pPr>
            <a:r>
              <a:rPr altLang="en-US" sz="1600" dirty="0"/>
              <a:t>University of Sydney Library, (2021). </a:t>
            </a:r>
            <a:r>
              <a:rPr altLang="en-US" sz="1600" i="1" dirty="0"/>
              <a:t>Harvard </a:t>
            </a:r>
            <a:r>
              <a:rPr lang="en-US" altLang="en-US" sz="1600" i="1" dirty="0"/>
              <a:t>–</a:t>
            </a:r>
            <a:r>
              <a:rPr altLang="en-US" sz="1600" i="1" dirty="0"/>
              <a:t> Referencing and citation styles</a:t>
            </a:r>
            <a:r>
              <a:rPr altLang="en-US" sz="1600" dirty="0"/>
              <a:t>. [online]. Available from</a:t>
            </a:r>
            <a:r>
              <a:rPr lang="en-US" sz="1600" dirty="0">
                <a:hlinkClick r:id="rId4"/>
              </a:rPr>
              <a:t> https://libguides.library.usyd.edu.au/c.php?g=508212&amp;p=3476130</a:t>
            </a:r>
            <a:r>
              <a:rPr lang="en-US" sz="1600" dirty="0"/>
              <a:t>. </a:t>
            </a:r>
            <a:r>
              <a:rPr lang="en-GB" altLang="en-US" sz="1600" dirty="0"/>
              <a:t>[Accessed 8 March 2022].</a:t>
            </a:r>
          </a:p>
          <a:p>
            <a:pPr>
              <a:lnSpc>
                <a:spcPct val="120000"/>
              </a:lnSpc>
              <a:spcBef>
                <a:spcPts val="600"/>
              </a:spcBef>
              <a:spcAft>
                <a:spcPts val="600"/>
              </a:spcAft>
              <a:buFont typeface="Arial" panose="020B0604020202020204" pitchFamily="34" charset="0"/>
              <a:buNone/>
            </a:pPr>
            <a:r>
              <a:rPr altLang="en-US" sz="1600" dirty="0"/>
              <a:t>University of Westminster, (2021). </a:t>
            </a:r>
            <a:r>
              <a:rPr altLang="en-US" sz="1600" i="1" dirty="0"/>
              <a:t>Referencing your work</a:t>
            </a:r>
            <a:r>
              <a:rPr altLang="en-US" sz="1600" dirty="0"/>
              <a:t>. [online]. Available from: </a:t>
            </a:r>
            <a:r>
              <a:rPr altLang="en-US" sz="1600" dirty="0">
                <a:hlinkClick r:id="rId5"/>
              </a:rPr>
              <a:t>https://www.westminster.ac.uk/library-and-it/support-and-study-skills/guides-and-tutorials/referencing-your-work</a:t>
            </a:r>
            <a:r>
              <a:rPr altLang="en-US" sz="1600" dirty="0"/>
              <a:t>.  [Accessed 8 March 2022]. </a:t>
            </a:r>
          </a:p>
          <a:p>
            <a:pPr>
              <a:lnSpc>
                <a:spcPct val="120000"/>
              </a:lnSpc>
              <a:spcBef>
                <a:spcPts val="600"/>
              </a:spcBef>
              <a:spcAft>
                <a:spcPts val="600"/>
              </a:spcAft>
              <a:buFont typeface="Arial" panose="020B0604020202020204" pitchFamily="34" charset="0"/>
              <a:buNone/>
            </a:pPr>
            <a:endParaRPr altLang="en-US" sz="1600" dirty="0"/>
          </a:p>
          <a:p>
            <a:pPr>
              <a:lnSpc>
                <a:spcPct val="120000"/>
              </a:lnSpc>
              <a:buFont typeface="Arial" panose="020B0604020202020204" pitchFamily="34" charset="0"/>
              <a:buNone/>
            </a:pPr>
            <a:endParaRPr lang="en-GB" altLang="en-US" sz="1600" dirty="0"/>
          </a:p>
        </p:txBody>
      </p:sp>
      <p:sp>
        <p:nvSpPr>
          <p:cNvPr id="51204"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fld id="{81E14963-5FEC-43DB-B379-894BE5061F6B}" type="slidenum">
              <a:rPr lang="en-GB" altLang="en-US" sz="1200" smtClean="0">
                <a:solidFill>
                  <a:srgbClr val="014B89"/>
                </a:solidFill>
                <a:latin typeface="Gill Sans MT" panose="020B0502020104020203" pitchFamily="34" charset="0"/>
              </a:rPr>
              <a:pPr>
                <a:spcBef>
                  <a:spcPct val="0"/>
                </a:spcBef>
                <a:spcAft>
                  <a:spcPct val="0"/>
                </a:spcAft>
                <a:buClrTx/>
                <a:buSzTx/>
                <a:buFontTx/>
                <a:buNone/>
              </a:pPr>
              <a:t>16</a:t>
            </a:fld>
            <a:endParaRPr lang="en-GB" altLang="en-US" sz="1200">
              <a:solidFill>
                <a:srgbClr val="014B89"/>
              </a:solidFill>
              <a:latin typeface="Gill Sans MT" panose="020B0502020104020203" pitchFamily="34" charset="0"/>
            </a:endParaRPr>
          </a:p>
        </p:txBody>
      </p:sp>
      <p:pic>
        <p:nvPicPr>
          <p:cNvPr id="51205" name="Picture 2" descr="D:\My Pictures\plagiarism.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32750" y="228600"/>
            <a:ext cx="1111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6" name="Footer Placeholder 4"/>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spcAft>
                <a:spcPts val="400"/>
              </a:spcAft>
              <a:buClr>
                <a:srgbClr val="700000"/>
              </a:buClr>
              <a:buSzPct val="80000"/>
              <a:buFont typeface="Times New Roman" panose="02020603050405020304" pitchFamily="18" charset="0"/>
              <a:buChar char="●"/>
              <a:defRPr sz="2000">
                <a:solidFill>
                  <a:schemeClr val="tx1"/>
                </a:solidFill>
                <a:latin typeface="Arial" panose="020B0604020202020204" pitchFamily="34" charset="0"/>
              </a:defRPr>
            </a:lvl1pPr>
            <a:lvl2pPr marL="742950" indent="-285750">
              <a:spcBef>
                <a:spcPts val="400"/>
              </a:spcBef>
              <a:spcAft>
                <a:spcPts val="400"/>
              </a:spcAft>
              <a:buSzPct val="8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ts val="400"/>
              </a:spcBef>
              <a:spcAft>
                <a:spcPts val="400"/>
              </a:spcAft>
              <a:buSzPct val="80000"/>
              <a:buFont typeface="Arial" panose="020B0604020202020204" pitchFamily="34" charset="0"/>
              <a:buChar char="•"/>
              <a:defRPr sz="1600">
                <a:solidFill>
                  <a:schemeClr val="tx1"/>
                </a:solidFill>
                <a:latin typeface="Arial" panose="020B0604020202020204" pitchFamily="34" charset="0"/>
              </a:defRPr>
            </a:lvl3pPr>
            <a:lvl4pPr marL="1600200" indent="-228600">
              <a:spcBef>
                <a:spcPts val="400"/>
              </a:spcBef>
              <a:spcAft>
                <a:spcPts val="400"/>
              </a:spcAft>
              <a:buSzPct val="80000"/>
              <a:buFont typeface="Arial" panose="020B0604020202020204" pitchFamily="34" charset="0"/>
              <a:buChar char="–"/>
              <a:defRPr sz="1400">
                <a:solidFill>
                  <a:schemeClr val="tx1"/>
                </a:solidFill>
                <a:latin typeface="Arial" panose="020B0604020202020204" pitchFamily="34" charset="0"/>
              </a:defRPr>
            </a:lvl4pPr>
            <a:lvl5pPr marL="2057400" indent="-22860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5pPr>
            <a:lvl6pPr marL="25146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6pPr>
            <a:lvl7pPr marL="29718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7pPr>
            <a:lvl8pPr marL="34290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8pPr>
            <a:lvl9pPr marL="3886200" indent="-228600" eaLnBrk="0" fontAlgn="base" hangingPunct="0">
              <a:spcBef>
                <a:spcPts val="400"/>
              </a:spcBef>
              <a:spcAft>
                <a:spcPts val="400"/>
              </a:spcAft>
              <a:buSzPct val="80000"/>
              <a:buFont typeface="Arial" panose="020B0604020202020204" pitchFamily="34" charset="0"/>
              <a:buChar char="»"/>
              <a:defRPr sz="1200">
                <a:solidFill>
                  <a:schemeClr val="tx1"/>
                </a:solidFill>
                <a:latin typeface="Arial" panose="020B0604020202020204" pitchFamily="34" charset="0"/>
              </a:defRPr>
            </a:lvl9pPr>
          </a:lstStyle>
          <a:p>
            <a:pPr>
              <a:spcBef>
                <a:spcPct val="0"/>
              </a:spcBef>
              <a:spcAft>
                <a:spcPct val="0"/>
              </a:spcAft>
              <a:buClrTx/>
              <a:buSzTx/>
              <a:buFontTx/>
              <a:buNone/>
            </a:pPr>
            <a:r>
              <a:rPr lang="en-GB" altLang="en-US" sz="1200">
                <a:latin typeface="Times New Roman" panose="02020603050405020304" pitchFamily="18" charset="0"/>
              </a:rPr>
              <a:t>Foundation Certificate Course</a:t>
            </a:r>
          </a:p>
        </p:txBody>
      </p:sp>
      <p:sp>
        <p:nvSpPr>
          <p:cNvPr id="8" name="Rectangle 7">
            <a:extLst>
              <a:ext uri="{FF2B5EF4-FFF2-40B4-BE49-F238E27FC236}">
                <a16:creationId xmlns:a16="http://schemas.microsoft.com/office/drawing/2014/main" id="{C19FA7A1-6A10-4E82-A62B-432BCFAB9C0D}"/>
              </a:ext>
            </a:extLst>
          </p:cNvPr>
          <p:cNvSpPr txBox="1">
            <a:spLocks noChangeArrowheads="1"/>
          </p:cNvSpPr>
          <p:nvPr/>
        </p:nvSpPr>
        <p:spPr>
          <a:xfrm>
            <a:off x="304800" y="6553200"/>
            <a:ext cx="2133600" cy="30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ts val="400"/>
              </a:spcBef>
              <a:spcAft>
                <a:spcPts val="400"/>
              </a:spcAft>
              <a:buClr>
                <a:srgbClr val="700000"/>
              </a:buClr>
              <a:buSzPct val="80000"/>
              <a:buFont typeface="Times New Roman" panose="02020603050405020304" pitchFamily="18" charset="0"/>
              <a:buChar char="●"/>
              <a:defRPr sz="2000" kern="1200">
                <a:solidFill>
                  <a:schemeClr val="tx1"/>
                </a:solidFill>
                <a:latin typeface="Arial" panose="020B0604020202020204" pitchFamily="34" charset="0"/>
                <a:ea typeface="+mn-ea"/>
                <a:cs typeface="+mn-cs"/>
              </a:defRPr>
            </a:lvl1pPr>
            <a:lvl2pPr marL="742950" indent="-285750" algn="l" rtl="0" eaLnBrk="0" fontAlgn="base" hangingPunct="0">
              <a:spcBef>
                <a:spcPts val="400"/>
              </a:spcBef>
              <a:spcAft>
                <a:spcPts val="400"/>
              </a:spcAft>
              <a:buSzPct val="80000"/>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ts val="400"/>
              </a:spcBef>
              <a:spcAft>
                <a:spcPts val="400"/>
              </a:spcAft>
              <a:buSzPct val="80000"/>
              <a:buFont typeface="Arial" panose="020B0604020202020204" pitchFamily="34" charset="0"/>
              <a:buChar char="•"/>
              <a:defRPr sz="1600" kern="1200">
                <a:solidFill>
                  <a:schemeClr val="tx1"/>
                </a:solidFill>
                <a:latin typeface="Arial" panose="020B0604020202020204" pitchFamily="34" charset="0"/>
                <a:ea typeface="+mn-ea"/>
                <a:cs typeface="+mn-cs"/>
              </a:defRPr>
            </a:lvl3pPr>
            <a:lvl4pPr marL="1600200" indent="-228600" algn="l" rtl="0" eaLnBrk="0" fontAlgn="base" hangingPunct="0">
              <a:spcBef>
                <a:spcPts val="400"/>
              </a:spcBef>
              <a:spcAft>
                <a:spcPts val="400"/>
              </a:spcAft>
              <a:buSzPct val="80000"/>
              <a:buFont typeface="Arial" panose="020B0604020202020204" pitchFamily="34" charset="0"/>
              <a:buChar char="–"/>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ts val="400"/>
              </a:spcBef>
              <a:spcAft>
                <a:spcPts val="400"/>
              </a:spcAft>
              <a:buSzPct val="80000"/>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a:spcBef>
                <a:spcPct val="0"/>
              </a:spcBef>
              <a:spcAft>
                <a:spcPct val="0"/>
              </a:spcAft>
              <a:buClrTx/>
              <a:buSzTx/>
              <a:buFontTx/>
              <a:buNone/>
            </a:pPr>
            <a:r>
              <a:rPr lang="en-GB" altLang="en-US" sz="1400" dirty="0">
                <a:cs typeface="Arial" panose="020B0604020202020204" pitchFamily="34" charset="0"/>
              </a:rPr>
              <a:t>© </a:t>
            </a:r>
            <a:r>
              <a:rPr lang="en-GB" altLang="en-US" sz="1200" dirty="0">
                <a:latin typeface="Times New Roman" panose="02020603050405020304" pitchFamily="18" charset="0"/>
                <a:cs typeface="Arial" panose="020B0604020202020204" pitchFamily="34" charset="0"/>
              </a:rPr>
              <a:t>IIT 2022-23 - SS</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font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3385</TotalTime>
  <Words>1765</Words>
  <Application>Microsoft Office PowerPoint</Application>
  <PresentationFormat>On-screen Show (4:3)</PresentationFormat>
  <Paragraphs>212</Paragraphs>
  <Slides>16</Slides>
  <Notes>12</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Book Antiqua</vt:lpstr>
      <vt:lpstr>Calibri</vt:lpstr>
      <vt:lpstr>Cambria</vt:lpstr>
      <vt:lpstr>Gill Sans MT</vt:lpstr>
      <vt:lpstr>Maiandra GD</vt:lpstr>
      <vt:lpstr>Times New Roman</vt:lpstr>
      <vt:lpstr>Trebuchet MS</vt:lpstr>
      <vt:lpstr>Wingdings</vt:lpstr>
      <vt:lpstr>1_Office Theme</vt:lpstr>
      <vt:lpstr>PowerPoint Presentation</vt:lpstr>
      <vt:lpstr>Plagiarism</vt:lpstr>
      <vt:lpstr>Plagiarism – Univ. of Westminster</vt:lpstr>
      <vt:lpstr>Plagiarism – Univ. of Westminster</vt:lpstr>
      <vt:lpstr>Why is Plagiarism Wrong?</vt:lpstr>
      <vt:lpstr>Referencing (Citing) Your Sources</vt:lpstr>
      <vt:lpstr>When to Reference (Cite) Your Sources</vt:lpstr>
      <vt:lpstr>Referencing Your Sources</vt:lpstr>
      <vt:lpstr>Referencing Your Sources</vt:lpstr>
      <vt:lpstr>Referencing Your Sources - References</vt:lpstr>
      <vt:lpstr>Referencing Your Sources – Books</vt:lpstr>
      <vt:lpstr>Referencing Your Sources – Websites</vt:lpstr>
      <vt:lpstr> Video</vt:lpstr>
      <vt:lpstr>Tips to Help Avoid Plagiarism</vt:lpstr>
      <vt:lpstr>Finally…</vt:lpstr>
      <vt:lpstr>References</vt:lpstr>
    </vt:vector>
  </TitlesOfParts>
  <Company>Informatics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shyani</dc:creator>
  <cp:lastModifiedBy>Hettiaratchy, Antoinette</cp:lastModifiedBy>
  <cp:revision>447</cp:revision>
  <cp:lastPrinted>2018-02-27T05:00:14Z</cp:lastPrinted>
  <dcterms:created xsi:type="dcterms:W3CDTF">2008-12-05T06:09:19Z</dcterms:created>
  <dcterms:modified xsi:type="dcterms:W3CDTF">2023-06-19T04:15:11Z</dcterms:modified>
</cp:coreProperties>
</file>