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05" r:id="rId5"/>
    <p:sldId id="296" r:id="rId6"/>
    <p:sldId id="306" r:id="rId7"/>
    <p:sldId id="320" r:id="rId8"/>
    <p:sldId id="321" r:id="rId9"/>
    <p:sldId id="317" r:id="rId10"/>
    <p:sldId id="318" r:id="rId11"/>
    <p:sldId id="319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879" autoAdjust="0"/>
  </p:normalViewPr>
  <p:slideViewPr>
    <p:cSldViewPr snapToGrid="0">
      <p:cViewPr varScale="1">
        <p:scale>
          <a:sx n="69" d="100"/>
          <a:sy n="69" d="100"/>
        </p:scale>
        <p:origin x="7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3/28/2023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3/28/2023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232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8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plant&#10;&#10;Description automatically generated">
            <a:extLst>
              <a:ext uri="{FF2B5EF4-FFF2-40B4-BE49-F238E27FC236}">
                <a16:creationId xmlns:a16="http://schemas.microsoft.com/office/drawing/2014/main" id="{A26D6E84-B5BE-5F3E-8B3F-1A46C7F307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210" y="0"/>
            <a:ext cx="8392026" cy="68580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0A7E03F-5776-960D-3CA6-7CE62AC96693}"/>
              </a:ext>
            </a:extLst>
          </p:cNvPr>
          <p:cNvSpPr/>
          <p:nvPr userDrawn="1"/>
        </p:nvSpPr>
        <p:spPr>
          <a:xfrm>
            <a:off x="3300284" y="654912"/>
            <a:ext cx="5591432" cy="559143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7464AF-3FD6-6193-CC95-A941ECE17B9D}"/>
              </a:ext>
            </a:extLst>
          </p:cNvPr>
          <p:cNvCxnSpPr>
            <a:cxnSpLocks/>
          </p:cNvCxnSpPr>
          <p:nvPr userDrawn="1"/>
        </p:nvCxnSpPr>
        <p:spPr>
          <a:xfrm>
            <a:off x="4359876" y="4300155"/>
            <a:ext cx="347224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E5214731-3110-8D76-56DF-6335371041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961" y="4157464"/>
            <a:ext cx="972078" cy="285381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516369FF-9501-1944-3E3F-46CBFD515D8D}"/>
              </a:ext>
            </a:extLst>
          </p:cNvPr>
          <p:cNvSpPr/>
          <p:nvPr userDrawn="1"/>
        </p:nvSpPr>
        <p:spPr>
          <a:xfrm>
            <a:off x="3447535" y="807312"/>
            <a:ext cx="5296930" cy="529693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ceramic ware, porcelain&#10;&#10;Description automatically generated">
            <a:extLst>
              <a:ext uri="{FF2B5EF4-FFF2-40B4-BE49-F238E27FC236}">
                <a16:creationId xmlns:a16="http://schemas.microsoft.com/office/drawing/2014/main" id="{AB1576B0-66ED-3F92-2AF8-4EF965E4E3F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338" y="4814449"/>
            <a:ext cx="1668775" cy="1621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576603-B88C-9F7F-98A5-E94BD2C23E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777" y="1164252"/>
            <a:ext cx="818801" cy="845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9296" y="2660904"/>
            <a:ext cx="6693408" cy="1088136"/>
          </a:xfrm>
        </p:spPr>
        <p:txBody>
          <a:bodyPr anchor="b">
            <a:noAutofit/>
          </a:bodyPr>
          <a:lstStyle>
            <a:lvl1pPr algn="ctr"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6384" y="2267712"/>
            <a:ext cx="2999232" cy="43891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abric&#10;&#10;Description automatically generated">
            <a:extLst>
              <a:ext uri="{FF2B5EF4-FFF2-40B4-BE49-F238E27FC236}">
                <a16:creationId xmlns:a16="http://schemas.microsoft.com/office/drawing/2014/main" id="{ABAD6905-AD97-1EAF-A4A3-D0BB13B128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BCB4CA-03FB-81F4-F8A2-FA9C0DBDEB11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group of flowers&#10;&#10;Description automatically generated with low confidence">
            <a:extLst>
              <a:ext uri="{FF2B5EF4-FFF2-40B4-BE49-F238E27FC236}">
                <a16:creationId xmlns:a16="http://schemas.microsoft.com/office/drawing/2014/main" id="{138EDBF7-FA56-2BF9-ECFA-6C39FEE8F8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9852" flipH="1">
            <a:off x="1760954" y="2048834"/>
            <a:ext cx="1230524" cy="22873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880" y="978408"/>
            <a:ext cx="37490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83880" y="2194560"/>
            <a:ext cx="3749040" cy="430682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0FE36A83-31CF-DF76-5708-55ED9FB707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5BF6365E-74A9-6D7B-5F20-7C29F29017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5296" y="1426464"/>
            <a:ext cx="3922776" cy="424281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B4DE27-1913-8274-9943-46641EA0DAB7}"/>
              </a:ext>
            </a:extLst>
          </p:cNvPr>
          <p:cNvSpPr/>
          <p:nvPr userDrawn="1"/>
        </p:nvSpPr>
        <p:spPr>
          <a:xfrm>
            <a:off x="1174276" y="-756"/>
            <a:ext cx="9843449" cy="5690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01AB4A-AE17-BFA4-697C-75EC6407E147}"/>
              </a:ext>
            </a:extLst>
          </p:cNvPr>
          <p:cNvSpPr/>
          <p:nvPr userDrawn="1"/>
        </p:nvSpPr>
        <p:spPr>
          <a:xfrm>
            <a:off x="1604189" y="-13446"/>
            <a:ext cx="8983623" cy="52577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1C7F01FE-99A8-35BD-05A1-6D93A2578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833" y="5110810"/>
            <a:ext cx="1207554" cy="3545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6660DF-FD7A-4340-E854-B4680A6B88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02474" y="-1953000"/>
            <a:ext cx="1485900" cy="537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89888"/>
            <a:ext cx="8695944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3516" y="2651760"/>
            <a:ext cx="7744968" cy="269748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 algn="ctr">
              <a:lnSpc>
                <a:spcPct val="100000"/>
              </a:lnSpc>
              <a:defRPr sz="18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 algn="ctr">
              <a:defRPr sz="16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F05D25C-B703-1868-603E-D468EF44D7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8FDB2CC-A975-BC07-042A-228D387E51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26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ADFA29-47E3-2E16-12B7-D8031DC04C0D}"/>
              </a:ext>
            </a:extLst>
          </p:cNvPr>
          <p:cNvSpPr/>
          <p:nvPr userDrawn="1"/>
        </p:nvSpPr>
        <p:spPr>
          <a:xfrm>
            <a:off x="0" y="3377183"/>
            <a:ext cx="12192000" cy="2326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close up of a plant&#10;&#10;Description automatically generated with low confidence">
            <a:extLst>
              <a:ext uri="{FF2B5EF4-FFF2-40B4-BE49-F238E27FC236}">
                <a16:creationId xmlns:a16="http://schemas.microsoft.com/office/drawing/2014/main" id="{D373DB44-C887-96AC-D32D-B7656F28F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87322" y="3187511"/>
            <a:ext cx="1422400" cy="5283200"/>
          </a:xfrm>
          <a:prstGeom prst="rect">
            <a:avLst/>
          </a:prstGeom>
        </p:spPr>
      </p:pic>
      <p:pic>
        <p:nvPicPr>
          <p:cNvPr id="9" name="Picture 8" descr="A picture containing bedclothes, fabric&#10;&#10;Description automatically generated">
            <a:extLst>
              <a:ext uri="{FF2B5EF4-FFF2-40B4-BE49-F238E27FC236}">
                <a16:creationId xmlns:a16="http://schemas.microsoft.com/office/drawing/2014/main" id="{6A080FF9-A96B-AA38-428D-5F2CF533D0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400022" y="287485"/>
            <a:ext cx="1485900" cy="53721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5150280-02E2-686D-A130-65EBDA15EF13}"/>
              </a:ext>
            </a:extLst>
          </p:cNvPr>
          <p:cNvSpPr/>
          <p:nvPr userDrawn="1"/>
        </p:nvSpPr>
        <p:spPr>
          <a:xfrm>
            <a:off x="232651" y="3633264"/>
            <a:ext cx="11740896" cy="17897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pic>
        <p:nvPicPr>
          <p:cNvPr id="15" name="Picture 14" descr="A picture containing ceramic ware, porcelain&#10;&#10;Description automatically generated">
            <a:extLst>
              <a:ext uri="{FF2B5EF4-FFF2-40B4-BE49-F238E27FC236}">
                <a16:creationId xmlns:a16="http://schemas.microsoft.com/office/drawing/2014/main" id="{3DD4D68C-6665-333E-98E8-785116A05A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90193">
            <a:off x="6957396" y="5090392"/>
            <a:ext cx="856832" cy="832525"/>
          </a:xfrm>
          <a:prstGeom prst="rect">
            <a:avLst/>
          </a:prstGeom>
        </p:spPr>
      </p:pic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7E0939A-D971-0D79-9B6D-834913C959B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979" y="3252854"/>
            <a:ext cx="1206427" cy="6213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153668" y="3977640"/>
            <a:ext cx="9884664" cy="7315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1153668" y="4700016"/>
            <a:ext cx="9884664" cy="457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999"/>
            <a:ext cx="10515600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70832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70EA9-DC14-D6B7-054C-51C9E1FE93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5A817-7911-6CCE-C2C4-2C8568F7F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999"/>
            <a:ext cx="10515600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72000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70EA9-DC14-D6B7-054C-51C9E1FE93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5A817-7911-6CCE-C2C4-2C8568F7F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10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F45E1C-47F6-0AF9-7468-BA613D681E1D}"/>
              </a:ext>
            </a:extLst>
          </p:cNvPr>
          <p:cNvSpPr/>
          <p:nvPr userDrawn="1"/>
        </p:nvSpPr>
        <p:spPr>
          <a:xfrm>
            <a:off x="0" y="1533950"/>
            <a:ext cx="12192000" cy="379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abric&#10;&#10;Description automatically generated">
            <a:extLst>
              <a:ext uri="{FF2B5EF4-FFF2-40B4-BE49-F238E27FC236}">
                <a16:creationId xmlns:a16="http://schemas.microsoft.com/office/drawing/2014/main" id="{AB9E0D8B-7031-366D-884B-EB3FABD78C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56236" y="-1772981"/>
            <a:ext cx="2147050" cy="603966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859314F-DCEF-A5A7-C5D9-F0D39AAC9FFA}"/>
              </a:ext>
            </a:extLst>
          </p:cNvPr>
          <p:cNvSpPr/>
          <p:nvPr userDrawn="1"/>
        </p:nvSpPr>
        <p:spPr>
          <a:xfrm>
            <a:off x="225552" y="1796143"/>
            <a:ext cx="11740896" cy="32657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DAAE5EB8-5B6B-6FA6-E6E7-D2F58FDFB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307543" y="-287017"/>
            <a:ext cx="1051334" cy="3866771"/>
          </a:xfrm>
          <a:prstGeom prst="rect">
            <a:avLst/>
          </a:prstGeom>
        </p:spPr>
      </p:pic>
      <p:pic>
        <p:nvPicPr>
          <p:cNvPr id="19" name="Picture 18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BB1368FF-AA1B-4423-30B1-BE082E6F19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222" y="492338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456" y="2404872"/>
            <a:ext cx="8705088" cy="2002536"/>
          </a:xfrm>
        </p:spPr>
        <p:txBody>
          <a:bodyPr anchor="t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3454" y="3964517"/>
            <a:ext cx="8705089" cy="457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F5E2B84E-B4F2-ED93-8084-ECFC3B9C38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49667" y="3189069"/>
            <a:ext cx="945473" cy="1936750"/>
          </a:xfrm>
        </p:spPr>
        <p:txBody>
          <a:bodyPr>
            <a:noAutofit/>
          </a:bodyPr>
          <a:lstStyle>
            <a:lvl1pPr marL="0" indent="0">
              <a:buNone/>
              <a:defRPr sz="14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FDD82133-EB75-7E07-A9CE-730CB7F6CD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184" y="2136567"/>
            <a:ext cx="941832" cy="1936750"/>
          </a:xfrm>
        </p:spPr>
        <p:txBody>
          <a:bodyPr>
            <a:noAutofit/>
          </a:bodyPr>
          <a:lstStyle>
            <a:lvl1pPr marL="0" indent="0">
              <a:buNone/>
              <a:defRPr sz="14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17870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375868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26173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28309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3828270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63663" y="3926721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799" y="4286611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280672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16065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8201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8733074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66331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68467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68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68136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6424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6424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17">
            <a:extLst>
              <a:ext uri="{FF2B5EF4-FFF2-40B4-BE49-F238E27FC236}">
                <a16:creationId xmlns:a16="http://schemas.microsoft.com/office/drawing/2014/main" id="{B23EF08B-7D0C-7D96-413D-71C22E3F74D0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68136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19">
            <a:extLst>
              <a:ext uri="{FF2B5EF4-FFF2-40B4-BE49-F238E27FC236}">
                <a16:creationId xmlns:a16="http://schemas.microsoft.com/office/drawing/2014/main" id="{A6866782-6675-4F37-E5D2-68CB0191C1A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06424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9F53AB27-DDFA-AA5D-8253-546C9BBA9CE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06424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22675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39312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39312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DD9CE7E9-3BC2-0321-457B-61D363708B38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422675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70DD1941-A469-A457-B987-E0E2C300A8A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39312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D6B84B7D-A7EC-6FE1-9925-F78AF0DE230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639312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77214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2200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A1AC2FE-336D-4E7F-2C86-6A8C29BA8F90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677214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FA370BF1-09EC-DBE1-5118-8A92A0F90BC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72200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5089D72C-E865-F5D3-CB1E-050AEF68445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172200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317533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705088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05088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17">
            <a:extLst>
              <a:ext uri="{FF2B5EF4-FFF2-40B4-BE49-F238E27FC236}">
                <a16:creationId xmlns:a16="http://schemas.microsoft.com/office/drawing/2014/main" id="{4F7ECA98-24CD-8CC5-A3EC-BFF5E9B11748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9317533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Text Placeholder 19">
            <a:extLst>
              <a:ext uri="{FF2B5EF4-FFF2-40B4-BE49-F238E27FC236}">
                <a16:creationId xmlns:a16="http://schemas.microsoft.com/office/drawing/2014/main" id="{46CBECF2-D93E-3DF9-064C-CB4A3262B69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5088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71E06E16-A083-B853-8155-7FF97AD1DE8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05088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3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EB05881-FB11-43E8-CCDD-8C12CDB4FE47}"/>
              </a:ext>
            </a:extLst>
          </p:cNvPr>
          <p:cNvSpPr/>
          <p:nvPr userDrawn="1"/>
        </p:nvSpPr>
        <p:spPr>
          <a:xfrm>
            <a:off x="838199" y="196052"/>
            <a:ext cx="10515601" cy="1686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picture containing fabric&#10;&#10;Description automatically generated">
            <a:extLst>
              <a:ext uri="{FF2B5EF4-FFF2-40B4-BE49-F238E27FC236}">
                <a16:creationId xmlns:a16="http://schemas.microsoft.com/office/drawing/2014/main" id="{A4941BBB-13FC-2ACE-1A50-C0F465531B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14950" y="-64113"/>
            <a:ext cx="1562100" cy="4394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BE9E36-E9D5-3FA6-EE22-A6E5CE13C462}"/>
              </a:ext>
            </a:extLst>
          </p:cNvPr>
          <p:cNvSpPr/>
          <p:nvPr userDrawn="1"/>
        </p:nvSpPr>
        <p:spPr>
          <a:xfrm>
            <a:off x="995423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479E4054-0885-457B-35B3-A9B26ED936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869421" y="459092"/>
            <a:ext cx="749300" cy="2755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632"/>
            <a:ext cx="10515600" cy="1133856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90088"/>
            <a:ext cx="10515600" cy="3474720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6C79F3B-6B68-BA3C-6CBE-C26E339E45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D503431-982D-5D35-88BF-09474F76D6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044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68407D-A1C4-B842-0C34-B2DE8AD312D3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AE7FB-DFC0-DCDA-47AD-6ED81A6427FA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7A4DFCBA-879E-D6C9-9F81-B4F9225423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562BF3-1BFC-6948-02E0-8A1C121C3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8D7F8-0920-52BA-580D-0724912287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611EB-89A4-4C55-4032-4D0C418398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963F99-41C3-5ED4-AAD8-B904145CC7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75360" y="2615184"/>
            <a:ext cx="10241280" cy="33192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034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7EB7A-F5B6-E308-68EE-3065E2B039A6}"/>
              </a:ext>
            </a:extLst>
          </p:cNvPr>
          <p:cNvSpPr/>
          <p:nvPr userDrawn="1"/>
        </p:nvSpPr>
        <p:spPr>
          <a:xfrm>
            <a:off x="0" y="0"/>
            <a:ext cx="4873752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 descr="A close-up of a tree&#10;&#10;Description automatically generated with medium confidence">
            <a:extLst>
              <a:ext uri="{FF2B5EF4-FFF2-40B4-BE49-F238E27FC236}">
                <a16:creationId xmlns:a16="http://schemas.microsoft.com/office/drawing/2014/main" id="{FED57607-56F6-9FD5-F0A8-DE0BCFE896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66459" flipH="1">
            <a:off x="2282032" y="1589693"/>
            <a:ext cx="970220" cy="22361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72" y="978408"/>
            <a:ext cx="4974336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EF26CDF-94D4-BA22-7D14-8D3289040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1072" y="2322576"/>
            <a:ext cx="5065776" cy="448056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0017BF0C-B2B7-932F-A9AE-5BFAE4AB5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9612" y="2770632"/>
            <a:ext cx="5065776" cy="1554480"/>
          </a:xfrm>
        </p:spPr>
        <p:txBody>
          <a:bodyPr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DEAB8B47-DF86-7C9F-F027-2D4D22B2E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9612" y="4361688"/>
            <a:ext cx="5065776" cy="448056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9612" y="4791456"/>
            <a:ext cx="5065776" cy="1408176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8" name="Picture 37" descr="A group of flowers&#10;&#10;Description automatically generated with low confidence">
            <a:extLst>
              <a:ext uri="{FF2B5EF4-FFF2-40B4-BE49-F238E27FC236}">
                <a16:creationId xmlns:a16="http://schemas.microsoft.com/office/drawing/2014/main" id="{5B08C513-7071-2499-7E9D-CFD5A027C0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9083" y="2260473"/>
            <a:ext cx="1245309" cy="2314810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D46E6E9-39FE-B605-0786-F7F7E656F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1426464"/>
            <a:ext cx="3922776" cy="424281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8546F5-5752-9595-980A-9978EC65B179}"/>
              </a:ext>
            </a:extLst>
          </p:cNvPr>
          <p:cNvSpPr/>
          <p:nvPr userDrawn="1"/>
        </p:nvSpPr>
        <p:spPr>
          <a:xfrm>
            <a:off x="491679" y="319214"/>
            <a:ext cx="11208641" cy="5857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8B1DFD-B7E9-D65B-0A47-8D442617B0D0}"/>
              </a:ext>
            </a:extLst>
          </p:cNvPr>
          <p:cNvCxnSpPr>
            <a:cxnSpLocks/>
          </p:cNvCxnSpPr>
          <p:nvPr userDrawn="1"/>
        </p:nvCxnSpPr>
        <p:spPr>
          <a:xfrm>
            <a:off x="837235" y="1767119"/>
            <a:ext cx="1051656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4190CCC3-E5E8-9E96-318B-F3F62E2328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658" y="1631192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4712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4712" y="2629116"/>
            <a:ext cx="3200400" cy="3320861"/>
          </a:xfrm>
        </p:spPr>
        <p:txBody>
          <a:bodyPr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8848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2629116"/>
            <a:ext cx="3200400" cy="3320861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270D939-D128-D431-82CE-9C15D5A7A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09560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4AAE69C6-BB37-BC70-8424-BC928D19C9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09560" y="2629116"/>
            <a:ext cx="3200400" cy="3320861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908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fabric&#10;&#10;Description automatically generated">
            <a:extLst>
              <a:ext uri="{FF2B5EF4-FFF2-40B4-BE49-F238E27FC236}">
                <a16:creationId xmlns:a16="http://schemas.microsoft.com/office/drawing/2014/main" id="{E0606CB6-3E28-F128-51B5-3786D7404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4BBC1B-7DD9-DA00-15CC-B446DA472005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C88A03B2-8C41-A023-CB90-5F79A1F01A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pic>
        <p:nvPicPr>
          <p:cNvPr id="10" name="Picture 9" descr="A close-up of a flower&#10;&#10;Description automatically generated with low confidence">
            <a:extLst>
              <a:ext uri="{FF2B5EF4-FFF2-40B4-BE49-F238E27FC236}">
                <a16:creationId xmlns:a16="http://schemas.microsoft.com/office/drawing/2014/main" id="{9EA6110C-517A-C447-DB03-9A264F112F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809" y="1695833"/>
            <a:ext cx="1155700" cy="4318000"/>
          </a:xfrm>
          <a:prstGeom prst="rect">
            <a:avLst/>
          </a:prstGeom>
        </p:spPr>
      </p:pic>
      <p:pic>
        <p:nvPicPr>
          <p:cNvPr id="12" name="Picture 11" descr="A close-up of a flower&#10;&#10;Description automatically generated with low confidence">
            <a:extLst>
              <a:ext uri="{FF2B5EF4-FFF2-40B4-BE49-F238E27FC236}">
                <a16:creationId xmlns:a16="http://schemas.microsoft.com/office/drawing/2014/main" id="{DC4249CD-2B45-A435-5B21-CFA7042138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49" y="381916"/>
            <a:ext cx="1155700" cy="431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A7568A0-F819-551E-4780-20A651246990}"/>
              </a:ext>
            </a:extLst>
          </p:cNvPr>
          <p:cNvSpPr/>
          <p:nvPr userDrawn="1"/>
        </p:nvSpPr>
        <p:spPr>
          <a:xfrm>
            <a:off x="1024128" y="2162946"/>
            <a:ext cx="3794760" cy="2536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11D903-56F9-B09B-0443-A76786804823}"/>
              </a:ext>
            </a:extLst>
          </p:cNvPr>
          <p:cNvSpPr/>
          <p:nvPr userDrawn="1"/>
        </p:nvSpPr>
        <p:spPr>
          <a:xfrm>
            <a:off x="1131655" y="2264499"/>
            <a:ext cx="3585549" cy="23354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D91551-9B41-0ACF-0BE6-9D174E695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184" y="2889504"/>
            <a:ext cx="2852928" cy="108813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45D3FB1-678F-0A9A-CCB6-435CE57DA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1312" y="2011680"/>
            <a:ext cx="2999232" cy="2843784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 algn="l">
              <a:lnSpc>
                <a:spcPct val="150000"/>
              </a:lnSpc>
              <a:defRPr sz="20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 algn="ctr">
              <a:defRPr sz="16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82466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362110-9E75-C1E6-F3D3-769A27CB658B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E61109-4A99-6337-9E7D-6AE0370E2A33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13B4663F-72DF-CD37-DE9D-C35DFB37E8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48BE494-2D3C-A618-4422-6EA94969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28461"/>
            <a:ext cx="5181600" cy="35485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628461"/>
            <a:ext cx="5181600" cy="35485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B248-9F11-0A11-E6AF-776D371E14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EFD48A-F270-E4EE-7C35-F4304F3DDF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7DEB86-4C56-EB31-FEEE-EC8AA99FB456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19EDA-96E7-C255-DFF9-F36A187EBACD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FAD938FE-3B63-4832-B610-64346C069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B38128B-385C-B928-A4A8-BD98929D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80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9" r:id="rId3"/>
    <p:sldLayoutId id="2147483651" r:id="rId4"/>
    <p:sldLayoutId id="2147483650" r:id="rId5"/>
    <p:sldLayoutId id="2147483663" r:id="rId6"/>
    <p:sldLayoutId id="2147483665" r:id="rId7"/>
    <p:sldLayoutId id="2147483660" r:id="rId8"/>
    <p:sldLayoutId id="2147483661" r:id="rId9"/>
    <p:sldLayoutId id="2147483662" r:id="rId10"/>
    <p:sldLayoutId id="2147483666" r:id="rId11"/>
    <p:sldLayoutId id="2147483653" r:id="rId12"/>
    <p:sldLayoutId id="2147483664" r:id="rId13"/>
    <p:sldLayoutId id="2147483667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73292A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180B-35BA-C28E-820F-59C84FBDD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436" y="2706624"/>
            <a:ext cx="6436268" cy="1408176"/>
          </a:xfrm>
        </p:spPr>
        <p:txBody>
          <a:bodyPr/>
          <a:lstStyle/>
          <a:p>
            <a:br>
              <a:rPr lang="en-US" sz="2800" b="1" dirty="0">
                <a:solidFill>
                  <a:srgbClr val="7030A0"/>
                </a:solidFill>
              </a:rPr>
            </a:br>
            <a:br>
              <a:rPr lang="en-US" sz="2800" b="1" dirty="0">
                <a:solidFill>
                  <a:srgbClr val="7030A0"/>
                </a:solidFill>
              </a:rPr>
            </a:br>
            <a:r>
              <a:rPr lang="en-US" sz="2800" b="1" dirty="0">
                <a:solidFill>
                  <a:srgbClr val="7030A0"/>
                </a:solidFill>
              </a:rPr>
              <a:t>VOCABULARY BUILDING</a:t>
            </a:r>
            <a:br>
              <a:rPr lang="en-US" sz="2800" b="1" dirty="0">
                <a:solidFill>
                  <a:srgbClr val="7030A0"/>
                </a:solidFill>
              </a:rPr>
            </a:br>
            <a:br>
              <a:rPr lang="en-US" sz="2800" b="1" dirty="0">
                <a:solidFill>
                  <a:srgbClr val="7030A0"/>
                </a:solidFill>
              </a:rPr>
            </a:br>
            <a:r>
              <a:rPr lang="en-US" sz="2800" b="1" dirty="0">
                <a:solidFill>
                  <a:srgbClr val="7030A0"/>
                </a:solidFill>
              </a:rPr>
              <a:t>29 MARCH 2023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260E8-21BF-1371-4767-5E86248A7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3455" y="2018329"/>
            <a:ext cx="3505199" cy="57247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+mj-lt"/>
              </a:rPr>
              <a:t>ACADEMIC SKILLS</a:t>
            </a:r>
            <a:r>
              <a:rPr lang="en-US" dirty="0">
                <a:solidFill>
                  <a:srgbClr val="FF0000"/>
                </a:solidFill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1771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182" y="356616"/>
            <a:ext cx="4520738" cy="72403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Baskerville Old Face" panose="02020602080505020303" pitchFamily="18" charset="77"/>
              </a:rPr>
              <a:t>We will do…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0AC0D-F624-B281-1AB5-687E5F6B32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pic>
        <p:nvPicPr>
          <p:cNvPr id="10" name="Picture 9" descr="Floral leaf accent">
            <a:extLst>
              <a:ext uri="{FF2B5EF4-FFF2-40B4-BE49-F238E27FC236}">
                <a16:creationId xmlns:a16="http://schemas.microsoft.com/office/drawing/2014/main" id="{08A3395B-5659-47E4-8F54-71340961F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41633" flipH="1">
            <a:off x="1654192" y="3058939"/>
            <a:ext cx="1243661" cy="790090"/>
          </a:xfrm>
          <a:prstGeom prst="rect">
            <a:avLst/>
          </a:prstGeom>
        </p:spPr>
      </p:pic>
      <p:pic>
        <p:nvPicPr>
          <p:cNvPr id="1929" name="Picture 1928" descr="Floral leaf accent">
            <a:extLst>
              <a:ext uri="{FF2B5EF4-FFF2-40B4-BE49-F238E27FC236}">
                <a16:creationId xmlns:a16="http://schemas.microsoft.com/office/drawing/2014/main" id="{CF8E7A1B-4724-55CB-6FAD-D8E756293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260" y="2342954"/>
            <a:ext cx="1791038" cy="203369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59782" y="1080655"/>
            <a:ext cx="4932218" cy="54207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accent3"/>
                </a:solidFill>
                <a:latin typeface="Baskerville Old Face" panose="02020602080505020303" pitchFamily="18" charset="0"/>
                <a:cs typeface="Gill Sans Light" panose="020B0302020104020203" pitchFamily="34" charset="-79"/>
              </a:rPr>
              <a:t>Activity 1 – General English vs Business English. Watch Video.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accent3"/>
                </a:solidFill>
                <a:latin typeface="Baskerville Old Face" panose="02020602080505020303" pitchFamily="18" charset="0"/>
                <a:cs typeface="Gill Sans Light" panose="020B0302020104020203" pitchFamily="34" charset="-79"/>
              </a:rPr>
              <a:t>Activity 2 - Passage – to complete – vocabulary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Baskerville Old Face" panose="02020602080505020303" pitchFamily="18" charset="0"/>
                <a:cs typeface="Gill Sans Light" panose="020B0302020104020203" pitchFamily="34" charset="-79"/>
              </a:rPr>
              <a:t>PP slides – Writing in academic style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accent3"/>
                </a:solidFill>
                <a:latin typeface="Baskerville Old Face" panose="02020602080505020303" pitchFamily="18" charset="0"/>
                <a:cs typeface="Gill Sans Light" panose="020B0302020104020203" pitchFamily="34" charset="-79"/>
              </a:rPr>
              <a:t>Features of Academic Style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Baskerville Old Face" panose="02020602080505020303" pitchFamily="18" charset="0"/>
                <a:cs typeface="Gill Sans Light" panose="020B0302020104020203" pitchFamily="34" charset="-79"/>
              </a:rPr>
              <a:t>Activity 3 – Common rules of academic style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accent3"/>
                </a:solidFill>
                <a:latin typeface="Baskerville Old Face" panose="02020602080505020303" pitchFamily="18" charset="0"/>
                <a:cs typeface="Gill Sans Light" panose="020B0302020104020203" pitchFamily="34" charset="-79"/>
              </a:rPr>
              <a:t>Activity 4 – Academic style errors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accent3"/>
                </a:solidFill>
                <a:latin typeface="Baskerville Old Face" panose="02020602080505020303" pitchFamily="18" charset="0"/>
                <a:cs typeface="Gill Sans Light" panose="020B0302020104020203" pitchFamily="34" charset="-79"/>
              </a:rPr>
              <a:t>Activity 5 – Essay - errors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solidFill>
                <a:schemeClr val="accent3"/>
              </a:solidFill>
              <a:latin typeface="Baskerville Old Face" panose="02020602080505020303" pitchFamily="18" charset="0"/>
              <a:cs typeface="Gill Sans Light" panose="020B0302020104020203" pitchFamily="34" charset="-79"/>
            </a:endParaRPr>
          </a:p>
          <a:p>
            <a:endParaRPr lang="en-US" dirty="0">
              <a:solidFill>
                <a:schemeClr val="accent3"/>
              </a:solidFill>
              <a:latin typeface="Gill Sans Nova Light" panose="020B0302020104020203" pitchFamily="34" charset="0"/>
              <a:cs typeface="Calibr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47406-5839-A735-732D-5690E631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884A3-BD82-0FC6-A582-54DD17DBC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52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2655-34DF-25F9-4640-B2CE5329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83060"/>
            <a:ext cx="8695944" cy="651164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7030A0"/>
                </a:solidFill>
              </a:rPr>
              <a:t>Moving on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85715-2793-160B-269E-D9516C84D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2348348"/>
            <a:ext cx="7744968" cy="2819398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latin typeface="Baskerville Old Face" panose="02020602080505020303" pitchFamily="18" charset="0"/>
              </a:rPr>
              <a:t>Complete </a:t>
            </a:r>
            <a:r>
              <a:rPr lang="en-US" sz="24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Activity One </a:t>
            </a:r>
            <a:r>
              <a:rPr lang="en-US" sz="2400" dirty="0">
                <a:latin typeface="Baskerville Old Face" panose="02020602080505020303" pitchFamily="18" charset="0"/>
              </a:rPr>
              <a:t>in the worksheet</a:t>
            </a:r>
          </a:p>
          <a:p>
            <a:pPr marL="457200" indent="-457200" algn="l">
              <a:buFont typeface="+mj-lt"/>
              <a:buAutoNum type="arabicPeriod"/>
            </a:pPr>
            <a:endParaRPr lang="en-US" sz="2400" dirty="0">
              <a:latin typeface="Baskerville Old Face" panose="02020602080505020303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latin typeface="Baskerville Old Face" panose="02020602080505020303" pitchFamily="18" charset="0"/>
              </a:rPr>
              <a:t>Watch the video and check your answers</a:t>
            </a: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Baskerville Old Face" panose="02020602080505020303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Baskerville Old Face" panose="02020602080505020303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Baskerville Old Face" panose="02020602080505020303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Baskerville Old Face" panose="02020602080505020303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09A75-5E9A-C165-5A1D-764F9E96B7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8060B-6C9E-CFFF-55DE-F0D645C094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99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How to change Basic English into Business English Tute 3">
            <a:hlinkClick r:id="" action="ppaction://media"/>
            <a:extLst>
              <a:ext uri="{FF2B5EF4-FFF2-40B4-BE49-F238E27FC236}">
                <a16:creationId xmlns:a16="http://schemas.microsoft.com/office/drawing/2014/main" id="{A328E1F8-8783-7188-9808-5DD5DAEB7FC7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05345" y="1385455"/>
            <a:ext cx="9822873" cy="432261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A05392-6C4B-B031-64E1-1CABE1606C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6F1FA8-59EF-9866-689B-7934B6BC46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4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604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44F0A-F96C-57EE-F9BD-1E408C9DD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89888"/>
            <a:ext cx="8695944" cy="508185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rgbClr val="7030A0"/>
                </a:solidFill>
              </a:rPr>
              <a:t>Moving on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2FFDA-2B3F-48BB-D73F-3A4A11271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982" y="2466108"/>
            <a:ext cx="8963892" cy="2883131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latin typeface="+mj-lt"/>
              </a:rPr>
              <a:t>Now complete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Activity Two</a:t>
            </a:r>
            <a:r>
              <a:rPr lang="en-US" sz="2400" dirty="0">
                <a:latin typeface="+mj-lt"/>
              </a:rPr>
              <a:t>. Then let’s check the answers.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latin typeface="+mj-lt"/>
              </a:rPr>
              <a:t>Do a self-study “Writing in Academic Style”. </a:t>
            </a:r>
          </a:p>
          <a:p>
            <a:pPr algn="l"/>
            <a:r>
              <a:rPr lang="en-US" sz="2400" dirty="0">
                <a:latin typeface="+mj-lt"/>
              </a:rPr>
              <a:t>      Find some free time and go through these pp slides.</a:t>
            </a:r>
          </a:p>
          <a:p>
            <a:pPr algn="l"/>
            <a:r>
              <a:rPr lang="en-US" sz="2400" dirty="0">
                <a:latin typeface="+mj-lt"/>
              </a:rPr>
              <a:t>3.    Let’s look at some Features of Academic Writing in brief</a:t>
            </a: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+mj-lt"/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247286-482D-2E4B-556A-5019766230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7BD9BB-9C78-1761-B19A-B8F37E4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3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6F6F-C2F2-C475-C65F-4E0A427F0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89888"/>
            <a:ext cx="8695944" cy="660585"/>
          </a:xfrm>
        </p:spPr>
        <p:txBody>
          <a:bodyPr>
            <a:noAutofit/>
          </a:bodyPr>
          <a:lstStyle/>
          <a:p>
            <a:pPr algn="l"/>
            <a:br>
              <a:rPr lang="en-US" sz="1800" dirty="0">
                <a:latin typeface="Baskerville Old Face" panose="02020602080505020303" pitchFamily="18" charset="0"/>
              </a:rPr>
            </a:br>
            <a:br>
              <a:rPr lang="en-US" sz="1800" dirty="0">
                <a:latin typeface="Baskerville Old Face" panose="02020602080505020303" pitchFamily="18" charset="0"/>
              </a:rPr>
            </a:br>
            <a:r>
              <a:rPr lang="en-US" sz="2400" dirty="0">
                <a:solidFill>
                  <a:srgbClr val="7030A0"/>
                </a:solidFill>
                <a:latin typeface="Baskerville Old Face" panose="02020602080505020303" pitchFamily="18" charset="0"/>
              </a:rPr>
              <a:t>Features of Academic Writing (in brief)</a:t>
            </a:r>
            <a:br>
              <a:rPr lang="en-US" sz="2400" dirty="0">
                <a:solidFill>
                  <a:srgbClr val="7030A0"/>
                </a:solidFill>
                <a:latin typeface="Baskerville Old Face" panose="02020602080505020303" pitchFamily="18" charset="0"/>
              </a:rPr>
            </a:b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7FEFC-4B8F-AAE1-B694-C31BB3CA2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028" y="2050473"/>
            <a:ext cx="8695944" cy="299258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It has few personal pronouns, such as ‘I’, ‘we’ or ‘they’.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It is highly structured &amp; has a very formal style.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It is impersonal and non-emotional -usually fact based.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Its grammar makes greater use of the passive tense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It is often research based and not opinion-based writing. It uses references and quotes to show this</a:t>
            </a:r>
            <a:endParaRPr lang="en-US" sz="280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7A3ED-2CD9-EC28-CF03-6C08058E5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C792D-11CB-907D-63F1-35882AE5E6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91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EDF6-5D48-A83E-61E8-6DC13D5AC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260765"/>
            <a:ext cx="8695944" cy="526472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rgbClr val="7030A0"/>
                </a:solidFill>
                <a:latin typeface="Baskerville Old Face" panose="02020602080505020303" pitchFamily="18" charset="0"/>
              </a:rPr>
              <a:t>Features of Academic Writing – Cont’d …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76AB5-BD7F-C838-4524-4602FD293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0364" y="1787238"/>
            <a:ext cx="8573608" cy="317269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It features no jargon or slang words.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It has no colloquialisms. e.g. The kids in school nowadays.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No grammatical contractions e.g. ‘can’t, won’t, doesn’t etc.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Demonstrates high levels of critical thinking and critical analysis.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63450-D4AB-6EAD-C019-02CCA497F0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C3C4A-75E0-3702-D7EA-3080FC171C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1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7D49-627A-D677-FFA6-589CF481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99309"/>
            <a:ext cx="8695944" cy="706582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rgbClr val="7030A0"/>
                </a:solidFill>
              </a:rPr>
              <a:t>Moving on … do the following activities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53128-FF88-E4B1-78BC-0CD51C03F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028" y="2105892"/>
            <a:ext cx="8220456" cy="2854036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Activity Three </a:t>
            </a:r>
            <a:r>
              <a:rPr lang="en-US" sz="2400" dirty="0">
                <a:latin typeface="+mj-lt"/>
              </a:rPr>
              <a:t>– common rules of academic style.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Activity Four </a:t>
            </a:r>
            <a:r>
              <a:rPr lang="en-US" sz="2400" dirty="0">
                <a:latin typeface="+mj-lt"/>
              </a:rPr>
              <a:t>– Your lecturer will share a chart on the screen.</a:t>
            </a:r>
          </a:p>
          <a:p>
            <a:pPr algn="l"/>
            <a:r>
              <a:rPr lang="en-US" sz="2400" dirty="0">
                <a:latin typeface="+mj-lt"/>
              </a:rPr>
              <a:t>      (Types of Academic style errors)</a:t>
            </a:r>
          </a:p>
          <a:p>
            <a:pPr algn="l"/>
            <a:r>
              <a:rPr lang="en-US" sz="2400" dirty="0">
                <a:latin typeface="+mj-lt"/>
              </a:rPr>
              <a:t>3.   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Activity Five </a:t>
            </a:r>
            <a:r>
              <a:rPr lang="en-US" sz="2400" dirty="0">
                <a:latin typeface="+mj-lt"/>
              </a:rPr>
              <a:t>– Identifying errors in Academic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71257-3AEC-4601-3597-5E7A209FF2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80C381-60B5-3668-8293-B3A73ABF53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87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68" y="3977639"/>
            <a:ext cx="9884664" cy="88530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Summary and Winding up</a:t>
            </a:r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-Flourish_Win32_CP_v8" id="{BCFB3359-BC8B-4F4E-99DD-822A55018E7C}" vid="{7DF7CEC2-9D9A-40F6-95E4-E2F6E93D64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BB2F3B-6257-41BB-8B64-5AC7494F27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14EFF02-EA18-493C-972D-813DB244CB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ACE2AAA-C718-435C-B4E6-95A08ACAC44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{5BB2CAD2-A881-455A-9725-A342287EE907}tf56410444_win32</Template>
  <TotalTime>157</TotalTime>
  <Words>387</Words>
  <Application>Microsoft Office PowerPoint</Application>
  <PresentationFormat>Widescreen</PresentationFormat>
  <Paragraphs>56</Paragraphs>
  <Slides>9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Baskerville</vt:lpstr>
      <vt:lpstr>Baskerville Old Face</vt:lpstr>
      <vt:lpstr>Calibri</vt:lpstr>
      <vt:lpstr>Gill Sans Light</vt:lpstr>
      <vt:lpstr>Gill Sans Nova</vt:lpstr>
      <vt:lpstr>Gill Sans Nova Light</vt:lpstr>
      <vt:lpstr>Office Theme</vt:lpstr>
      <vt:lpstr>  VOCABULARY BUILDING  29 MARCH 2023</vt:lpstr>
      <vt:lpstr>We will do…</vt:lpstr>
      <vt:lpstr>Moving on …</vt:lpstr>
      <vt:lpstr>PowerPoint Presentation</vt:lpstr>
      <vt:lpstr>Moving on …</vt:lpstr>
      <vt:lpstr>  Features of Academic Writing (in brief) </vt:lpstr>
      <vt:lpstr>Features of Academic Writing – Cont’d …</vt:lpstr>
      <vt:lpstr>Moving on … do the following activities</vt:lpstr>
      <vt:lpstr>Summary and Winding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VOCABULARY BUILDING 29 MARCH 2023</dc:title>
  <dc:creator>Hettiaratchy, Antoinette</dc:creator>
  <cp:lastModifiedBy>Hettiaratchy, Antoinette</cp:lastModifiedBy>
  <cp:revision>6</cp:revision>
  <dcterms:created xsi:type="dcterms:W3CDTF">2023-03-26T09:07:33Z</dcterms:created>
  <dcterms:modified xsi:type="dcterms:W3CDTF">2023-03-28T16:44:08Z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