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9" roundtripDataSignature="AMtx7mg9E2W70bTFocEkVoThQw3Tc18HU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2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26"/>
          <p:cNvSpPr txBox="1"/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6"/>
          <p:cNvSpPr txBox="1"/>
          <p:nvPr>
            <p:ph idx="1" type="subTitle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9" name="Google Shape;19;p2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26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showMasterSp="0" type="blank">
  <p:cSld name="BLANK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2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28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9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9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9"/>
          <p:cNvSpPr txBox="1"/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b="0"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9"/>
          <p:cNvSpPr txBox="1"/>
          <p:nvPr>
            <p:ph idx="1" type="body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0" name="Google Shape;40;p29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43" name="Google Shape;43;p29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3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30"/>
          <p:cNvSpPr txBox="1"/>
          <p:nvPr>
            <p:ph idx="1" type="body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2" type="body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48" name="Google Shape;48;p30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30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3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1"/>
          <p:cNvSpPr txBox="1"/>
          <p:nvPr>
            <p:ph idx="1" type="body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31"/>
          <p:cNvSpPr txBox="1"/>
          <p:nvPr>
            <p:ph idx="2" type="body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5" name="Google Shape;55;p31"/>
          <p:cNvSpPr txBox="1"/>
          <p:nvPr>
            <p:ph idx="3" type="body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b="0" sz="2000" cap="none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31"/>
          <p:cNvSpPr txBox="1"/>
          <p:nvPr>
            <p:ph idx="4" type="body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2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3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3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3"/>
          <p:cNvSpPr txBox="1"/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3"/>
          <p:cNvSpPr txBox="1"/>
          <p:nvPr>
            <p:ph idx="1" type="body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2" type="body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4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4"/>
          <p:cNvSpPr txBox="1"/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b="0" sz="36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8" name="Google Shape;78;p34"/>
          <p:cNvPicPr preferRelativeResize="0"/>
          <p:nvPr>
            <p:ph idx="2" type="pic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79" name="Google Shape;79;p34"/>
          <p:cNvSpPr txBox="1"/>
          <p:nvPr>
            <p:ph idx="1" type="body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80" name="Google Shape;80;p34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35"/>
          <p:cNvSpPr txBox="1"/>
          <p:nvPr>
            <p:ph idx="1" type="body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86" name="Google Shape;86;p3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showMasterSp="0" type="vertTitleAndTx">
  <p:cSld name="VERTICAL_TITLE_AND_VERTICAL_TEXT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6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6"/>
          <p:cNvSpPr txBox="1"/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6"/>
          <p:cNvSpPr txBox="1"/>
          <p:nvPr>
            <p:ph idx="1" type="body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45700" spcFirstLastPara="1" rIns="4570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/>
        </p:txBody>
      </p:sp>
      <p:sp>
        <p:nvSpPr>
          <p:cNvPr id="94" name="Google Shape;94;p36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36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" name="Google Shape;7;p25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" name="Google Shape;8;p2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b="0" i="0" sz="4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>
            <a:lvl1pPr indent="-3556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b="0" i="0" sz="20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b="0" i="0" sz="18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b="0" i="0" sz="1400" u="none" cap="none" strike="noStrik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0" type="dt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1" type="ftr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25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cap="flat" cmpd="sng" w="952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0.png"/><Relationship Id="rId4" Type="http://schemas.openxmlformats.org/officeDocument/2006/relationships/image" Target="../media/image1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 txBox="1"/>
          <p:nvPr>
            <p:ph type="ctrTitle"/>
          </p:nvPr>
        </p:nvSpPr>
        <p:spPr>
          <a:xfrm>
            <a:off x="1534581" y="2291110"/>
            <a:ext cx="9126011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6000"/>
              <a:buFont typeface="Calibri"/>
              <a:buNone/>
            </a:pPr>
            <a:r>
              <a:rPr lang="en-US" sz="6000"/>
              <a:t>Microsoft Excel</a:t>
            </a:r>
            <a:endParaRPr sz="6000" cap="none"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1583457" y="4571899"/>
            <a:ext cx="6831673" cy="20704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LECTURE 6 </a:t>
            </a:r>
            <a:endParaRPr/>
          </a:p>
        </p:txBody>
      </p:sp>
      <p:sp>
        <p:nvSpPr>
          <p:cNvPr id="103" name="Google Shape;103;p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04" name="Google Shape;10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09265" y="620378"/>
            <a:ext cx="2603218" cy="10729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Cell Range</a:t>
            </a:r>
            <a:endParaRPr/>
          </a:p>
        </p:txBody>
      </p:sp>
      <p:sp>
        <p:nvSpPr>
          <p:cNvPr id="110" name="Google Shape;110;p2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/>
              <a:t>A rectangular box of cells is called a “range”.</a:t>
            </a:r>
            <a:endParaRPr/>
          </a:p>
          <a:p>
            <a:pPr indent="0" lvl="0" marL="4572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/>
              <a:t>The name of a range is 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Times New Roman"/>
              <a:buChar char="–"/>
            </a:pPr>
            <a:r>
              <a:rPr lang="en-US"/>
              <a:t>the name of the upper left cell of the range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Char char="–"/>
            </a:pPr>
            <a:r>
              <a:rPr lang="en-US"/>
              <a:t>Followed by a colon </a:t>
            </a:r>
            <a:r>
              <a:rPr b="1" lang="en-US">
                <a:solidFill>
                  <a:srgbClr val="F115E1"/>
                </a:solidFill>
              </a:rPr>
              <a:t> 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Char char="–"/>
            </a:pPr>
            <a:r>
              <a:rPr lang="en-US"/>
              <a:t>Followed by the lower right cell of the range</a:t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Times New Roman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Font typeface="Times New Roman"/>
              <a:buChar char="•"/>
            </a:pPr>
            <a:r>
              <a:rPr lang="en-US"/>
              <a:t>Example: A1:B2 is shorthand for A1,A2,B1,B2</a:t>
            </a:r>
            <a:endParaRPr/>
          </a:p>
        </p:txBody>
      </p:sp>
      <p:sp>
        <p:nvSpPr>
          <p:cNvPr id="111" name="Google Shape;111;p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2" name="Google Shape;112;p2"/>
          <p:cNvPicPr preferRelativeResize="0"/>
          <p:nvPr/>
        </p:nvPicPr>
        <p:blipFill rotWithShape="1">
          <a:blip r:embed="rId3">
            <a:alphaModFix/>
          </a:blip>
          <a:srcRect b="0" l="2005" r="8689" t="0"/>
          <a:stretch/>
        </p:blipFill>
        <p:spPr>
          <a:xfrm>
            <a:off x="6126480" y="2328051"/>
            <a:ext cx="5108548" cy="18838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Examples of Range Names</a:t>
            </a:r>
            <a:endParaRPr/>
          </a:p>
        </p:txBody>
      </p:sp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0" lvl="0" marL="4572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119" name="Google Shape;119;p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27005" r="13617" t="0"/>
          <a:stretch/>
        </p:blipFill>
        <p:spPr>
          <a:xfrm>
            <a:off x="4264718" y="1760045"/>
            <a:ext cx="5469836" cy="4405745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/>
          <p:nvPr/>
        </p:nvSpPr>
        <p:spPr>
          <a:xfrm>
            <a:off x="3477489" y="2006838"/>
            <a:ext cx="623455" cy="463251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3477489" y="3409271"/>
            <a:ext cx="623455" cy="463251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3477489" y="4837943"/>
            <a:ext cx="623455" cy="463251"/>
          </a:xfrm>
          <a:prstGeom prst="ellipse">
            <a:avLst/>
          </a:prstGeom>
          <a:solidFill>
            <a:schemeClr val="accent1"/>
          </a:solidFill>
          <a:ln cap="flat" cmpd="sng" w="158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 sz="4000"/>
              <a:t>Activity 1 –</a:t>
            </a:r>
            <a:br>
              <a:rPr lang="en-US" sz="4000"/>
            </a:br>
            <a:r>
              <a:rPr lang="en-US" sz="4000"/>
              <a:t>Write the suitable formula to calculate the following....</a:t>
            </a:r>
            <a:endParaRPr/>
          </a:p>
        </p:txBody>
      </p:sp>
      <p:pic>
        <p:nvPicPr>
          <p:cNvPr id="129" name="Google Shape;129;p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-1" r="28265" t="0"/>
          <a:stretch/>
        </p:blipFill>
        <p:spPr>
          <a:xfrm>
            <a:off x="1556904" y="2171700"/>
            <a:ext cx="7370618" cy="356061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"/>
          <p:cNvSpPr txBox="1"/>
          <p:nvPr>
            <p:ph type="title"/>
          </p:nvPr>
        </p:nvSpPr>
        <p:spPr>
          <a:xfrm>
            <a:off x="1097280" y="359834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Formulas </a:t>
            </a:r>
            <a:endParaRPr/>
          </a:p>
        </p:txBody>
      </p:sp>
      <p:sp>
        <p:nvSpPr>
          <p:cNvPr id="136" name="Google Shape;136;p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You must have an equal's sign ( = ) as the first character in a cell that contains a formula.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The = sign tells excel that the contents of the cell is a formula.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Without the = sign, the formula will not calculate anything. It will simply display the text of the formula.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Types of operations</a:t>
            </a:r>
            <a:endParaRPr/>
          </a:p>
        </p:txBody>
      </p:sp>
      <p:sp>
        <p:nvSpPr>
          <p:cNvPr id="143" name="Google Shape;143;p6"/>
          <p:cNvSpPr txBox="1"/>
          <p:nvPr>
            <p:ph idx="1" type="body"/>
          </p:nvPr>
        </p:nvSpPr>
        <p:spPr>
          <a:xfrm>
            <a:off x="1278834" y="1895177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You can use any of the following operations in a formula: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44" name="Google Shape;144;p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5" name="Google Shape;14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59054" y="2493818"/>
            <a:ext cx="8440761" cy="34913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Order of Operations- Complex formulas</a:t>
            </a:r>
            <a:endParaRPr/>
          </a:p>
        </p:txBody>
      </p:sp>
      <p:sp>
        <p:nvSpPr>
          <p:cNvPr id="151" name="Google Shape;151;p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You can use several operations in one function</a:t>
            </a:r>
            <a:endParaRPr/>
          </a:p>
          <a:p>
            <a:pPr indent="-12700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You can group those operations with parentheses</a:t>
            </a:r>
            <a:endParaRPr/>
          </a:p>
          <a:p>
            <a:pPr indent="-12700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Examples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	=3*2+1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	=c1*(a1+b1)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	=(100*a2-10)+(200*b3-20)+30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	=(3+2*(50/b3+3)/7)*(3+b7) 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Order of operations</a:t>
            </a:r>
            <a:endParaRPr/>
          </a:p>
        </p:txBody>
      </p:sp>
      <p:sp>
        <p:nvSpPr>
          <p:cNvPr id="158" name="Google Shape;158;p8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 </a:t>
            </a:r>
            <a:endParaRPr/>
          </a:p>
        </p:txBody>
      </p:sp>
      <p:sp>
        <p:nvSpPr>
          <p:cNvPr id="159" name="Google Shape;159;p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0" name="Google Shape;160;p8"/>
          <p:cNvPicPr preferRelativeResize="0"/>
          <p:nvPr/>
        </p:nvPicPr>
        <p:blipFill rotWithShape="1">
          <a:blip r:embed="rId3">
            <a:alphaModFix/>
          </a:blip>
          <a:srcRect b="2205" l="855" r="1777" t="8378"/>
          <a:stretch/>
        </p:blipFill>
        <p:spPr>
          <a:xfrm>
            <a:off x="930112" y="1845734"/>
            <a:ext cx="10206461" cy="4445804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8"/>
          <p:cNvSpPr/>
          <p:nvPr/>
        </p:nvSpPr>
        <p:spPr>
          <a:xfrm>
            <a:off x="1260764" y="3865418"/>
            <a:ext cx="9894916" cy="1020481"/>
          </a:xfrm>
          <a:prstGeom prst="rect">
            <a:avLst/>
          </a:prstGeom>
          <a:gradFill>
            <a:gsLst>
              <a:gs pos="0">
                <a:srgbClr val="F0AF8D"/>
              </a:gs>
              <a:gs pos="45000">
                <a:srgbClr val="F4BCA0"/>
              </a:gs>
              <a:gs pos="100000">
                <a:srgbClr val="FDC2A5"/>
              </a:gs>
            </a:gsLst>
            <a:path path="circle">
              <a:fillToRect b="50%" l="50%" r="50%" t="50%"/>
            </a:path>
            <a:tileRect/>
          </a:gradFill>
          <a:ln cap="flat" cmpd="sng" w="127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brackets are not used operators in the same level are executed from left to right.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Order of operations</a:t>
            </a:r>
            <a:endParaRPr/>
          </a:p>
        </p:txBody>
      </p:sp>
      <p:sp>
        <p:nvSpPr>
          <p:cNvPr id="167" name="Google Shape;167;p9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The value of 3 + 2 * 5</a:t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 is 13 and NOT 25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r>
              <a:rPr lang="en-US"/>
              <a:t>	</a:t>
            </a:r>
            <a:endParaRPr/>
          </a:p>
        </p:txBody>
      </p:sp>
      <p:sp>
        <p:nvSpPr>
          <p:cNvPr id="168" name="Google Shape;168;p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9" name="Google Shape;169;p9"/>
          <p:cNvPicPr preferRelativeResize="0"/>
          <p:nvPr/>
        </p:nvPicPr>
        <p:blipFill rotWithShape="1">
          <a:blip r:embed="rId3">
            <a:alphaModFix/>
          </a:blip>
          <a:srcRect b="-1" l="945" r="0" t="2330"/>
          <a:stretch/>
        </p:blipFill>
        <p:spPr>
          <a:xfrm>
            <a:off x="7697337" y="737793"/>
            <a:ext cx="3800212" cy="5331098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Activity 2 - </a:t>
            </a:r>
            <a:br>
              <a:rPr lang="en-US" sz="4000"/>
            </a:br>
            <a:r>
              <a:rPr lang="en-US" sz="4000"/>
              <a:t>Evaluate the following equations</a:t>
            </a:r>
            <a:endParaRPr/>
          </a:p>
        </p:txBody>
      </p:sp>
      <p:sp>
        <p:nvSpPr>
          <p:cNvPr id="175" name="Google Shape;175;p10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457200" lvl="0" marL="502919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= 6-4/2+6</a:t>
            </a:r>
            <a:endParaRPr/>
          </a:p>
          <a:p>
            <a:pPr indent="-457200" lvl="0" marL="502919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= 4-5*2^3</a:t>
            </a:r>
            <a:endParaRPr/>
          </a:p>
          <a:p>
            <a:pPr indent="-457200" lvl="0" marL="502919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= 3*(2+4)/9-1</a:t>
            </a:r>
            <a:endParaRPr/>
          </a:p>
          <a:p>
            <a:pPr indent="0" lvl="0" marL="4572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76" name="Google Shape;176;p1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Explicit (literal) values and cell references</a:t>
            </a:r>
            <a:endParaRPr/>
          </a:p>
        </p:txBody>
      </p:sp>
      <p:sp>
        <p:nvSpPr>
          <p:cNvPr id="182" name="Google Shape;182;p11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You can use both explicit values and cell references in a formula.</a:t>
            </a:r>
            <a:endParaRPr/>
          </a:p>
          <a:p>
            <a:pPr indent="-12700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An explicit value is also called a literal value.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Formula with only cell references:  =a1*b1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Formula with only literal values:     =100/27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Formula with both cell references and literal values:      =a1/100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83" name="Google Shape;183;p1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"/>
          <p:cNvSpPr txBox="1"/>
          <p:nvPr>
            <p:ph type="title"/>
          </p:nvPr>
        </p:nvSpPr>
        <p:spPr>
          <a:xfrm>
            <a:off x="1142996" y="292331"/>
            <a:ext cx="9875520" cy="1356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What is a function?</a:t>
            </a:r>
            <a:endParaRPr/>
          </a:p>
        </p:txBody>
      </p:sp>
      <p:sp>
        <p:nvSpPr>
          <p:cNvPr id="189" name="Google Shape;189;p12"/>
          <p:cNvSpPr txBox="1"/>
          <p:nvPr>
            <p:ph idx="1" type="body"/>
          </p:nvPr>
        </p:nvSpPr>
        <p:spPr>
          <a:xfrm>
            <a:off x="1143000" y="1648691"/>
            <a:ext cx="9872871" cy="44473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A function is a "named operation"</a:t>
            </a:r>
            <a:endParaRPr/>
          </a:p>
          <a:p>
            <a:pPr indent="-127000" lvl="0" marL="91440" rtl="0" algn="l">
              <a:lnSpc>
                <a:spcPct val="15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Functions have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Corbel"/>
              <a:buChar char="&gt;"/>
            </a:pPr>
            <a:r>
              <a:rPr lang="en-US"/>
              <a:t>a name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rbel"/>
              <a:buChar char="&gt;"/>
            </a:pPr>
            <a:r>
              <a:rPr lang="en-US"/>
              <a:t>parentheses</a:t>
            </a:r>
            <a:endParaRPr/>
          </a:p>
          <a:p>
            <a:pPr indent="-182880" lvl="1" marL="38404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Corbel"/>
              <a:buChar char="&gt;"/>
            </a:pPr>
            <a:r>
              <a:rPr lang="en-US"/>
              <a:t>parameters/arguments inside the parentheses</a:t>
            </a:r>
            <a:endParaRPr/>
          </a:p>
          <a:p>
            <a:pPr indent="-182880" lvl="2" marL="56692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Corbel"/>
              <a:buChar char="‐"/>
            </a:pPr>
            <a:r>
              <a:rPr lang="en-US" sz="1700"/>
              <a:t>The words parameter and argument mean the same thing</a:t>
            </a:r>
            <a:endParaRPr/>
          </a:p>
          <a:p>
            <a:pPr indent="-182880" lvl="2" marL="56692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Corbel"/>
              <a:buChar char="‐"/>
            </a:pPr>
            <a:r>
              <a:rPr lang="en-US" sz="1700"/>
              <a:t>you can have many parameters for one function separated with commas (,)</a:t>
            </a:r>
            <a:endParaRPr/>
          </a:p>
          <a:p>
            <a:pPr indent="-182880" lvl="2" marL="566928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Corbel"/>
              <a:buChar char="‐"/>
            </a:pPr>
            <a:r>
              <a:rPr lang="en-US" sz="1700"/>
              <a:t>The number of parameters is one more than the number of commas.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190" name="Google Shape;190;p1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Terminology</a:t>
            </a:r>
            <a:endParaRPr/>
          </a:p>
        </p:txBody>
      </p:sp>
      <p:sp>
        <p:nvSpPr>
          <p:cNvPr id="196" name="Google Shape;196;p1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=SUM(1,2,3,4,5)</a:t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The </a:t>
            </a:r>
            <a:r>
              <a:rPr b="1" lang="en-US">
                <a:solidFill>
                  <a:schemeClr val="accent1"/>
                </a:solidFill>
              </a:rPr>
              <a:t>name</a:t>
            </a:r>
            <a:r>
              <a:rPr lang="en-US"/>
              <a:t> of the function is "SUM"</a:t>
            </a:r>
            <a:endParaRPr/>
          </a:p>
          <a:p>
            <a:pPr indent="-68579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The </a:t>
            </a:r>
            <a:r>
              <a:rPr b="1" lang="en-US">
                <a:solidFill>
                  <a:schemeClr val="accent1"/>
                </a:solidFill>
              </a:rPr>
              <a:t>parameters</a:t>
            </a:r>
            <a:r>
              <a:rPr lang="en-US"/>
              <a:t> or </a:t>
            </a:r>
            <a:r>
              <a:rPr b="1" lang="en-US">
                <a:solidFill>
                  <a:schemeClr val="accent1"/>
                </a:solidFill>
              </a:rPr>
              <a:t>arguments</a:t>
            </a:r>
            <a:r>
              <a:rPr lang="en-US"/>
              <a:t> to this function are 1,2,3,4 and 5</a:t>
            </a:r>
            <a:endParaRPr/>
          </a:p>
          <a:p>
            <a:pPr indent="-68579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The entire thing, i.e. SUM(1,2,3,4,5), is a </a:t>
            </a:r>
            <a:r>
              <a:rPr b="1" lang="en-US">
                <a:solidFill>
                  <a:schemeClr val="accent1"/>
                </a:solidFill>
              </a:rPr>
              <a:t>function call</a:t>
            </a:r>
            <a:endParaRPr/>
          </a:p>
          <a:p>
            <a:pPr indent="-68579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182880" lvl="1" marL="384048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✔"/>
            </a:pPr>
            <a:r>
              <a:rPr lang="en-US"/>
              <a:t>The </a:t>
            </a:r>
            <a:r>
              <a:rPr b="1" lang="en-US">
                <a:solidFill>
                  <a:schemeClr val="accent1"/>
                </a:solidFill>
              </a:rPr>
              <a:t>value</a:t>
            </a:r>
            <a:r>
              <a:rPr lang="en-US"/>
              <a:t> of this function call is 15. </a:t>
            </a:r>
            <a:br>
              <a:rPr lang="en-US"/>
            </a:br>
            <a:r>
              <a:rPr lang="en-US"/>
              <a:t>Another way to say this is that this function call </a:t>
            </a:r>
            <a:r>
              <a:rPr b="1" lang="en-US">
                <a:solidFill>
                  <a:schemeClr val="accent1"/>
                </a:solidFill>
              </a:rPr>
              <a:t>returns</a:t>
            </a:r>
            <a:r>
              <a:rPr lang="en-US"/>
              <a:t> 15.</a:t>
            </a:r>
            <a:endParaRPr/>
          </a:p>
        </p:txBody>
      </p:sp>
      <p:sp>
        <p:nvSpPr>
          <p:cNvPr id="197" name="Google Shape;197;p1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4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Using a range as a parameter</a:t>
            </a:r>
            <a:endParaRPr/>
          </a:p>
        </p:txBody>
      </p:sp>
      <p:sp>
        <p:nvSpPr>
          <p:cNvPr id="203" name="Google Shape;203;p14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Ranges can be specified as a parameters to a function call.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Both of the following function calls produce the same result as  =a1+b1+c1+a2+b2+c2+a3+b3+c3+a4+b4+c4</a:t>
            </a:r>
            <a:br>
              <a:rPr lang="en-US"/>
            </a:br>
            <a:r>
              <a:rPr lang="en-US"/>
              <a:t>how ever the 2nd version uses a range and is much shorter.</a:t>
            </a:r>
            <a:br>
              <a:rPr lang="en-US"/>
            </a:br>
            <a:br>
              <a:rPr lang="en-US"/>
            </a:br>
            <a:r>
              <a:rPr lang="en-US"/>
              <a:t>	</a:t>
            </a:r>
            <a:r>
              <a:rPr lang="en-US" u="sng"/>
              <a:t>without a range</a:t>
            </a:r>
            <a:br>
              <a:rPr lang="en-US"/>
            </a:br>
            <a:r>
              <a:rPr lang="en-US"/>
              <a:t>	=SUM(a1,b1,c1,a2,b2,c2,a3,b3,c3,a4,b4,c4)	</a:t>
            </a:r>
            <a:br>
              <a:rPr lang="en-US"/>
            </a:br>
            <a:br>
              <a:rPr lang="en-US"/>
            </a:br>
            <a:r>
              <a:rPr lang="en-US"/>
              <a:t>	</a:t>
            </a:r>
            <a:r>
              <a:rPr lang="en-US" u="sng"/>
              <a:t>with a range</a:t>
            </a:r>
            <a:br>
              <a:rPr lang="en-US"/>
            </a:br>
            <a:r>
              <a:rPr lang="en-US"/>
              <a:t>	=SUM(a1:c4)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04" name="Google Shape;204;p1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5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Function calls with multiple parameters</a:t>
            </a:r>
            <a:endParaRPr/>
          </a:p>
        </p:txBody>
      </p:sp>
      <p:sp>
        <p:nvSpPr>
          <p:cNvPr id="210" name="Google Shape;210;p15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You can include multiple ranges and cells as parameters</a:t>
            </a:r>
            <a:br>
              <a:rPr lang="en-US"/>
            </a:b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Example: the following function call has 3 types of parameters. There are two ranges (a1:b2 and c4:c7), one number (100) and one cell reference (d3)</a:t>
            </a:r>
            <a:br>
              <a:rPr lang="en-US"/>
            </a:br>
            <a:br>
              <a:rPr lang="en-US"/>
            </a:br>
            <a:r>
              <a:rPr lang="en-US"/>
              <a:t>=SUM(</a:t>
            </a:r>
            <a:r>
              <a:rPr b="1" lang="en-US">
                <a:solidFill>
                  <a:srgbClr val="0070C0"/>
                </a:solidFill>
              </a:rPr>
              <a:t>a1:b2</a:t>
            </a:r>
            <a:r>
              <a:rPr lang="en-US"/>
              <a:t>,100,</a:t>
            </a:r>
            <a:r>
              <a:rPr b="1" lang="en-US">
                <a:solidFill>
                  <a:srgbClr val="00B050"/>
                </a:solidFill>
              </a:rPr>
              <a:t>c4:c7</a:t>
            </a:r>
            <a:r>
              <a:rPr lang="en-US"/>
              <a:t>,</a:t>
            </a:r>
            <a:r>
              <a:rPr b="1" lang="en-US">
                <a:solidFill>
                  <a:srgbClr val="FF0000"/>
                </a:solidFill>
              </a:rPr>
              <a:t>d3</a:t>
            </a:r>
            <a:r>
              <a:rPr lang="en-US"/>
              <a:t>)</a:t>
            </a:r>
            <a:br>
              <a:rPr lang="en-US"/>
            </a:br>
            <a:br>
              <a:rPr lang="en-US"/>
            </a:br>
            <a:r>
              <a:rPr lang="en-US"/>
              <a:t>		Is the same as:</a:t>
            </a:r>
            <a:br>
              <a:rPr lang="en-US"/>
            </a:br>
            <a:br>
              <a:rPr lang="en-US"/>
            </a:br>
            <a:r>
              <a:rPr lang="en-US"/>
              <a:t>=SUM(</a:t>
            </a:r>
            <a:r>
              <a:rPr b="1" lang="en-US">
                <a:solidFill>
                  <a:srgbClr val="0070C0"/>
                </a:solidFill>
              </a:rPr>
              <a:t>a1,a2,b1,b2</a:t>
            </a:r>
            <a:r>
              <a:rPr lang="en-US"/>
              <a:t>,100,</a:t>
            </a:r>
            <a:r>
              <a:rPr b="1" lang="en-US">
                <a:solidFill>
                  <a:srgbClr val="00B050"/>
                </a:solidFill>
              </a:rPr>
              <a:t>c4,c5,c6,c7</a:t>
            </a:r>
            <a:r>
              <a:rPr lang="en-US"/>
              <a:t>,</a:t>
            </a:r>
            <a:r>
              <a:rPr b="1" lang="en-US">
                <a:solidFill>
                  <a:srgbClr val="FF0000"/>
                </a:solidFill>
              </a:rPr>
              <a:t>d3</a:t>
            </a:r>
            <a:r>
              <a:rPr lang="en-US"/>
              <a:t>)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11" name="Google Shape;211;p15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Functions and other values</a:t>
            </a:r>
            <a:endParaRPr/>
          </a:p>
        </p:txBody>
      </p:sp>
      <p:sp>
        <p:nvSpPr>
          <p:cNvPr id="217" name="Google Shape;217;p16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You can combine functions, cell references and literal values to make a complex Excel formula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t/>
            </a:r>
            <a:endParaRPr/>
          </a:p>
          <a:p>
            <a:pPr indent="-1270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Noto Sans Symbols"/>
              <a:buChar char="▪"/>
            </a:pPr>
            <a:r>
              <a:rPr lang="en-US"/>
              <a:t>Examples</a:t>
            </a:r>
            <a:endParaRPr/>
          </a:p>
          <a:p>
            <a:pPr indent="0" lvl="1" marL="274320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=3 + b23 * SUM(d20:g20)</a:t>
            </a:r>
            <a:endParaRPr/>
          </a:p>
          <a:p>
            <a:pPr indent="0" lvl="1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=SUM(a1,100) * AVERAGE(d10:j10)</a:t>
            </a:r>
            <a:endParaRPr/>
          </a:p>
          <a:p>
            <a:pPr indent="0" lvl="1" marL="27432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2400"/>
              <a:buNone/>
            </a:pPr>
            <a:r>
              <a:rPr lang="en-US" sz="2400"/>
              <a:t>=100 /</a:t>
            </a:r>
            <a:r>
              <a:rPr b="1" lang="en-US" sz="2400">
                <a:solidFill>
                  <a:srgbClr val="0070C0"/>
                </a:solidFill>
              </a:rPr>
              <a:t> ( </a:t>
            </a:r>
            <a:r>
              <a:rPr lang="en-US" sz="2400"/>
              <a:t>AVERAGE(b2,c2,d30) + AVERAGE(f1:f20) </a:t>
            </a:r>
            <a:r>
              <a:rPr b="1" lang="en-US" sz="2400">
                <a:solidFill>
                  <a:srgbClr val="0070C0"/>
                </a:solidFill>
              </a:rPr>
              <a:t>)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Logical operators</a:t>
            </a:r>
            <a:endParaRPr/>
          </a:p>
        </p:txBody>
      </p:sp>
      <p:sp>
        <p:nvSpPr>
          <p:cNvPr id="224" name="Google Shape;224;p17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 lnSpcReduction="10000"/>
          </a:bodyPr>
          <a:lstStyle/>
          <a:p>
            <a:pPr indent="-1397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In Excel the following "operators" are used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SzPts val="2800"/>
              <a:buNone/>
            </a:pPr>
            <a:r>
              <a:rPr lang="en-US" sz="2800"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lang="en-US" sz="2200" u="sng">
                <a:latin typeface="Times New Roman"/>
                <a:ea typeface="Times New Roman"/>
                <a:cs typeface="Times New Roman"/>
                <a:sym typeface="Times New Roman"/>
              </a:rPr>
              <a:t>Operator	Meaning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SzPts val="2200"/>
              <a:buNone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	&gt;	greater than		</a:t>
            </a: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&lt;	less than</a:t>
            </a: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&gt;=	greater than or equal to</a:t>
            </a: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&lt;=	less than or equal to</a:t>
            </a: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=	equal to</a:t>
            </a:r>
            <a:b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&lt;&gt;	not equal to</a:t>
            </a:r>
            <a:endParaRPr/>
          </a:p>
          <a:p>
            <a:pPr indent="-139700" lvl="0" marL="9144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200"/>
              <a:buFont typeface="Times New Roman"/>
              <a:buChar char="•"/>
            </a:pP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Examples</a:t>
            </a:r>
            <a:endParaRPr/>
          </a:p>
          <a:p>
            <a:pPr indent="-182880" lvl="2" marL="566928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=3 &gt; 2		true</a:t>
            </a:r>
            <a:endParaRPr/>
          </a:p>
          <a:p>
            <a:pPr indent="-182880" lvl="2" marL="566928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=3 &lt; 2		false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25" name="Google Shape;225;p17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8"/>
          <p:cNvSpPr txBox="1"/>
          <p:nvPr>
            <p:ph type="title"/>
          </p:nvPr>
        </p:nvSpPr>
        <p:spPr>
          <a:xfrm>
            <a:off x="1165519" y="949970"/>
            <a:ext cx="9875520" cy="72043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Logical Formulas</a:t>
            </a:r>
            <a:endParaRPr/>
          </a:p>
        </p:txBody>
      </p:sp>
      <p:pic>
        <p:nvPicPr>
          <p:cNvPr id="231" name="Google Shape;231;p1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68625" y="1938338"/>
            <a:ext cx="6315075" cy="38385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18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3" name="Google Shape;233;p18"/>
          <p:cNvPicPr preferRelativeResize="0"/>
          <p:nvPr/>
        </p:nvPicPr>
        <p:blipFill rotWithShape="1">
          <a:blip r:embed="rId3">
            <a:alphaModFix/>
          </a:blip>
          <a:srcRect b="0" l="1100" r="50237" t="0"/>
          <a:stretch/>
        </p:blipFill>
        <p:spPr>
          <a:xfrm>
            <a:off x="1801504" y="1777047"/>
            <a:ext cx="3625210" cy="4528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9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IF Function</a:t>
            </a:r>
            <a:endParaRPr/>
          </a:p>
        </p:txBody>
      </p:sp>
      <p:sp>
        <p:nvSpPr>
          <p:cNvPr id="239" name="Google Shape;239;p19"/>
          <p:cNvSpPr txBox="1"/>
          <p:nvPr>
            <p:ph idx="1" type="body"/>
          </p:nvPr>
        </p:nvSpPr>
        <p:spPr>
          <a:xfrm>
            <a:off x="1209501" y="2081283"/>
            <a:ext cx="10002982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397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 sz="2200"/>
              <a:t>The IF function is one of the most popular functions in Excel, and it allows you to make logical comparisons between a value and what you expect. </a:t>
            </a:r>
            <a:endParaRPr/>
          </a:p>
          <a:p>
            <a:pPr indent="-13970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00"/>
              <a:buFont typeface="Noto Sans Symbols"/>
              <a:buChar char="▪"/>
            </a:pPr>
            <a:r>
              <a:rPr lang="en-US" sz="2200"/>
              <a:t>In its simplest form, the IF function says:</a:t>
            </a:r>
            <a:endParaRPr/>
          </a:p>
          <a:p>
            <a:pPr indent="0" lvl="1" marL="530352" rtl="0" algn="l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200"/>
              <a:buNone/>
            </a:pPr>
            <a:r>
              <a:rPr lang="en-US" sz="2200">
                <a:solidFill>
                  <a:schemeClr val="accent1"/>
                </a:solidFill>
              </a:rPr>
              <a:t>IF(Something is True, then do something, otherwise do something else)</a:t>
            </a:r>
            <a:endParaRPr/>
          </a:p>
        </p:txBody>
      </p:sp>
      <p:sp>
        <p:nvSpPr>
          <p:cNvPr id="240" name="Google Shape;240;p19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0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6" name="Google Shape;246;p20"/>
          <p:cNvSpPr txBox="1"/>
          <p:nvPr>
            <p:ph idx="4294967295" type="title"/>
          </p:nvPr>
        </p:nvSpPr>
        <p:spPr>
          <a:xfrm>
            <a:off x="2133600" y="287338"/>
            <a:ext cx="100584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47" name="Google Shape;247;p20"/>
          <p:cNvSpPr txBox="1"/>
          <p:nvPr>
            <p:ph idx="4294967295" type="body"/>
          </p:nvPr>
        </p:nvSpPr>
        <p:spPr>
          <a:xfrm>
            <a:off x="0" y="9271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397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00"/>
              <a:buChar char=" "/>
            </a:pPr>
            <a:r>
              <a:rPr lang="en-US" sz="2200"/>
              <a:t>It’ll be easy for you to understand below flow chart to see how the IF functions behaves.</a:t>
            </a:r>
            <a:endParaRPr/>
          </a:p>
        </p:txBody>
      </p:sp>
      <p:pic>
        <p:nvPicPr>
          <p:cNvPr id="248" name="Google Shape;24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20018" y="1877342"/>
            <a:ext cx="5088971" cy="275219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0"/>
          <p:cNvSpPr/>
          <p:nvPr/>
        </p:nvSpPr>
        <p:spPr>
          <a:xfrm>
            <a:off x="3409361" y="4750613"/>
            <a:ext cx="5931624" cy="55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530352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=IF (logical test, value if true, value if false)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1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Example</a:t>
            </a:r>
            <a:endParaRPr/>
          </a:p>
        </p:txBody>
      </p:sp>
      <p:pic>
        <p:nvPicPr>
          <p:cNvPr id="255" name="Google Shape;255;p2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59622" y="2012805"/>
            <a:ext cx="5453125" cy="2936298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1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7" name="Google Shape;25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97633" y="1928379"/>
            <a:ext cx="4514850" cy="310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ct val="100000"/>
              <a:buFont typeface="Calibri"/>
              <a:buNone/>
            </a:pPr>
            <a:r>
              <a:rPr lang="en-US" sz="4400"/>
              <a:t>Activity 3 - </a:t>
            </a:r>
            <a:br>
              <a:rPr lang="en-US" sz="4000"/>
            </a:br>
            <a:r>
              <a:rPr lang="en-US" sz="3600"/>
              <a:t>Fill the following table according to the given information</a:t>
            </a:r>
            <a:endParaRPr/>
          </a:p>
        </p:txBody>
      </p:sp>
      <p:sp>
        <p:nvSpPr>
          <p:cNvPr id="263" name="Google Shape;263;p22"/>
          <p:cNvSpPr txBox="1"/>
          <p:nvPr>
            <p:ph idx="1" type="body"/>
          </p:nvPr>
        </p:nvSpPr>
        <p:spPr>
          <a:xfrm>
            <a:off x="1143000" y="1857196"/>
            <a:ext cx="5926540" cy="41751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-457200" lvl="0" marL="45720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Display the total marks received by each student in column F.</a:t>
            </a:r>
            <a:endParaRPr/>
          </a:p>
          <a:p>
            <a:pPr indent="-4572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Display the average marks of each student in column G.</a:t>
            </a:r>
            <a:endParaRPr/>
          </a:p>
          <a:p>
            <a:pPr indent="-4572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Display the highest marks obtained for Maths in C10.</a:t>
            </a:r>
            <a:endParaRPr/>
          </a:p>
          <a:p>
            <a:pPr indent="-4572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Display the lowest marks obtained for IT in E11.</a:t>
            </a:r>
            <a:endParaRPr/>
          </a:p>
          <a:p>
            <a:pPr indent="-4572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Using a suitable function, display the number of students sat for English exam in D12.</a:t>
            </a:r>
            <a:endParaRPr/>
          </a:p>
          <a:p>
            <a:pPr indent="-457200" lvl="0" marL="45720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Students must get average of 50 marks or more in order to progress to the next level. Display the status of each student in column H.</a:t>
            </a:r>
            <a:endParaRPr/>
          </a:p>
        </p:txBody>
      </p:sp>
      <p:sp>
        <p:nvSpPr>
          <p:cNvPr id="264" name="Google Shape;264;p22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5" name="Google Shape;265;p22"/>
          <p:cNvPicPr preferRelativeResize="0"/>
          <p:nvPr/>
        </p:nvPicPr>
        <p:blipFill rotWithShape="1">
          <a:blip r:embed="rId3">
            <a:alphaModFix/>
          </a:blip>
          <a:srcRect b="8871" l="0" r="4137" t="0"/>
          <a:stretch/>
        </p:blipFill>
        <p:spPr>
          <a:xfrm>
            <a:off x="7342496" y="2059265"/>
            <a:ext cx="4804011" cy="28909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3"/>
          <p:cNvSpPr/>
          <p:nvPr/>
        </p:nvSpPr>
        <p:spPr>
          <a:xfrm>
            <a:off x="3186545" y="2867891"/>
            <a:ext cx="1759528" cy="540327"/>
          </a:xfrm>
          <a:prstGeom prst="rect">
            <a:avLst/>
          </a:prstGeom>
          <a:solidFill>
            <a:schemeClr val="lt1"/>
          </a:solidFill>
          <a:ln cap="flat" cmpd="sng" w="158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 txBox="1"/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000"/>
              <a:buFont typeface="Calibri"/>
              <a:buNone/>
            </a:pPr>
            <a:r>
              <a:rPr lang="en-US" sz="4000"/>
              <a:t>Activity 4 – IF function</a:t>
            </a:r>
            <a:endParaRPr/>
          </a:p>
        </p:txBody>
      </p:sp>
      <p:sp>
        <p:nvSpPr>
          <p:cNvPr id="272" name="Google Shape;272;p23"/>
          <p:cNvSpPr txBox="1"/>
          <p:nvPr>
            <p:ph idx="1" type="body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/>
              <a:t>Fill the following Database using the information provided.</a:t>
            </a:r>
            <a:endParaRPr/>
          </a:p>
          <a:p>
            <a:pPr indent="0" lvl="0" marL="9144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4" name="Google Shape;2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5997" y="2728046"/>
            <a:ext cx="9744075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3"/>
          <p:cNvSpPr txBox="1"/>
          <p:nvPr/>
        </p:nvSpPr>
        <p:spPr>
          <a:xfrm>
            <a:off x="3186546" y="2867891"/>
            <a:ext cx="1759527" cy="52322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of hours worked/month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24"/>
          <p:cNvSpPr txBox="1"/>
          <p:nvPr>
            <p:ph idx="12" type="sldNum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1" name="Google Shape;281;p24"/>
          <p:cNvSpPr txBox="1"/>
          <p:nvPr>
            <p:ph idx="4294967295" type="title"/>
          </p:nvPr>
        </p:nvSpPr>
        <p:spPr>
          <a:xfrm>
            <a:off x="2133600" y="287338"/>
            <a:ext cx="10058400" cy="14493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r>
              <a:rPr lang="en-US"/>
              <a:t> </a:t>
            </a:r>
            <a:endParaRPr/>
          </a:p>
        </p:txBody>
      </p:sp>
      <p:sp>
        <p:nvSpPr>
          <p:cNvPr id="282" name="Google Shape;282;p24"/>
          <p:cNvSpPr txBox="1"/>
          <p:nvPr>
            <p:ph idx="4294967295" type="body"/>
          </p:nvPr>
        </p:nvSpPr>
        <p:spPr>
          <a:xfrm>
            <a:off x="2319338" y="636588"/>
            <a:ext cx="9872662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rmAutofit/>
          </a:bodyPr>
          <a:lstStyle/>
          <a:p>
            <a:pPr indent="-127000" lvl="0" marL="914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 "/>
            </a:pPr>
            <a:r>
              <a:rPr lang="en-US">
                <a:solidFill>
                  <a:srgbClr val="FF0000"/>
                </a:solidFill>
              </a:rPr>
              <a:t>Note: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/>
              <a:t>Rate per hour is RS.275/-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/>
              <a:t>Bonus = Gross Salary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/>
              <a:t>Gross Salary = (No of hours worked/month * Hourly Rate)</a:t>
            </a:r>
            <a:endParaRPr/>
          </a:p>
          <a:p>
            <a:pPr indent="-182880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Char char="❖"/>
            </a:pPr>
            <a:r>
              <a:rPr lang="en-US"/>
              <a:t>Net Salary = Gross Salary + Bonus – Due Loans</a:t>
            </a:r>
            <a:endParaRPr/>
          </a:p>
          <a:p>
            <a:pPr indent="-68579" lvl="1" marL="38404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Noto Sans Symbols"/>
              <a:buNone/>
            </a:pPr>
            <a:r>
              <a:t/>
            </a:r>
            <a:endParaRPr/>
          </a:p>
          <a:p>
            <a:pPr indent="-457200" lvl="0" marL="502919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Calibri"/>
              <a:buAutoNum type="arabicPeriod"/>
            </a:pPr>
            <a:r>
              <a:rPr lang="en-US"/>
              <a:t>Find all the employees, whose Net Salary is greater than RS. 83,500/- and calculate payee tax.</a:t>
            </a:r>
            <a:endParaRPr/>
          </a:p>
          <a:p>
            <a:pPr indent="0" lvl="0" marL="45720" rtl="0" algn="ctr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Payee Tax = 10% of the Gross Salary</a:t>
            </a:r>
            <a:endParaRPr/>
          </a:p>
          <a:p>
            <a:pPr indent="0" lvl="0" marL="4572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chemeClr val="accent1"/>
                </a:solidFill>
              </a:rPr>
              <a:t>2.     </a:t>
            </a:r>
            <a:r>
              <a:rPr lang="en-US"/>
              <a:t>Add Two more columns to the database for.</a:t>
            </a:r>
            <a:endParaRPr/>
          </a:p>
          <a:p>
            <a:pPr indent="-182880" lvl="3" marL="749808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Font typeface="Noto Sans Symbols"/>
              <a:buChar char="✔"/>
            </a:pPr>
            <a:r>
              <a:rPr lang="en-US" sz="1600"/>
              <a:t>Payee Tax</a:t>
            </a:r>
            <a:endParaRPr/>
          </a:p>
          <a:p>
            <a:pPr indent="-182880" lvl="3" marL="749808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600"/>
              <a:buFont typeface="Noto Sans Symbols"/>
              <a:buChar char="✔"/>
            </a:pPr>
            <a:r>
              <a:rPr lang="en-US" sz="1600"/>
              <a:t>Remaining Salary</a:t>
            </a:r>
            <a:endParaRPr/>
          </a:p>
          <a:p>
            <a:pPr indent="0" lvl="0" marL="45720" rt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2000"/>
              <a:buNone/>
            </a:pPr>
            <a:r>
              <a:rPr b="1" lang="en-US"/>
              <a:t>Remaining Salary = Net Salary – Payee Tax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2021-10-31T14:23:11Z</dcterms:created>
  <dc:creator>Jananie Mayooresan</dc:creator>
</cp:coreProperties>
</file>