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9" roundtripDataSignature="AMtx7mj4t7t/yY8LQYhiHJLeUB8hNGGP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32e98d9258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132e98d9258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4" name="Shape 14"/>
        <p:cNvGrpSpPr/>
        <p:nvPr/>
      </p:nvGrpSpPr>
      <p:grpSpPr>
        <a:xfrm>
          <a:off x="0" y="0"/>
          <a:ext cx="0" cy="0"/>
          <a:chOff x="0" y="0"/>
          <a:chExt cx="0" cy="0"/>
        </a:xfrm>
      </p:grpSpPr>
      <p:sp>
        <p:nvSpPr>
          <p:cNvPr id="15" name="Google Shape;15;p25"/>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5"/>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5"/>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5"/>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9" name="Google Shape;19;p2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22" name="Google Shape;22;p25"/>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3" name="Shape 23"/>
        <p:cNvGrpSpPr/>
        <p:nvPr/>
      </p:nvGrpSpPr>
      <p:grpSpPr>
        <a:xfrm>
          <a:off x="0" y="0"/>
          <a:ext cx="0" cy="0"/>
          <a:chOff x="0" y="0"/>
          <a:chExt cx="0" cy="0"/>
        </a:xfrm>
      </p:grpSpPr>
      <p:sp>
        <p:nvSpPr>
          <p:cNvPr id="24" name="Google Shape;24;p26"/>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2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2" name="Google Shape;32;p2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5" name="Shape 35"/>
        <p:cNvGrpSpPr/>
        <p:nvPr/>
      </p:nvGrpSpPr>
      <p:grpSpPr>
        <a:xfrm>
          <a:off x="0" y="0"/>
          <a:ext cx="0" cy="0"/>
          <a:chOff x="0" y="0"/>
          <a:chExt cx="0" cy="0"/>
        </a:xfrm>
      </p:grpSpPr>
      <p:sp>
        <p:nvSpPr>
          <p:cNvPr id="36" name="Google Shape;36;p28"/>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8"/>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8"/>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8"/>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0" name="Google Shape;40;p2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43" name="Google Shape;43;p28"/>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2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9"/>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29"/>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2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3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0"/>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4" name="Google Shape;54;p30"/>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30"/>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6" name="Google Shape;56;p30"/>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7" name="Google Shape;57;p3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3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3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5" name="Shape 65"/>
        <p:cNvGrpSpPr/>
        <p:nvPr/>
      </p:nvGrpSpPr>
      <p:grpSpPr>
        <a:xfrm>
          <a:off x="0" y="0"/>
          <a:ext cx="0" cy="0"/>
          <a:chOff x="0" y="0"/>
          <a:chExt cx="0" cy="0"/>
        </a:xfrm>
      </p:grpSpPr>
      <p:sp>
        <p:nvSpPr>
          <p:cNvPr id="66" name="Google Shape;66;p32"/>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32"/>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2"/>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2"/>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0" name="Google Shape;70;p32"/>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32"/>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4" name="Shape 74"/>
        <p:cNvGrpSpPr/>
        <p:nvPr/>
      </p:nvGrpSpPr>
      <p:grpSpPr>
        <a:xfrm>
          <a:off x="0" y="0"/>
          <a:ext cx="0" cy="0"/>
          <a:chOff x="0" y="0"/>
          <a:chExt cx="0" cy="0"/>
        </a:xfrm>
      </p:grpSpPr>
      <p:sp>
        <p:nvSpPr>
          <p:cNvPr id="75" name="Google Shape;75;p33"/>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3"/>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3"/>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3"/>
          <p:cNvSpPr/>
          <p:nvPr>
            <p:ph idx="2" type="pic"/>
          </p:nvPr>
        </p:nvSpPr>
        <p:spPr>
          <a:xfrm>
            <a:off x="15" y="0"/>
            <a:ext cx="12191985" cy="4915076"/>
          </a:xfrm>
          <a:prstGeom prst="rect">
            <a:avLst/>
          </a:prstGeom>
          <a:noFill/>
          <a:ln>
            <a:noFill/>
          </a:ln>
        </p:spPr>
      </p:sp>
      <p:sp>
        <p:nvSpPr>
          <p:cNvPr id="79" name="Google Shape;79;p33"/>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3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3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4"/>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3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9" name="Shape 89"/>
        <p:cNvGrpSpPr/>
        <p:nvPr/>
      </p:nvGrpSpPr>
      <p:grpSpPr>
        <a:xfrm>
          <a:off x="0" y="0"/>
          <a:ext cx="0" cy="0"/>
          <a:chOff x="0" y="0"/>
          <a:chExt cx="0" cy="0"/>
        </a:xfrm>
      </p:grpSpPr>
      <p:sp>
        <p:nvSpPr>
          <p:cNvPr id="90" name="Google Shape;90;p35"/>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35"/>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35"/>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5"/>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3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3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24"/>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 name="Google Shape;8;p2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2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0" name="Google Shape;10;p2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 name="Google Shape;11;p2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 name="Google Shape;12;p2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3" name="Google Shape;13;p24"/>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id="101" name="Google Shape;101;p1"/>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Calibri"/>
              <a:buNone/>
            </a:pPr>
            <a:r>
              <a:rPr lang="en-US"/>
              <a:t>Information Systems (II)</a:t>
            </a:r>
            <a:endParaRPr/>
          </a:p>
        </p:txBody>
      </p:sp>
      <p:sp>
        <p:nvSpPr>
          <p:cNvPr id="102" name="Google Shape;102;p1"/>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n-US"/>
              <a:t>LECTURE 2</a:t>
            </a:r>
            <a:endParaRPr/>
          </a:p>
        </p:txBody>
      </p:sp>
      <p:pic>
        <p:nvPicPr>
          <p:cNvPr id="103" name="Google Shape;103;p1"/>
          <p:cNvPicPr preferRelativeResize="0"/>
          <p:nvPr/>
        </p:nvPicPr>
        <p:blipFill rotWithShape="1">
          <a:blip r:embed="rId3">
            <a:alphaModFix/>
          </a:blip>
          <a:srcRect b="0" l="0" r="0" t="0"/>
          <a:stretch/>
        </p:blipFill>
        <p:spPr>
          <a:xfrm>
            <a:off x="9025197" y="381317"/>
            <a:ext cx="2603218" cy="107298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2"/>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0" name="Google Shape;110;p2"/>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
        <p:nvSpPr>
          <p:cNvPr id="111" name="Google Shape;111;p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2" name="Google Shape;112;p2"/>
          <p:cNvSpPr txBox="1"/>
          <p:nvPr>
            <p:ph idx="4294967295" type="title"/>
          </p:nvPr>
        </p:nvSpPr>
        <p:spPr>
          <a:xfrm>
            <a:off x="965201" y="643467"/>
            <a:ext cx="6255026" cy="5054008"/>
          </a:xfrm>
          <a:prstGeom prst="rect">
            <a:avLst/>
          </a:prstGeom>
          <a:noFill/>
          <a:ln>
            <a:noFill/>
          </a:ln>
        </p:spPr>
        <p:txBody>
          <a:bodyPr anchorCtr="0" anchor="ctr" bIns="45700" lIns="91425" spcFirstLastPara="1" rIns="91425" wrap="square" tIns="45700">
            <a:normAutofit/>
          </a:bodyPr>
          <a:lstStyle/>
          <a:p>
            <a:pPr indent="0" lvl="0" marL="0" rtl="0" algn="r">
              <a:lnSpc>
                <a:spcPct val="85000"/>
              </a:lnSpc>
              <a:spcBef>
                <a:spcPts val="0"/>
              </a:spcBef>
              <a:spcAft>
                <a:spcPts val="0"/>
              </a:spcAft>
              <a:buClr>
                <a:srgbClr val="262626"/>
              </a:buClr>
              <a:buSzPts val="8000"/>
              <a:buFont typeface="Calibri"/>
              <a:buNone/>
            </a:pPr>
            <a:r>
              <a:rPr b="1" lang="en-US" sz="8000">
                <a:solidFill>
                  <a:srgbClr val="262626"/>
                </a:solidFill>
              </a:rPr>
              <a:t>Operating Systems</a:t>
            </a:r>
            <a:endParaRPr/>
          </a:p>
        </p:txBody>
      </p:sp>
      <p:cxnSp>
        <p:nvCxnSpPr>
          <p:cNvPr id="113" name="Google Shape;113;p2"/>
          <p:cNvCxnSpPr/>
          <p:nvPr/>
        </p:nvCxnSpPr>
        <p:spPr>
          <a:xfrm>
            <a:off x="7534656" y="1391367"/>
            <a:ext cx="0" cy="3558208"/>
          </a:xfrm>
          <a:prstGeom prst="straightConnector1">
            <a:avLst/>
          </a:prstGeom>
          <a:noFill/>
          <a:ln cap="flat" cmpd="sng" w="12700">
            <a:solidFill>
              <a:schemeClr val="dk2"/>
            </a:solidFill>
            <a:prstDash val="solid"/>
            <a:round/>
            <a:headEnd len="sm" w="sm" type="none"/>
            <a:tailEnd len="sm" w="sm" type="none"/>
          </a:ln>
        </p:spPr>
      </p:cxnSp>
      <p:sp>
        <p:nvSpPr>
          <p:cNvPr id="114" name="Google Shape;114;p2"/>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
          <p:cNvSpPr/>
          <p:nvPr/>
        </p:nvSpPr>
        <p:spPr>
          <a:xfrm>
            <a:off x="15" y="6340942"/>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What is an Operating System?</a:t>
            </a:r>
            <a:endParaRPr/>
          </a:p>
        </p:txBody>
      </p:sp>
      <p:sp>
        <p:nvSpPr>
          <p:cNvPr id="121" name="Google Shape;121;p3"/>
          <p:cNvSpPr txBox="1"/>
          <p:nvPr>
            <p:ph idx="1" type="body"/>
          </p:nvPr>
        </p:nvSpPr>
        <p:spPr>
          <a:xfrm>
            <a:off x="1097280" y="1845734"/>
            <a:ext cx="6791126" cy="4412902"/>
          </a:xfrm>
          <a:prstGeom prst="rect">
            <a:avLst/>
          </a:prstGeom>
          <a:noFill/>
          <a:ln>
            <a:noFill/>
          </a:ln>
        </p:spPr>
        <p:txBody>
          <a:bodyPr anchorCtr="0" anchor="t" bIns="45700" lIns="0" spcFirstLastPara="1" rIns="0" wrap="square" tIns="45700">
            <a:normAutofit fontScale="92500"/>
          </a:bodyPr>
          <a:lstStyle/>
          <a:p>
            <a:pPr indent="-117475" lvl="0" marL="91440" rtl="0" algn="just">
              <a:lnSpc>
                <a:spcPct val="150000"/>
              </a:lnSpc>
              <a:spcBef>
                <a:spcPts val="0"/>
              </a:spcBef>
              <a:spcAft>
                <a:spcPts val="0"/>
              </a:spcAft>
              <a:buSzPct val="100000"/>
              <a:buFont typeface="Noto Sans Symbols"/>
              <a:buChar char="▪"/>
            </a:pPr>
            <a:r>
              <a:rPr lang="en-US"/>
              <a:t>An operating system is a software which acts as an interface between the end user and computer hardware. </a:t>
            </a:r>
            <a:endParaRPr/>
          </a:p>
          <a:p>
            <a:pPr indent="-117475" lvl="0" marL="91440" rtl="0" algn="just">
              <a:lnSpc>
                <a:spcPct val="150000"/>
              </a:lnSpc>
              <a:spcBef>
                <a:spcPts val="1400"/>
              </a:spcBef>
              <a:spcAft>
                <a:spcPts val="0"/>
              </a:spcAft>
              <a:buSzPct val="100000"/>
              <a:buFont typeface="Noto Sans Symbols"/>
              <a:buChar char="▪"/>
            </a:pPr>
            <a:r>
              <a:rPr lang="en-US"/>
              <a:t>Every computer must have at least one OS to run other programs. An application like Chrome, MS Word, Games, etc needs some environment in which it will run and perform its task.</a:t>
            </a:r>
            <a:endParaRPr/>
          </a:p>
          <a:p>
            <a:pPr indent="-117475" lvl="0" marL="91440" rtl="0" algn="just">
              <a:lnSpc>
                <a:spcPct val="150000"/>
              </a:lnSpc>
              <a:spcBef>
                <a:spcPts val="1400"/>
              </a:spcBef>
              <a:spcAft>
                <a:spcPts val="0"/>
              </a:spcAft>
              <a:buSzPct val="100000"/>
              <a:buFont typeface="Noto Sans Symbols"/>
              <a:buChar char="▪"/>
            </a:pPr>
            <a:r>
              <a:rPr lang="en-US"/>
              <a:t>The OS helps you to communicate with the computer without knowing how to speak the computer's language. It is not possible for the user to use any computer or mobile device without having an operating system.</a:t>
            </a:r>
            <a:endParaRPr/>
          </a:p>
        </p:txBody>
      </p:sp>
      <p:pic>
        <p:nvPicPr>
          <p:cNvPr id="122" name="Google Shape;122;p3"/>
          <p:cNvPicPr preferRelativeResize="0"/>
          <p:nvPr/>
        </p:nvPicPr>
        <p:blipFill rotWithShape="1">
          <a:blip r:embed="rId3">
            <a:alphaModFix/>
          </a:blip>
          <a:srcRect b="0" l="0" r="0" t="0"/>
          <a:stretch/>
        </p:blipFill>
        <p:spPr>
          <a:xfrm>
            <a:off x="8248375" y="3043451"/>
            <a:ext cx="3943625" cy="32151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Examples of OS with Market Share</a:t>
            </a:r>
            <a:endParaRPr/>
          </a:p>
        </p:txBody>
      </p:sp>
      <p:pic>
        <p:nvPicPr>
          <p:cNvPr id="128" name="Google Shape;128;p4"/>
          <p:cNvPicPr preferRelativeResize="0"/>
          <p:nvPr>
            <p:ph idx="1" type="body"/>
          </p:nvPr>
        </p:nvPicPr>
        <p:blipFill rotWithShape="1">
          <a:blip r:embed="rId3">
            <a:alphaModFix/>
          </a:blip>
          <a:srcRect b="0" l="0" r="0" t="0"/>
          <a:stretch/>
        </p:blipFill>
        <p:spPr>
          <a:xfrm>
            <a:off x="3382963" y="2257425"/>
            <a:ext cx="5486400" cy="3200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132e98d9258_0_1"/>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SzPts val="4800"/>
              <a:buNone/>
            </a:pPr>
            <a:r>
              <a:t/>
            </a:r>
            <a:endParaRPr/>
          </a:p>
        </p:txBody>
      </p:sp>
      <p:sp>
        <p:nvSpPr>
          <p:cNvPr id="134" name="Google Shape;134;g132e98d9258_0_1"/>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1200"/>
              </a:spcBef>
              <a:spcAft>
                <a:spcPts val="200"/>
              </a:spcAft>
              <a:buSzPts val="1800"/>
              <a:buNone/>
            </a:pPr>
            <a:r>
              <a:t/>
            </a:r>
            <a:endParaRPr/>
          </a:p>
        </p:txBody>
      </p:sp>
      <p:pic>
        <p:nvPicPr>
          <p:cNvPr id="135" name="Google Shape;135;g132e98d9258_0_1"/>
          <p:cNvPicPr preferRelativeResize="0"/>
          <p:nvPr/>
        </p:nvPicPr>
        <p:blipFill rotWithShape="1">
          <a:blip r:embed="rId3">
            <a:alphaModFix/>
          </a:blip>
          <a:srcRect b="0" l="0" r="0" t="0"/>
          <a:stretch/>
        </p:blipFill>
        <p:spPr>
          <a:xfrm>
            <a:off x="1097275" y="408225"/>
            <a:ext cx="10058400" cy="5787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History Of OS</a:t>
            </a:r>
            <a:endParaRPr/>
          </a:p>
        </p:txBody>
      </p:sp>
      <p:sp>
        <p:nvSpPr>
          <p:cNvPr id="141" name="Google Shape;141;p5"/>
          <p:cNvSpPr txBox="1"/>
          <p:nvPr>
            <p:ph idx="1" type="body"/>
          </p:nvPr>
        </p:nvSpPr>
        <p:spPr>
          <a:xfrm>
            <a:off x="1097280" y="1845734"/>
            <a:ext cx="10058400" cy="4445884"/>
          </a:xfrm>
          <a:prstGeom prst="rect">
            <a:avLst/>
          </a:prstGeom>
          <a:noFill/>
          <a:ln>
            <a:noFill/>
          </a:ln>
        </p:spPr>
        <p:txBody>
          <a:bodyPr anchorCtr="0" anchor="t" bIns="45700" lIns="0" spcFirstLastPara="1" rIns="0" wrap="square" tIns="45700">
            <a:normAutofit lnSpcReduction="10000"/>
          </a:bodyPr>
          <a:lstStyle/>
          <a:p>
            <a:pPr indent="-91440" lvl="0" marL="91440" rtl="0" algn="just">
              <a:lnSpc>
                <a:spcPct val="150000"/>
              </a:lnSpc>
              <a:spcBef>
                <a:spcPts val="0"/>
              </a:spcBef>
              <a:spcAft>
                <a:spcPts val="0"/>
              </a:spcAft>
              <a:buSzPts val="2000"/>
              <a:buFont typeface="Noto Sans Symbols"/>
              <a:buChar char="▪"/>
            </a:pPr>
            <a:r>
              <a:rPr lang="en-US"/>
              <a:t>Operating systems were first developed in the late 1950s to manage tape storage</a:t>
            </a:r>
            <a:endParaRPr/>
          </a:p>
          <a:p>
            <a:pPr indent="-91440" lvl="0" marL="91440" rtl="0" algn="just">
              <a:lnSpc>
                <a:spcPct val="150000"/>
              </a:lnSpc>
              <a:spcBef>
                <a:spcPts val="1400"/>
              </a:spcBef>
              <a:spcAft>
                <a:spcPts val="0"/>
              </a:spcAft>
              <a:buSzPts val="2000"/>
              <a:buFont typeface="Noto Sans Symbols"/>
              <a:buChar char="▪"/>
            </a:pPr>
            <a:r>
              <a:rPr lang="en-US"/>
              <a:t>The General Motors Research Lab implemented the first OS in the early 1950s for their IBM 701</a:t>
            </a:r>
            <a:endParaRPr/>
          </a:p>
          <a:p>
            <a:pPr indent="-91440" lvl="0" marL="91440" rtl="0" algn="just">
              <a:lnSpc>
                <a:spcPct val="150000"/>
              </a:lnSpc>
              <a:spcBef>
                <a:spcPts val="1400"/>
              </a:spcBef>
              <a:spcAft>
                <a:spcPts val="0"/>
              </a:spcAft>
              <a:buSzPts val="2000"/>
              <a:buFont typeface="Noto Sans Symbols"/>
              <a:buChar char="▪"/>
            </a:pPr>
            <a:r>
              <a:rPr lang="en-US"/>
              <a:t>In the mid-1960s, operating systems started to use disks</a:t>
            </a:r>
            <a:endParaRPr/>
          </a:p>
          <a:p>
            <a:pPr indent="-91440" lvl="0" marL="91440" rtl="0" algn="just">
              <a:lnSpc>
                <a:spcPct val="150000"/>
              </a:lnSpc>
              <a:spcBef>
                <a:spcPts val="1400"/>
              </a:spcBef>
              <a:spcAft>
                <a:spcPts val="0"/>
              </a:spcAft>
              <a:buSzPts val="2000"/>
              <a:buFont typeface="Noto Sans Symbols"/>
              <a:buChar char="▪"/>
            </a:pPr>
            <a:r>
              <a:rPr lang="en-US"/>
              <a:t>In the late 1960s, the first version of the Unix OS was developed</a:t>
            </a:r>
            <a:endParaRPr/>
          </a:p>
          <a:p>
            <a:pPr indent="-91440" lvl="0" marL="91440" rtl="0" algn="just">
              <a:lnSpc>
                <a:spcPct val="150000"/>
              </a:lnSpc>
              <a:spcBef>
                <a:spcPts val="1400"/>
              </a:spcBef>
              <a:spcAft>
                <a:spcPts val="0"/>
              </a:spcAft>
              <a:buSzPts val="2000"/>
              <a:buFont typeface="Noto Sans Symbols"/>
              <a:buChar char="▪"/>
            </a:pPr>
            <a:r>
              <a:rPr lang="en-US"/>
              <a:t>The first OS built by Microsoft was DOS. It was built in 1981 by purchasing the 86-DOS software from a Seattle company</a:t>
            </a:r>
            <a:endParaRPr/>
          </a:p>
          <a:p>
            <a:pPr indent="-91440" lvl="0" marL="91440" rtl="0" algn="just">
              <a:lnSpc>
                <a:spcPct val="150000"/>
              </a:lnSpc>
              <a:spcBef>
                <a:spcPts val="1400"/>
              </a:spcBef>
              <a:spcAft>
                <a:spcPts val="0"/>
              </a:spcAft>
              <a:buSzPts val="2000"/>
              <a:buFont typeface="Noto Sans Symbols"/>
              <a:buChar char="▪"/>
            </a:pPr>
            <a:r>
              <a:rPr lang="en-US"/>
              <a:t>The present-day popular OS Windows first came to existence in 1985 when a GUI was created and paired with MS-DOS.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Features of Operating System</a:t>
            </a:r>
            <a:endParaRPr/>
          </a:p>
        </p:txBody>
      </p:sp>
      <p:sp>
        <p:nvSpPr>
          <p:cNvPr id="147" name="Google Shape;147;p6"/>
          <p:cNvSpPr txBox="1"/>
          <p:nvPr>
            <p:ph idx="1" type="body"/>
          </p:nvPr>
        </p:nvSpPr>
        <p:spPr>
          <a:xfrm>
            <a:off x="1097280" y="1845734"/>
            <a:ext cx="7487162" cy="402336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Font typeface="Noto Sans Symbols"/>
              <a:buChar char="▪"/>
            </a:pPr>
            <a:r>
              <a:rPr lang="en-US"/>
              <a:t>Protected and supervisor mode</a:t>
            </a:r>
            <a:endParaRPr/>
          </a:p>
          <a:p>
            <a:pPr indent="-91440" lvl="0" marL="91440" rtl="0" algn="l">
              <a:lnSpc>
                <a:spcPct val="90000"/>
              </a:lnSpc>
              <a:spcBef>
                <a:spcPts val="1400"/>
              </a:spcBef>
              <a:spcAft>
                <a:spcPts val="0"/>
              </a:spcAft>
              <a:buSzPts val="2000"/>
              <a:buFont typeface="Noto Sans Symbols"/>
              <a:buChar char="▪"/>
            </a:pPr>
            <a:r>
              <a:rPr lang="en-US"/>
              <a:t>Allows disk access and file systems Device drivers Networking Security</a:t>
            </a:r>
            <a:endParaRPr/>
          </a:p>
          <a:p>
            <a:pPr indent="-91440" lvl="0" marL="91440" rtl="0" algn="l">
              <a:lnSpc>
                <a:spcPct val="90000"/>
              </a:lnSpc>
              <a:spcBef>
                <a:spcPts val="1400"/>
              </a:spcBef>
              <a:spcAft>
                <a:spcPts val="0"/>
              </a:spcAft>
              <a:buSzPts val="2000"/>
              <a:buFont typeface="Noto Sans Symbols"/>
              <a:buChar char="▪"/>
            </a:pPr>
            <a:r>
              <a:rPr lang="en-US"/>
              <a:t>Program Execution</a:t>
            </a:r>
            <a:endParaRPr/>
          </a:p>
          <a:p>
            <a:pPr indent="-91440" lvl="0" marL="91440" rtl="0" algn="l">
              <a:lnSpc>
                <a:spcPct val="90000"/>
              </a:lnSpc>
              <a:spcBef>
                <a:spcPts val="1400"/>
              </a:spcBef>
              <a:spcAft>
                <a:spcPts val="0"/>
              </a:spcAft>
              <a:buSzPts val="2000"/>
              <a:buFont typeface="Noto Sans Symbols"/>
              <a:buChar char="▪"/>
            </a:pPr>
            <a:r>
              <a:rPr lang="en-US"/>
              <a:t>Memory management Virtual Memory Multitasking</a:t>
            </a:r>
            <a:endParaRPr/>
          </a:p>
          <a:p>
            <a:pPr indent="-91440" lvl="0" marL="91440" rtl="0" algn="l">
              <a:lnSpc>
                <a:spcPct val="90000"/>
              </a:lnSpc>
              <a:spcBef>
                <a:spcPts val="1400"/>
              </a:spcBef>
              <a:spcAft>
                <a:spcPts val="0"/>
              </a:spcAft>
              <a:buSzPts val="2000"/>
              <a:buFont typeface="Noto Sans Symbols"/>
              <a:buChar char="▪"/>
            </a:pPr>
            <a:r>
              <a:rPr lang="en-US"/>
              <a:t>Handling I/O operations</a:t>
            </a:r>
            <a:endParaRPr/>
          </a:p>
          <a:p>
            <a:pPr indent="-91440" lvl="0" marL="91440" rtl="0" algn="l">
              <a:lnSpc>
                <a:spcPct val="90000"/>
              </a:lnSpc>
              <a:spcBef>
                <a:spcPts val="1400"/>
              </a:spcBef>
              <a:spcAft>
                <a:spcPts val="0"/>
              </a:spcAft>
              <a:buSzPts val="2000"/>
              <a:buFont typeface="Noto Sans Symbols"/>
              <a:buChar char="▪"/>
            </a:pPr>
            <a:r>
              <a:rPr lang="en-US"/>
              <a:t>Manipulation of the file system</a:t>
            </a:r>
            <a:endParaRPr/>
          </a:p>
          <a:p>
            <a:pPr indent="-91440" lvl="0" marL="91440" rtl="0" algn="l">
              <a:lnSpc>
                <a:spcPct val="90000"/>
              </a:lnSpc>
              <a:spcBef>
                <a:spcPts val="1400"/>
              </a:spcBef>
              <a:spcAft>
                <a:spcPts val="0"/>
              </a:spcAft>
              <a:buSzPts val="2000"/>
              <a:buFont typeface="Noto Sans Symbols"/>
              <a:buChar char="▪"/>
            </a:pPr>
            <a:r>
              <a:rPr lang="en-US"/>
              <a:t>Error Detection and handling</a:t>
            </a:r>
            <a:endParaRPr/>
          </a:p>
          <a:p>
            <a:pPr indent="-91440" lvl="0" marL="91440" rtl="0" algn="l">
              <a:lnSpc>
                <a:spcPct val="90000"/>
              </a:lnSpc>
              <a:spcBef>
                <a:spcPts val="1400"/>
              </a:spcBef>
              <a:spcAft>
                <a:spcPts val="0"/>
              </a:spcAft>
              <a:buSzPts val="2000"/>
              <a:buFont typeface="Noto Sans Symbols"/>
              <a:buChar char="▪"/>
            </a:pPr>
            <a:r>
              <a:rPr lang="en-US"/>
              <a:t>Resource allocation</a:t>
            </a:r>
            <a:endParaRPr/>
          </a:p>
          <a:p>
            <a:pPr indent="-91440" lvl="0" marL="91440" rtl="0" algn="l">
              <a:lnSpc>
                <a:spcPct val="90000"/>
              </a:lnSpc>
              <a:spcBef>
                <a:spcPts val="1400"/>
              </a:spcBef>
              <a:spcAft>
                <a:spcPts val="0"/>
              </a:spcAft>
              <a:buSzPts val="2000"/>
              <a:buFont typeface="Noto Sans Symbols"/>
              <a:buChar char="▪"/>
            </a:pPr>
            <a:r>
              <a:rPr lang="en-US"/>
              <a:t>Information and Resource Protection</a:t>
            </a:r>
            <a:endParaRPr/>
          </a:p>
        </p:txBody>
      </p:sp>
      <p:pic>
        <p:nvPicPr>
          <p:cNvPr descr="https://www.guru99.com/images/1/011819_0753_OperatingSy3.png" id="148" name="Google Shape;148;p6"/>
          <p:cNvPicPr preferRelativeResize="0"/>
          <p:nvPr/>
        </p:nvPicPr>
        <p:blipFill rotWithShape="1">
          <a:blip r:embed="rId3">
            <a:alphaModFix/>
          </a:blip>
          <a:srcRect b="0" l="0" r="0" t="0"/>
          <a:stretch/>
        </p:blipFill>
        <p:spPr>
          <a:xfrm>
            <a:off x="9149450" y="2000038"/>
            <a:ext cx="2228850" cy="37147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 name="Shape 152"/>
        <p:cNvGrpSpPr/>
        <p:nvPr/>
      </p:nvGrpSpPr>
      <p:grpSpPr>
        <a:xfrm>
          <a:off x="0" y="0"/>
          <a:ext cx="0" cy="0"/>
          <a:chOff x="0" y="0"/>
          <a:chExt cx="0" cy="0"/>
        </a:xfrm>
      </p:grpSpPr>
      <p:sp>
        <p:nvSpPr>
          <p:cNvPr id="153" name="Google Shape;153;p7"/>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7"/>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5" name="Google Shape;155;p7"/>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
        <p:nvSpPr>
          <p:cNvPr id="156" name="Google Shape;156;p7"/>
          <p:cNvSpPr/>
          <p:nvPr/>
        </p:nvSpPr>
        <p:spPr>
          <a:xfrm>
            <a:off x="0" y="0"/>
            <a:ext cx="12192001" cy="490419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7" name="Google Shape;157;p7"/>
          <p:cNvSpPr/>
          <p:nvPr/>
        </p:nvSpPr>
        <p:spPr>
          <a:xfrm>
            <a:off x="1507" y="4953000"/>
            <a:ext cx="12188952"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7"/>
          <p:cNvSpPr txBox="1"/>
          <p:nvPr>
            <p:ph type="title"/>
          </p:nvPr>
        </p:nvSpPr>
        <p:spPr>
          <a:xfrm>
            <a:off x="1065197" y="5120640"/>
            <a:ext cx="10058400" cy="8229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FFFFFF"/>
              </a:buClr>
              <a:buSzPts val="3600"/>
              <a:buFont typeface="Calibri"/>
              <a:buNone/>
            </a:pPr>
            <a:r>
              <a:rPr lang="en-US" sz="3600">
                <a:solidFill>
                  <a:srgbClr val="FFFFFF"/>
                </a:solidFill>
              </a:rPr>
              <a:t>Functions of an Operating System</a:t>
            </a:r>
            <a:endParaRPr/>
          </a:p>
        </p:txBody>
      </p:sp>
      <p:pic>
        <p:nvPicPr>
          <p:cNvPr descr="https://www.guru99.com/images/1/011819_0753_OperatingSy5.png" id="159" name="Google Shape;159;p7"/>
          <p:cNvPicPr preferRelativeResize="0"/>
          <p:nvPr>
            <p:ph idx="1" type="body"/>
          </p:nvPr>
        </p:nvPicPr>
        <p:blipFill rotWithShape="1">
          <a:blip r:embed="rId3">
            <a:alphaModFix/>
          </a:blip>
          <a:srcRect b="0" l="0" r="0" t="0"/>
          <a:stretch/>
        </p:blipFill>
        <p:spPr>
          <a:xfrm>
            <a:off x="2234159" y="643538"/>
            <a:ext cx="7724782" cy="3618586"/>
          </a:xfrm>
          <a:prstGeom prst="rect">
            <a:avLst/>
          </a:prstGeom>
          <a:noFill/>
          <a:ln>
            <a:noFill/>
          </a:ln>
        </p:spPr>
      </p:pic>
      <p:sp>
        <p:nvSpPr>
          <p:cNvPr id="160" name="Google Shape;160;p7"/>
          <p:cNvSpPr/>
          <p:nvPr/>
        </p:nvSpPr>
        <p:spPr>
          <a:xfrm>
            <a:off x="1507" y="4906176"/>
            <a:ext cx="12188952"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Functions of an Operating System</a:t>
            </a:r>
            <a:endParaRPr/>
          </a:p>
        </p:txBody>
      </p:sp>
      <p:sp>
        <p:nvSpPr>
          <p:cNvPr id="166" name="Google Shape;166;p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91440" lvl="0" marL="91440" rtl="0" algn="just">
              <a:lnSpc>
                <a:spcPct val="90000"/>
              </a:lnSpc>
              <a:spcBef>
                <a:spcPts val="0"/>
              </a:spcBef>
              <a:spcAft>
                <a:spcPts val="0"/>
              </a:spcAft>
              <a:buSzPts val="2000"/>
              <a:buFont typeface="Noto Sans Symbols"/>
              <a:buChar char="▪"/>
            </a:pPr>
            <a:r>
              <a:rPr b="1" lang="en-US"/>
              <a:t>Process management: </a:t>
            </a:r>
            <a:r>
              <a:rPr lang="en-US"/>
              <a:t>Process management helps OS to create and delete processes. It also provides mechanisms for synchronization and communication among processes.</a:t>
            </a:r>
            <a:endParaRPr/>
          </a:p>
          <a:p>
            <a:pPr indent="-91440" lvl="0" marL="91440" rtl="0" algn="just">
              <a:lnSpc>
                <a:spcPct val="90000"/>
              </a:lnSpc>
              <a:spcBef>
                <a:spcPts val="1400"/>
              </a:spcBef>
              <a:spcAft>
                <a:spcPts val="0"/>
              </a:spcAft>
              <a:buSzPts val="2000"/>
              <a:buFont typeface="Noto Sans Symbols"/>
              <a:buChar char="▪"/>
            </a:pPr>
            <a:r>
              <a:rPr b="1" lang="en-US"/>
              <a:t>Memory management: </a:t>
            </a:r>
            <a:r>
              <a:rPr lang="en-US"/>
              <a:t>Memory management module performs the task of allocation and deallocation of memory space to programs in need of this resources.</a:t>
            </a:r>
            <a:endParaRPr/>
          </a:p>
          <a:p>
            <a:pPr indent="-91440" lvl="0" marL="91440" rtl="0" algn="just">
              <a:lnSpc>
                <a:spcPct val="90000"/>
              </a:lnSpc>
              <a:spcBef>
                <a:spcPts val="1400"/>
              </a:spcBef>
              <a:spcAft>
                <a:spcPts val="0"/>
              </a:spcAft>
              <a:buSzPts val="2000"/>
              <a:buFont typeface="Noto Sans Symbols"/>
              <a:buChar char="▪"/>
            </a:pPr>
            <a:r>
              <a:rPr b="1" lang="en-US"/>
              <a:t>File management:</a:t>
            </a:r>
            <a:r>
              <a:rPr lang="en-US"/>
              <a:t> It manages all the file-related activities such as organization storage, retrieval, naming, sharing, and protection of files.</a:t>
            </a:r>
            <a:endParaRPr/>
          </a:p>
          <a:p>
            <a:pPr indent="-91440" lvl="0" marL="91440" rtl="0" algn="just">
              <a:lnSpc>
                <a:spcPct val="90000"/>
              </a:lnSpc>
              <a:spcBef>
                <a:spcPts val="1400"/>
              </a:spcBef>
              <a:spcAft>
                <a:spcPts val="0"/>
              </a:spcAft>
              <a:buSzPts val="2000"/>
              <a:buFont typeface="Noto Sans Symbols"/>
              <a:buChar char="▪"/>
            </a:pPr>
            <a:r>
              <a:rPr b="1" lang="en-US"/>
              <a:t>Device Management:</a:t>
            </a:r>
            <a:r>
              <a:rPr lang="en-US"/>
              <a:t> Device management keeps tracks of all devices. This module also responsible for this task is known as the I/O controller. It also performs the task of allocation and deallocation of the devices.</a:t>
            </a:r>
            <a:endParaRPr/>
          </a:p>
          <a:p>
            <a:pPr indent="-91440" lvl="0" marL="91440" rtl="0" algn="just">
              <a:lnSpc>
                <a:spcPct val="90000"/>
              </a:lnSpc>
              <a:spcBef>
                <a:spcPts val="1400"/>
              </a:spcBef>
              <a:spcAft>
                <a:spcPts val="0"/>
              </a:spcAft>
              <a:buSzPts val="2000"/>
              <a:buFont typeface="Noto Sans Symbols"/>
              <a:buChar char="▪"/>
            </a:pPr>
            <a:r>
              <a:rPr b="1" lang="en-US"/>
              <a:t>I/O System Management: </a:t>
            </a:r>
            <a:r>
              <a:rPr lang="en-US"/>
              <a:t>One of the main objects of any OS is to hide the peculiarities of that hardware devices from the user.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Functions of an Operating System</a:t>
            </a:r>
            <a:endParaRPr/>
          </a:p>
        </p:txBody>
      </p:sp>
      <p:sp>
        <p:nvSpPr>
          <p:cNvPr id="172" name="Google Shape;172;p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Autofit/>
          </a:bodyPr>
          <a:lstStyle/>
          <a:p>
            <a:pPr indent="-120650" lvl="0" marL="91440" rtl="0" algn="just">
              <a:lnSpc>
                <a:spcPct val="90000"/>
              </a:lnSpc>
              <a:spcBef>
                <a:spcPts val="0"/>
              </a:spcBef>
              <a:spcAft>
                <a:spcPts val="0"/>
              </a:spcAft>
              <a:buSzPts val="1900"/>
              <a:buFont typeface="Noto Sans Symbols"/>
              <a:buChar char="▪"/>
            </a:pPr>
            <a:r>
              <a:rPr b="1" lang="en-US" sz="1900"/>
              <a:t>Secondary-Storage Management: </a:t>
            </a:r>
            <a:r>
              <a:rPr lang="en-US" sz="1900"/>
              <a:t>Systems have several levels of storage which includes primary storage, secondary storage, and cache storage. Instructions and data must be stored in primary storage or cache so that a running program can reference it.</a:t>
            </a:r>
            <a:endParaRPr/>
          </a:p>
          <a:p>
            <a:pPr indent="-120650" lvl="0" marL="91440" rtl="0" algn="just">
              <a:lnSpc>
                <a:spcPct val="90000"/>
              </a:lnSpc>
              <a:spcBef>
                <a:spcPts val="1400"/>
              </a:spcBef>
              <a:spcAft>
                <a:spcPts val="0"/>
              </a:spcAft>
              <a:buSzPts val="1900"/>
              <a:buFont typeface="Noto Sans Symbols"/>
              <a:buChar char="▪"/>
            </a:pPr>
            <a:r>
              <a:rPr b="1" lang="en-US" sz="1900"/>
              <a:t>Security: </a:t>
            </a:r>
            <a:r>
              <a:rPr lang="en-US" sz="1900"/>
              <a:t>Security module protects the data and information of a computer system against malware threat and unauthorized access.</a:t>
            </a:r>
            <a:endParaRPr/>
          </a:p>
          <a:p>
            <a:pPr indent="-120650" lvl="0" marL="91440" rtl="0" algn="just">
              <a:lnSpc>
                <a:spcPct val="90000"/>
              </a:lnSpc>
              <a:spcBef>
                <a:spcPts val="1400"/>
              </a:spcBef>
              <a:spcAft>
                <a:spcPts val="0"/>
              </a:spcAft>
              <a:buSzPts val="1900"/>
              <a:buFont typeface="Noto Sans Symbols"/>
              <a:buChar char="▪"/>
            </a:pPr>
            <a:r>
              <a:rPr b="1" lang="en-US" sz="1900"/>
              <a:t>Command interpretation: </a:t>
            </a:r>
            <a:r>
              <a:rPr lang="en-US" sz="1900"/>
              <a:t>This module is interpreting commands given by the and acting system resources to process that commands.</a:t>
            </a:r>
            <a:endParaRPr/>
          </a:p>
          <a:p>
            <a:pPr indent="-120650" lvl="0" marL="91440" rtl="0" algn="just">
              <a:lnSpc>
                <a:spcPct val="90000"/>
              </a:lnSpc>
              <a:spcBef>
                <a:spcPts val="1400"/>
              </a:spcBef>
              <a:spcAft>
                <a:spcPts val="0"/>
              </a:spcAft>
              <a:buSzPts val="1900"/>
              <a:buFont typeface="Noto Sans Symbols"/>
              <a:buChar char="▪"/>
            </a:pPr>
            <a:r>
              <a:rPr b="1" lang="en-US" sz="1900"/>
              <a:t>Networking: </a:t>
            </a:r>
            <a:r>
              <a:rPr lang="en-US" sz="1900"/>
              <a:t>A distributed system is a group of processors which do not share memory, hardware devices, or a clock. The processors communicate with one another through the network.</a:t>
            </a:r>
            <a:endParaRPr/>
          </a:p>
          <a:p>
            <a:pPr indent="-120650" lvl="0" marL="91440" rtl="0" algn="just">
              <a:lnSpc>
                <a:spcPct val="90000"/>
              </a:lnSpc>
              <a:spcBef>
                <a:spcPts val="1400"/>
              </a:spcBef>
              <a:spcAft>
                <a:spcPts val="0"/>
              </a:spcAft>
              <a:buSzPts val="1900"/>
              <a:buFont typeface="Noto Sans Symbols"/>
              <a:buChar char="▪"/>
            </a:pPr>
            <a:r>
              <a:rPr b="1" lang="en-US" sz="1900"/>
              <a:t>Job accounting: </a:t>
            </a:r>
            <a:r>
              <a:rPr lang="en-US" sz="1900"/>
              <a:t>Keeping track of time &amp; resource used by various job and users.</a:t>
            </a:r>
            <a:endParaRPr/>
          </a:p>
          <a:p>
            <a:pPr indent="-120650" lvl="0" marL="91440" rtl="0" algn="just">
              <a:lnSpc>
                <a:spcPct val="90000"/>
              </a:lnSpc>
              <a:spcBef>
                <a:spcPts val="1400"/>
              </a:spcBef>
              <a:spcAft>
                <a:spcPts val="0"/>
              </a:spcAft>
              <a:buSzPts val="1900"/>
              <a:buFont typeface="Noto Sans Symbols"/>
              <a:buChar char="▪"/>
            </a:pPr>
            <a:r>
              <a:rPr b="1" lang="en-US" sz="1900"/>
              <a:t>Communication management: </a:t>
            </a:r>
            <a:r>
              <a:rPr lang="en-US" sz="1900"/>
              <a:t>Coordination and assignment of compilers, interpreters, and another software resource of the various users of the computer systems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Types of Operating system</a:t>
            </a:r>
            <a:endParaRPr/>
          </a:p>
        </p:txBody>
      </p:sp>
      <p:sp>
        <p:nvSpPr>
          <p:cNvPr id="178" name="Google Shape;178;p1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Font typeface="Noto Sans Symbols"/>
              <a:buChar char="▪"/>
            </a:pPr>
            <a:r>
              <a:rPr lang="en-US"/>
              <a:t>Batch Operating System</a:t>
            </a:r>
            <a:endParaRPr/>
          </a:p>
          <a:p>
            <a:pPr indent="-91440" lvl="0" marL="91440" rtl="0" algn="l">
              <a:lnSpc>
                <a:spcPct val="90000"/>
              </a:lnSpc>
              <a:spcBef>
                <a:spcPts val="1400"/>
              </a:spcBef>
              <a:spcAft>
                <a:spcPts val="0"/>
              </a:spcAft>
              <a:buSzPts val="2000"/>
              <a:buFont typeface="Noto Sans Symbols"/>
              <a:buChar char="▪"/>
            </a:pPr>
            <a:r>
              <a:rPr lang="en-US"/>
              <a:t>Multitasking/Time Sharing OS</a:t>
            </a:r>
            <a:endParaRPr/>
          </a:p>
          <a:p>
            <a:pPr indent="-91440" lvl="0" marL="91440" rtl="0" algn="l">
              <a:lnSpc>
                <a:spcPct val="90000"/>
              </a:lnSpc>
              <a:spcBef>
                <a:spcPts val="1400"/>
              </a:spcBef>
              <a:spcAft>
                <a:spcPts val="0"/>
              </a:spcAft>
              <a:buSzPts val="2000"/>
              <a:buFont typeface="Noto Sans Symbols"/>
              <a:buChar char="▪"/>
            </a:pPr>
            <a:r>
              <a:rPr lang="en-US"/>
              <a:t>Multiprocessing OS</a:t>
            </a:r>
            <a:endParaRPr/>
          </a:p>
          <a:p>
            <a:pPr indent="-91440" lvl="0" marL="91440" rtl="0" algn="l">
              <a:lnSpc>
                <a:spcPct val="90000"/>
              </a:lnSpc>
              <a:spcBef>
                <a:spcPts val="1400"/>
              </a:spcBef>
              <a:spcAft>
                <a:spcPts val="0"/>
              </a:spcAft>
              <a:buSzPts val="2000"/>
              <a:buFont typeface="Noto Sans Symbols"/>
              <a:buChar char="▪"/>
            </a:pPr>
            <a:r>
              <a:rPr lang="en-US"/>
              <a:t>Real Time OS</a:t>
            </a:r>
            <a:endParaRPr/>
          </a:p>
          <a:p>
            <a:pPr indent="-91440" lvl="0" marL="91440" rtl="0" algn="l">
              <a:lnSpc>
                <a:spcPct val="90000"/>
              </a:lnSpc>
              <a:spcBef>
                <a:spcPts val="1400"/>
              </a:spcBef>
              <a:spcAft>
                <a:spcPts val="0"/>
              </a:spcAft>
              <a:buSzPts val="2000"/>
              <a:buFont typeface="Noto Sans Symbols"/>
              <a:buChar char="▪"/>
            </a:pPr>
            <a:r>
              <a:rPr lang="en-US"/>
              <a:t>Distributed OS</a:t>
            </a:r>
            <a:endParaRPr/>
          </a:p>
          <a:p>
            <a:pPr indent="-91440" lvl="0" marL="91440" rtl="0" algn="l">
              <a:lnSpc>
                <a:spcPct val="90000"/>
              </a:lnSpc>
              <a:spcBef>
                <a:spcPts val="1400"/>
              </a:spcBef>
              <a:spcAft>
                <a:spcPts val="0"/>
              </a:spcAft>
              <a:buSzPts val="2000"/>
              <a:buFont typeface="Noto Sans Symbols"/>
              <a:buChar char="▪"/>
            </a:pPr>
            <a:r>
              <a:rPr lang="en-US"/>
              <a:t>Network OS</a:t>
            </a:r>
            <a:endParaRPr/>
          </a:p>
          <a:p>
            <a:pPr indent="-91440" lvl="0" marL="91440" rtl="0" algn="l">
              <a:lnSpc>
                <a:spcPct val="90000"/>
              </a:lnSpc>
              <a:spcBef>
                <a:spcPts val="1400"/>
              </a:spcBef>
              <a:spcAft>
                <a:spcPts val="0"/>
              </a:spcAft>
              <a:buSzPts val="2000"/>
              <a:buFont typeface="Noto Sans Symbols"/>
              <a:buChar char="▪"/>
            </a:pPr>
            <a:r>
              <a:rPr lang="en-US"/>
              <a:t>Mobile OS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Types of Operating system</a:t>
            </a:r>
            <a:endParaRPr/>
          </a:p>
        </p:txBody>
      </p:sp>
      <p:sp>
        <p:nvSpPr>
          <p:cNvPr id="184" name="Google Shape;184;p1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b="1" lang="en-US"/>
              <a:t>Batch Operating System</a:t>
            </a:r>
            <a:endParaRPr/>
          </a:p>
          <a:p>
            <a:pPr indent="-91440" lvl="0" marL="91440" rtl="0" algn="just">
              <a:lnSpc>
                <a:spcPct val="150000"/>
              </a:lnSpc>
              <a:spcBef>
                <a:spcPts val="1400"/>
              </a:spcBef>
              <a:spcAft>
                <a:spcPts val="0"/>
              </a:spcAft>
              <a:buSzPts val="2000"/>
              <a:buFont typeface="Noto Sans Symbols"/>
              <a:buChar char="▪"/>
            </a:pPr>
            <a:r>
              <a:rPr lang="en-US"/>
              <a:t>Some computer processes are very lengthy and time-consuming. To speed the same process, a job with a similar type of needs are batched together and run as a group.</a:t>
            </a:r>
            <a:endParaRPr/>
          </a:p>
          <a:p>
            <a:pPr indent="-91440" lvl="0" marL="91440" rtl="0" algn="just">
              <a:lnSpc>
                <a:spcPct val="150000"/>
              </a:lnSpc>
              <a:spcBef>
                <a:spcPts val="1400"/>
              </a:spcBef>
              <a:spcAft>
                <a:spcPts val="0"/>
              </a:spcAft>
              <a:buSzPts val="2000"/>
              <a:buFont typeface="Noto Sans Symbols"/>
              <a:buChar char="▪"/>
            </a:pPr>
            <a:r>
              <a:rPr lang="en-US"/>
              <a:t>The user of a batch operating system never directly interacts with the computer. In this type of OS, every user prepares his or her job on an offline device like a punch card and submit it to the computer operator.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Types of Operating system</a:t>
            </a:r>
            <a:endParaRPr/>
          </a:p>
        </p:txBody>
      </p:sp>
      <p:sp>
        <p:nvSpPr>
          <p:cNvPr id="190" name="Google Shape;190;p1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91440" lvl="0" marL="91440" rtl="0" algn="just">
              <a:lnSpc>
                <a:spcPct val="90000"/>
              </a:lnSpc>
              <a:spcBef>
                <a:spcPts val="0"/>
              </a:spcBef>
              <a:spcAft>
                <a:spcPts val="0"/>
              </a:spcAft>
              <a:buSzPts val="2000"/>
              <a:buChar char=" "/>
            </a:pPr>
            <a:r>
              <a:rPr b="1" lang="en-US"/>
              <a:t>Multi-Tasking/Time-sharing Operating systems</a:t>
            </a:r>
            <a:endParaRPr/>
          </a:p>
          <a:p>
            <a:pPr indent="-91440" lvl="0" marL="91440" rtl="0" algn="just">
              <a:lnSpc>
                <a:spcPct val="90000"/>
              </a:lnSpc>
              <a:spcBef>
                <a:spcPts val="1400"/>
              </a:spcBef>
              <a:spcAft>
                <a:spcPts val="0"/>
              </a:spcAft>
              <a:buSzPts val="2000"/>
              <a:buChar char=" "/>
            </a:pPr>
            <a:r>
              <a:rPr lang="en-US"/>
              <a:t>Time-sharing operating system enables people located at a different terminal(shell) to use a single computer system at the same time. The processor time (CPU) which is shared among multiple users is termed as time sharing.</a:t>
            </a:r>
            <a:endParaRPr/>
          </a:p>
          <a:p>
            <a:pPr indent="-91440" lvl="0" marL="91440" rtl="0" algn="just">
              <a:lnSpc>
                <a:spcPct val="90000"/>
              </a:lnSpc>
              <a:spcBef>
                <a:spcPts val="1400"/>
              </a:spcBef>
              <a:spcAft>
                <a:spcPts val="0"/>
              </a:spcAft>
              <a:buSzPts val="2000"/>
              <a:buChar char=" "/>
            </a:pPr>
            <a:r>
              <a:rPr b="1" lang="en-US"/>
              <a:t>Real time OS</a:t>
            </a:r>
            <a:endParaRPr/>
          </a:p>
          <a:p>
            <a:pPr indent="-91440" lvl="0" marL="91440" rtl="0" algn="just">
              <a:lnSpc>
                <a:spcPct val="90000"/>
              </a:lnSpc>
              <a:spcBef>
                <a:spcPts val="1400"/>
              </a:spcBef>
              <a:spcAft>
                <a:spcPts val="0"/>
              </a:spcAft>
              <a:buSzPts val="2000"/>
              <a:buChar char=" "/>
            </a:pPr>
            <a:r>
              <a:rPr lang="en-US"/>
              <a:t>A real time operating system time interval to process and respond to inputs is very small. Examples: Military Software Systems, Space Software Systems.</a:t>
            </a:r>
            <a:endParaRPr/>
          </a:p>
          <a:p>
            <a:pPr indent="-91440" lvl="0" marL="91440" rtl="0" algn="just">
              <a:lnSpc>
                <a:spcPct val="90000"/>
              </a:lnSpc>
              <a:spcBef>
                <a:spcPts val="1400"/>
              </a:spcBef>
              <a:spcAft>
                <a:spcPts val="0"/>
              </a:spcAft>
              <a:buSzPts val="2000"/>
              <a:buChar char=" "/>
            </a:pPr>
            <a:r>
              <a:rPr b="1" lang="en-US"/>
              <a:t>Distributed Operating System</a:t>
            </a:r>
            <a:endParaRPr/>
          </a:p>
          <a:p>
            <a:pPr indent="-91440" lvl="0" marL="91440" rtl="0" algn="just">
              <a:lnSpc>
                <a:spcPct val="90000"/>
              </a:lnSpc>
              <a:spcBef>
                <a:spcPts val="1400"/>
              </a:spcBef>
              <a:spcAft>
                <a:spcPts val="0"/>
              </a:spcAft>
              <a:buSzPts val="2000"/>
              <a:buChar char=" "/>
            </a:pPr>
            <a:r>
              <a:rPr lang="en-US"/>
              <a:t>Distributed systems use many processors located in different machines to provide very fast computation to its users.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Types of Operating system</a:t>
            </a:r>
            <a:endParaRPr/>
          </a:p>
        </p:txBody>
      </p:sp>
      <p:sp>
        <p:nvSpPr>
          <p:cNvPr id="196" name="Google Shape;196;p1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91440" lvl="0" marL="91440" rtl="0" algn="just">
              <a:lnSpc>
                <a:spcPct val="90000"/>
              </a:lnSpc>
              <a:spcBef>
                <a:spcPts val="0"/>
              </a:spcBef>
              <a:spcAft>
                <a:spcPts val="0"/>
              </a:spcAft>
              <a:buSzPts val="2000"/>
              <a:buChar char=" "/>
            </a:pPr>
            <a:r>
              <a:rPr b="1" lang="en-US"/>
              <a:t>Network Operating System</a:t>
            </a:r>
            <a:endParaRPr/>
          </a:p>
          <a:p>
            <a:pPr indent="-91440" lvl="0" marL="91440" rtl="0" algn="just">
              <a:lnSpc>
                <a:spcPct val="90000"/>
              </a:lnSpc>
              <a:spcBef>
                <a:spcPts val="1400"/>
              </a:spcBef>
              <a:spcAft>
                <a:spcPts val="0"/>
              </a:spcAft>
              <a:buSzPts val="2000"/>
              <a:buChar char=" "/>
            </a:pPr>
            <a:r>
              <a:rPr lang="en-US"/>
              <a:t>Network Operating System runs on a server. It provides the capability to serve to manage data, user, groups, security, application, and other networking functions.</a:t>
            </a:r>
            <a:endParaRPr/>
          </a:p>
          <a:p>
            <a:pPr indent="0" lvl="0" marL="91440" rtl="0" algn="just">
              <a:lnSpc>
                <a:spcPct val="90000"/>
              </a:lnSpc>
              <a:spcBef>
                <a:spcPts val="1400"/>
              </a:spcBef>
              <a:spcAft>
                <a:spcPts val="0"/>
              </a:spcAft>
              <a:buSzPts val="2000"/>
              <a:buNone/>
            </a:pPr>
            <a:r>
              <a:t/>
            </a:r>
            <a:endParaRPr/>
          </a:p>
          <a:p>
            <a:pPr indent="-91440" lvl="0" marL="91440" rtl="0" algn="just">
              <a:lnSpc>
                <a:spcPct val="90000"/>
              </a:lnSpc>
              <a:spcBef>
                <a:spcPts val="1400"/>
              </a:spcBef>
              <a:spcAft>
                <a:spcPts val="0"/>
              </a:spcAft>
              <a:buSzPts val="2000"/>
              <a:buChar char=" "/>
            </a:pPr>
            <a:r>
              <a:rPr b="1" lang="en-US"/>
              <a:t>Mobile OS</a:t>
            </a:r>
            <a:endParaRPr/>
          </a:p>
          <a:p>
            <a:pPr indent="-91440" lvl="0" marL="91440" rtl="0" algn="just">
              <a:lnSpc>
                <a:spcPct val="90000"/>
              </a:lnSpc>
              <a:spcBef>
                <a:spcPts val="1400"/>
              </a:spcBef>
              <a:spcAft>
                <a:spcPts val="0"/>
              </a:spcAft>
              <a:buSzPts val="2000"/>
              <a:buChar char=" "/>
            </a:pPr>
            <a:r>
              <a:rPr lang="en-US"/>
              <a:t>Mobile operating systems are those OS which is especially that are designed to power smartphones, tablets, and wearables devices.</a:t>
            </a:r>
            <a:endParaRPr/>
          </a:p>
          <a:p>
            <a:pPr indent="-91440" lvl="0" marL="91440" rtl="0" algn="just">
              <a:lnSpc>
                <a:spcPct val="90000"/>
              </a:lnSpc>
              <a:spcBef>
                <a:spcPts val="1400"/>
              </a:spcBef>
              <a:spcAft>
                <a:spcPts val="0"/>
              </a:spcAft>
              <a:buSzPts val="2000"/>
              <a:buChar char=" "/>
            </a:pPr>
            <a:r>
              <a:rPr lang="en-US"/>
              <a:t>Some most famous mobile operating systems are Android and iOS, but others include BlackBerry, Web, and watchOS.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The advantage of using Operating System</a:t>
            </a:r>
            <a:endParaRPr/>
          </a:p>
        </p:txBody>
      </p:sp>
      <p:sp>
        <p:nvSpPr>
          <p:cNvPr id="202" name="Google Shape;202;p14"/>
          <p:cNvSpPr txBox="1"/>
          <p:nvPr>
            <p:ph idx="1" type="body"/>
          </p:nvPr>
        </p:nvSpPr>
        <p:spPr>
          <a:xfrm>
            <a:off x="1097280" y="1845734"/>
            <a:ext cx="10058400" cy="4432236"/>
          </a:xfrm>
          <a:prstGeom prst="rect">
            <a:avLst/>
          </a:prstGeom>
          <a:noFill/>
          <a:ln>
            <a:noFill/>
          </a:ln>
        </p:spPr>
        <p:txBody>
          <a:bodyPr anchorCtr="0" anchor="t" bIns="45700" lIns="0" spcFirstLastPara="1" rIns="0" wrap="square" tIns="45700">
            <a:normAutofit/>
          </a:bodyPr>
          <a:lstStyle/>
          <a:p>
            <a:pPr indent="-91440" lvl="0" marL="91440" rtl="0" algn="l">
              <a:lnSpc>
                <a:spcPct val="150000"/>
              </a:lnSpc>
              <a:spcBef>
                <a:spcPts val="0"/>
              </a:spcBef>
              <a:spcAft>
                <a:spcPts val="0"/>
              </a:spcAft>
              <a:buSzPts val="2000"/>
              <a:buFont typeface="Noto Sans Symbols"/>
              <a:buChar char="▪"/>
            </a:pPr>
            <a:r>
              <a:rPr lang="en-US"/>
              <a:t>Allows you to hide details of hardware by creating an abstraction</a:t>
            </a:r>
            <a:endParaRPr/>
          </a:p>
          <a:p>
            <a:pPr indent="-91440" lvl="0" marL="91440" rtl="0" algn="l">
              <a:lnSpc>
                <a:spcPct val="150000"/>
              </a:lnSpc>
              <a:spcBef>
                <a:spcPts val="1400"/>
              </a:spcBef>
              <a:spcAft>
                <a:spcPts val="0"/>
              </a:spcAft>
              <a:buSzPts val="2000"/>
              <a:buFont typeface="Noto Sans Symbols"/>
              <a:buChar char="▪"/>
            </a:pPr>
            <a:r>
              <a:rPr lang="en-US"/>
              <a:t>Easy to use with a GUI</a:t>
            </a:r>
            <a:endParaRPr/>
          </a:p>
          <a:p>
            <a:pPr indent="-91440" lvl="0" marL="91440" rtl="0" algn="l">
              <a:lnSpc>
                <a:spcPct val="150000"/>
              </a:lnSpc>
              <a:spcBef>
                <a:spcPts val="1400"/>
              </a:spcBef>
              <a:spcAft>
                <a:spcPts val="0"/>
              </a:spcAft>
              <a:buSzPts val="2000"/>
              <a:buFont typeface="Noto Sans Symbols"/>
              <a:buChar char="▪"/>
            </a:pPr>
            <a:r>
              <a:rPr lang="en-US"/>
              <a:t>Offers an environment in which a user may execute programs/applications</a:t>
            </a:r>
            <a:endParaRPr/>
          </a:p>
          <a:p>
            <a:pPr indent="-91440" lvl="0" marL="91440" rtl="0" algn="l">
              <a:lnSpc>
                <a:spcPct val="150000"/>
              </a:lnSpc>
              <a:spcBef>
                <a:spcPts val="1400"/>
              </a:spcBef>
              <a:spcAft>
                <a:spcPts val="0"/>
              </a:spcAft>
              <a:buSzPts val="2000"/>
              <a:buFont typeface="Noto Sans Symbols"/>
              <a:buChar char="▪"/>
            </a:pPr>
            <a:r>
              <a:rPr lang="en-US"/>
              <a:t>The operating system must make sure that the computer system convenient to use</a:t>
            </a:r>
            <a:endParaRPr/>
          </a:p>
          <a:p>
            <a:pPr indent="-91440" lvl="0" marL="91440" rtl="0" algn="l">
              <a:lnSpc>
                <a:spcPct val="150000"/>
              </a:lnSpc>
              <a:spcBef>
                <a:spcPts val="1400"/>
              </a:spcBef>
              <a:spcAft>
                <a:spcPts val="0"/>
              </a:spcAft>
              <a:buSzPts val="2000"/>
              <a:buFont typeface="Noto Sans Symbols"/>
              <a:buChar char="▪"/>
            </a:pPr>
            <a:r>
              <a:rPr lang="en-US"/>
              <a:t>Operating System acts as an intermediary among applications and the hardware components</a:t>
            </a:r>
            <a:endParaRPr/>
          </a:p>
          <a:p>
            <a:pPr indent="-91440" lvl="0" marL="91440" rtl="0" algn="l">
              <a:lnSpc>
                <a:spcPct val="150000"/>
              </a:lnSpc>
              <a:spcBef>
                <a:spcPts val="1400"/>
              </a:spcBef>
              <a:spcAft>
                <a:spcPts val="0"/>
              </a:spcAft>
              <a:buSzPts val="2000"/>
              <a:buFont typeface="Noto Sans Symbols"/>
              <a:buChar char="▪"/>
            </a:pPr>
            <a:r>
              <a:rPr lang="en-US"/>
              <a:t>It provides the computer system resources with easy to use format</a:t>
            </a:r>
            <a:endParaRPr/>
          </a:p>
          <a:p>
            <a:pPr indent="-91440" lvl="0" marL="91440" rtl="0" algn="l">
              <a:lnSpc>
                <a:spcPct val="150000"/>
              </a:lnSpc>
              <a:spcBef>
                <a:spcPts val="1400"/>
              </a:spcBef>
              <a:spcAft>
                <a:spcPts val="0"/>
              </a:spcAft>
              <a:buSzPts val="2000"/>
              <a:buFont typeface="Noto Sans Symbols"/>
              <a:buChar char="▪"/>
            </a:pPr>
            <a:r>
              <a:rPr lang="en-US"/>
              <a:t>Acts as an intermediary between all hardware and software of the system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5"/>
          <p:cNvSpPr/>
          <p:nvPr/>
        </p:nvSpPr>
        <p:spPr>
          <a:xfrm>
            <a:off x="1419367" y="2088107"/>
            <a:ext cx="9539785" cy="132343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chemeClr val="dk1"/>
                </a:solidFill>
                <a:latin typeface="Calibri"/>
                <a:ea typeface="Calibri"/>
                <a:cs typeface="Calibri"/>
                <a:sym typeface="Calibri"/>
              </a:rPr>
              <a:t>Cloud Computing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000"/>
              <a:buFont typeface="Calibri"/>
              <a:buNone/>
            </a:pPr>
            <a:r>
              <a:rPr b="1" lang="en-US" sz="4000"/>
              <a:t>Cloud Computing</a:t>
            </a:r>
            <a:endParaRPr sz="4000"/>
          </a:p>
        </p:txBody>
      </p:sp>
      <p:sp>
        <p:nvSpPr>
          <p:cNvPr id="213" name="Google Shape;213;p16"/>
          <p:cNvSpPr txBox="1"/>
          <p:nvPr>
            <p:ph idx="1" type="body"/>
          </p:nvPr>
        </p:nvSpPr>
        <p:spPr>
          <a:xfrm>
            <a:off x="1097280" y="1845734"/>
            <a:ext cx="5221633" cy="4023360"/>
          </a:xfrm>
          <a:prstGeom prst="rect">
            <a:avLst/>
          </a:prstGeom>
          <a:noFill/>
          <a:ln>
            <a:noFill/>
          </a:ln>
        </p:spPr>
        <p:txBody>
          <a:bodyPr anchorCtr="0" anchor="t" bIns="45700" lIns="0" spcFirstLastPara="1" rIns="0" wrap="square" tIns="45700">
            <a:normAutofit/>
          </a:bodyPr>
          <a:lstStyle/>
          <a:p>
            <a:pPr indent="0" lvl="0" marL="0" rtl="0" algn="l">
              <a:lnSpc>
                <a:spcPct val="200000"/>
              </a:lnSpc>
              <a:spcBef>
                <a:spcPts val="0"/>
              </a:spcBef>
              <a:spcAft>
                <a:spcPts val="0"/>
              </a:spcAft>
              <a:buSzPts val="2000"/>
              <a:buNone/>
            </a:pPr>
            <a:r>
              <a:rPr b="1" lang="en-US"/>
              <a:t>What is cloud?</a:t>
            </a:r>
            <a:endParaRPr/>
          </a:p>
          <a:p>
            <a:pPr indent="0" lvl="0" marL="0" rtl="0" algn="l">
              <a:lnSpc>
                <a:spcPct val="150000"/>
              </a:lnSpc>
              <a:spcBef>
                <a:spcPts val="1400"/>
              </a:spcBef>
              <a:spcAft>
                <a:spcPts val="0"/>
              </a:spcAft>
              <a:buSzPts val="2000"/>
              <a:buNone/>
            </a:pPr>
            <a:r>
              <a:rPr lang="en-US"/>
              <a:t>“The cloud” refers to applications, services, and data storage on the Internet. </a:t>
            </a:r>
            <a:endParaRPr/>
          </a:p>
          <a:p>
            <a:pPr indent="0" lvl="0" marL="0" rtl="0" algn="l">
              <a:lnSpc>
                <a:spcPct val="150000"/>
              </a:lnSpc>
              <a:spcBef>
                <a:spcPts val="1400"/>
              </a:spcBef>
              <a:spcAft>
                <a:spcPts val="0"/>
              </a:spcAft>
              <a:buSzPts val="2000"/>
              <a:buNone/>
            </a:pPr>
            <a:r>
              <a:rPr b="1" lang="en-US"/>
              <a:t>Examples: </a:t>
            </a:r>
            <a:endParaRPr/>
          </a:p>
          <a:p>
            <a:pPr indent="0" lvl="0" marL="0" rtl="0" algn="l">
              <a:lnSpc>
                <a:spcPct val="150000"/>
              </a:lnSpc>
              <a:spcBef>
                <a:spcPts val="1400"/>
              </a:spcBef>
              <a:spcAft>
                <a:spcPts val="0"/>
              </a:spcAft>
              <a:buSzPts val="2000"/>
              <a:buNone/>
            </a:pPr>
            <a:r>
              <a:rPr lang="en-US"/>
              <a:t>E-mail, Google drive, One drive, Salesforce (CRM)</a:t>
            </a:r>
            <a:endParaRPr/>
          </a:p>
        </p:txBody>
      </p:sp>
      <p:sp>
        <p:nvSpPr>
          <p:cNvPr id="214" name="Google Shape;214;p1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215" name="Google Shape;215;p16"/>
          <p:cNvPicPr preferRelativeResize="0"/>
          <p:nvPr/>
        </p:nvPicPr>
        <p:blipFill rotWithShape="1">
          <a:blip r:embed="rId3">
            <a:alphaModFix/>
          </a:blip>
          <a:srcRect b="0" l="0" r="0" t="0"/>
          <a:stretch/>
        </p:blipFill>
        <p:spPr>
          <a:xfrm>
            <a:off x="6829076" y="1900768"/>
            <a:ext cx="4852557" cy="439560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Advantages of Cloud Computing</a:t>
            </a:r>
            <a:endParaRPr/>
          </a:p>
        </p:txBody>
      </p:sp>
      <p:sp>
        <p:nvSpPr>
          <p:cNvPr id="221" name="Google Shape;221;p17"/>
          <p:cNvSpPr txBox="1"/>
          <p:nvPr>
            <p:ph idx="1" type="body"/>
          </p:nvPr>
        </p:nvSpPr>
        <p:spPr>
          <a:xfrm>
            <a:off x="1097280" y="1845734"/>
            <a:ext cx="10058400" cy="4323054"/>
          </a:xfrm>
          <a:prstGeom prst="rect">
            <a:avLst/>
          </a:prstGeom>
          <a:noFill/>
          <a:ln>
            <a:noFill/>
          </a:ln>
        </p:spPr>
        <p:txBody>
          <a:bodyPr anchorCtr="0" anchor="t" bIns="45700" lIns="0" spcFirstLastPara="1" rIns="0" wrap="square" tIns="45700">
            <a:normAutofit/>
          </a:bodyPr>
          <a:lstStyle/>
          <a:p>
            <a:pPr indent="-91440" lvl="0" marL="91440" rtl="0" algn="l">
              <a:lnSpc>
                <a:spcPct val="150000"/>
              </a:lnSpc>
              <a:spcBef>
                <a:spcPts val="0"/>
              </a:spcBef>
              <a:spcAft>
                <a:spcPts val="0"/>
              </a:spcAft>
              <a:buSzPts val="2000"/>
              <a:buFont typeface="Noto Sans Symbols"/>
              <a:buChar char="▪"/>
            </a:pPr>
            <a:r>
              <a:rPr lang="en-US"/>
              <a:t>No software to install or upgrades to maintain.</a:t>
            </a:r>
            <a:endParaRPr/>
          </a:p>
          <a:p>
            <a:pPr indent="-91440" lvl="0" marL="91440" rtl="0" algn="l">
              <a:lnSpc>
                <a:spcPct val="150000"/>
              </a:lnSpc>
              <a:spcBef>
                <a:spcPts val="1400"/>
              </a:spcBef>
              <a:spcAft>
                <a:spcPts val="0"/>
              </a:spcAft>
              <a:buSzPts val="2000"/>
              <a:buFont typeface="Noto Sans Symbols"/>
              <a:buChar char="▪"/>
            </a:pPr>
            <a:r>
              <a:rPr lang="en-US"/>
              <a:t>Available from any computer that has access to the Internet.</a:t>
            </a:r>
            <a:endParaRPr/>
          </a:p>
          <a:p>
            <a:pPr indent="-91440" lvl="0" marL="91440" rtl="0" algn="l">
              <a:lnSpc>
                <a:spcPct val="150000"/>
              </a:lnSpc>
              <a:spcBef>
                <a:spcPts val="1400"/>
              </a:spcBef>
              <a:spcAft>
                <a:spcPts val="0"/>
              </a:spcAft>
              <a:buSzPts val="2000"/>
              <a:buFont typeface="Noto Sans Symbols"/>
              <a:buChar char="▪"/>
            </a:pPr>
            <a:r>
              <a:rPr lang="en-US"/>
              <a:t>Can scale to a large number of users easily.</a:t>
            </a:r>
            <a:endParaRPr/>
          </a:p>
          <a:p>
            <a:pPr indent="-91440" lvl="0" marL="91440" rtl="0" algn="l">
              <a:lnSpc>
                <a:spcPct val="150000"/>
              </a:lnSpc>
              <a:spcBef>
                <a:spcPts val="1400"/>
              </a:spcBef>
              <a:spcAft>
                <a:spcPts val="0"/>
              </a:spcAft>
              <a:buSzPts val="2000"/>
              <a:buFont typeface="Noto Sans Symbols"/>
              <a:buChar char="▪"/>
            </a:pPr>
            <a:r>
              <a:rPr lang="en-US"/>
              <a:t>New applications can be up and running very quickly.</a:t>
            </a:r>
            <a:endParaRPr/>
          </a:p>
          <a:p>
            <a:pPr indent="-91440" lvl="0" marL="91440" rtl="0" algn="l">
              <a:lnSpc>
                <a:spcPct val="150000"/>
              </a:lnSpc>
              <a:spcBef>
                <a:spcPts val="1400"/>
              </a:spcBef>
              <a:spcAft>
                <a:spcPts val="0"/>
              </a:spcAft>
              <a:buSzPts val="2000"/>
              <a:buFont typeface="Noto Sans Symbols"/>
              <a:buChar char="▪"/>
            </a:pPr>
            <a:r>
              <a:rPr lang="en-US"/>
              <a:t>Services can be leased for a limited time on an as-needed basis.</a:t>
            </a:r>
            <a:endParaRPr/>
          </a:p>
          <a:p>
            <a:pPr indent="-91440" lvl="0" marL="91440" rtl="0" algn="l">
              <a:lnSpc>
                <a:spcPct val="150000"/>
              </a:lnSpc>
              <a:spcBef>
                <a:spcPts val="1400"/>
              </a:spcBef>
              <a:spcAft>
                <a:spcPts val="0"/>
              </a:spcAft>
              <a:buSzPts val="2000"/>
              <a:buFont typeface="Noto Sans Symbols"/>
              <a:buChar char="▪"/>
            </a:pPr>
            <a:r>
              <a:rPr lang="en-US"/>
              <a:t>Your information is not lost if your hard disk crashes or your laptop is stolen.</a:t>
            </a:r>
            <a:endParaRPr/>
          </a:p>
          <a:p>
            <a:pPr indent="-91440" lvl="0" marL="91440" rtl="0" algn="l">
              <a:lnSpc>
                <a:spcPct val="150000"/>
              </a:lnSpc>
              <a:spcBef>
                <a:spcPts val="1400"/>
              </a:spcBef>
              <a:spcAft>
                <a:spcPts val="0"/>
              </a:spcAft>
              <a:buSzPts val="2000"/>
              <a:buFont typeface="Noto Sans Symbols"/>
              <a:buChar char="▪"/>
            </a:pPr>
            <a:r>
              <a:rPr lang="en-US"/>
              <a:t>You are not limited by the available memory or disk space on your computer.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000"/>
              <a:buFont typeface="Calibri"/>
              <a:buNone/>
            </a:pPr>
            <a:r>
              <a:rPr lang="en-US" sz="4000"/>
              <a:t>Disadvantages of Cloud Computing</a:t>
            </a:r>
            <a:endParaRPr/>
          </a:p>
        </p:txBody>
      </p:sp>
      <p:sp>
        <p:nvSpPr>
          <p:cNvPr id="227" name="Google Shape;227;p18"/>
          <p:cNvSpPr txBox="1"/>
          <p:nvPr>
            <p:ph idx="1" type="body"/>
          </p:nvPr>
        </p:nvSpPr>
        <p:spPr>
          <a:xfrm>
            <a:off x="1097280" y="1870364"/>
            <a:ext cx="9875520" cy="3970878"/>
          </a:xfrm>
          <a:prstGeom prst="rect">
            <a:avLst/>
          </a:prstGeom>
          <a:noFill/>
          <a:ln>
            <a:noFill/>
          </a:ln>
        </p:spPr>
        <p:txBody>
          <a:bodyPr anchorCtr="0" anchor="t" bIns="45700" lIns="0" spcFirstLastPara="1" rIns="0" wrap="square" tIns="45700">
            <a:normAutofit/>
          </a:bodyPr>
          <a:lstStyle/>
          <a:p>
            <a:pPr indent="-91440" lvl="0" marL="91440" rtl="0" algn="l">
              <a:lnSpc>
                <a:spcPct val="150000"/>
              </a:lnSpc>
              <a:spcBef>
                <a:spcPts val="0"/>
              </a:spcBef>
              <a:spcAft>
                <a:spcPts val="0"/>
              </a:spcAft>
              <a:buSzPts val="2000"/>
              <a:buFont typeface="Noto Sans Symbols"/>
              <a:buChar char="▪"/>
            </a:pPr>
            <a:r>
              <a:rPr lang="en-US"/>
              <a:t>Your information is stored on someone else’s computer – how safe is it?</a:t>
            </a:r>
            <a:endParaRPr/>
          </a:p>
          <a:p>
            <a:pPr indent="-91440" lvl="0" marL="91440" rtl="0" algn="l">
              <a:lnSpc>
                <a:spcPct val="150000"/>
              </a:lnSpc>
              <a:spcBef>
                <a:spcPts val="1400"/>
              </a:spcBef>
              <a:spcAft>
                <a:spcPts val="0"/>
              </a:spcAft>
              <a:buSzPts val="2000"/>
              <a:buFont typeface="Noto Sans Symbols"/>
              <a:buChar char="▪"/>
            </a:pPr>
            <a:r>
              <a:rPr lang="en-US"/>
              <a:t>You must have Internet access to use it. If you do not have access, you’re out of luck.</a:t>
            </a:r>
            <a:endParaRPr/>
          </a:p>
          <a:p>
            <a:pPr indent="-91440" lvl="0" marL="91440" rtl="0" algn="l">
              <a:lnSpc>
                <a:spcPct val="150000"/>
              </a:lnSpc>
              <a:spcBef>
                <a:spcPts val="1400"/>
              </a:spcBef>
              <a:spcAft>
                <a:spcPts val="0"/>
              </a:spcAft>
              <a:buSzPts val="2000"/>
              <a:buFont typeface="Noto Sans Symbols"/>
              <a:buChar char="▪"/>
            </a:pPr>
            <a:r>
              <a:rPr lang="en-US"/>
              <a:t>You are relying on a third-party to provide these services.</a:t>
            </a:r>
            <a:endParaRPr/>
          </a:p>
        </p:txBody>
      </p:sp>
      <p:sp>
        <p:nvSpPr>
          <p:cNvPr id="228" name="Google Shape;228;p1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Using a Private Cloud</a:t>
            </a:r>
            <a:endParaRPr/>
          </a:p>
        </p:txBody>
      </p:sp>
      <p:sp>
        <p:nvSpPr>
          <p:cNvPr id="234" name="Google Shape;234;p1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91440" lvl="0" marL="91440" rtl="0" algn="just">
              <a:lnSpc>
                <a:spcPct val="90000"/>
              </a:lnSpc>
              <a:spcBef>
                <a:spcPts val="0"/>
              </a:spcBef>
              <a:spcAft>
                <a:spcPts val="0"/>
              </a:spcAft>
              <a:buSzPts val="2000"/>
              <a:buFont typeface="Noto Sans Symbols"/>
              <a:buChar char="▪"/>
            </a:pPr>
            <a:r>
              <a:rPr lang="en-US"/>
              <a:t>Many organizations are understandably nervous about giving up control of their data and some of their applications by using cloud computing. </a:t>
            </a:r>
            <a:endParaRPr/>
          </a:p>
          <a:p>
            <a:pPr indent="-91440" lvl="0" marL="91440" rtl="0" algn="just">
              <a:lnSpc>
                <a:spcPct val="90000"/>
              </a:lnSpc>
              <a:spcBef>
                <a:spcPts val="1400"/>
              </a:spcBef>
              <a:spcAft>
                <a:spcPts val="0"/>
              </a:spcAft>
              <a:buSzPts val="2000"/>
              <a:buFont typeface="Noto Sans Symbols"/>
              <a:buChar char="▪"/>
            </a:pPr>
            <a:r>
              <a:rPr lang="en-US"/>
              <a:t>But they also see the value in reducing the need for installing software and adding disk storage to local computers.</a:t>
            </a:r>
            <a:endParaRPr/>
          </a:p>
          <a:p>
            <a:pPr indent="-91440" lvl="0" marL="91440" rtl="0" algn="just">
              <a:lnSpc>
                <a:spcPct val="90000"/>
              </a:lnSpc>
              <a:spcBef>
                <a:spcPts val="1400"/>
              </a:spcBef>
              <a:spcAft>
                <a:spcPts val="0"/>
              </a:spcAft>
              <a:buSzPts val="2000"/>
              <a:buFont typeface="Noto Sans Symbols"/>
              <a:buChar char="▪"/>
            </a:pPr>
            <a:r>
              <a:rPr lang="en-US"/>
              <a:t>A solution to this problem lies in the concept of a private cloud. </a:t>
            </a:r>
            <a:endParaRPr/>
          </a:p>
          <a:p>
            <a:pPr indent="-91440" lvl="0" marL="91440" rtl="0" algn="just">
              <a:lnSpc>
                <a:spcPct val="90000"/>
              </a:lnSpc>
              <a:spcBef>
                <a:spcPts val="1400"/>
              </a:spcBef>
              <a:spcAft>
                <a:spcPts val="0"/>
              </a:spcAft>
              <a:buSzPts val="2000"/>
              <a:buFont typeface="Noto Sans Symbols"/>
              <a:buChar char="▪"/>
            </a:pPr>
            <a:r>
              <a:rPr lang="en-US"/>
              <a:t>While there are various models of a private cloud, the basic idea is for the cloud service provider to section off web server space for a specific organization. </a:t>
            </a:r>
            <a:endParaRPr/>
          </a:p>
          <a:p>
            <a:pPr indent="-91440" lvl="0" marL="91440" rtl="0" algn="just">
              <a:lnSpc>
                <a:spcPct val="90000"/>
              </a:lnSpc>
              <a:spcBef>
                <a:spcPts val="1400"/>
              </a:spcBef>
              <a:spcAft>
                <a:spcPts val="0"/>
              </a:spcAft>
              <a:buSzPts val="2000"/>
              <a:buFont typeface="Noto Sans Symbols"/>
              <a:buChar char="▪"/>
            </a:pPr>
            <a:r>
              <a:rPr lang="en-US"/>
              <a:t>The organization has full control over that server space while still gaining some of the benefits of cloud computing.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8" name="Shape 238"/>
        <p:cNvGrpSpPr/>
        <p:nvPr/>
      </p:nvGrpSpPr>
      <p:grpSpPr>
        <a:xfrm>
          <a:off x="0" y="0"/>
          <a:ext cx="0" cy="0"/>
          <a:chOff x="0" y="0"/>
          <a:chExt cx="0" cy="0"/>
        </a:xfrm>
      </p:grpSpPr>
      <p:sp>
        <p:nvSpPr>
          <p:cNvPr id="239" name="Google Shape;239;p20"/>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0"/>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41" name="Google Shape;241;p20"/>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
        <p:nvSpPr>
          <p:cNvPr id="242" name="Google Shape;242;p20"/>
          <p:cNvSpPr/>
          <p:nvPr/>
        </p:nvSpPr>
        <p:spPr>
          <a:xfrm>
            <a:off x="1507"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3" name="Google Shape;243;p20"/>
          <p:cNvSpPr/>
          <p:nvPr/>
        </p:nvSpPr>
        <p:spPr>
          <a:xfrm>
            <a:off x="1097280" y="758952"/>
            <a:ext cx="10058400" cy="3892168"/>
          </a:xfrm>
          <a:prstGeom prst="rect">
            <a:avLst/>
          </a:prstGeom>
          <a:noFill/>
          <a:ln>
            <a:noFill/>
          </a:ln>
        </p:spPr>
        <p:txBody>
          <a:bodyPr anchorCtr="0" anchor="b" bIns="45700" lIns="91425" spcFirstLastPara="1" rIns="91425" wrap="square" tIns="45700">
            <a:normAutofit/>
          </a:bodyPr>
          <a:lstStyle/>
          <a:p>
            <a:pPr indent="0" lvl="0" marL="0" marR="0" rtl="0" algn="l">
              <a:lnSpc>
                <a:spcPct val="85000"/>
              </a:lnSpc>
              <a:spcBef>
                <a:spcPts val="0"/>
              </a:spcBef>
              <a:spcAft>
                <a:spcPts val="0"/>
              </a:spcAft>
              <a:buClr>
                <a:srgbClr val="000000"/>
              </a:buClr>
              <a:buSzPts val="8000"/>
              <a:buFont typeface="Arial"/>
              <a:buNone/>
            </a:pPr>
            <a:r>
              <a:rPr b="0" i="0" lang="en-US" sz="8000" u="none" cap="none" strike="noStrike">
                <a:solidFill>
                  <a:srgbClr val="262626"/>
                </a:solidFill>
                <a:latin typeface="Calibri"/>
                <a:ea typeface="Calibri"/>
                <a:cs typeface="Calibri"/>
                <a:sym typeface="Calibri"/>
              </a:rPr>
              <a:t>Computer Network</a:t>
            </a:r>
            <a:endParaRPr b="0" i="0" sz="1400" u="none" cap="none" strike="noStrike">
              <a:solidFill>
                <a:srgbClr val="000000"/>
              </a:solidFill>
              <a:latin typeface="Arial"/>
              <a:ea typeface="Arial"/>
              <a:cs typeface="Arial"/>
              <a:sym typeface="Arial"/>
            </a:endParaRPr>
          </a:p>
        </p:txBody>
      </p:sp>
      <p:sp>
        <p:nvSpPr>
          <p:cNvPr id="244" name="Google Shape;244;p20"/>
          <p:cNvSpPr/>
          <p:nvPr/>
        </p:nvSpPr>
        <p:spPr>
          <a:xfrm>
            <a:off x="1507" y="4953000"/>
            <a:ext cx="12188952"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0"/>
          <p:cNvSpPr/>
          <p:nvPr/>
        </p:nvSpPr>
        <p:spPr>
          <a:xfrm>
            <a:off x="1507" y="4906176"/>
            <a:ext cx="12188952"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Computer Network</a:t>
            </a:r>
            <a:endParaRPr/>
          </a:p>
        </p:txBody>
      </p:sp>
      <p:sp>
        <p:nvSpPr>
          <p:cNvPr id="251" name="Google Shape;251;p21"/>
          <p:cNvSpPr txBox="1"/>
          <p:nvPr>
            <p:ph idx="1" type="body"/>
          </p:nvPr>
        </p:nvSpPr>
        <p:spPr>
          <a:xfrm>
            <a:off x="1143001" y="2057400"/>
            <a:ext cx="8042564" cy="4038600"/>
          </a:xfrm>
          <a:prstGeom prst="rect">
            <a:avLst/>
          </a:prstGeom>
          <a:noFill/>
          <a:ln>
            <a:noFill/>
          </a:ln>
        </p:spPr>
        <p:txBody>
          <a:bodyPr anchorCtr="0" anchor="t" bIns="45700" lIns="0" spcFirstLastPara="1" rIns="0" wrap="square" tIns="45700">
            <a:normAutofit/>
          </a:bodyPr>
          <a:lstStyle/>
          <a:p>
            <a:pPr indent="-91440" lvl="0" marL="91440" rtl="0" algn="just">
              <a:lnSpc>
                <a:spcPct val="150000"/>
              </a:lnSpc>
              <a:spcBef>
                <a:spcPts val="0"/>
              </a:spcBef>
              <a:spcAft>
                <a:spcPts val="0"/>
              </a:spcAft>
              <a:buSzPts val="2000"/>
              <a:buFont typeface="Noto Sans Symbols"/>
              <a:buChar char="▪"/>
            </a:pPr>
            <a:r>
              <a:rPr lang="en-US"/>
              <a:t>A computer network is a system in which multiple computers are connected to each other to share information and resources.</a:t>
            </a:r>
            <a:endParaRPr/>
          </a:p>
          <a:p>
            <a:pPr indent="-91440" lvl="0" marL="91440" rtl="0" algn="just">
              <a:lnSpc>
                <a:spcPct val="150000"/>
              </a:lnSpc>
              <a:spcBef>
                <a:spcPts val="1400"/>
              </a:spcBef>
              <a:spcAft>
                <a:spcPts val="0"/>
              </a:spcAft>
              <a:buSzPts val="2000"/>
              <a:buFont typeface="Noto Sans Symbols"/>
              <a:buChar char="▪"/>
            </a:pPr>
            <a:r>
              <a:rPr lang="en-US"/>
              <a:t>Characteristics of a computer network</a:t>
            </a:r>
            <a:endParaRPr/>
          </a:p>
          <a:p>
            <a:pPr indent="-182880" lvl="1" marL="384048" rtl="0" algn="just">
              <a:lnSpc>
                <a:spcPct val="150000"/>
              </a:lnSpc>
              <a:spcBef>
                <a:spcPts val="400"/>
              </a:spcBef>
              <a:spcAft>
                <a:spcPts val="0"/>
              </a:spcAft>
              <a:buSzPts val="1800"/>
              <a:buChar char="◦"/>
            </a:pPr>
            <a:r>
              <a:rPr lang="en-US"/>
              <a:t>Share Resources from one computer to another</a:t>
            </a:r>
            <a:endParaRPr/>
          </a:p>
          <a:p>
            <a:pPr indent="-182880" lvl="1" marL="384048" rtl="0" algn="just">
              <a:lnSpc>
                <a:spcPct val="150000"/>
              </a:lnSpc>
              <a:spcBef>
                <a:spcPts val="600"/>
              </a:spcBef>
              <a:spcAft>
                <a:spcPts val="0"/>
              </a:spcAft>
              <a:buSzPts val="1800"/>
              <a:buChar char="◦"/>
            </a:pPr>
            <a:r>
              <a:rPr lang="en-US"/>
              <a:t>Create files and store them in one computer, access those files from the other computer(s) connected over the network</a:t>
            </a:r>
            <a:endParaRPr/>
          </a:p>
          <a:p>
            <a:pPr indent="-182880" lvl="1" marL="384048" rtl="0" algn="just">
              <a:lnSpc>
                <a:spcPct val="150000"/>
              </a:lnSpc>
              <a:spcBef>
                <a:spcPts val="600"/>
              </a:spcBef>
              <a:spcAft>
                <a:spcPts val="0"/>
              </a:spcAft>
              <a:buSzPts val="1800"/>
              <a:buChar char="◦"/>
            </a:pPr>
            <a:r>
              <a:rPr lang="en-US"/>
              <a:t>Connect a printer, scanner, or a fax machine to one computer within the network and let other computers of the network use the machines available over network.</a:t>
            </a:r>
            <a:endParaRPr/>
          </a:p>
          <a:p>
            <a:pPr indent="0" lvl="0" marL="91440" rtl="0" algn="l">
              <a:lnSpc>
                <a:spcPct val="90000"/>
              </a:lnSpc>
              <a:spcBef>
                <a:spcPts val="1600"/>
              </a:spcBef>
              <a:spcAft>
                <a:spcPts val="0"/>
              </a:spcAft>
              <a:buSzPts val="2000"/>
              <a:buNone/>
            </a:pPr>
            <a:r>
              <a:t/>
            </a:r>
            <a:endParaRPr/>
          </a:p>
        </p:txBody>
      </p:sp>
      <p:sp>
        <p:nvSpPr>
          <p:cNvPr id="252" name="Google Shape;252;p2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253" name="Google Shape;253;p21"/>
          <p:cNvPicPr preferRelativeResize="0"/>
          <p:nvPr/>
        </p:nvPicPr>
        <p:blipFill rotWithShape="1">
          <a:blip r:embed="rId3">
            <a:alphaModFix/>
          </a:blip>
          <a:srcRect b="0" l="0" r="0" t="0"/>
          <a:stretch/>
        </p:blipFill>
        <p:spPr>
          <a:xfrm>
            <a:off x="9185565" y="3955909"/>
            <a:ext cx="2804583" cy="196320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7" name="Shape 257"/>
        <p:cNvGrpSpPr/>
        <p:nvPr/>
      </p:nvGrpSpPr>
      <p:grpSpPr>
        <a:xfrm>
          <a:off x="0" y="0"/>
          <a:ext cx="0" cy="0"/>
          <a:chOff x="0" y="0"/>
          <a:chExt cx="0" cy="0"/>
        </a:xfrm>
      </p:grpSpPr>
      <p:sp>
        <p:nvSpPr>
          <p:cNvPr id="258" name="Google Shape;258;p22"/>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2"/>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60" name="Google Shape;260;p22"/>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
        <p:nvSpPr>
          <p:cNvPr id="261" name="Google Shape;261;p2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Intranet Extranet Diagram" id="262" name="Google Shape;262;p22"/>
          <p:cNvPicPr preferRelativeResize="0"/>
          <p:nvPr>
            <p:ph idx="1" type="body"/>
          </p:nvPr>
        </p:nvPicPr>
        <p:blipFill rotWithShape="1">
          <a:blip r:embed="rId3">
            <a:alphaModFix/>
          </a:blip>
          <a:srcRect b="0" l="0" r="0" t="0"/>
          <a:stretch/>
        </p:blipFill>
        <p:spPr>
          <a:xfrm>
            <a:off x="675215" y="640080"/>
            <a:ext cx="6193235" cy="5577840"/>
          </a:xfrm>
          <a:prstGeom prst="rect">
            <a:avLst/>
          </a:prstGeom>
          <a:noFill/>
          <a:ln>
            <a:noFill/>
          </a:ln>
        </p:spPr>
      </p:pic>
      <p:sp>
        <p:nvSpPr>
          <p:cNvPr id="263" name="Google Shape;263;p22"/>
          <p:cNvSpPr/>
          <p:nvPr/>
        </p:nvSpPr>
        <p:spPr>
          <a:xfrm>
            <a:off x="7613486" y="0"/>
            <a:ext cx="4584734"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2"/>
          <p:cNvSpPr txBox="1"/>
          <p:nvPr>
            <p:ph type="title"/>
          </p:nvPr>
        </p:nvSpPr>
        <p:spPr>
          <a:xfrm>
            <a:off x="8096885" y="640080"/>
            <a:ext cx="3659246" cy="292608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FFFFFF"/>
              </a:buClr>
              <a:buSzPts val="4400"/>
              <a:buFont typeface="Calibri"/>
              <a:buNone/>
            </a:pPr>
            <a:r>
              <a:rPr lang="en-US" sz="4400">
                <a:solidFill>
                  <a:srgbClr val="FFFFFF"/>
                </a:solidFill>
              </a:rPr>
              <a:t>Organizational Networking</a:t>
            </a:r>
            <a:endParaRPr/>
          </a:p>
        </p:txBody>
      </p:sp>
      <p:sp>
        <p:nvSpPr>
          <p:cNvPr id="265" name="Google Shape;265;p22"/>
          <p:cNvSpPr/>
          <p:nvPr/>
        </p:nvSpPr>
        <p:spPr>
          <a:xfrm>
            <a:off x="7556906"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22"/>
          <p:cNvSpPr txBox="1"/>
          <p:nvPr>
            <p:ph idx="12" type="sldNum"/>
          </p:nvPr>
        </p:nvSpPr>
        <p:spPr>
          <a:xfrm>
            <a:off x="11030574" y="6459785"/>
            <a:ext cx="725557" cy="365125"/>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Computer Applications in Society</a:t>
            </a:r>
            <a:endParaRPr/>
          </a:p>
        </p:txBody>
      </p:sp>
      <p:sp>
        <p:nvSpPr>
          <p:cNvPr id="272" name="Google Shape;272;p23"/>
          <p:cNvSpPr txBox="1"/>
          <p:nvPr>
            <p:ph idx="1" type="body"/>
          </p:nvPr>
        </p:nvSpPr>
        <p:spPr>
          <a:xfrm>
            <a:off x="1143000" y="2057400"/>
            <a:ext cx="5687291" cy="403860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Font typeface="Noto Sans Symbols"/>
              <a:buChar char="▪"/>
            </a:pPr>
            <a:r>
              <a:rPr lang="en-US"/>
              <a:t>What are some examples  of computer applications  in society?</a:t>
            </a:r>
            <a:endParaRPr/>
          </a:p>
          <a:p>
            <a:pPr indent="-182880" lvl="1" marL="384048" rtl="0" algn="l">
              <a:lnSpc>
                <a:spcPct val="90000"/>
              </a:lnSpc>
              <a:spcBef>
                <a:spcPts val="400"/>
              </a:spcBef>
              <a:spcAft>
                <a:spcPts val="0"/>
              </a:spcAft>
              <a:buSzPts val="1800"/>
              <a:buChar char="◦"/>
            </a:pPr>
            <a:r>
              <a:rPr lang="en-US"/>
              <a:t>Education</a:t>
            </a:r>
            <a:endParaRPr/>
          </a:p>
          <a:p>
            <a:pPr indent="-182880" lvl="1" marL="384048" rtl="0" algn="l">
              <a:lnSpc>
                <a:spcPct val="90000"/>
              </a:lnSpc>
              <a:spcBef>
                <a:spcPts val="600"/>
              </a:spcBef>
              <a:spcAft>
                <a:spcPts val="0"/>
              </a:spcAft>
              <a:buSzPts val="1800"/>
              <a:buChar char="◦"/>
            </a:pPr>
            <a:r>
              <a:rPr lang="en-US"/>
              <a:t>Finance</a:t>
            </a:r>
            <a:endParaRPr/>
          </a:p>
          <a:p>
            <a:pPr indent="-182880" lvl="1" marL="384048" rtl="0" algn="l">
              <a:lnSpc>
                <a:spcPct val="90000"/>
              </a:lnSpc>
              <a:spcBef>
                <a:spcPts val="600"/>
              </a:spcBef>
              <a:spcAft>
                <a:spcPts val="0"/>
              </a:spcAft>
              <a:buSzPts val="1800"/>
              <a:buChar char="◦"/>
            </a:pPr>
            <a:r>
              <a:rPr lang="en-US"/>
              <a:t>Government</a:t>
            </a:r>
            <a:endParaRPr/>
          </a:p>
          <a:p>
            <a:pPr indent="-182880" lvl="1" marL="384048" rtl="0" algn="l">
              <a:lnSpc>
                <a:spcPct val="90000"/>
              </a:lnSpc>
              <a:spcBef>
                <a:spcPts val="600"/>
              </a:spcBef>
              <a:spcAft>
                <a:spcPts val="0"/>
              </a:spcAft>
              <a:buSzPts val="1800"/>
              <a:buChar char="◦"/>
            </a:pPr>
            <a:r>
              <a:rPr lang="en-US"/>
              <a:t>Health Care</a:t>
            </a:r>
            <a:endParaRPr/>
          </a:p>
          <a:p>
            <a:pPr indent="-182880" lvl="1" marL="384048" rtl="0" algn="l">
              <a:lnSpc>
                <a:spcPct val="90000"/>
              </a:lnSpc>
              <a:spcBef>
                <a:spcPts val="600"/>
              </a:spcBef>
              <a:spcAft>
                <a:spcPts val="0"/>
              </a:spcAft>
              <a:buSzPts val="1800"/>
              <a:buChar char="◦"/>
            </a:pPr>
            <a:r>
              <a:rPr lang="en-US"/>
              <a:t>Science</a:t>
            </a:r>
            <a:endParaRPr/>
          </a:p>
          <a:p>
            <a:pPr indent="-182880" lvl="1" marL="384048" rtl="0" algn="l">
              <a:lnSpc>
                <a:spcPct val="90000"/>
              </a:lnSpc>
              <a:spcBef>
                <a:spcPts val="600"/>
              </a:spcBef>
              <a:spcAft>
                <a:spcPts val="0"/>
              </a:spcAft>
              <a:buSzPts val="1800"/>
              <a:buChar char="◦"/>
            </a:pPr>
            <a:r>
              <a:rPr lang="en-US"/>
              <a:t>Publishing</a:t>
            </a:r>
            <a:endParaRPr/>
          </a:p>
          <a:p>
            <a:pPr indent="-182880" lvl="1" marL="384048" rtl="0" algn="l">
              <a:lnSpc>
                <a:spcPct val="90000"/>
              </a:lnSpc>
              <a:spcBef>
                <a:spcPts val="600"/>
              </a:spcBef>
              <a:spcAft>
                <a:spcPts val="0"/>
              </a:spcAft>
              <a:buSzPts val="1800"/>
              <a:buChar char="◦"/>
            </a:pPr>
            <a:r>
              <a:rPr lang="en-US"/>
              <a:t>Travel</a:t>
            </a:r>
            <a:endParaRPr/>
          </a:p>
          <a:p>
            <a:pPr indent="-182880" lvl="1" marL="384048" rtl="0" algn="l">
              <a:lnSpc>
                <a:spcPct val="90000"/>
              </a:lnSpc>
              <a:spcBef>
                <a:spcPts val="600"/>
              </a:spcBef>
              <a:spcAft>
                <a:spcPts val="0"/>
              </a:spcAft>
              <a:buSzPts val="1800"/>
              <a:buChar char="◦"/>
            </a:pPr>
            <a:r>
              <a:rPr lang="en-US"/>
              <a:t>Manufacturing</a:t>
            </a:r>
            <a:endParaRPr/>
          </a:p>
          <a:p>
            <a:pPr indent="0" lvl="0" marL="91440" rtl="0" algn="l">
              <a:lnSpc>
                <a:spcPct val="90000"/>
              </a:lnSpc>
              <a:spcBef>
                <a:spcPts val="1600"/>
              </a:spcBef>
              <a:spcAft>
                <a:spcPts val="0"/>
              </a:spcAft>
              <a:buSzPts val="2000"/>
              <a:buNone/>
            </a:pPr>
            <a:r>
              <a:t/>
            </a:r>
            <a:endParaRPr/>
          </a:p>
        </p:txBody>
      </p:sp>
      <p:sp>
        <p:nvSpPr>
          <p:cNvPr id="273" name="Google Shape;273;p23"/>
          <p:cNvSpPr txBox="1"/>
          <p:nvPr>
            <p:ph idx="11" type="ftr"/>
          </p:nvPr>
        </p:nvSpPr>
        <p:spPr>
          <a:xfrm>
            <a:off x="2584054" y="6453386"/>
            <a:ext cx="7023377" cy="40461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DOC 314 DIGITAL SKILLS FOR HIGHER EDUCATION</a:t>
            </a:r>
            <a:endParaRPr/>
          </a:p>
        </p:txBody>
      </p:sp>
      <p:sp>
        <p:nvSpPr>
          <p:cNvPr id="274" name="Google Shape;274;p2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275" name="Google Shape;275;p23"/>
          <p:cNvPicPr preferRelativeResize="0"/>
          <p:nvPr/>
        </p:nvPicPr>
        <p:blipFill rotWithShape="1">
          <a:blip r:embed="rId3">
            <a:alphaModFix/>
          </a:blip>
          <a:srcRect b="9251" l="0" r="0" t="0"/>
          <a:stretch/>
        </p:blipFill>
        <p:spPr>
          <a:xfrm>
            <a:off x="6660108" y="2749212"/>
            <a:ext cx="5190483" cy="334678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Orange Red">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2021-10-01T07:41:22Z</dcterms:created>
  <dc:creator>Jananie Mayooresan</dc:creator>
</cp:coreProperties>
</file>