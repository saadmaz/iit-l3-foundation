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6" roundtripDataSignature="AMtx7mjmR6xQi2U+tT9lcsZASSC6SmSq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3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4"/>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4"/>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34"/>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7" name="Shape 27"/>
        <p:cNvGrpSpPr/>
        <p:nvPr/>
      </p:nvGrpSpPr>
      <p:grpSpPr>
        <a:xfrm>
          <a:off x="0" y="0"/>
          <a:ext cx="0" cy="0"/>
          <a:chOff x="0" y="0"/>
          <a:chExt cx="0" cy="0"/>
        </a:xfrm>
      </p:grpSpPr>
      <p:sp>
        <p:nvSpPr>
          <p:cNvPr id="28" name="Google Shape;28;p3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3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6" name="Google Shape;36;p3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9" name="Shape 39"/>
        <p:cNvGrpSpPr/>
        <p:nvPr/>
      </p:nvGrpSpPr>
      <p:grpSpPr>
        <a:xfrm>
          <a:off x="0" y="0"/>
          <a:ext cx="0" cy="0"/>
          <a:chOff x="0" y="0"/>
          <a:chExt cx="0" cy="0"/>
        </a:xfrm>
      </p:grpSpPr>
      <p:sp>
        <p:nvSpPr>
          <p:cNvPr id="40" name="Google Shape;40;p3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7"/>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7"/>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4" name="Google Shape;44;p3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7" name="Google Shape;47;p3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8"/>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38"/>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3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3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9"/>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39"/>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39"/>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39"/>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3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4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4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41"/>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1"/>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1"/>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1"/>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41"/>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41"/>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42"/>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2"/>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2"/>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42"/>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83" name="Google Shape;83;p42"/>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4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4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43"/>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4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4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4"/>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44"/>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4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33"/>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3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3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33"/>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ctrTitle"/>
          </p:nvPr>
        </p:nvSpPr>
        <p:spPr>
          <a:xfrm>
            <a:off x="1534581" y="2072838"/>
            <a:ext cx="9126011" cy="2098226"/>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6000"/>
              <a:buFont typeface="Calibri"/>
              <a:buNone/>
            </a:pPr>
            <a:r>
              <a:rPr lang="en-US" sz="6000"/>
              <a:t>Microsoft Excel</a:t>
            </a:r>
            <a:endParaRPr sz="6000" cap="none"/>
          </a:p>
        </p:txBody>
      </p:sp>
      <p:sp>
        <p:nvSpPr>
          <p:cNvPr id="106" name="Google Shape;106;p2"/>
          <p:cNvSpPr txBox="1"/>
          <p:nvPr>
            <p:ph idx="1" type="subTitle"/>
          </p:nvPr>
        </p:nvSpPr>
        <p:spPr>
          <a:xfrm>
            <a:off x="1583457" y="4571899"/>
            <a:ext cx="6831673" cy="627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800"/>
              <a:buNone/>
            </a:pPr>
            <a:r>
              <a:rPr lang="en-US" sz="2800"/>
              <a:t>LECTURE 8</a:t>
            </a:r>
            <a:endParaRPr sz="1800"/>
          </a:p>
          <a:p>
            <a:pPr indent="0" lvl="0" marL="0" rtl="0" algn="l">
              <a:lnSpc>
                <a:spcPct val="90000"/>
              </a:lnSpc>
              <a:spcBef>
                <a:spcPts val="1400"/>
              </a:spcBef>
              <a:spcAft>
                <a:spcPts val="0"/>
              </a:spcAft>
              <a:buSzPts val="2400"/>
              <a:buNone/>
            </a:pPr>
            <a:r>
              <a:t/>
            </a:r>
            <a:endParaRPr/>
          </a:p>
          <a:p>
            <a:pPr indent="0" lvl="0" marL="0" rtl="0" algn="l">
              <a:lnSpc>
                <a:spcPct val="90000"/>
              </a:lnSpc>
              <a:spcBef>
                <a:spcPts val="1400"/>
              </a:spcBef>
              <a:spcAft>
                <a:spcPts val="0"/>
              </a:spcAft>
              <a:buSzPts val="2400"/>
              <a:buNone/>
            </a:pPr>
            <a:r>
              <a:t/>
            </a:r>
            <a:endParaRPr/>
          </a:p>
        </p:txBody>
      </p:sp>
      <p:sp>
        <p:nvSpPr>
          <p:cNvPr id="107" name="Google Shape;107;p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8" name="Google Shape;108;p2"/>
          <p:cNvPicPr preferRelativeResize="0"/>
          <p:nvPr/>
        </p:nvPicPr>
        <p:blipFill rotWithShape="1">
          <a:blip r:embed="rId3">
            <a:alphaModFix/>
          </a:blip>
          <a:srcRect b="0" l="0" r="0" t="0"/>
          <a:stretch/>
        </p:blipFill>
        <p:spPr>
          <a:xfrm>
            <a:off x="8609265" y="599014"/>
            <a:ext cx="2603218" cy="107298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4" name="Google Shape;114;p3"/>
          <p:cNvSpPr txBox="1"/>
          <p:nvPr>
            <p:ph idx="4294967295" type="body"/>
          </p:nvPr>
        </p:nvSpPr>
        <p:spPr>
          <a:xfrm>
            <a:off x="2133600" y="2347913"/>
            <a:ext cx="10058400" cy="1590675"/>
          </a:xfrm>
          <a:prstGeom prst="rect">
            <a:avLst/>
          </a:prstGeom>
          <a:noFill/>
          <a:ln>
            <a:noFill/>
          </a:ln>
        </p:spPr>
        <p:txBody>
          <a:bodyPr anchorCtr="0" anchor="t" bIns="45700" lIns="0" spcFirstLastPara="1" rIns="0" wrap="square" tIns="45700">
            <a:normAutofit/>
          </a:bodyPr>
          <a:lstStyle/>
          <a:p>
            <a:pPr indent="-381000" lvl="0" marL="91440" rtl="0" algn="ctr">
              <a:lnSpc>
                <a:spcPct val="90000"/>
              </a:lnSpc>
              <a:spcBef>
                <a:spcPts val="0"/>
              </a:spcBef>
              <a:spcAft>
                <a:spcPts val="0"/>
              </a:spcAft>
              <a:buSzPts val="6000"/>
              <a:buChar char=" "/>
            </a:pPr>
            <a:r>
              <a:rPr lang="en-US" sz="6000"/>
              <a:t>Data Analysis in Microsoft Excel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Data analysis using charts</a:t>
            </a:r>
            <a:endParaRPr/>
          </a:p>
        </p:txBody>
      </p:sp>
      <p:sp>
        <p:nvSpPr>
          <p:cNvPr id="120" name="Google Shape;120;p4"/>
          <p:cNvSpPr txBox="1"/>
          <p:nvPr>
            <p:ph idx="1" type="body"/>
          </p:nvPr>
        </p:nvSpPr>
        <p:spPr>
          <a:xfrm>
            <a:off x="1097280" y="2036752"/>
            <a:ext cx="10058400" cy="3830648"/>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Excel has a variety of chart types, each with its own advantages. </a:t>
            </a:r>
            <a:endParaRPr/>
          </a:p>
        </p:txBody>
      </p:sp>
      <p:sp>
        <p:nvSpPr>
          <p:cNvPr id="121" name="Google Shape;121;p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2" name="Google Shape;122;p4"/>
          <p:cNvPicPr preferRelativeResize="0"/>
          <p:nvPr/>
        </p:nvPicPr>
        <p:blipFill rotWithShape="1">
          <a:blip r:embed="rId3">
            <a:alphaModFix/>
          </a:blip>
          <a:srcRect b="7013" l="712" r="-712" t="4598"/>
          <a:stretch/>
        </p:blipFill>
        <p:spPr>
          <a:xfrm>
            <a:off x="1955078" y="2432984"/>
            <a:ext cx="8285018" cy="35991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Column chart</a:t>
            </a:r>
            <a:endParaRPr/>
          </a:p>
        </p:txBody>
      </p:sp>
      <p:sp>
        <p:nvSpPr>
          <p:cNvPr id="128" name="Google Shape;128;p5"/>
          <p:cNvSpPr txBox="1"/>
          <p:nvPr>
            <p:ph idx="1" type="body"/>
          </p:nvPr>
        </p:nvSpPr>
        <p:spPr>
          <a:xfrm>
            <a:off x="1097280" y="2186704"/>
            <a:ext cx="3228109" cy="4232564"/>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Column charts use vertical bars to represent data.</a:t>
            </a:r>
            <a:endParaRPr/>
          </a:p>
          <a:p>
            <a:pPr indent="0" lvl="0" marL="0" rtl="0" algn="l">
              <a:lnSpc>
                <a:spcPct val="90000"/>
              </a:lnSpc>
              <a:spcBef>
                <a:spcPts val="1400"/>
              </a:spcBef>
              <a:spcAft>
                <a:spcPts val="0"/>
              </a:spcAft>
              <a:buSzPts val="2200"/>
              <a:buNone/>
            </a:pPr>
            <a:r>
              <a:rPr lang="en-US" sz="2200"/>
              <a:t> </a:t>
            </a:r>
            <a:endParaRPr/>
          </a:p>
          <a:p>
            <a:pPr indent="-139700" lvl="0" marL="91440" rtl="0" algn="l">
              <a:lnSpc>
                <a:spcPct val="90000"/>
              </a:lnSpc>
              <a:spcBef>
                <a:spcPts val="1400"/>
              </a:spcBef>
              <a:spcAft>
                <a:spcPts val="0"/>
              </a:spcAft>
              <a:buSzPts val="2200"/>
              <a:buChar char=" "/>
            </a:pPr>
            <a:r>
              <a:rPr lang="en-US" sz="2200"/>
              <a:t>They can work with many different types of data, but they're most frequently used for </a:t>
            </a:r>
            <a:r>
              <a:rPr lang="en-US" sz="2200">
                <a:solidFill>
                  <a:srgbClr val="FF0000"/>
                </a:solidFill>
              </a:rPr>
              <a:t>comparing information</a:t>
            </a:r>
            <a:r>
              <a:rPr lang="en-US" sz="2200"/>
              <a:t>.</a:t>
            </a:r>
            <a:endParaRPr/>
          </a:p>
        </p:txBody>
      </p:sp>
      <p:sp>
        <p:nvSpPr>
          <p:cNvPr id="129" name="Google Shape;129;p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0" name="Google Shape;130;p5"/>
          <p:cNvPicPr preferRelativeResize="0"/>
          <p:nvPr/>
        </p:nvPicPr>
        <p:blipFill rotWithShape="1">
          <a:blip r:embed="rId3">
            <a:alphaModFix/>
          </a:blip>
          <a:srcRect b="0" l="13306" r="0" t="2386"/>
          <a:stretch/>
        </p:blipFill>
        <p:spPr>
          <a:xfrm>
            <a:off x="4508436" y="2186704"/>
            <a:ext cx="7214142" cy="3823737"/>
          </a:xfrm>
          <a:prstGeom prst="rect">
            <a:avLst/>
          </a:prstGeom>
          <a:noFill/>
          <a:ln cap="sq" cmpd="sng" w="38100">
            <a:solidFill>
              <a:schemeClr val="accent1"/>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Bar chart</a:t>
            </a:r>
            <a:endParaRPr/>
          </a:p>
        </p:txBody>
      </p:sp>
      <p:sp>
        <p:nvSpPr>
          <p:cNvPr id="136" name="Google Shape;136;p6"/>
          <p:cNvSpPr txBox="1"/>
          <p:nvPr>
            <p:ph idx="1" type="body"/>
          </p:nvPr>
        </p:nvSpPr>
        <p:spPr>
          <a:xfrm>
            <a:off x="1238866" y="2077107"/>
            <a:ext cx="2751244" cy="4024745"/>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Bar charts work just like column charts, but they use horizontal rather than vertical bars.</a:t>
            </a:r>
            <a:endParaRPr/>
          </a:p>
        </p:txBody>
      </p:sp>
      <p:sp>
        <p:nvSpPr>
          <p:cNvPr id="137" name="Google Shape;137;p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8" name="Google Shape;138;p6"/>
          <p:cNvPicPr preferRelativeResize="0"/>
          <p:nvPr/>
        </p:nvPicPr>
        <p:blipFill rotWithShape="1">
          <a:blip r:embed="rId3">
            <a:alphaModFix/>
          </a:blip>
          <a:srcRect b="0" l="0" r="0" t="0"/>
          <a:stretch/>
        </p:blipFill>
        <p:spPr>
          <a:xfrm>
            <a:off x="4170787" y="2077107"/>
            <a:ext cx="7640452" cy="4042930"/>
          </a:xfrm>
          <a:prstGeom prst="rect">
            <a:avLst/>
          </a:prstGeom>
          <a:noFill/>
          <a:ln cap="sq" cmpd="sng" w="38100">
            <a:solidFill>
              <a:schemeClr val="accent1"/>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Pie chart</a:t>
            </a:r>
            <a:endParaRPr/>
          </a:p>
        </p:txBody>
      </p:sp>
      <p:sp>
        <p:nvSpPr>
          <p:cNvPr id="144" name="Google Shape;144;p7"/>
          <p:cNvSpPr txBox="1"/>
          <p:nvPr>
            <p:ph idx="1" type="body"/>
          </p:nvPr>
        </p:nvSpPr>
        <p:spPr>
          <a:xfrm>
            <a:off x="1312607" y="2028011"/>
            <a:ext cx="2826327" cy="4135582"/>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Pie charts make it easy to </a:t>
            </a:r>
            <a:r>
              <a:rPr lang="en-US" sz="2200">
                <a:solidFill>
                  <a:srgbClr val="FF0000"/>
                </a:solidFill>
              </a:rPr>
              <a:t>compare proportions</a:t>
            </a:r>
            <a:r>
              <a:rPr lang="en-US" sz="2200"/>
              <a:t>. </a:t>
            </a:r>
            <a:endParaRPr/>
          </a:p>
          <a:p>
            <a:pPr indent="0" lvl="0" marL="91440" rtl="0" algn="l">
              <a:lnSpc>
                <a:spcPct val="90000"/>
              </a:lnSpc>
              <a:spcBef>
                <a:spcPts val="1400"/>
              </a:spcBef>
              <a:spcAft>
                <a:spcPts val="0"/>
              </a:spcAft>
              <a:buSzPts val="2200"/>
              <a:buNone/>
            </a:pPr>
            <a:r>
              <a:t/>
            </a:r>
            <a:endParaRPr sz="2200"/>
          </a:p>
          <a:p>
            <a:pPr indent="-139700" lvl="0" marL="91440" rtl="0" algn="l">
              <a:lnSpc>
                <a:spcPct val="90000"/>
              </a:lnSpc>
              <a:spcBef>
                <a:spcPts val="1400"/>
              </a:spcBef>
              <a:spcAft>
                <a:spcPts val="0"/>
              </a:spcAft>
              <a:buSzPts val="2200"/>
              <a:buChar char=" "/>
            </a:pPr>
            <a:r>
              <a:rPr lang="en-US" sz="2200"/>
              <a:t>Each value is shown as a slice of the pie, so it's easy to see which values make up the percentage of a whole.</a:t>
            </a:r>
            <a:endParaRPr/>
          </a:p>
        </p:txBody>
      </p:sp>
      <p:sp>
        <p:nvSpPr>
          <p:cNvPr id="145" name="Google Shape;145;p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6" name="Google Shape;146;p7"/>
          <p:cNvPicPr preferRelativeResize="0"/>
          <p:nvPr/>
        </p:nvPicPr>
        <p:blipFill rotWithShape="1">
          <a:blip r:embed="rId3">
            <a:alphaModFix/>
          </a:blip>
          <a:srcRect b="0" l="0" r="0" t="0"/>
          <a:stretch/>
        </p:blipFill>
        <p:spPr>
          <a:xfrm>
            <a:off x="4819077" y="2103995"/>
            <a:ext cx="6709245" cy="3983614"/>
          </a:xfrm>
          <a:prstGeom prst="rect">
            <a:avLst/>
          </a:prstGeom>
          <a:noFill/>
          <a:ln cap="sq" cmpd="sng" w="38100">
            <a:solidFill>
              <a:schemeClr val="accent1"/>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Line chart</a:t>
            </a:r>
            <a:endParaRPr/>
          </a:p>
        </p:txBody>
      </p:sp>
      <p:sp>
        <p:nvSpPr>
          <p:cNvPr id="152" name="Google Shape;152;p8"/>
          <p:cNvSpPr txBox="1"/>
          <p:nvPr>
            <p:ph idx="1" type="body"/>
          </p:nvPr>
        </p:nvSpPr>
        <p:spPr>
          <a:xfrm>
            <a:off x="1238866" y="2113476"/>
            <a:ext cx="3319280" cy="3876368"/>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Line charts are ideal for </a:t>
            </a:r>
            <a:r>
              <a:rPr lang="en-US" sz="2200">
                <a:solidFill>
                  <a:srgbClr val="FF0000"/>
                </a:solidFill>
              </a:rPr>
              <a:t>showing trends</a:t>
            </a:r>
            <a:r>
              <a:rPr lang="en-US" sz="2200"/>
              <a:t>. </a:t>
            </a:r>
            <a:endParaRPr/>
          </a:p>
          <a:p>
            <a:pPr indent="0" lvl="0" marL="0" rtl="0" algn="l">
              <a:lnSpc>
                <a:spcPct val="90000"/>
              </a:lnSpc>
              <a:spcBef>
                <a:spcPts val="1400"/>
              </a:spcBef>
              <a:spcAft>
                <a:spcPts val="0"/>
              </a:spcAft>
              <a:buSzPts val="2200"/>
              <a:buNone/>
            </a:pPr>
            <a:r>
              <a:t/>
            </a:r>
            <a:endParaRPr sz="2200"/>
          </a:p>
          <a:p>
            <a:pPr indent="-139700" lvl="0" marL="91440" rtl="0" algn="l">
              <a:lnSpc>
                <a:spcPct val="90000"/>
              </a:lnSpc>
              <a:spcBef>
                <a:spcPts val="1400"/>
              </a:spcBef>
              <a:spcAft>
                <a:spcPts val="0"/>
              </a:spcAft>
              <a:buSzPts val="2200"/>
              <a:buChar char=" "/>
            </a:pPr>
            <a:r>
              <a:rPr lang="en-US" sz="2200"/>
              <a:t>The data points are connected with lines, making it easy to see whether values are increasing or decreasing over time.</a:t>
            </a:r>
            <a:endParaRPr/>
          </a:p>
        </p:txBody>
      </p:sp>
      <p:sp>
        <p:nvSpPr>
          <p:cNvPr id="153" name="Google Shape;153;p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4" name="Google Shape;154;p8"/>
          <p:cNvPicPr preferRelativeResize="0"/>
          <p:nvPr/>
        </p:nvPicPr>
        <p:blipFill rotWithShape="1">
          <a:blip r:embed="rId3">
            <a:alphaModFix/>
          </a:blip>
          <a:srcRect b="0" l="0" r="0" t="0"/>
          <a:stretch/>
        </p:blipFill>
        <p:spPr>
          <a:xfrm>
            <a:off x="4558146" y="2113476"/>
            <a:ext cx="7082824" cy="3970193"/>
          </a:xfrm>
          <a:prstGeom prst="rect">
            <a:avLst/>
          </a:prstGeom>
          <a:noFill/>
          <a:ln cap="sq" cmpd="sng" w="38100">
            <a:solidFill>
              <a:schemeClr val="accent1"/>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Area chart</a:t>
            </a:r>
            <a:endParaRPr/>
          </a:p>
        </p:txBody>
      </p:sp>
      <p:sp>
        <p:nvSpPr>
          <p:cNvPr id="160" name="Google Shape;160;p9"/>
          <p:cNvSpPr txBox="1"/>
          <p:nvPr>
            <p:ph idx="1" type="body"/>
          </p:nvPr>
        </p:nvSpPr>
        <p:spPr>
          <a:xfrm>
            <a:off x="1164658" y="1994346"/>
            <a:ext cx="2521527" cy="4066309"/>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Area charts are similar to line charts, except the areas under the lines are filled in.</a:t>
            </a:r>
            <a:endParaRPr/>
          </a:p>
        </p:txBody>
      </p:sp>
      <p:sp>
        <p:nvSpPr>
          <p:cNvPr id="161" name="Google Shape;161;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2" name="Google Shape;162;p9"/>
          <p:cNvPicPr preferRelativeResize="0"/>
          <p:nvPr/>
        </p:nvPicPr>
        <p:blipFill rotWithShape="1">
          <a:blip r:embed="rId3">
            <a:alphaModFix/>
          </a:blip>
          <a:srcRect b="0" l="0" r="0" t="0"/>
          <a:stretch/>
        </p:blipFill>
        <p:spPr>
          <a:xfrm>
            <a:off x="3819831" y="1994346"/>
            <a:ext cx="7542406" cy="4159751"/>
          </a:xfrm>
          <a:prstGeom prst="rect">
            <a:avLst/>
          </a:prstGeom>
          <a:noFill/>
          <a:ln cap="sq" cmpd="sng" w="38100">
            <a:solidFill>
              <a:schemeClr val="accent1"/>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Surface chart</a:t>
            </a:r>
            <a:endParaRPr/>
          </a:p>
        </p:txBody>
      </p:sp>
      <p:sp>
        <p:nvSpPr>
          <p:cNvPr id="168" name="Google Shape;168;p10"/>
          <p:cNvSpPr txBox="1"/>
          <p:nvPr>
            <p:ph idx="1" type="body"/>
          </p:nvPr>
        </p:nvSpPr>
        <p:spPr>
          <a:xfrm>
            <a:off x="1219201" y="2072345"/>
            <a:ext cx="3898490" cy="4052455"/>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Surface charts allow you to </a:t>
            </a:r>
            <a:r>
              <a:rPr lang="en-US" sz="2200">
                <a:solidFill>
                  <a:srgbClr val="FF0000"/>
                </a:solidFill>
              </a:rPr>
              <a:t>display data across a 3D landscape</a:t>
            </a:r>
            <a:r>
              <a:rPr lang="en-US" sz="2200"/>
              <a:t>. </a:t>
            </a:r>
            <a:endParaRPr/>
          </a:p>
          <a:p>
            <a:pPr indent="0" lvl="0" marL="91440" rtl="0" algn="l">
              <a:lnSpc>
                <a:spcPct val="90000"/>
              </a:lnSpc>
              <a:spcBef>
                <a:spcPts val="1400"/>
              </a:spcBef>
              <a:spcAft>
                <a:spcPts val="0"/>
              </a:spcAft>
              <a:buSzPts val="2200"/>
              <a:buNone/>
            </a:pPr>
            <a:r>
              <a:t/>
            </a:r>
            <a:endParaRPr sz="2200"/>
          </a:p>
          <a:p>
            <a:pPr indent="-139700" lvl="0" marL="91440" rtl="0" algn="l">
              <a:lnSpc>
                <a:spcPct val="90000"/>
              </a:lnSpc>
              <a:spcBef>
                <a:spcPts val="1400"/>
              </a:spcBef>
              <a:spcAft>
                <a:spcPts val="0"/>
              </a:spcAft>
              <a:buSzPts val="2200"/>
              <a:buChar char=" "/>
            </a:pPr>
            <a:r>
              <a:rPr lang="en-US" sz="2200"/>
              <a:t>They work best with </a:t>
            </a:r>
            <a:r>
              <a:rPr lang="en-US" sz="2200">
                <a:solidFill>
                  <a:srgbClr val="FF0000"/>
                </a:solidFill>
              </a:rPr>
              <a:t>large data sets</a:t>
            </a:r>
            <a:r>
              <a:rPr lang="en-US" sz="2200"/>
              <a:t>, allowing you to see a variety of information at the same time.</a:t>
            </a:r>
            <a:endParaRPr/>
          </a:p>
        </p:txBody>
      </p:sp>
      <p:sp>
        <p:nvSpPr>
          <p:cNvPr id="169" name="Google Shape;169;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0" name="Google Shape;170;p10"/>
          <p:cNvPicPr preferRelativeResize="0"/>
          <p:nvPr/>
        </p:nvPicPr>
        <p:blipFill rotWithShape="1">
          <a:blip r:embed="rId3">
            <a:alphaModFix/>
          </a:blip>
          <a:srcRect b="0" l="0" r="0" t="0"/>
          <a:stretch/>
        </p:blipFill>
        <p:spPr>
          <a:xfrm>
            <a:off x="5314597" y="2314103"/>
            <a:ext cx="6388783" cy="3376928"/>
          </a:xfrm>
          <a:prstGeom prst="rect">
            <a:avLst/>
          </a:prstGeom>
          <a:noFill/>
          <a:ln cap="sq" cmpd="sng" w="38100">
            <a:solidFill>
              <a:schemeClr val="accent1"/>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Chart Title</a:t>
            </a:r>
            <a:endParaRPr/>
          </a:p>
        </p:txBody>
      </p:sp>
      <p:pic>
        <p:nvPicPr>
          <p:cNvPr id="176" name="Google Shape;176;p11"/>
          <p:cNvPicPr preferRelativeResize="0"/>
          <p:nvPr>
            <p:ph idx="1" type="body"/>
          </p:nvPr>
        </p:nvPicPr>
        <p:blipFill rotWithShape="1">
          <a:blip r:embed="rId3">
            <a:alphaModFix/>
          </a:blip>
          <a:srcRect b="0" l="0" r="0" t="0"/>
          <a:stretch/>
        </p:blipFill>
        <p:spPr>
          <a:xfrm>
            <a:off x="2375719" y="1846263"/>
            <a:ext cx="7500888" cy="4022725"/>
          </a:xfrm>
          <a:prstGeom prst="rect">
            <a:avLst/>
          </a:prstGeom>
          <a:noFill/>
          <a:ln>
            <a:noFill/>
          </a:ln>
        </p:spPr>
      </p:pic>
      <p:sp>
        <p:nvSpPr>
          <p:cNvPr id="177" name="Google Shape;177;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Vertical Axis</a:t>
            </a:r>
            <a:endParaRPr/>
          </a:p>
        </p:txBody>
      </p:sp>
      <p:pic>
        <p:nvPicPr>
          <p:cNvPr id="183" name="Google Shape;183;p12"/>
          <p:cNvPicPr preferRelativeResize="0"/>
          <p:nvPr>
            <p:ph idx="1" type="body"/>
          </p:nvPr>
        </p:nvPicPr>
        <p:blipFill rotWithShape="1">
          <a:blip r:embed="rId3">
            <a:alphaModFix/>
          </a:blip>
          <a:srcRect b="0" l="0" r="0" t="0"/>
          <a:stretch/>
        </p:blipFill>
        <p:spPr>
          <a:xfrm>
            <a:off x="2317316" y="1846263"/>
            <a:ext cx="7617694" cy="4022725"/>
          </a:xfrm>
          <a:prstGeom prst="rect">
            <a:avLst/>
          </a:prstGeom>
          <a:noFill/>
          <a:ln>
            <a:noFill/>
          </a:ln>
        </p:spPr>
      </p:pic>
      <p:sp>
        <p:nvSpPr>
          <p:cNvPr id="184" name="Google Shape;184;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Horizontal Axis</a:t>
            </a:r>
            <a:endParaRPr/>
          </a:p>
        </p:txBody>
      </p:sp>
      <p:pic>
        <p:nvPicPr>
          <p:cNvPr id="190" name="Google Shape;190;p13"/>
          <p:cNvPicPr preferRelativeResize="0"/>
          <p:nvPr>
            <p:ph idx="1" type="body"/>
          </p:nvPr>
        </p:nvPicPr>
        <p:blipFill rotWithShape="1">
          <a:blip r:embed="rId3">
            <a:alphaModFix/>
          </a:blip>
          <a:srcRect b="0" l="0" r="0" t="0"/>
          <a:stretch/>
        </p:blipFill>
        <p:spPr>
          <a:xfrm>
            <a:off x="2328927" y="1846263"/>
            <a:ext cx="7594471" cy="4022725"/>
          </a:xfrm>
          <a:prstGeom prst="rect">
            <a:avLst/>
          </a:prstGeom>
          <a:noFill/>
          <a:ln>
            <a:noFill/>
          </a:ln>
        </p:spPr>
      </p:pic>
      <p:sp>
        <p:nvSpPr>
          <p:cNvPr id="191" name="Google Shape;191;p1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Data Series</a:t>
            </a:r>
            <a:endParaRPr/>
          </a:p>
        </p:txBody>
      </p:sp>
      <p:pic>
        <p:nvPicPr>
          <p:cNvPr id="197" name="Google Shape;197;p14"/>
          <p:cNvPicPr preferRelativeResize="0"/>
          <p:nvPr>
            <p:ph idx="1" type="body"/>
          </p:nvPr>
        </p:nvPicPr>
        <p:blipFill rotWithShape="1">
          <a:blip r:embed="rId3">
            <a:alphaModFix/>
          </a:blip>
          <a:srcRect b="0" l="0" r="0" t="0"/>
          <a:stretch/>
        </p:blipFill>
        <p:spPr>
          <a:xfrm>
            <a:off x="2388864" y="1846263"/>
            <a:ext cx="7474597" cy="4022725"/>
          </a:xfrm>
          <a:prstGeom prst="rect">
            <a:avLst/>
          </a:prstGeom>
          <a:noFill/>
          <a:ln>
            <a:noFill/>
          </a:ln>
        </p:spPr>
      </p:pic>
      <p:sp>
        <p:nvSpPr>
          <p:cNvPr id="198" name="Google Shape;198;p1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Legend</a:t>
            </a:r>
            <a:endParaRPr/>
          </a:p>
        </p:txBody>
      </p:sp>
      <p:pic>
        <p:nvPicPr>
          <p:cNvPr id="204" name="Google Shape;204;p15"/>
          <p:cNvPicPr preferRelativeResize="0"/>
          <p:nvPr>
            <p:ph idx="1" type="body"/>
          </p:nvPr>
        </p:nvPicPr>
        <p:blipFill rotWithShape="1">
          <a:blip r:embed="rId3">
            <a:alphaModFix/>
          </a:blip>
          <a:srcRect b="0" l="0" r="0" t="0"/>
          <a:stretch/>
        </p:blipFill>
        <p:spPr>
          <a:xfrm>
            <a:off x="2322362" y="1846263"/>
            <a:ext cx="7607602" cy="4022725"/>
          </a:xfrm>
          <a:prstGeom prst="rect">
            <a:avLst/>
          </a:prstGeom>
          <a:noFill/>
          <a:ln>
            <a:noFill/>
          </a:ln>
        </p:spPr>
      </p:pic>
      <p:sp>
        <p:nvSpPr>
          <p:cNvPr id="205" name="Google Shape;205;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Tips</a:t>
            </a:r>
            <a:endParaRPr/>
          </a:p>
        </p:txBody>
      </p:sp>
      <p:sp>
        <p:nvSpPr>
          <p:cNvPr id="211" name="Google Shape;211;p16"/>
          <p:cNvSpPr txBox="1"/>
          <p:nvPr>
            <p:ph idx="1" type="body"/>
          </p:nvPr>
        </p:nvSpPr>
        <p:spPr>
          <a:xfrm>
            <a:off x="1296987" y="1964097"/>
            <a:ext cx="9601200" cy="4163291"/>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If you're not sure which type of chart to use, the Recommended Charts command will suggest several different charts based on the source data.</a:t>
            </a:r>
            <a:endParaRPr/>
          </a:p>
          <a:p>
            <a:pPr indent="0" lvl="0" marL="91440" rtl="0" algn="l">
              <a:lnSpc>
                <a:spcPct val="90000"/>
              </a:lnSpc>
              <a:spcBef>
                <a:spcPts val="1400"/>
              </a:spcBef>
              <a:spcAft>
                <a:spcPts val="0"/>
              </a:spcAft>
              <a:buSzPts val="2200"/>
              <a:buNone/>
            </a:pPr>
            <a:r>
              <a:t/>
            </a:r>
            <a:endParaRPr sz="2200"/>
          </a:p>
        </p:txBody>
      </p:sp>
      <p:sp>
        <p:nvSpPr>
          <p:cNvPr id="212" name="Google Shape;212;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3" name="Google Shape;213;p16"/>
          <p:cNvPicPr preferRelativeResize="0"/>
          <p:nvPr/>
        </p:nvPicPr>
        <p:blipFill rotWithShape="1">
          <a:blip r:embed="rId3">
            <a:alphaModFix/>
          </a:blip>
          <a:srcRect b="0" l="0" r="0" t="0"/>
          <a:stretch/>
        </p:blipFill>
        <p:spPr>
          <a:xfrm>
            <a:off x="1607127" y="2757686"/>
            <a:ext cx="9753600" cy="30373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Tips</a:t>
            </a:r>
            <a:endParaRPr/>
          </a:p>
        </p:txBody>
      </p:sp>
      <p:sp>
        <p:nvSpPr>
          <p:cNvPr id="219" name="Google Shape;219;p17"/>
          <p:cNvSpPr txBox="1"/>
          <p:nvPr>
            <p:ph idx="1" type="body"/>
          </p:nvPr>
        </p:nvSpPr>
        <p:spPr>
          <a:xfrm>
            <a:off x="1283109" y="2009758"/>
            <a:ext cx="3131127" cy="4107873"/>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Excel allows you to add chart elements—such as chart titles, legends, and data labels—to make your chart easier to read. </a:t>
            </a:r>
            <a:endParaRPr/>
          </a:p>
        </p:txBody>
      </p:sp>
      <p:sp>
        <p:nvSpPr>
          <p:cNvPr id="220" name="Google Shape;220;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1" name="Google Shape;221;p17"/>
          <p:cNvPicPr preferRelativeResize="0"/>
          <p:nvPr/>
        </p:nvPicPr>
        <p:blipFill rotWithShape="1">
          <a:blip r:embed="rId3">
            <a:alphaModFix/>
          </a:blip>
          <a:srcRect b="0" l="0" r="0" t="0"/>
          <a:stretch/>
        </p:blipFill>
        <p:spPr>
          <a:xfrm>
            <a:off x="7457029" y="1806429"/>
            <a:ext cx="3698651" cy="43436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Tips</a:t>
            </a:r>
            <a:endParaRPr/>
          </a:p>
        </p:txBody>
      </p:sp>
      <p:sp>
        <p:nvSpPr>
          <p:cNvPr id="227" name="Google Shape;227;p18"/>
          <p:cNvSpPr txBox="1"/>
          <p:nvPr>
            <p:ph idx="1" type="body"/>
          </p:nvPr>
        </p:nvSpPr>
        <p:spPr>
          <a:xfrm>
            <a:off x="1297858" y="1961509"/>
            <a:ext cx="3103418" cy="4274127"/>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If you don't want to add chart elements individually, you can use one of Excel's predefined layouts. </a:t>
            </a:r>
            <a:endParaRPr/>
          </a:p>
        </p:txBody>
      </p:sp>
      <p:sp>
        <p:nvSpPr>
          <p:cNvPr id="228" name="Google Shape;228;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9" name="Google Shape;229;p18"/>
          <p:cNvPicPr preferRelativeResize="0"/>
          <p:nvPr/>
        </p:nvPicPr>
        <p:blipFill rotWithShape="1">
          <a:blip r:embed="rId3">
            <a:alphaModFix/>
          </a:blip>
          <a:srcRect b="0" l="0" r="0" t="0"/>
          <a:stretch/>
        </p:blipFill>
        <p:spPr>
          <a:xfrm>
            <a:off x="7436004" y="1892260"/>
            <a:ext cx="3776479" cy="44126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Tips</a:t>
            </a:r>
            <a:endParaRPr/>
          </a:p>
        </p:txBody>
      </p:sp>
      <p:sp>
        <p:nvSpPr>
          <p:cNvPr id="235" name="Google Shape;235;p19"/>
          <p:cNvSpPr txBox="1"/>
          <p:nvPr>
            <p:ph idx="1" type="body"/>
          </p:nvPr>
        </p:nvSpPr>
        <p:spPr>
          <a:xfrm>
            <a:off x="1097280" y="1888266"/>
            <a:ext cx="9601200" cy="4246418"/>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Excel also includes several chart styles, which allow you to quickly modify the look and feel of your chart. </a:t>
            </a:r>
            <a:endParaRPr/>
          </a:p>
        </p:txBody>
      </p:sp>
      <p:sp>
        <p:nvSpPr>
          <p:cNvPr id="236" name="Google Shape;236;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7" name="Google Shape;237;p19"/>
          <p:cNvPicPr preferRelativeResize="0"/>
          <p:nvPr/>
        </p:nvPicPr>
        <p:blipFill rotWithShape="1">
          <a:blip r:embed="rId3">
            <a:alphaModFix/>
          </a:blip>
          <a:srcRect b="0" l="0" r="0" t="0"/>
          <a:stretch/>
        </p:blipFill>
        <p:spPr>
          <a:xfrm>
            <a:off x="1208058" y="2728190"/>
            <a:ext cx="9779057" cy="305189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Tips</a:t>
            </a:r>
            <a:endParaRPr/>
          </a:p>
        </p:txBody>
      </p:sp>
      <p:sp>
        <p:nvSpPr>
          <p:cNvPr id="243" name="Google Shape;243;p20"/>
          <p:cNvSpPr txBox="1"/>
          <p:nvPr>
            <p:ph idx="1" type="body"/>
          </p:nvPr>
        </p:nvSpPr>
        <p:spPr>
          <a:xfrm>
            <a:off x="1308897" y="1989218"/>
            <a:ext cx="3200400" cy="4218709"/>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You can also use the chart formatting shortcut buttons to quickly add chart elements, change the chart style, and filter the chart data.</a:t>
            </a:r>
            <a:endParaRPr/>
          </a:p>
        </p:txBody>
      </p:sp>
      <p:sp>
        <p:nvSpPr>
          <p:cNvPr id="244" name="Google Shape;244;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5" name="Google Shape;245;p20"/>
          <p:cNvPicPr preferRelativeResize="0"/>
          <p:nvPr/>
        </p:nvPicPr>
        <p:blipFill rotWithShape="1">
          <a:blip r:embed="rId3">
            <a:alphaModFix/>
          </a:blip>
          <a:srcRect b="5714" l="7074" r="8137" t="2350"/>
          <a:stretch/>
        </p:blipFill>
        <p:spPr>
          <a:xfrm>
            <a:off x="4720913" y="1855168"/>
            <a:ext cx="7207852" cy="422217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Switch row and column data</a:t>
            </a:r>
            <a:endParaRPr/>
          </a:p>
        </p:txBody>
      </p:sp>
      <p:sp>
        <p:nvSpPr>
          <p:cNvPr id="252" name="Google Shape;252;p21"/>
          <p:cNvSpPr txBox="1"/>
          <p:nvPr>
            <p:ph idx="1" type="body"/>
          </p:nvPr>
        </p:nvSpPr>
        <p:spPr>
          <a:xfrm>
            <a:off x="1097280" y="1951758"/>
            <a:ext cx="9601200" cy="4135582"/>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Sometimes you may want to change the way charts group your data.</a:t>
            </a:r>
            <a:endParaRPr/>
          </a:p>
          <a:p>
            <a:pPr indent="0" lvl="0" marL="91440" rtl="0" algn="l">
              <a:lnSpc>
                <a:spcPct val="90000"/>
              </a:lnSpc>
              <a:spcBef>
                <a:spcPts val="1400"/>
              </a:spcBef>
              <a:spcAft>
                <a:spcPts val="0"/>
              </a:spcAft>
              <a:buSzPts val="2000"/>
              <a:buNone/>
            </a:pPr>
            <a:r>
              <a:t/>
            </a:r>
            <a:endParaRPr/>
          </a:p>
        </p:txBody>
      </p:sp>
      <p:sp>
        <p:nvSpPr>
          <p:cNvPr id="253" name="Google Shape;253;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4" name="Google Shape;254;p21"/>
          <p:cNvPicPr preferRelativeResize="0"/>
          <p:nvPr/>
        </p:nvPicPr>
        <p:blipFill rotWithShape="1">
          <a:blip r:embed="rId3">
            <a:alphaModFix/>
          </a:blip>
          <a:srcRect b="0" l="0" r="0" t="0"/>
          <a:stretch/>
        </p:blipFill>
        <p:spPr>
          <a:xfrm>
            <a:off x="1311042" y="2618566"/>
            <a:ext cx="9630875" cy="280196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Change the chart type</a:t>
            </a:r>
            <a:endParaRPr/>
          </a:p>
        </p:txBody>
      </p:sp>
      <p:sp>
        <p:nvSpPr>
          <p:cNvPr id="260" name="Google Shape;260;p22"/>
          <p:cNvSpPr txBox="1"/>
          <p:nvPr>
            <p:ph idx="1" type="body"/>
          </p:nvPr>
        </p:nvSpPr>
        <p:spPr>
          <a:xfrm>
            <a:off x="1097280" y="1912592"/>
            <a:ext cx="10058400" cy="4023360"/>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If you find that your data isn't well suited to a certain chart, it's easy to switch to a new chart type.</a:t>
            </a:r>
            <a:endParaRPr/>
          </a:p>
        </p:txBody>
      </p:sp>
      <p:sp>
        <p:nvSpPr>
          <p:cNvPr id="261" name="Google Shape;261;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2" name="Google Shape;262;p22"/>
          <p:cNvPicPr preferRelativeResize="0"/>
          <p:nvPr/>
        </p:nvPicPr>
        <p:blipFill rotWithShape="1">
          <a:blip r:embed="rId3">
            <a:alphaModFix/>
          </a:blip>
          <a:srcRect b="0" l="0" r="0" t="0"/>
          <a:stretch/>
        </p:blipFill>
        <p:spPr>
          <a:xfrm>
            <a:off x="1266896" y="2785027"/>
            <a:ext cx="9661381" cy="262709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To move a chart</a:t>
            </a:r>
            <a:endParaRPr/>
          </a:p>
        </p:txBody>
      </p:sp>
      <p:sp>
        <p:nvSpPr>
          <p:cNvPr id="268" name="Google Shape;268;p23"/>
          <p:cNvSpPr txBox="1"/>
          <p:nvPr>
            <p:ph idx="1" type="body"/>
          </p:nvPr>
        </p:nvSpPr>
        <p:spPr>
          <a:xfrm>
            <a:off x="1371600" y="1828800"/>
            <a:ext cx="9601200" cy="4038600"/>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Whenever you insert a new chart, it will appear as an object on the same worksheet that contains its source data. </a:t>
            </a:r>
            <a:endParaRPr/>
          </a:p>
          <a:p>
            <a:pPr indent="-139700" lvl="0" marL="91440" rtl="0" algn="l">
              <a:lnSpc>
                <a:spcPct val="90000"/>
              </a:lnSpc>
              <a:spcBef>
                <a:spcPts val="1400"/>
              </a:spcBef>
              <a:spcAft>
                <a:spcPts val="0"/>
              </a:spcAft>
              <a:buSzPts val="2200"/>
              <a:buChar char=" "/>
            </a:pPr>
            <a:r>
              <a:rPr lang="en-US" sz="2200"/>
              <a:t>Alternatively, you can move the chart to a new worksheet to help keep your data organized.</a:t>
            </a:r>
            <a:endParaRPr/>
          </a:p>
        </p:txBody>
      </p:sp>
      <p:sp>
        <p:nvSpPr>
          <p:cNvPr id="269" name="Google Shape;269;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0" name="Google Shape;270;p23"/>
          <p:cNvPicPr preferRelativeResize="0"/>
          <p:nvPr/>
        </p:nvPicPr>
        <p:blipFill rotWithShape="1">
          <a:blip r:embed="rId3">
            <a:alphaModFix/>
          </a:blip>
          <a:srcRect b="0" l="0" r="0" t="0"/>
          <a:stretch/>
        </p:blipFill>
        <p:spPr>
          <a:xfrm>
            <a:off x="1645772" y="3446634"/>
            <a:ext cx="9423256" cy="257870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Activity 1</a:t>
            </a:r>
            <a:endParaRPr/>
          </a:p>
        </p:txBody>
      </p:sp>
      <p:sp>
        <p:nvSpPr>
          <p:cNvPr id="276" name="Google Shape;276;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000"/>
              <a:buFont typeface="Calibri"/>
              <a:buAutoNum type="arabicPeriod"/>
            </a:pPr>
            <a:r>
              <a:rPr lang="en-US"/>
              <a:t>Create a new excel workbook and rename it as “Charts activity”.</a:t>
            </a:r>
            <a:endParaRPr/>
          </a:p>
          <a:p>
            <a:pPr indent="-457200" lvl="0" marL="457200" rtl="0" algn="l">
              <a:lnSpc>
                <a:spcPct val="90000"/>
              </a:lnSpc>
              <a:spcBef>
                <a:spcPts val="1400"/>
              </a:spcBef>
              <a:spcAft>
                <a:spcPts val="0"/>
              </a:spcAft>
              <a:buSzPts val="2000"/>
              <a:buFont typeface="Calibri"/>
              <a:buAutoNum type="arabicPeriod"/>
            </a:pPr>
            <a:r>
              <a:rPr lang="en-US"/>
              <a:t>Rename the sheet 1 as “Fiction Book Sale”.</a:t>
            </a:r>
            <a:endParaRPr/>
          </a:p>
          <a:p>
            <a:pPr indent="-457200" lvl="0" marL="457200" rtl="0" algn="l">
              <a:lnSpc>
                <a:spcPct val="90000"/>
              </a:lnSpc>
              <a:spcBef>
                <a:spcPts val="1400"/>
              </a:spcBef>
              <a:spcAft>
                <a:spcPts val="0"/>
              </a:spcAft>
              <a:buSzPts val="2000"/>
              <a:buFont typeface="Calibri"/>
              <a:buAutoNum type="arabicPeriod"/>
            </a:pPr>
            <a:r>
              <a:rPr lang="en-US"/>
              <a:t>Create the below table on Fiction book sale worksheet.</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t/>
            </a:r>
            <a:endParaRPr/>
          </a:p>
        </p:txBody>
      </p:sp>
      <p:sp>
        <p:nvSpPr>
          <p:cNvPr id="277" name="Google Shape;277;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8" name="Google Shape;278;p24"/>
          <p:cNvPicPr preferRelativeResize="0"/>
          <p:nvPr/>
        </p:nvPicPr>
        <p:blipFill rotWithShape="1">
          <a:blip r:embed="rId3">
            <a:alphaModFix/>
          </a:blip>
          <a:srcRect b="0" l="0" r="0" t="0"/>
          <a:stretch/>
        </p:blipFill>
        <p:spPr>
          <a:xfrm>
            <a:off x="1675641" y="3698431"/>
            <a:ext cx="8716675" cy="246196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4" name="Google Shape;284;p25"/>
          <p:cNvSpPr txBox="1"/>
          <p:nvPr>
            <p:ph idx="4294967295" type="title"/>
          </p:nvPr>
        </p:nvSpPr>
        <p:spPr>
          <a:xfrm>
            <a:off x="2133600" y="287338"/>
            <a:ext cx="10058400" cy="144938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 </a:t>
            </a:r>
            <a:endParaRPr/>
          </a:p>
        </p:txBody>
      </p:sp>
      <p:sp>
        <p:nvSpPr>
          <p:cNvPr id="285" name="Google Shape;285;p25"/>
          <p:cNvSpPr txBox="1"/>
          <p:nvPr>
            <p:ph idx="4294967295" type="body"/>
          </p:nvPr>
        </p:nvSpPr>
        <p:spPr>
          <a:xfrm>
            <a:off x="1843088" y="685800"/>
            <a:ext cx="10348912" cy="5767388"/>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4. Add another worksheet on the same workbook and rename it as “Challenge”.</a:t>
            </a:r>
            <a:endParaRPr/>
          </a:p>
          <a:p>
            <a:pPr indent="0" lvl="0" marL="0" rtl="0" algn="l">
              <a:lnSpc>
                <a:spcPct val="90000"/>
              </a:lnSpc>
              <a:spcBef>
                <a:spcPts val="1400"/>
              </a:spcBef>
              <a:spcAft>
                <a:spcPts val="0"/>
              </a:spcAft>
              <a:buSzPts val="2000"/>
              <a:buNone/>
            </a:pPr>
            <a:r>
              <a:rPr lang="en-US"/>
              <a:t>5. Create the below table on Challenge worksheet.</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rPr lang="en-US"/>
              <a:t>6. Select cells A1:E6 in the challenge tab and insert a 2D Clustered Column chart.</a:t>
            </a:r>
            <a:endParaRPr/>
          </a:p>
          <a:p>
            <a:pPr indent="0" lvl="0" marL="0" rtl="0" algn="l">
              <a:lnSpc>
                <a:spcPct val="90000"/>
              </a:lnSpc>
              <a:spcBef>
                <a:spcPts val="1400"/>
              </a:spcBef>
              <a:spcAft>
                <a:spcPts val="0"/>
              </a:spcAft>
              <a:buSzPts val="2000"/>
              <a:buNone/>
            </a:pPr>
            <a:r>
              <a:rPr lang="en-US"/>
              <a:t>7. Change the chart title to “September to December Sales”.</a:t>
            </a:r>
            <a:endParaRPr/>
          </a:p>
          <a:p>
            <a:pPr indent="0" lvl="0" marL="0" rtl="0" algn="l">
              <a:lnSpc>
                <a:spcPct val="90000"/>
              </a:lnSpc>
              <a:spcBef>
                <a:spcPts val="1400"/>
              </a:spcBef>
              <a:spcAft>
                <a:spcPts val="0"/>
              </a:spcAft>
              <a:buSzPts val="2000"/>
              <a:buNone/>
            </a:pPr>
            <a:r>
              <a:rPr lang="en-US"/>
              <a:t>8. Use the Switch Row/Column command. The columns should now be grouped by                             month, with a different color for each salesperson.</a:t>
            </a:r>
            <a:endParaRPr/>
          </a:p>
          <a:p>
            <a:pPr indent="0" lvl="0" marL="0" rtl="0" algn="l">
              <a:lnSpc>
                <a:spcPct val="90000"/>
              </a:lnSpc>
              <a:spcBef>
                <a:spcPts val="1400"/>
              </a:spcBef>
              <a:spcAft>
                <a:spcPts val="0"/>
              </a:spcAft>
              <a:buSzPts val="2000"/>
              <a:buNone/>
            </a:pPr>
            <a:r>
              <a:rPr lang="en-US"/>
              <a:t>9. Move the chart to a new sheet.</a:t>
            </a:r>
            <a:endParaRPr/>
          </a:p>
        </p:txBody>
      </p:sp>
      <p:pic>
        <p:nvPicPr>
          <p:cNvPr id="286" name="Google Shape;286;p25"/>
          <p:cNvPicPr preferRelativeResize="0"/>
          <p:nvPr/>
        </p:nvPicPr>
        <p:blipFill rotWithShape="1">
          <a:blip r:embed="rId3">
            <a:alphaModFix/>
          </a:blip>
          <a:srcRect b="0" l="0" r="0" t="0"/>
          <a:stretch/>
        </p:blipFill>
        <p:spPr>
          <a:xfrm>
            <a:off x="1607127" y="1563342"/>
            <a:ext cx="9130146" cy="245620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26"/>
          <p:cNvSpPr txBox="1"/>
          <p:nvPr>
            <p:ph idx="4294967295" type="title"/>
          </p:nvPr>
        </p:nvSpPr>
        <p:spPr>
          <a:xfrm>
            <a:off x="2133600" y="287338"/>
            <a:ext cx="10058400" cy="144938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 </a:t>
            </a:r>
            <a:endParaRPr/>
          </a:p>
        </p:txBody>
      </p:sp>
      <p:sp>
        <p:nvSpPr>
          <p:cNvPr id="293" name="Google Shape;293;p26"/>
          <p:cNvSpPr txBox="1"/>
          <p:nvPr>
            <p:ph idx="4294967295" type="body"/>
          </p:nvPr>
        </p:nvSpPr>
        <p:spPr>
          <a:xfrm>
            <a:off x="0" y="722313"/>
            <a:ext cx="3449638" cy="51816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10. Change the chart type to line with markers.</a:t>
            </a:r>
            <a:endParaRPr/>
          </a:p>
          <a:p>
            <a:pPr indent="0" lvl="0" marL="0" rtl="0" algn="l">
              <a:lnSpc>
                <a:spcPct val="90000"/>
              </a:lnSpc>
              <a:spcBef>
                <a:spcPts val="1400"/>
              </a:spcBef>
              <a:spcAft>
                <a:spcPts val="0"/>
              </a:spcAft>
              <a:buSzPts val="2000"/>
              <a:buNone/>
            </a:pPr>
            <a:r>
              <a:rPr lang="en-US"/>
              <a:t>11. Use the Quick Layout command to change the layout of the chart.</a:t>
            </a:r>
            <a:endParaRPr/>
          </a:p>
          <a:p>
            <a:pPr indent="0" lvl="0" marL="0" rtl="0" algn="l">
              <a:lnSpc>
                <a:spcPct val="90000"/>
              </a:lnSpc>
              <a:spcBef>
                <a:spcPts val="1400"/>
              </a:spcBef>
              <a:spcAft>
                <a:spcPts val="0"/>
              </a:spcAft>
              <a:buSzPts val="2000"/>
              <a:buNone/>
            </a:pPr>
            <a:r>
              <a:rPr lang="en-US"/>
              <a:t>12. When you're finished, your workbook should look something like this:</a:t>
            </a:r>
            <a:endParaRPr/>
          </a:p>
          <a:p>
            <a:pPr indent="0" lvl="0" marL="0" rtl="0" algn="l">
              <a:lnSpc>
                <a:spcPct val="90000"/>
              </a:lnSpc>
              <a:spcBef>
                <a:spcPts val="1400"/>
              </a:spcBef>
              <a:spcAft>
                <a:spcPts val="0"/>
              </a:spcAft>
              <a:buSzPts val="2000"/>
              <a:buNone/>
            </a:pPr>
            <a:r>
              <a:t/>
            </a:r>
            <a:endParaRPr/>
          </a:p>
        </p:txBody>
      </p:sp>
      <p:pic>
        <p:nvPicPr>
          <p:cNvPr id="294" name="Google Shape;294;p26"/>
          <p:cNvPicPr preferRelativeResize="0"/>
          <p:nvPr/>
        </p:nvPicPr>
        <p:blipFill rotWithShape="1">
          <a:blip r:embed="rId3">
            <a:alphaModFix/>
          </a:blip>
          <a:srcRect b="0" l="0" r="0" t="0"/>
          <a:stretch/>
        </p:blipFill>
        <p:spPr>
          <a:xfrm>
            <a:off x="4821382" y="685800"/>
            <a:ext cx="7015456" cy="547459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0" name="Google Shape;300;p27"/>
          <p:cNvSpPr txBox="1"/>
          <p:nvPr>
            <p:ph idx="4294967295" type="body"/>
          </p:nvPr>
        </p:nvSpPr>
        <p:spPr>
          <a:xfrm>
            <a:off x="2133600" y="2293938"/>
            <a:ext cx="10058400" cy="2381250"/>
          </a:xfrm>
          <a:prstGeom prst="rect">
            <a:avLst/>
          </a:prstGeom>
          <a:noFill/>
          <a:ln>
            <a:noFill/>
          </a:ln>
        </p:spPr>
        <p:txBody>
          <a:bodyPr anchorCtr="0" anchor="t" bIns="45700" lIns="0" spcFirstLastPara="1" rIns="0" wrap="square" tIns="45700">
            <a:normAutofit/>
          </a:bodyPr>
          <a:lstStyle/>
          <a:p>
            <a:pPr indent="-457200" lvl="0" marL="91440" rtl="0" algn="ctr">
              <a:lnSpc>
                <a:spcPct val="90000"/>
              </a:lnSpc>
              <a:spcBef>
                <a:spcPts val="0"/>
              </a:spcBef>
              <a:spcAft>
                <a:spcPts val="0"/>
              </a:spcAft>
              <a:buSzPts val="7200"/>
              <a:buChar char=" "/>
            </a:pPr>
            <a:r>
              <a:rPr lang="en-US" sz="7200"/>
              <a:t>Pivot Table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Activity 2</a:t>
            </a:r>
            <a:endParaRPr/>
          </a:p>
        </p:txBody>
      </p:sp>
      <p:sp>
        <p:nvSpPr>
          <p:cNvPr id="306" name="Google Shape;306;p2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1. Open the practice workbook.</a:t>
            </a:r>
            <a:endParaRPr/>
          </a:p>
          <a:p>
            <a:pPr indent="-127000" lvl="0" marL="91440" rtl="0" algn="l">
              <a:lnSpc>
                <a:spcPct val="90000"/>
              </a:lnSpc>
              <a:spcBef>
                <a:spcPts val="1400"/>
              </a:spcBef>
              <a:spcAft>
                <a:spcPts val="0"/>
              </a:spcAft>
              <a:buSzPts val="2000"/>
              <a:buChar char=" "/>
            </a:pPr>
            <a:r>
              <a:rPr lang="en-US"/>
              <a:t>2. Create a PivotTable in a separate sheet.</a:t>
            </a:r>
            <a:endParaRPr/>
          </a:p>
          <a:p>
            <a:pPr indent="-127000" lvl="0" marL="91440" rtl="0" algn="l">
              <a:lnSpc>
                <a:spcPct val="90000"/>
              </a:lnSpc>
              <a:spcBef>
                <a:spcPts val="1400"/>
              </a:spcBef>
              <a:spcAft>
                <a:spcPts val="0"/>
              </a:spcAft>
              <a:buSzPts val="2000"/>
              <a:buChar char=" "/>
            </a:pPr>
            <a:r>
              <a:rPr lang="en-US"/>
              <a:t>3. We want to answer the question What is the total amount sold in each region? To do this, select Region and Order Amount. When you're finished, your workbook should look like this:</a:t>
            </a:r>
            <a:endParaRPr/>
          </a:p>
          <a:p>
            <a:pPr indent="-127000" lvl="0" marL="91440" rtl="0" algn="l">
              <a:lnSpc>
                <a:spcPct val="90000"/>
              </a:lnSpc>
              <a:spcBef>
                <a:spcPts val="1400"/>
              </a:spcBef>
              <a:spcAft>
                <a:spcPts val="0"/>
              </a:spcAft>
              <a:buSzPts val="2000"/>
              <a:buChar char=" "/>
            </a:pPr>
            <a:r>
              <a:rPr lang="en-US"/>
              <a:t> </a:t>
            </a:r>
            <a:endParaRPr/>
          </a:p>
          <a:p>
            <a:pPr indent="0" lvl="0" marL="91440" rtl="0" algn="l">
              <a:lnSpc>
                <a:spcPct val="90000"/>
              </a:lnSpc>
              <a:spcBef>
                <a:spcPts val="1400"/>
              </a:spcBef>
              <a:spcAft>
                <a:spcPts val="0"/>
              </a:spcAft>
              <a:buSzPts val="2000"/>
              <a:buNone/>
            </a:pPr>
            <a:r>
              <a:t/>
            </a:r>
            <a:endParaRPr/>
          </a:p>
        </p:txBody>
      </p:sp>
      <p:sp>
        <p:nvSpPr>
          <p:cNvPr id="307" name="Google Shape;307;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PivotTable 1" id="308" name="Google Shape;308;p28"/>
          <p:cNvPicPr preferRelativeResize="0"/>
          <p:nvPr/>
        </p:nvPicPr>
        <p:blipFill rotWithShape="1">
          <a:blip r:embed="rId3">
            <a:alphaModFix/>
          </a:blip>
          <a:srcRect b="0" l="0" r="0" t="0"/>
          <a:stretch/>
        </p:blipFill>
        <p:spPr>
          <a:xfrm>
            <a:off x="4350168" y="3472333"/>
            <a:ext cx="3552623" cy="1666338"/>
          </a:xfrm>
          <a:prstGeom prst="rect">
            <a:avLst/>
          </a:prstGeom>
          <a:noFill/>
          <a:ln>
            <a:noFill/>
          </a:ln>
        </p:spPr>
      </p:pic>
      <p:sp>
        <p:nvSpPr>
          <p:cNvPr id="309" name="Google Shape;309;p28"/>
          <p:cNvSpPr/>
          <p:nvPr/>
        </p:nvSpPr>
        <p:spPr>
          <a:xfrm>
            <a:off x="1097278" y="5284070"/>
            <a:ext cx="10058401" cy="8803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chemeClr val="dk1"/>
                </a:solidFill>
                <a:latin typeface="Calibri"/>
                <a:ea typeface="Calibri"/>
                <a:cs typeface="Calibri"/>
                <a:sym typeface="Calibri"/>
              </a:rPr>
              <a:t>4. In the Rows area, remove Region and replace it with Salesperson.</a:t>
            </a:r>
            <a:endParaRPr/>
          </a:p>
          <a:p>
            <a:pPr indent="0" lvl="0" marL="0" marR="0" rtl="0" algn="l">
              <a:lnSpc>
                <a:spcPct val="150000"/>
              </a:lnSpc>
              <a:spcBef>
                <a:spcPts val="0"/>
              </a:spcBef>
              <a:spcAft>
                <a:spcPts val="0"/>
              </a:spcAft>
              <a:buNone/>
            </a:pPr>
            <a:r>
              <a:rPr b="0" i="0" lang="en-US" sz="1800" u="none" cap="none" strike="noStrike">
                <a:solidFill>
                  <a:schemeClr val="dk1"/>
                </a:solidFill>
                <a:latin typeface="Calibri"/>
                <a:ea typeface="Calibri"/>
                <a:cs typeface="Calibri"/>
                <a:sym typeface="Calibri"/>
              </a:rPr>
              <a:t>5. Add Month to the Columns area.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5" name="Google Shape;315;p29"/>
          <p:cNvSpPr txBox="1"/>
          <p:nvPr>
            <p:ph idx="4294967295" type="body"/>
          </p:nvPr>
        </p:nvSpPr>
        <p:spPr>
          <a:xfrm>
            <a:off x="1433513" y="750888"/>
            <a:ext cx="10758487" cy="526415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6. Change the number format of cells B5:E13 to Currency. Note: You might have to make columns C and D wider in order to see the values. </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n-US"/>
              <a:t>7. When you're finished, your workbook should look like this:</a:t>
            </a:r>
            <a:endParaRPr/>
          </a:p>
          <a:p>
            <a:pPr indent="0" lvl="0" marL="91440" rtl="0" algn="l">
              <a:lnSpc>
                <a:spcPct val="90000"/>
              </a:lnSpc>
              <a:spcBef>
                <a:spcPts val="1400"/>
              </a:spcBef>
              <a:spcAft>
                <a:spcPts val="0"/>
              </a:spcAft>
              <a:buSzPts val="2000"/>
              <a:buNone/>
            </a:pPr>
            <a:r>
              <a:t/>
            </a:r>
            <a:endParaRPr/>
          </a:p>
        </p:txBody>
      </p:sp>
      <p:pic>
        <p:nvPicPr>
          <p:cNvPr descr="Intro to PivotTables" id="316" name="Google Shape;316;p29"/>
          <p:cNvPicPr preferRelativeResize="0"/>
          <p:nvPr/>
        </p:nvPicPr>
        <p:blipFill rotWithShape="1">
          <a:blip r:embed="rId3">
            <a:alphaModFix/>
          </a:blip>
          <a:srcRect b="0" l="0" r="0" t="0"/>
          <a:stretch/>
        </p:blipFill>
        <p:spPr>
          <a:xfrm>
            <a:off x="3554570" y="2303923"/>
            <a:ext cx="5094466" cy="390369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2" name="Google Shape;322;p30"/>
          <p:cNvSpPr txBox="1"/>
          <p:nvPr>
            <p:ph idx="4294967295" type="body"/>
          </p:nvPr>
        </p:nvSpPr>
        <p:spPr>
          <a:xfrm>
            <a:off x="2133600" y="2293938"/>
            <a:ext cx="10058400" cy="2381250"/>
          </a:xfrm>
          <a:prstGeom prst="rect">
            <a:avLst/>
          </a:prstGeom>
          <a:noFill/>
          <a:ln>
            <a:noFill/>
          </a:ln>
        </p:spPr>
        <p:txBody>
          <a:bodyPr anchorCtr="0" anchor="t" bIns="45700" lIns="0" spcFirstLastPara="1" rIns="0" wrap="square" tIns="45700">
            <a:normAutofit/>
          </a:bodyPr>
          <a:lstStyle/>
          <a:p>
            <a:pPr indent="-457200" lvl="0" marL="91440" rtl="0" algn="ctr">
              <a:lnSpc>
                <a:spcPct val="90000"/>
              </a:lnSpc>
              <a:spcBef>
                <a:spcPts val="0"/>
              </a:spcBef>
              <a:spcAft>
                <a:spcPts val="0"/>
              </a:spcAft>
              <a:buSzPts val="7200"/>
              <a:buChar char=" "/>
            </a:pPr>
            <a:r>
              <a:rPr lang="en-US" sz="7200"/>
              <a:t>Pivot Chart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Activity 3</a:t>
            </a:r>
            <a:endParaRPr/>
          </a:p>
        </p:txBody>
      </p:sp>
      <p:sp>
        <p:nvSpPr>
          <p:cNvPr id="328" name="Google Shape;328;p3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1. Open the practice workbook.</a:t>
            </a:r>
            <a:endParaRPr/>
          </a:p>
          <a:p>
            <a:pPr indent="-127000" lvl="0" marL="91440" rtl="0" algn="l">
              <a:lnSpc>
                <a:spcPct val="90000"/>
              </a:lnSpc>
              <a:spcBef>
                <a:spcPts val="1400"/>
              </a:spcBef>
              <a:spcAft>
                <a:spcPts val="0"/>
              </a:spcAft>
              <a:buSzPts val="2000"/>
              <a:buChar char=" "/>
            </a:pPr>
            <a:r>
              <a:rPr lang="en-US"/>
              <a:t>2. In the Rows area, remove Region and replace it with Salesperson.</a:t>
            </a:r>
            <a:endParaRPr/>
          </a:p>
          <a:p>
            <a:pPr indent="-127000" lvl="0" marL="91440" rtl="0" algn="l">
              <a:lnSpc>
                <a:spcPct val="90000"/>
              </a:lnSpc>
              <a:spcBef>
                <a:spcPts val="1400"/>
              </a:spcBef>
              <a:spcAft>
                <a:spcPts val="0"/>
              </a:spcAft>
              <a:buSzPts val="2000"/>
              <a:buChar char=" "/>
            </a:pPr>
            <a:r>
              <a:rPr lang="en-US"/>
              <a:t>3. Insert a PivotChart, and choose the type Line with Markers.</a:t>
            </a:r>
            <a:endParaRPr/>
          </a:p>
          <a:p>
            <a:pPr indent="-127000" lvl="0" marL="91440" rtl="0" algn="l">
              <a:lnSpc>
                <a:spcPct val="90000"/>
              </a:lnSpc>
              <a:spcBef>
                <a:spcPts val="1400"/>
              </a:spcBef>
              <a:spcAft>
                <a:spcPts val="0"/>
              </a:spcAft>
              <a:buSzPts val="2000"/>
              <a:buChar char=" "/>
            </a:pPr>
            <a:r>
              <a:rPr lang="en-US"/>
              <a:t>4. Insert a slicer for Regions.</a:t>
            </a:r>
            <a:endParaRPr/>
          </a:p>
          <a:p>
            <a:pPr indent="-127000" lvl="0" marL="91440" rtl="0" algn="l">
              <a:lnSpc>
                <a:spcPct val="90000"/>
              </a:lnSpc>
              <a:spcBef>
                <a:spcPts val="1400"/>
              </a:spcBef>
              <a:spcAft>
                <a:spcPts val="0"/>
              </a:spcAft>
              <a:buSzPts val="2000"/>
              <a:buChar char=" "/>
            </a:pPr>
            <a:r>
              <a:rPr lang="en-US"/>
              <a:t>5. Use the slicer to only show the South and East regions.</a:t>
            </a:r>
            <a:endParaRPr/>
          </a:p>
          <a:p>
            <a:pPr indent="-127000" lvl="0" marL="91440" rtl="0" algn="l">
              <a:lnSpc>
                <a:spcPct val="90000"/>
              </a:lnSpc>
              <a:spcBef>
                <a:spcPts val="1400"/>
              </a:spcBef>
              <a:spcAft>
                <a:spcPts val="0"/>
              </a:spcAft>
              <a:buSzPts val="2000"/>
              <a:buChar char=" "/>
            </a:pPr>
            <a:r>
              <a:rPr lang="en-US"/>
              <a:t>6. Change the PivotChart type to Stacked Column.</a:t>
            </a:r>
            <a:endParaRPr/>
          </a:p>
          <a:p>
            <a:pPr indent="-127000" lvl="0" marL="91440" rtl="0" algn="l">
              <a:lnSpc>
                <a:spcPct val="90000"/>
              </a:lnSpc>
              <a:spcBef>
                <a:spcPts val="1400"/>
              </a:spcBef>
              <a:spcAft>
                <a:spcPts val="0"/>
              </a:spcAft>
              <a:buSzPts val="2000"/>
              <a:buChar char=" "/>
            </a:pPr>
            <a:r>
              <a:rPr lang="en-US"/>
              <a:t>7. In the PivotChart Fields pane to the right, add Month to the Legend (Series) area. Note: You can also click the PivotTable and then add Month to the Columns area; the result will be the same.</a:t>
            </a:r>
            <a:endParaRPr/>
          </a:p>
        </p:txBody>
      </p:sp>
      <p:sp>
        <p:nvSpPr>
          <p:cNvPr id="329" name="Google Shape;329;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More PivotTables" id="335" name="Google Shape;335;p32"/>
          <p:cNvPicPr preferRelativeResize="0"/>
          <p:nvPr/>
        </p:nvPicPr>
        <p:blipFill rotWithShape="1">
          <a:blip r:embed="rId3">
            <a:alphaModFix/>
          </a:blip>
          <a:srcRect b="0" l="0" r="0" t="0"/>
          <a:stretch/>
        </p:blipFill>
        <p:spPr>
          <a:xfrm>
            <a:off x="2849835" y="1780452"/>
            <a:ext cx="7050623" cy="4134117"/>
          </a:xfrm>
          <a:prstGeom prst="rect">
            <a:avLst/>
          </a:prstGeom>
          <a:noFill/>
          <a:ln>
            <a:noFill/>
          </a:ln>
        </p:spPr>
      </p:pic>
      <p:sp>
        <p:nvSpPr>
          <p:cNvPr id="336" name="Google Shape;336;p32"/>
          <p:cNvSpPr/>
          <p:nvPr/>
        </p:nvSpPr>
        <p:spPr>
          <a:xfrm>
            <a:off x="1013138" y="865905"/>
            <a:ext cx="103460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8. When you're finished, your workbook should look something like this: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2021-11-14T07:54:07Z</dcterms:created>
  <dc:creator>Jananie Mayooresan</dc:creator>
</cp:coreProperties>
</file>