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y="6858000" cx="12192000"/>
  <p:notesSz cx="6858000" cy="9144000"/>
  <p:embeddedFontLst>
    <p:embeddedFont>
      <p:font typeface="Libre Franklin"/>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25" roundtripDataSignature="AMtx7mj9Q5/4ZOsVGImn/1kone4xkS7tO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font" Target="fonts/LibreFranklin-bold.fntdata"/><Relationship Id="rId21" Type="http://schemas.openxmlformats.org/officeDocument/2006/relationships/font" Target="fonts/LibreFranklin-regular.fntdata"/><Relationship Id="rId24" Type="http://schemas.openxmlformats.org/officeDocument/2006/relationships/font" Target="fonts/LibreFranklin-boldItalic.fntdata"/><Relationship Id="rId23" Type="http://schemas.openxmlformats.org/officeDocument/2006/relationships/font" Target="fonts/LibreFranklin-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5"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228600" rtl="0" algn="just">
              <a:spcBef>
                <a:spcPts val="0"/>
              </a:spcBef>
              <a:spcAft>
                <a:spcPts val="0"/>
              </a:spcAft>
              <a:buClr>
                <a:schemeClr val="dk1"/>
              </a:buClr>
              <a:buSzPts val="1200"/>
              <a:buFont typeface="Calibri"/>
              <a:buAutoNum type="arabicPeriod"/>
            </a:pPr>
            <a:r>
              <a:rPr lang="en-US" sz="1200"/>
              <a:t>Multiple IF statements require a great deal of thought to build correctly and make sure that their logic can calculate correctly through each condition all the way to the end. </a:t>
            </a:r>
            <a:endParaRPr/>
          </a:p>
          <a:p>
            <a:pPr indent="-228600" lvl="0" marL="228600" rtl="0" algn="just">
              <a:spcBef>
                <a:spcPts val="0"/>
              </a:spcBef>
              <a:spcAft>
                <a:spcPts val="0"/>
              </a:spcAft>
              <a:buClr>
                <a:schemeClr val="dk1"/>
              </a:buClr>
              <a:buSzPts val="1200"/>
              <a:buFont typeface="Calibri"/>
              <a:buAutoNum type="arabicPeriod"/>
            </a:pPr>
            <a:r>
              <a:rPr lang="en-US" sz="1200"/>
              <a:t>If you don’t nest your formula 100% accurately, then it might work 75% of the time, but return unexpected results 25% of the time. Unfortunately, the odds of you catching the 25% are slim.</a:t>
            </a:r>
            <a:endParaRPr/>
          </a:p>
          <a:p>
            <a:pPr indent="-228600" lvl="0" marL="228600" rtl="0" algn="just">
              <a:spcBef>
                <a:spcPts val="0"/>
              </a:spcBef>
              <a:spcAft>
                <a:spcPts val="0"/>
              </a:spcAft>
              <a:buClr>
                <a:schemeClr val="dk1"/>
              </a:buClr>
              <a:buSzPts val="1200"/>
              <a:buFont typeface="Calibri"/>
              <a:buAutoNum type="arabicPeriod"/>
            </a:pPr>
            <a:r>
              <a:rPr lang="en-US" sz="1200"/>
              <a:t>Multiple IF statements can become incredibly difficult to maintain, especially when you come back some time later and try to figure out what you, or worse someone else, was trying to do.</a:t>
            </a:r>
            <a:endParaRPr/>
          </a:p>
        </p:txBody>
      </p:sp>
      <p:sp>
        <p:nvSpPr>
          <p:cNvPr id="127" name="Google Shape;12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8" name="Shape 18"/>
        <p:cNvGrpSpPr/>
        <p:nvPr/>
      </p:nvGrpSpPr>
      <p:grpSpPr>
        <a:xfrm>
          <a:off x="0" y="0"/>
          <a:ext cx="0" cy="0"/>
          <a:chOff x="0" y="0"/>
          <a:chExt cx="0" cy="0"/>
        </a:xfrm>
      </p:grpSpPr>
      <p:sp>
        <p:nvSpPr>
          <p:cNvPr id="19" name="Google Shape;19;p18"/>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8"/>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18"/>
          <p:cNvSpPr txBox="1"/>
          <p:nvPr>
            <p:ph type="ctr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18"/>
          <p:cNvSpPr txBox="1"/>
          <p:nvPr>
            <p:ph idx="1" type="subTitle"/>
          </p:nvPr>
        </p:nvSpPr>
        <p:spPr>
          <a:xfrm>
            <a:off x="1100051" y="4455620"/>
            <a:ext cx="10058400" cy="11430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23" name="Google Shape;23;p18"/>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8"/>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8"/>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26" name="Google Shape;26;p18"/>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19"/>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48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9"/>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0" name="Google Shape;30;p19"/>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9"/>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9"/>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33" name="Shape 33"/>
        <p:cNvGrpSpPr/>
        <p:nvPr/>
      </p:nvGrpSpPr>
      <p:grpSpPr>
        <a:xfrm>
          <a:off x="0" y="0"/>
          <a:ext cx="0" cy="0"/>
          <a:chOff x="0" y="0"/>
          <a:chExt cx="0" cy="0"/>
        </a:xfrm>
      </p:grpSpPr>
      <p:sp>
        <p:nvSpPr>
          <p:cNvPr id="34" name="Google Shape;34;p20"/>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0"/>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0"/>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20"/>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0"/>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lt1"/>
        </a:solidFill>
      </p:bgPr>
    </p:bg>
    <p:spTree>
      <p:nvGrpSpPr>
        <p:cNvPr id="39" name="Shape 39"/>
        <p:cNvGrpSpPr/>
        <p:nvPr/>
      </p:nvGrpSpPr>
      <p:grpSpPr>
        <a:xfrm>
          <a:off x="0" y="0"/>
          <a:ext cx="0" cy="0"/>
          <a:chOff x="0" y="0"/>
          <a:chExt cx="0" cy="0"/>
        </a:xfrm>
      </p:grpSpPr>
      <p:sp>
        <p:nvSpPr>
          <p:cNvPr id="40" name="Google Shape;40;p21"/>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1"/>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1"/>
          <p:cNvSpPr txBox="1"/>
          <p:nvPr>
            <p:ph type="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b="0"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21"/>
          <p:cNvSpPr txBox="1"/>
          <p:nvPr>
            <p:ph idx="1" type="body"/>
          </p:nvPr>
        </p:nvSpPr>
        <p:spPr>
          <a:xfrm>
            <a:off x="1097280" y="4453128"/>
            <a:ext cx="10058400" cy="1143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indent="-228600" lvl="1" marL="914400" algn="l">
              <a:lnSpc>
                <a:spcPct val="90000"/>
              </a:lnSpc>
              <a:spcBef>
                <a:spcPts val="200"/>
              </a:spcBef>
              <a:spcAft>
                <a:spcPts val="0"/>
              </a:spcAft>
              <a:buSzPts val="1800"/>
              <a:buNone/>
              <a:defRPr sz="1800">
                <a:solidFill>
                  <a:srgbClr val="888888"/>
                </a:solidFill>
              </a:defRPr>
            </a:lvl2pPr>
            <a:lvl3pPr indent="-228600" lvl="2" marL="1371600" algn="l">
              <a:lnSpc>
                <a:spcPct val="90000"/>
              </a:lnSpc>
              <a:spcBef>
                <a:spcPts val="400"/>
              </a:spcBef>
              <a:spcAft>
                <a:spcPts val="0"/>
              </a:spcAft>
              <a:buSzPts val="1600"/>
              <a:buNone/>
              <a:defRPr sz="1600">
                <a:solidFill>
                  <a:srgbClr val="888888"/>
                </a:solidFill>
              </a:defRPr>
            </a:lvl3pPr>
            <a:lvl4pPr indent="-228600" lvl="3" marL="1828800" algn="l">
              <a:lnSpc>
                <a:spcPct val="90000"/>
              </a:lnSpc>
              <a:spcBef>
                <a:spcPts val="400"/>
              </a:spcBef>
              <a:spcAft>
                <a:spcPts val="0"/>
              </a:spcAft>
              <a:buSzPts val="1400"/>
              <a:buNone/>
              <a:defRPr sz="1400">
                <a:solidFill>
                  <a:srgbClr val="888888"/>
                </a:solidFill>
              </a:defRPr>
            </a:lvl4pPr>
            <a:lvl5pPr indent="-228600" lvl="4" marL="2286000" algn="l">
              <a:lnSpc>
                <a:spcPct val="9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44" name="Google Shape;44;p21"/>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21"/>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21"/>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47" name="Google Shape;47;p21"/>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8" name="Shape 48"/>
        <p:cNvGrpSpPr/>
        <p:nvPr/>
      </p:nvGrpSpPr>
      <p:grpSpPr>
        <a:xfrm>
          <a:off x="0" y="0"/>
          <a:ext cx="0" cy="0"/>
          <a:chOff x="0" y="0"/>
          <a:chExt cx="0" cy="0"/>
        </a:xfrm>
      </p:grpSpPr>
      <p:sp>
        <p:nvSpPr>
          <p:cNvPr id="49" name="Google Shape;49;p2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22"/>
          <p:cNvSpPr txBox="1"/>
          <p:nvPr>
            <p:ph idx="1" type="body"/>
          </p:nvPr>
        </p:nvSpPr>
        <p:spPr>
          <a:xfrm>
            <a:off x="1097279" y="1845734"/>
            <a:ext cx="493776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1" name="Google Shape;51;p22"/>
          <p:cNvSpPr txBox="1"/>
          <p:nvPr>
            <p:ph idx="2" type="body"/>
          </p:nvPr>
        </p:nvSpPr>
        <p:spPr>
          <a:xfrm>
            <a:off x="6217920" y="1845735"/>
            <a:ext cx="493776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2" name="Google Shape;52;p22"/>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2"/>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2"/>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5" name="Shape 55"/>
        <p:cNvGrpSpPr/>
        <p:nvPr/>
      </p:nvGrpSpPr>
      <p:grpSpPr>
        <a:xfrm>
          <a:off x="0" y="0"/>
          <a:ext cx="0" cy="0"/>
          <a:chOff x="0" y="0"/>
          <a:chExt cx="0" cy="0"/>
        </a:xfrm>
      </p:grpSpPr>
      <p:sp>
        <p:nvSpPr>
          <p:cNvPr id="56" name="Google Shape;56;p23"/>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23"/>
          <p:cNvSpPr txBox="1"/>
          <p:nvPr>
            <p:ph idx="1" type="body"/>
          </p:nvPr>
        </p:nvSpPr>
        <p:spPr>
          <a:xfrm>
            <a:off x="109728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8" name="Google Shape;58;p23"/>
          <p:cNvSpPr txBox="1"/>
          <p:nvPr>
            <p:ph idx="2" type="body"/>
          </p:nvPr>
        </p:nvSpPr>
        <p:spPr>
          <a:xfrm>
            <a:off x="1097280" y="2582334"/>
            <a:ext cx="4937760" cy="3378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9" name="Google Shape;59;p23"/>
          <p:cNvSpPr txBox="1"/>
          <p:nvPr>
            <p:ph idx="3" type="body"/>
          </p:nvPr>
        </p:nvSpPr>
        <p:spPr>
          <a:xfrm>
            <a:off x="621792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60" name="Google Shape;60;p23"/>
          <p:cNvSpPr txBox="1"/>
          <p:nvPr>
            <p:ph idx="4" type="body"/>
          </p:nvPr>
        </p:nvSpPr>
        <p:spPr>
          <a:xfrm>
            <a:off x="6217920" y="2582334"/>
            <a:ext cx="4937760" cy="3378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1" name="Google Shape;61;p23"/>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23"/>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3"/>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4" name="Shape 64"/>
        <p:cNvGrpSpPr/>
        <p:nvPr/>
      </p:nvGrpSpPr>
      <p:grpSpPr>
        <a:xfrm>
          <a:off x="0" y="0"/>
          <a:ext cx="0" cy="0"/>
          <a:chOff x="0" y="0"/>
          <a:chExt cx="0" cy="0"/>
        </a:xfrm>
      </p:grpSpPr>
      <p:sp>
        <p:nvSpPr>
          <p:cNvPr id="65" name="Google Shape;65;p2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24"/>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4"/>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24"/>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69" name="Shape 69"/>
        <p:cNvGrpSpPr/>
        <p:nvPr/>
      </p:nvGrpSpPr>
      <p:grpSpPr>
        <a:xfrm>
          <a:off x="0" y="0"/>
          <a:ext cx="0" cy="0"/>
          <a:chOff x="0" y="0"/>
          <a:chExt cx="0" cy="0"/>
        </a:xfrm>
      </p:grpSpPr>
      <p:sp>
        <p:nvSpPr>
          <p:cNvPr id="70" name="Google Shape;70;p25"/>
          <p:cNvSpPr/>
          <p:nvPr/>
        </p:nvSpPr>
        <p:spPr>
          <a:xfrm>
            <a:off x="16" y="0"/>
            <a:ext cx="4050791" cy="6858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25"/>
          <p:cNvSpPr/>
          <p:nvPr/>
        </p:nvSpPr>
        <p:spPr>
          <a:xfrm>
            <a:off x="4040071" y="0"/>
            <a:ext cx="64008"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25"/>
          <p:cNvSpPr txBox="1"/>
          <p:nvPr>
            <p:ph type="title"/>
          </p:nvPr>
        </p:nvSpPr>
        <p:spPr>
          <a:xfrm>
            <a:off x="457200" y="594359"/>
            <a:ext cx="3200400" cy="22860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25"/>
          <p:cNvSpPr txBox="1"/>
          <p:nvPr>
            <p:ph idx="1" type="body"/>
          </p:nvPr>
        </p:nvSpPr>
        <p:spPr>
          <a:xfrm>
            <a:off x="4800600" y="731520"/>
            <a:ext cx="6492240" cy="52578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74" name="Google Shape;74;p25"/>
          <p:cNvSpPr txBox="1"/>
          <p:nvPr>
            <p:ph idx="2" type="body"/>
          </p:nvPr>
        </p:nvSpPr>
        <p:spPr>
          <a:xfrm>
            <a:off x="457200" y="2926080"/>
            <a:ext cx="3200400" cy="33791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500"/>
              <a:buNone/>
              <a:defRPr sz="1500">
                <a:solidFill>
                  <a:srgbClr val="FFFFFF"/>
                </a:solidFill>
              </a:defRPr>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75" name="Google Shape;75;p25"/>
          <p:cNvSpPr txBox="1"/>
          <p:nvPr>
            <p:ph idx="10" type="dt"/>
          </p:nvPr>
        </p:nvSpPr>
        <p:spPr>
          <a:xfrm>
            <a:off x="465512" y="6459785"/>
            <a:ext cx="26185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5"/>
          <p:cNvSpPr txBox="1"/>
          <p:nvPr>
            <p:ph idx="11" type="ftr"/>
          </p:nvPr>
        </p:nvSpPr>
        <p:spPr>
          <a:xfrm>
            <a:off x="4800600" y="6459785"/>
            <a:ext cx="4648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5"/>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050" u="none" cap="none" strike="noStrike">
                <a:solidFill>
                  <a:schemeClr val="dk2"/>
                </a:solidFill>
                <a:latin typeface="Calibri"/>
                <a:ea typeface="Calibri"/>
                <a:cs typeface="Calibri"/>
                <a:sym typeface="Calibri"/>
              </a:defRPr>
            </a:lvl1pPr>
            <a:lvl2pPr indent="0" lvl="1" marL="0" algn="r">
              <a:spcBef>
                <a:spcPts val="0"/>
              </a:spcBef>
              <a:buNone/>
              <a:defRPr b="0" i="0" sz="1050" u="none" cap="none" strike="noStrike">
                <a:solidFill>
                  <a:schemeClr val="dk2"/>
                </a:solidFill>
                <a:latin typeface="Calibri"/>
                <a:ea typeface="Calibri"/>
                <a:cs typeface="Calibri"/>
                <a:sym typeface="Calibri"/>
              </a:defRPr>
            </a:lvl2pPr>
            <a:lvl3pPr indent="0" lvl="2" marL="0" algn="r">
              <a:spcBef>
                <a:spcPts val="0"/>
              </a:spcBef>
              <a:buNone/>
              <a:defRPr b="0" i="0" sz="1050" u="none" cap="none" strike="noStrike">
                <a:solidFill>
                  <a:schemeClr val="dk2"/>
                </a:solidFill>
                <a:latin typeface="Calibri"/>
                <a:ea typeface="Calibri"/>
                <a:cs typeface="Calibri"/>
                <a:sym typeface="Calibri"/>
              </a:defRPr>
            </a:lvl3pPr>
            <a:lvl4pPr indent="0" lvl="3" marL="0" algn="r">
              <a:spcBef>
                <a:spcPts val="0"/>
              </a:spcBef>
              <a:buNone/>
              <a:defRPr b="0" i="0" sz="1050" u="none" cap="none" strike="noStrike">
                <a:solidFill>
                  <a:schemeClr val="dk2"/>
                </a:solidFill>
                <a:latin typeface="Calibri"/>
                <a:ea typeface="Calibri"/>
                <a:cs typeface="Calibri"/>
                <a:sym typeface="Calibri"/>
              </a:defRPr>
            </a:lvl4pPr>
            <a:lvl5pPr indent="0" lvl="4" marL="0" algn="r">
              <a:spcBef>
                <a:spcPts val="0"/>
              </a:spcBef>
              <a:buNone/>
              <a:defRPr b="0" i="0" sz="1050" u="none" cap="none" strike="noStrike">
                <a:solidFill>
                  <a:schemeClr val="dk2"/>
                </a:solidFill>
                <a:latin typeface="Calibri"/>
                <a:ea typeface="Calibri"/>
                <a:cs typeface="Calibri"/>
                <a:sym typeface="Calibri"/>
              </a:defRPr>
            </a:lvl5pPr>
            <a:lvl6pPr indent="0" lvl="5" marL="0" algn="r">
              <a:spcBef>
                <a:spcPts val="0"/>
              </a:spcBef>
              <a:buNone/>
              <a:defRPr b="0" i="0" sz="1050" u="none" cap="none" strike="noStrike">
                <a:solidFill>
                  <a:schemeClr val="dk2"/>
                </a:solidFill>
                <a:latin typeface="Calibri"/>
                <a:ea typeface="Calibri"/>
                <a:cs typeface="Calibri"/>
                <a:sym typeface="Calibri"/>
              </a:defRPr>
            </a:lvl6pPr>
            <a:lvl7pPr indent="0" lvl="6" marL="0" algn="r">
              <a:spcBef>
                <a:spcPts val="0"/>
              </a:spcBef>
              <a:buNone/>
              <a:defRPr b="0" i="0" sz="1050" u="none" cap="none" strike="noStrike">
                <a:solidFill>
                  <a:schemeClr val="dk2"/>
                </a:solidFill>
                <a:latin typeface="Calibri"/>
                <a:ea typeface="Calibri"/>
                <a:cs typeface="Calibri"/>
                <a:sym typeface="Calibri"/>
              </a:defRPr>
            </a:lvl7pPr>
            <a:lvl8pPr indent="0" lvl="7" marL="0" algn="r">
              <a:spcBef>
                <a:spcPts val="0"/>
              </a:spcBef>
              <a:buNone/>
              <a:defRPr b="0" i="0" sz="1050" u="none" cap="none" strike="noStrike">
                <a:solidFill>
                  <a:schemeClr val="dk2"/>
                </a:solidFill>
                <a:latin typeface="Calibri"/>
                <a:ea typeface="Calibri"/>
                <a:cs typeface="Calibri"/>
                <a:sym typeface="Calibri"/>
              </a:defRPr>
            </a:lvl8pPr>
            <a:lvl9pPr indent="0" lvl="8" marL="0" algn="r">
              <a:spcBef>
                <a:spcPts val="0"/>
              </a:spcBef>
              <a:buNone/>
              <a:defRPr b="0" i="0" sz="1050" u="none" cap="none" strike="noStrike">
                <a:solidFill>
                  <a:schemeClr val="dk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78" name="Shape 78"/>
        <p:cNvGrpSpPr/>
        <p:nvPr/>
      </p:nvGrpSpPr>
      <p:grpSpPr>
        <a:xfrm>
          <a:off x="0" y="0"/>
          <a:ext cx="0" cy="0"/>
          <a:chOff x="0" y="0"/>
          <a:chExt cx="0" cy="0"/>
        </a:xfrm>
      </p:grpSpPr>
      <p:sp>
        <p:nvSpPr>
          <p:cNvPr id="79" name="Google Shape;79;p26"/>
          <p:cNvSpPr/>
          <p:nvPr/>
        </p:nvSpPr>
        <p:spPr>
          <a:xfrm>
            <a:off x="0" y="4953000"/>
            <a:ext cx="12188825" cy="1905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26"/>
          <p:cNvSpPr/>
          <p:nvPr/>
        </p:nvSpPr>
        <p:spPr>
          <a:xfrm>
            <a:off x="15" y="491507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26"/>
          <p:cNvSpPr txBox="1"/>
          <p:nvPr>
            <p:ph type="title"/>
          </p:nvPr>
        </p:nvSpPr>
        <p:spPr>
          <a:xfrm>
            <a:off x="1097280" y="5074920"/>
            <a:ext cx="10113264" cy="822960"/>
          </a:xfrm>
          <a:prstGeom prst="rect">
            <a:avLst/>
          </a:prstGeom>
          <a:noFill/>
          <a:ln>
            <a:noFill/>
          </a:ln>
        </p:spPr>
        <p:txBody>
          <a:bodyPr anchorCtr="0" anchor="b" bIns="0" lIns="91425" spcFirstLastPara="1" rIns="91425" wrap="square" tIns="0">
            <a:no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82" name="Google Shape;82;p26"/>
          <p:cNvPicPr preferRelativeResize="0"/>
          <p:nvPr>
            <p:ph idx="2" type="pic"/>
          </p:nvPr>
        </p:nvPicPr>
        <p:blipFill/>
        <p:spPr>
          <a:xfrm>
            <a:off x="15" y="0"/>
            <a:ext cx="12191985" cy="4915076"/>
          </a:xfrm>
          <a:prstGeom prst="rect">
            <a:avLst/>
          </a:prstGeom>
          <a:blipFill rotWithShape="1">
            <a:blip r:embed="rId2">
              <a:alphaModFix/>
            </a:blip>
            <a:stretch>
              <a:fillRect b="0" l="0" r="0" t="0"/>
            </a:stretch>
          </a:blipFill>
          <a:ln>
            <a:noFill/>
          </a:ln>
        </p:spPr>
      </p:pic>
      <p:sp>
        <p:nvSpPr>
          <p:cNvPr id="83" name="Google Shape;83;p26"/>
          <p:cNvSpPr txBox="1"/>
          <p:nvPr>
            <p:ph idx="1" type="body"/>
          </p:nvPr>
        </p:nvSpPr>
        <p:spPr>
          <a:xfrm>
            <a:off x="1097280" y="5907023"/>
            <a:ext cx="10113264" cy="594360"/>
          </a:xfrm>
          <a:prstGeom prst="rect">
            <a:avLst/>
          </a:prstGeom>
          <a:noFill/>
          <a:ln>
            <a:noFill/>
          </a:ln>
        </p:spPr>
        <p:txBody>
          <a:bodyPr anchorCtr="0" anchor="t" bIns="0" lIns="91425" spcFirstLastPara="1" rIns="91425" wrap="square" tIns="0">
            <a:normAutofit/>
          </a:bodyPr>
          <a:lstStyle>
            <a:lvl1pPr indent="-228600" lvl="0" marL="457200" algn="l">
              <a:lnSpc>
                <a:spcPct val="90000"/>
              </a:lnSpc>
              <a:spcBef>
                <a:spcPts val="0"/>
              </a:spcBef>
              <a:spcAft>
                <a:spcPts val="0"/>
              </a:spcAft>
              <a:buSzPts val="1500"/>
              <a:buNone/>
              <a:defRPr sz="1500">
                <a:solidFill>
                  <a:srgbClr val="FFFFFF"/>
                </a:solidFill>
              </a:defRPr>
            </a:lvl1pPr>
            <a:lvl2pPr indent="-228600" lvl="1" marL="914400" algn="l">
              <a:lnSpc>
                <a:spcPct val="90000"/>
              </a:lnSpc>
              <a:spcBef>
                <a:spcPts val="6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84" name="Google Shape;84;p26"/>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26"/>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6"/>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7" name="Shape 87"/>
        <p:cNvGrpSpPr/>
        <p:nvPr/>
      </p:nvGrpSpPr>
      <p:grpSpPr>
        <a:xfrm>
          <a:off x="0" y="0"/>
          <a:ext cx="0" cy="0"/>
          <a:chOff x="0" y="0"/>
          <a:chExt cx="0" cy="0"/>
        </a:xfrm>
      </p:grpSpPr>
      <p:sp>
        <p:nvSpPr>
          <p:cNvPr id="88" name="Google Shape;88;p2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 name="Google Shape;89;p27"/>
          <p:cNvSpPr txBox="1"/>
          <p:nvPr>
            <p:ph idx="1" type="body"/>
          </p:nvPr>
        </p:nvSpPr>
        <p:spPr>
          <a:xfrm rot="5400000">
            <a:off x="4114800" y="-1171786"/>
            <a:ext cx="4023360" cy="100584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0" name="Google Shape;90;p27"/>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27"/>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27"/>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93" name="Shape 93"/>
        <p:cNvGrpSpPr/>
        <p:nvPr/>
      </p:nvGrpSpPr>
      <p:grpSpPr>
        <a:xfrm>
          <a:off x="0" y="0"/>
          <a:ext cx="0" cy="0"/>
          <a:chOff x="0" y="0"/>
          <a:chExt cx="0" cy="0"/>
        </a:xfrm>
      </p:grpSpPr>
      <p:sp>
        <p:nvSpPr>
          <p:cNvPr id="94" name="Google Shape;94;p28"/>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8"/>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8"/>
          <p:cNvSpPr txBox="1"/>
          <p:nvPr>
            <p:ph type="title"/>
          </p:nvPr>
        </p:nvSpPr>
        <p:spPr>
          <a:xfrm rot="5400000">
            <a:off x="7160640" y="1979039"/>
            <a:ext cx="5757421" cy="26289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28"/>
          <p:cNvSpPr txBox="1"/>
          <p:nvPr>
            <p:ph idx="1" type="body"/>
          </p:nvPr>
        </p:nvSpPr>
        <p:spPr>
          <a:xfrm rot="5400000">
            <a:off x="1826639" y="-573661"/>
            <a:ext cx="5757422" cy="77343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8" name="Google Shape;98;p28"/>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28"/>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28"/>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7"/>
          <p:cNvSpPr/>
          <p:nvPr/>
        </p:nvSpPr>
        <p:spPr>
          <a:xfrm>
            <a:off x="1" y="6400800"/>
            <a:ext cx="12192000"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17"/>
          <p:cNvSpPr/>
          <p:nvPr/>
        </p:nvSpPr>
        <p:spPr>
          <a:xfrm>
            <a:off x="0" y="6334316"/>
            <a:ext cx="12192001" cy="659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1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marR="0" rtl="0" algn="l">
              <a:lnSpc>
                <a:spcPct val="85000"/>
              </a:lnSpc>
              <a:spcBef>
                <a:spcPts val="0"/>
              </a:spcBef>
              <a:spcAft>
                <a:spcPts val="0"/>
              </a:spcAft>
              <a:buClr>
                <a:srgbClr val="3F3F3F"/>
              </a:buClr>
              <a:buSzPts val="4800"/>
              <a:buFont typeface="Calibri"/>
              <a:buNone/>
              <a:defRPr b="0" i="0" sz="4800" u="none" cap="none" strike="noStrike">
                <a:solidFill>
                  <a:srgbClr val="3F3F3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17"/>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3F3F3F"/>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14" name="Google Shape;14;p17"/>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 name="Google Shape;15;p17"/>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 name="Google Shape;16;p17"/>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50" u="none" cap="none" strike="noStrike">
                <a:solidFill>
                  <a:srgbClr val="FFFFFF"/>
                </a:solidFill>
                <a:latin typeface="Calibri"/>
                <a:ea typeface="Calibri"/>
                <a:cs typeface="Calibri"/>
                <a:sym typeface="Calibri"/>
              </a:defRPr>
            </a:lvl1pPr>
            <a:lvl2pPr indent="0" lvl="1" marL="0" marR="0" rtl="0" algn="r">
              <a:spcBef>
                <a:spcPts val="0"/>
              </a:spcBef>
              <a:buNone/>
              <a:defRPr b="0" i="0" sz="1050" u="none" cap="none" strike="noStrike">
                <a:solidFill>
                  <a:srgbClr val="FFFFFF"/>
                </a:solidFill>
                <a:latin typeface="Calibri"/>
                <a:ea typeface="Calibri"/>
                <a:cs typeface="Calibri"/>
                <a:sym typeface="Calibri"/>
              </a:defRPr>
            </a:lvl2pPr>
            <a:lvl3pPr indent="0" lvl="2" marL="0" marR="0" rtl="0" algn="r">
              <a:spcBef>
                <a:spcPts val="0"/>
              </a:spcBef>
              <a:buNone/>
              <a:defRPr b="0" i="0" sz="1050" u="none" cap="none" strike="noStrike">
                <a:solidFill>
                  <a:srgbClr val="FFFFFF"/>
                </a:solidFill>
                <a:latin typeface="Calibri"/>
                <a:ea typeface="Calibri"/>
                <a:cs typeface="Calibri"/>
                <a:sym typeface="Calibri"/>
              </a:defRPr>
            </a:lvl3pPr>
            <a:lvl4pPr indent="0" lvl="3" marL="0" marR="0" rtl="0" algn="r">
              <a:spcBef>
                <a:spcPts val="0"/>
              </a:spcBef>
              <a:buNone/>
              <a:defRPr b="0" i="0" sz="1050" u="none" cap="none" strike="noStrike">
                <a:solidFill>
                  <a:srgbClr val="FFFFFF"/>
                </a:solidFill>
                <a:latin typeface="Calibri"/>
                <a:ea typeface="Calibri"/>
                <a:cs typeface="Calibri"/>
                <a:sym typeface="Calibri"/>
              </a:defRPr>
            </a:lvl4pPr>
            <a:lvl5pPr indent="0" lvl="4" marL="0" marR="0" rtl="0" algn="r">
              <a:spcBef>
                <a:spcPts val="0"/>
              </a:spcBef>
              <a:buNone/>
              <a:defRPr b="0" i="0" sz="1050" u="none" cap="none" strike="noStrike">
                <a:solidFill>
                  <a:srgbClr val="FFFFFF"/>
                </a:solidFill>
                <a:latin typeface="Calibri"/>
                <a:ea typeface="Calibri"/>
                <a:cs typeface="Calibri"/>
                <a:sym typeface="Calibri"/>
              </a:defRPr>
            </a:lvl5pPr>
            <a:lvl6pPr indent="0" lvl="5" marL="0" marR="0" rtl="0" algn="r">
              <a:spcBef>
                <a:spcPts val="0"/>
              </a:spcBef>
              <a:buNone/>
              <a:defRPr b="0" i="0" sz="1050" u="none" cap="none" strike="noStrike">
                <a:solidFill>
                  <a:srgbClr val="FFFFFF"/>
                </a:solidFill>
                <a:latin typeface="Calibri"/>
                <a:ea typeface="Calibri"/>
                <a:cs typeface="Calibri"/>
                <a:sym typeface="Calibri"/>
              </a:defRPr>
            </a:lvl6pPr>
            <a:lvl7pPr indent="0" lvl="6" marL="0" marR="0" rtl="0" algn="r">
              <a:spcBef>
                <a:spcPts val="0"/>
              </a:spcBef>
              <a:buNone/>
              <a:defRPr b="0" i="0" sz="1050" u="none" cap="none" strike="noStrike">
                <a:solidFill>
                  <a:srgbClr val="FFFFFF"/>
                </a:solidFill>
                <a:latin typeface="Calibri"/>
                <a:ea typeface="Calibri"/>
                <a:cs typeface="Calibri"/>
                <a:sym typeface="Calibri"/>
              </a:defRPr>
            </a:lvl7pPr>
            <a:lvl8pPr indent="0" lvl="7" marL="0" marR="0" rtl="0" algn="r">
              <a:spcBef>
                <a:spcPts val="0"/>
              </a:spcBef>
              <a:buNone/>
              <a:defRPr b="0" i="0" sz="1050" u="none" cap="none" strike="noStrike">
                <a:solidFill>
                  <a:srgbClr val="FFFFFF"/>
                </a:solidFill>
                <a:latin typeface="Calibri"/>
                <a:ea typeface="Calibri"/>
                <a:cs typeface="Calibri"/>
                <a:sym typeface="Calibri"/>
              </a:defRPr>
            </a:lvl8pPr>
            <a:lvl9pPr indent="0" lvl="8" marL="0" marR="0" rtl="0" algn="r">
              <a:spcBef>
                <a:spcPts val="0"/>
              </a:spcBef>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17" name="Google Shape;17;p17"/>
          <p:cNvCxnSpPr/>
          <p:nvPr/>
        </p:nvCxnSpPr>
        <p:spPr>
          <a:xfrm>
            <a:off x="1193532" y="1737845"/>
            <a:ext cx="9966960" cy="0"/>
          </a:xfrm>
          <a:prstGeom prst="straightConnector1">
            <a:avLst/>
          </a:prstGeom>
          <a:noFill/>
          <a:ln cap="flat" cmpd="sng" w="9525">
            <a:solidFill>
              <a:srgbClr val="7F7F7F"/>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
          <p:cNvSpPr txBox="1"/>
          <p:nvPr>
            <p:ph type="ctrTitle"/>
          </p:nvPr>
        </p:nvSpPr>
        <p:spPr>
          <a:xfrm>
            <a:off x="1534581" y="2072838"/>
            <a:ext cx="9126011" cy="2098226"/>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262626"/>
              </a:buClr>
              <a:buSzPts val="6000"/>
              <a:buFont typeface="Calibri"/>
              <a:buNone/>
            </a:pPr>
            <a:r>
              <a:rPr lang="en-US" sz="6000"/>
              <a:t>Microsoft Excel</a:t>
            </a:r>
            <a:endParaRPr sz="6000" cap="none"/>
          </a:p>
        </p:txBody>
      </p:sp>
      <p:sp>
        <p:nvSpPr>
          <p:cNvPr id="106" name="Google Shape;106;p1"/>
          <p:cNvSpPr txBox="1"/>
          <p:nvPr>
            <p:ph idx="1" type="subTitle"/>
          </p:nvPr>
        </p:nvSpPr>
        <p:spPr>
          <a:xfrm>
            <a:off x="1583457" y="4571899"/>
            <a:ext cx="6831673" cy="62789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800"/>
              <a:buNone/>
            </a:pPr>
            <a:r>
              <a:rPr lang="en-US" sz="2800"/>
              <a:t>LECTURE 7</a:t>
            </a:r>
            <a:endParaRPr/>
          </a:p>
          <a:p>
            <a:pPr indent="0" lvl="0" marL="0" rtl="0" algn="l">
              <a:lnSpc>
                <a:spcPct val="90000"/>
              </a:lnSpc>
              <a:spcBef>
                <a:spcPts val="1400"/>
              </a:spcBef>
              <a:spcAft>
                <a:spcPts val="0"/>
              </a:spcAft>
              <a:buSzPts val="2400"/>
              <a:buNone/>
            </a:pPr>
            <a:r>
              <a:t/>
            </a:r>
            <a:endParaRPr/>
          </a:p>
        </p:txBody>
      </p:sp>
      <p:sp>
        <p:nvSpPr>
          <p:cNvPr id="107" name="Google Shape;107;p1"/>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08" name="Google Shape;108;p1"/>
          <p:cNvPicPr preferRelativeResize="0"/>
          <p:nvPr/>
        </p:nvPicPr>
        <p:blipFill rotWithShape="1">
          <a:blip r:embed="rId3">
            <a:alphaModFix/>
          </a:blip>
          <a:srcRect b="0" l="0" r="0" t="0"/>
          <a:stretch/>
        </p:blipFill>
        <p:spPr>
          <a:xfrm>
            <a:off x="8609265" y="609055"/>
            <a:ext cx="2603218" cy="107298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
          <p:cNvSpPr txBox="1"/>
          <p:nvPr>
            <p:ph type="title"/>
          </p:nvPr>
        </p:nvSpPr>
        <p:spPr>
          <a:xfrm>
            <a:off x="1296987" y="187037"/>
            <a:ext cx="9601200" cy="14859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000"/>
              <a:buFont typeface="Calibri"/>
              <a:buNone/>
            </a:pPr>
            <a:r>
              <a:rPr lang="en-US" sz="4000"/>
              <a:t>Nested IF</a:t>
            </a:r>
            <a:endParaRPr/>
          </a:p>
        </p:txBody>
      </p:sp>
      <p:sp>
        <p:nvSpPr>
          <p:cNvPr id="114" name="Google Shape;114;p2"/>
          <p:cNvSpPr txBox="1"/>
          <p:nvPr>
            <p:ph idx="1" type="body"/>
          </p:nvPr>
        </p:nvSpPr>
        <p:spPr>
          <a:xfrm>
            <a:off x="1296986" y="2074174"/>
            <a:ext cx="10371849" cy="3589648"/>
          </a:xfrm>
          <a:prstGeom prst="rect">
            <a:avLst/>
          </a:prstGeom>
          <a:noFill/>
          <a:ln>
            <a:noFill/>
          </a:ln>
        </p:spPr>
        <p:txBody>
          <a:bodyPr anchorCtr="0" anchor="t" bIns="45700" lIns="0" spcFirstLastPara="1" rIns="0" wrap="square" tIns="45700">
            <a:normAutofit/>
          </a:bodyPr>
          <a:lstStyle/>
          <a:p>
            <a:pPr indent="-139700" lvl="0" marL="91440" rtl="0" algn="just">
              <a:lnSpc>
                <a:spcPct val="90000"/>
              </a:lnSpc>
              <a:spcBef>
                <a:spcPts val="0"/>
              </a:spcBef>
              <a:spcAft>
                <a:spcPts val="0"/>
              </a:spcAft>
              <a:buSzPts val="2200"/>
              <a:buFont typeface="Noto Sans Symbols"/>
              <a:buChar char="▪"/>
            </a:pPr>
            <a:r>
              <a:rPr lang="en-US" sz="2200"/>
              <a:t>An IF statement can have two results. The first result is if your comparison is True, the second if your comparison is False.</a:t>
            </a:r>
            <a:endParaRPr/>
          </a:p>
          <a:p>
            <a:pPr indent="-342900" lvl="1" marL="873252" rtl="0" algn="just">
              <a:lnSpc>
                <a:spcPct val="90000"/>
              </a:lnSpc>
              <a:spcBef>
                <a:spcPts val="400"/>
              </a:spcBef>
              <a:spcAft>
                <a:spcPts val="0"/>
              </a:spcAft>
              <a:buSzPts val="2200"/>
              <a:buFont typeface="Courier New"/>
              <a:buChar char="o"/>
            </a:pPr>
            <a:r>
              <a:rPr lang="en-US" sz="2200">
                <a:solidFill>
                  <a:schemeClr val="accent1"/>
                </a:solidFill>
              </a:rPr>
              <a:t>=IF(Something is True, then do something, otherwise do something else)</a:t>
            </a:r>
            <a:endParaRPr/>
          </a:p>
          <a:p>
            <a:pPr indent="-139700" lvl="0" marL="91440" rtl="0" algn="just">
              <a:lnSpc>
                <a:spcPct val="90000"/>
              </a:lnSpc>
              <a:spcBef>
                <a:spcPts val="1600"/>
              </a:spcBef>
              <a:spcAft>
                <a:spcPts val="0"/>
              </a:spcAft>
              <a:buSzPts val="2200"/>
              <a:buFont typeface="Noto Sans Symbols"/>
              <a:buChar char="▪"/>
            </a:pPr>
            <a:r>
              <a:rPr lang="en-US" sz="2200"/>
              <a:t>IF statements are incredibly robust, and form the basis of many spreadsheet models, but they are also the root cause of many spreadsheet issues. </a:t>
            </a:r>
            <a:endParaRPr/>
          </a:p>
          <a:p>
            <a:pPr indent="-139700" lvl="0" marL="91440" rtl="0" algn="just">
              <a:lnSpc>
                <a:spcPct val="90000"/>
              </a:lnSpc>
              <a:spcBef>
                <a:spcPts val="1400"/>
              </a:spcBef>
              <a:spcAft>
                <a:spcPts val="0"/>
              </a:spcAft>
              <a:buSzPts val="2200"/>
              <a:buFont typeface="Noto Sans Symbols"/>
              <a:buChar char="▪"/>
            </a:pPr>
            <a:r>
              <a:rPr lang="en-US" sz="2200"/>
              <a:t>Ideally, an IF statement should apply to minimal conditions, such as Male/Female, Yes/No/Maybe, to name a few, but sometimes you might need to evaluate more complex scenarios that require </a:t>
            </a:r>
            <a:r>
              <a:rPr lang="en-US" sz="2200">
                <a:solidFill>
                  <a:srgbClr val="FF0000"/>
                </a:solidFill>
              </a:rPr>
              <a:t>nesting</a:t>
            </a:r>
            <a:r>
              <a:rPr lang="en-US" sz="2200"/>
              <a:t> more than 3 IF functions together.</a:t>
            </a:r>
            <a:endParaRPr/>
          </a:p>
          <a:p>
            <a:pPr indent="-139700" lvl="0" marL="91440" rtl="0" algn="just">
              <a:lnSpc>
                <a:spcPct val="90000"/>
              </a:lnSpc>
              <a:spcBef>
                <a:spcPts val="1400"/>
              </a:spcBef>
              <a:spcAft>
                <a:spcPts val="0"/>
              </a:spcAft>
              <a:buSzPts val="2200"/>
              <a:buFont typeface="Noto Sans Symbols"/>
              <a:buChar char="▪"/>
            </a:pPr>
            <a:r>
              <a:rPr lang="en-US" sz="2200"/>
              <a:t>“</a:t>
            </a:r>
            <a:r>
              <a:rPr lang="en-US" sz="2200">
                <a:solidFill>
                  <a:srgbClr val="FF0000"/>
                </a:solidFill>
              </a:rPr>
              <a:t>Nesting</a:t>
            </a:r>
            <a:r>
              <a:rPr lang="en-US" sz="2200"/>
              <a:t>” refers to the practice of joining multiple functions together in one formula.</a:t>
            </a:r>
            <a:endParaRPr/>
          </a:p>
        </p:txBody>
      </p:sp>
      <p:sp>
        <p:nvSpPr>
          <p:cNvPr id="115" name="Google Shape;115;p2"/>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3"/>
          <p:cNvSpPr txBox="1"/>
          <p:nvPr>
            <p:ph type="title"/>
          </p:nvPr>
        </p:nvSpPr>
        <p:spPr>
          <a:xfrm>
            <a:off x="1245613" y="380834"/>
            <a:ext cx="9601200" cy="14859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000"/>
              <a:buFont typeface="Calibri"/>
              <a:buNone/>
            </a:pPr>
            <a:r>
              <a:rPr lang="en-US" sz="4000"/>
              <a:t>Example – Nested IF</a:t>
            </a:r>
            <a:endParaRPr/>
          </a:p>
        </p:txBody>
      </p:sp>
      <p:sp>
        <p:nvSpPr>
          <p:cNvPr id="121" name="Google Shape;121;p3"/>
          <p:cNvSpPr txBox="1"/>
          <p:nvPr>
            <p:ph idx="1" type="body"/>
          </p:nvPr>
        </p:nvSpPr>
        <p:spPr>
          <a:xfrm>
            <a:off x="1245613" y="1926550"/>
            <a:ext cx="6520584" cy="4413603"/>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SzPts val="2200"/>
              <a:buNone/>
            </a:pPr>
            <a:r>
              <a:rPr lang="en-US" sz="2200"/>
              <a:t>This complex nested IF statement follows a straightforward logic:</a:t>
            </a:r>
            <a:endParaRPr/>
          </a:p>
          <a:p>
            <a:pPr indent="-139700" lvl="0" marL="91440" rtl="0" algn="l">
              <a:lnSpc>
                <a:spcPct val="90000"/>
              </a:lnSpc>
              <a:spcBef>
                <a:spcPts val="1400"/>
              </a:spcBef>
              <a:spcAft>
                <a:spcPts val="0"/>
              </a:spcAft>
              <a:buSzPts val="2200"/>
              <a:buFont typeface="Noto Sans Symbols"/>
              <a:buChar char="▪"/>
            </a:pPr>
            <a:r>
              <a:rPr lang="en-US" sz="2200"/>
              <a:t>If the Test Score is greater than 89, then the student gets an A</a:t>
            </a:r>
            <a:endParaRPr/>
          </a:p>
          <a:p>
            <a:pPr indent="-139700" lvl="0" marL="91440" rtl="0" algn="l">
              <a:lnSpc>
                <a:spcPct val="90000"/>
              </a:lnSpc>
              <a:spcBef>
                <a:spcPts val="1400"/>
              </a:spcBef>
              <a:spcAft>
                <a:spcPts val="0"/>
              </a:spcAft>
              <a:buSzPts val="2200"/>
              <a:buFont typeface="Noto Sans Symbols"/>
              <a:buChar char="▪"/>
            </a:pPr>
            <a:r>
              <a:rPr lang="en-US" sz="2200"/>
              <a:t>If the Test Score is greater than 79, then the student gets a B</a:t>
            </a:r>
            <a:endParaRPr/>
          </a:p>
          <a:p>
            <a:pPr indent="-139700" lvl="0" marL="91440" rtl="0" algn="l">
              <a:lnSpc>
                <a:spcPct val="90000"/>
              </a:lnSpc>
              <a:spcBef>
                <a:spcPts val="1400"/>
              </a:spcBef>
              <a:spcAft>
                <a:spcPts val="0"/>
              </a:spcAft>
              <a:buSzPts val="2200"/>
              <a:buFont typeface="Noto Sans Symbols"/>
              <a:buChar char="▪"/>
            </a:pPr>
            <a:r>
              <a:rPr lang="en-US" sz="2200"/>
              <a:t>If the Test Score is greater than 69, then the student gets a C</a:t>
            </a:r>
            <a:endParaRPr/>
          </a:p>
          <a:p>
            <a:pPr indent="-139700" lvl="0" marL="91440" rtl="0" algn="l">
              <a:lnSpc>
                <a:spcPct val="90000"/>
              </a:lnSpc>
              <a:spcBef>
                <a:spcPts val="1400"/>
              </a:spcBef>
              <a:spcAft>
                <a:spcPts val="0"/>
              </a:spcAft>
              <a:buSzPts val="2200"/>
              <a:buFont typeface="Noto Sans Symbols"/>
              <a:buChar char="▪"/>
            </a:pPr>
            <a:r>
              <a:rPr lang="en-US" sz="2200"/>
              <a:t>If the Test Score is greater than 59, then the student gets a D</a:t>
            </a:r>
            <a:endParaRPr/>
          </a:p>
          <a:p>
            <a:pPr indent="-139700" lvl="0" marL="91440" rtl="0" algn="l">
              <a:lnSpc>
                <a:spcPct val="90000"/>
              </a:lnSpc>
              <a:spcBef>
                <a:spcPts val="1400"/>
              </a:spcBef>
              <a:spcAft>
                <a:spcPts val="0"/>
              </a:spcAft>
              <a:buSzPts val="2200"/>
              <a:buFont typeface="Noto Sans Symbols"/>
              <a:buChar char="▪"/>
            </a:pPr>
            <a:r>
              <a:rPr lang="en-US" sz="2200"/>
              <a:t>Otherwise the student gets an F</a:t>
            </a:r>
            <a:endParaRPr/>
          </a:p>
        </p:txBody>
      </p:sp>
      <p:sp>
        <p:nvSpPr>
          <p:cNvPr id="122" name="Google Shape;122;p3"/>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23" name="Google Shape;123;p3"/>
          <p:cNvPicPr preferRelativeResize="0"/>
          <p:nvPr/>
        </p:nvPicPr>
        <p:blipFill rotWithShape="1">
          <a:blip r:embed="rId3">
            <a:alphaModFix/>
          </a:blip>
          <a:srcRect b="9930" l="5493" r="0" t="0"/>
          <a:stretch/>
        </p:blipFill>
        <p:spPr>
          <a:xfrm>
            <a:off x="7680754" y="2205561"/>
            <a:ext cx="4430950" cy="291234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4"/>
          <p:cNvSpPr txBox="1"/>
          <p:nvPr>
            <p:ph type="title"/>
          </p:nvPr>
        </p:nvSpPr>
        <p:spPr>
          <a:xfrm>
            <a:off x="1174555" y="750627"/>
            <a:ext cx="10058400" cy="1450757"/>
          </a:xfrm>
          <a:prstGeom prst="rect">
            <a:avLst/>
          </a:prstGeom>
          <a:noFill/>
          <a:ln>
            <a:noFill/>
          </a:ln>
        </p:spPr>
        <p:txBody>
          <a:bodyPr anchorCtr="0" anchor="b" bIns="45700" lIns="91425" spcFirstLastPara="1" rIns="91425" wrap="square" tIns="45700">
            <a:normAutofit fontScale="90000"/>
          </a:bodyPr>
          <a:lstStyle/>
          <a:p>
            <a:pPr indent="0" lvl="0" marL="0" rtl="0" algn="l">
              <a:lnSpc>
                <a:spcPct val="85000"/>
              </a:lnSpc>
              <a:spcBef>
                <a:spcPts val="0"/>
              </a:spcBef>
              <a:spcAft>
                <a:spcPts val="0"/>
              </a:spcAft>
              <a:buClr>
                <a:srgbClr val="3F3F3F"/>
              </a:buClr>
              <a:buSzPct val="100000"/>
              <a:buFont typeface="Calibri"/>
              <a:buNone/>
            </a:pPr>
            <a:r>
              <a:rPr lang="en-US" sz="3100"/>
              <a:t>While Excel will allow you to nest up to 64 different IF functions, it’s not at all advisable to do so. Why?</a:t>
            </a:r>
            <a:br>
              <a:rPr lang="en-US"/>
            </a:br>
            <a:endParaRPr/>
          </a:p>
        </p:txBody>
      </p:sp>
      <p:sp>
        <p:nvSpPr>
          <p:cNvPr id="130" name="Google Shape;130;p4"/>
          <p:cNvSpPr txBox="1"/>
          <p:nvPr>
            <p:ph idx="1" type="body"/>
          </p:nvPr>
        </p:nvSpPr>
        <p:spPr>
          <a:xfrm>
            <a:off x="1174555" y="1894351"/>
            <a:ext cx="10058400" cy="4218709"/>
          </a:xfrm>
          <a:prstGeom prst="rect">
            <a:avLst/>
          </a:prstGeom>
          <a:noFill/>
          <a:ln>
            <a:noFill/>
          </a:ln>
        </p:spPr>
        <p:txBody>
          <a:bodyPr anchorCtr="0" anchor="t" bIns="45700" lIns="0" spcFirstLastPara="1" rIns="0" wrap="square" tIns="45700">
            <a:normAutofit/>
          </a:bodyPr>
          <a:lstStyle/>
          <a:p>
            <a:pPr indent="-127000" lvl="0" marL="91440" rtl="0" algn="l">
              <a:lnSpc>
                <a:spcPct val="90000"/>
              </a:lnSpc>
              <a:spcBef>
                <a:spcPts val="0"/>
              </a:spcBef>
              <a:spcAft>
                <a:spcPts val="0"/>
              </a:spcAft>
              <a:buSzPts val="2000"/>
              <a:buFont typeface="Noto Sans Symbols"/>
              <a:buChar char="▪"/>
            </a:pPr>
            <a:r>
              <a:rPr lang="en-US"/>
              <a:t>Multiple IF statements require a great deal of thought to build correctly.</a:t>
            </a:r>
            <a:endParaRPr/>
          </a:p>
          <a:p>
            <a:pPr indent="-127000" lvl="0" marL="91440" rtl="0" algn="l">
              <a:lnSpc>
                <a:spcPct val="90000"/>
              </a:lnSpc>
              <a:spcBef>
                <a:spcPts val="1400"/>
              </a:spcBef>
              <a:spcAft>
                <a:spcPts val="0"/>
              </a:spcAft>
              <a:buSzPts val="2000"/>
              <a:buFont typeface="Noto Sans Symbols"/>
              <a:buChar char="▪"/>
            </a:pPr>
            <a:r>
              <a:rPr lang="en-US"/>
              <a:t>Incorrect formula will result in wrong answer.</a:t>
            </a:r>
            <a:endParaRPr/>
          </a:p>
          <a:p>
            <a:pPr indent="-127000" lvl="0" marL="91440" rtl="0" algn="l">
              <a:lnSpc>
                <a:spcPct val="90000"/>
              </a:lnSpc>
              <a:spcBef>
                <a:spcPts val="1400"/>
              </a:spcBef>
              <a:spcAft>
                <a:spcPts val="0"/>
              </a:spcAft>
              <a:buSzPts val="2000"/>
              <a:buFont typeface="Noto Sans Symbols"/>
              <a:buChar char="▪"/>
            </a:pPr>
            <a:r>
              <a:rPr lang="en-US"/>
              <a:t>Difficult to update in future.</a:t>
            </a:r>
            <a:endParaRPr/>
          </a:p>
        </p:txBody>
      </p:sp>
      <p:sp>
        <p:nvSpPr>
          <p:cNvPr id="131" name="Google Shape;131;p4"/>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5"/>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COUNTIF function</a:t>
            </a:r>
            <a:endParaRPr/>
          </a:p>
        </p:txBody>
      </p:sp>
      <p:sp>
        <p:nvSpPr>
          <p:cNvPr id="137" name="Google Shape;137;p5"/>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39700" lvl="0" marL="91440" rtl="0" algn="l">
              <a:lnSpc>
                <a:spcPct val="90000"/>
              </a:lnSpc>
              <a:spcBef>
                <a:spcPts val="0"/>
              </a:spcBef>
              <a:spcAft>
                <a:spcPts val="0"/>
              </a:spcAft>
              <a:buSzPts val="2200"/>
              <a:buFont typeface="Noto Sans Symbols"/>
              <a:buChar char="▪"/>
            </a:pPr>
            <a:r>
              <a:rPr lang="en-US" sz="2200"/>
              <a:t>Use COUNTIF, </a:t>
            </a:r>
            <a:endParaRPr/>
          </a:p>
          <a:p>
            <a:pPr indent="-182880" lvl="1" marL="384048" rtl="0" algn="l">
              <a:lnSpc>
                <a:spcPct val="90000"/>
              </a:lnSpc>
              <a:spcBef>
                <a:spcPts val="400"/>
              </a:spcBef>
              <a:spcAft>
                <a:spcPts val="0"/>
              </a:spcAft>
              <a:buSzPts val="1800"/>
              <a:buFont typeface="Courier New"/>
              <a:buChar char="o"/>
            </a:pPr>
            <a:r>
              <a:rPr lang="en-US"/>
              <a:t>one of the statistical functions, </a:t>
            </a:r>
            <a:endParaRPr/>
          </a:p>
          <a:p>
            <a:pPr indent="-182880" lvl="1" marL="384048" rtl="0" algn="l">
              <a:lnSpc>
                <a:spcPct val="90000"/>
              </a:lnSpc>
              <a:spcBef>
                <a:spcPts val="600"/>
              </a:spcBef>
              <a:spcAft>
                <a:spcPts val="0"/>
              </a:spcAft>
              <a:buSzPts val="1800"/>
              <a:buFont typeface="Courier New"/>
              <a:buChar char="o"/>
            </a:pPr>
            <a:r>
              <a:rPr lang="en-US"/>
              <a:t>to count the number of cells that meet a criterion.</a:t>
            </a:r>
            <a:endParaRPr/>
          </a:p>
          <a:p>
            <a:pPr indent="-171449" lvl="1" marL="560070" rtl="0" algn="l">
              <a:lnSpc>
                <a:spcPct val="90000"/>
              </a:lnSpc>
              <a:spcBef>
                <a:spcPts val="600"/>
              </a:spcBef>
              <a:spcAft>
                <a:spcPts val="0"/>
              </a:spcAft>
              <a:buSzPts val="1800"/>
              <a:buFont typeface="Noto Sans Symbols"/>
              <a:buNone/>
            </a:pPr>
            <a:r>
              <a:t/>
            </a:r>
            <a:endParaRPr/>
          </a:p>
          <a:p>
            <a:pPr indent="-139700" lvl="0" marL="91440" rtl="0" algn="l">
              <a:lnSpc>
                <a:spcPct val="90000"/>
              </a:lnSpc>
              <a:spcBef>
                <a:spcPts val="1600"/>
              </a:spcBef>
              <a:spcAft>
                <a:spcPts val="0"/>
              </a:spcAft>
              <a:buSzPts val="2200"/>
              <a:buFont typeface="Noto Sans Symbols"/>
              <a:buChar char="▪"/>
            </a:pPr>
            <a:r>
              <a:rPr lang="en-US" sz="2200"/>
              <a:t>Example: To count the number of times a particular city appears in a customer list.</a:t>
            </a:r>
            <a:endParaRPr/>
          </a:p>
          <a:p>
            <a:pPr indent="-203200" lvl="0" marL="388620" rtl="0" algn="l">
              <a:lnSpc>
                <a:spcPct val="90000"/>
              </a:lnSpc>
              <a:spcBef>
                <a:spcPts val="1400"/>
              </a:spcBef>
              <a:spcAft>
                <a:spcPts val="0"/>
              </a:spcAft>
              <a:buSzPts val="2200"/>
              <a:buFont typeface="Noto Sans Symbols"/>
              <a:buNone/>
            </a:pPr>
            <a:r>
              <a:t/>
            </a:r>
            <a:endParaRPr sz="2200"/>
          </a:p>
          <a:p>
            <a:pPr indent="-139700" lvl="0" marL="91440" rtl="0" algn="l">
              <a:lnSpc>
                <a:spcPct val="90000"/>
              </a:lnSpc>
              <a:spcBef>
                <a:spcPts val="1400"/>
              </a:spcBef>
              <a:spcAft>
                <a:spcPts val="0"/>
              </a:spcAft>
              <a:buSzPts val="2200"/>
              <a:buFont typeface="Noto Sans Symbols"/>
              <a:buChar char="▪"/>
            </a:pPr>
            <a:r>
              <a:rPr lang="en-US" sz="2200"/>
              <a:t>In its simplest form, COUNTIF says:</a:t>
            </a:r>
            <a:endParaRPr/>
          </a:p>
          <a:p>
            <a:pPr indent="0" lvl="1" marL="274320" rtl="0" algn="l">
              <a:lnSpc>
                <a:spcPct val="90000"/>
              </a:lnSpc>
              <a:spcBef>
                <a:spcPts val="400"/>
              </a:spcBef>
              <a:spcAft>
                <a:spcPts val="0"/>
              </a:spcAft>
              <a:buSzPts val="1800"/>
              <a:buNone/>
            </a:pPr>
            <a:r>
              <a:rPr lang="en-US"/>
              <a:t>=COUNTIF(Where do you want to look?, What do you want to look for?)</a:t>
            </a:r>
            <a:endParaRPr/>
          </a:p>
          <a:p>
            <a:pPr indent="0" lvl="0" marL="45720" rtl="0" algn="l">
              <a:lnSpc>
                <a:spcPct val="90000"/>
              </a:lnSpc>
              <a:spcBef>
                <a:spcPts val="1600"/>
              </a:spcBef>
              <a:spcAft>
                <a:spcPts val="0"/>
              </a:spcAft>
              <a:buSzPts val="2000"/>
              <a:buNone/>
            </a:pPr>
            <a:r>
              <a:t/>
            </a:r>
            <a:endParaRPr/>
          </a:p>
        </p:txBody>
      </p:sp>
      <p:sp>
        <p:nvSpPr>
          <p:cNvPr id="138" name="Google Shape;138;p5"/>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6"/>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000"/>
              <a:buFont typeface="Calibri"/>
              <a:buNone/>
            </a:pPr>
            <a:r>
              <a:rPr lang="en-US" sz="4000"/>
              <a:t>Syntax</a:t>
            </a:r>
            <a:br>
              <a:rPr lang="en-US" sz="4000"/>
            </a:br>
            <a:r>
              <a:rPr lang="en-US" sz="4000"/>
              <a:t>COUNTIF(range, criteria)</a:t>
            </a:r>
            <a:endParaRPr/>
          </a:p>
        </p:txBody>
      </p:sp>
      <p:pic>
        <p:nvPicPr>
          <p:cNvPr id="144" name="Google Shape;144;p6"/>
          <p:cNvPicPr preferRelativeResize="0"/>
          <p:nvPr>
            <p:ph idx="1" type="body"/>
          </p:nvPr>
        </p:nvPicPr>
        <p:blipFill rotWithShape="1">
          <a:blip r:embed="rId3">
            <a:alphaModFix/>
          </a:blip>
          <a:srcRect b="0" l="0" r="0" t="0"/>
          <a:stretch/>
        </p:blipFill>
        <p:spPr>
          <a:xfrm>
            <a:off x="1607574" y="1965959"/>
            <a:ext cx="8422489" cy="4283231"/>
          </a:xfrm>
          <a:prstGeom prst="rect">
            <a:avLst/>
          </a:prstGeom>
          <a:noFill/>
          <a:ln>
            <a:noFill/>
          </a:ln>
        </p:spPr>
      </p:pic>
      <p:sp>
        <p:nvSpPr>
          <p:cNvPr id="145" name="Google Shape;145;p6"/>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6" name="Google Shape;146;p6"/>
          <p:cNvSpPr/>
          <p:nvPr/>
        </p:nvSpPr>
        <p:spPr>
          <a:xfrm>
            <a:off x="2230582" y="3754582"/>
            <a:ext cx="7675418" cy="62345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7"/>
          <p:cNvSpPr txBox="1"/>
          <p:nvPr>
            <p:ph type="title"/>
          </p:nvPr>
        </p:nvSpPr>
        <p:spPr>
          <a:xfrm>
            <a:off x="1142996" y="277091"/>
            <a:ext cx="9875520" cy="135636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000"/>
              <a:buFont typeface="Calibri"/>
              <a:buNone/>
            </a:pPr>
            <a:r>
              <a:rPr lang="en-US" sz="4000"/>
              <a:t>Common Problems</a:t>
            </a:r>
            <a:endParaRPr/>
          </a:p>
        </p:txBody>
      </p:sp>
      <p:pic>
        <p:nvPicPr>
          <p:cNvPr id="152" name="Google Shape;152;p7"/>
          <p:cNvPicPr preferRelativeResize="0"/>
          <p:nvPr>
            <p:ph idx="1" type="body"/>
          </p:nvPr>
        </p:nvPicPr>
        <p:blipFill rotWithShape="1">
          <a:blip r:embed="rId3">
            <a:alphaModFix/>
          </a:blip>
          <a:srcRect b="0" l="0" r="0" t="0"/>
          <a:stretch/>
        </p:blipFill>
        <p:spPr>
          <a:xfrm>
            <a:off x="2296866" y="1857709"/>
            <a:ext cx="7567779" cy="4377817"/>
          </a:xfrm>
          <a:prstGeom prst="rect">
            <a:avLst/>
          </a:prstGeom>
          <a:noFill/>
          <a:ln>
            <a:noFill/>
          </a:ln>
        </p:spPr>
      </p:pic>
      <p:sp>
        <p:nvSpPr>
          <p:cNvPr id="153" name="Google Shape;153;p7"/>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000"/>
              <a:buFont typeface="Calibri"/>
              <a:buNone/>
            </a:pPr>
            <a:r>
              <a:rPr lang="en-US" sz="4000"/>
              <a:t>Example – COUNT IF</a:t>
            </a:r>
            <a:endParaRPr/>
          </a:p>
        </p:txBody>
      </p:sp>
      <p:sp>
        <p:nvSpPr>
          <p:cNvPr id="159" name="Google Shape;159;p8"/>
          <p:cNvSpPr txBox="1"/>
          <p:nvPr>
            <p:ph idx="1" type="body"/>
          </p:nvPr>
        </p:nvSpPr>
        <p:spPr>
          <a:xfrm>
            <a:off x="1143000" y="1745673"/>
            <a:ext cx="10532203" cy="4350327"/>
          </a:xfrm>
          <a:prstGeom prst="rect">
            <a:avLst/>
          </a:prstGeom>
          <a:noFill/>
          <a:ln>
            <a:noFill/>
          </a:ln>
        </p:spPr>
        <p:txBody>
          <a:bodyPr anchorCtr="0" anchor="t" bIns="45700" lIns="0" spcFirstLastPara="1" rIns="0" wrap="square" tIns="45700">
            <a:normAutofit/>
          </a:bodyPr>
          <a:lstStyle/>
          <a:p>
            <a:pPr indent="-139700" lvl="0" marL="91440" rtl="0" algn="l">
              <a:lnSpc>
                <a:spcPct val="90000"/>
              </a:lnSpc>
              <a:spcBef>
                <a:spcPts val="0"/>
              </a:spcBef>
              <a:spcAft>
                <a:spcPts val="0"/>
              </a:spcAft>
              <a:buSzPts val="2200"/>
              <a:buChar char=" "/>
            </a:pPr>
            <a:r>
              <a:rPr lang="en-US" sz="2200"/>
              <a:t>Design following table in the Excel worksheet as the given format and find the following:</a:t>
            </a:r>
            <a:endParaRPr/>
          </a:p>
        </p:txBody>
      </p:sp>
      <p:sp>
        <p:nvSpPr>
          <p:cNvPr id="160" name="Google Shape;160;p8"/>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61" name="Google Shape;161;p8"/>
          <p:cNvPicPr preferRelativeResize="0"/>
          <p:nvPr/>
        </p:nvPicPr>
        <p:blipFill rotWithShape="1">
          <a:blip r:embed="rId3">
            <a:alphaModFix/>
          </a:blip>
          <a:srcRect b="0" l="0" r="0" t="0"/>
          <a:stretch/>
        </p:blipFill>
        <p:spPr>
          <a:xfrm>
            <a:off x="3803104" y="2184275"/>
            <a:ext cx="5211994" cy="392003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9"/>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67" name="Google Shape;167;p9"/>
          <p:cNvSpPr txBox="1"/>
          <p:nvPr>
            <p:ph idx="4294967295" type="title"/>
          </p:nvPr>
        </p:nvSpPr>
        <p:spPr>
          <a:xfrm>
            <a:off x="2133600" y="287338"/>
            <a:ext cx="10058400" cy="144938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 </a:t>
            </a:r>
            <a:endParaRPr/>
          </a:p>
        </p:txBody>
      </p:sp>
      <p:sp>
        <p:nvSpPr>
          <p:cNvPr id="168" name="Google Shape;168;p9"/>
          <p:cNvSpPr txBox="1"/>
          <p:nvPr>
            <p:ph idx="4294967295" type="body"/>
          </p:nvPr>
        </p:nvSpPr>
        <p:spPr>
          <a:xfrm>
            <a:off x="2319338" y="1011238"/>
            <a:ext cx="9872662" cy="5264150"/>
          </a:xfrm>
          <a:prstGeom prst="rect">
            <a:avLst/>
          </a:prstGeom>
          <a:noFill/>
          <a:ln>
            <a:noFill/>
          </a:ln>
        </p:spPr>
        <p:txBody>
          <a:bodyPr anchorCtr="0" anchor="t" bIns="45700" lIns="0" spcFirstLastPara="1" rIns="0" wrap="square" tIns="45700">
            <a:noAutofit/>
          </a:bodyPr>
          <a:lstStyle/>
          <a:p>
            <a:pPr indent="-457200" lvl="0" marL="502919" rtl="0" algn="just">
              <a:lnSpc>
                <a:spcPct val="90000"/>
              </a:lnSpc>
              <a:spcBef>
                <a:spcPts val="0"/>
              </a:spcBef>
              <a:spcAft>
                <a:spcPts val="0"/>
              </a:spcAft>
              <a:buSzPts val="2200"/>
              <a:buFont typeface="Calibri"/>
              <a:buAutoNum type="arabicPeriod"/>
            </a:pPr>
            <a:r>
              <a:rPr lang="en-US" sz="2200"/>
              <a:t>Counts the number of cells with apples in cells A2 through A5. </a:t>
            </a:r>
            <a:endParaRPr/>
          </a:p>
          <a:p>
            <a:pPr indent="-457200" lvl="0" marL="502919" rtl="0" algn="just">
              <a:lnSpc>
                <a:spcPct val="90000"/>
              </a:lnSpc>
              <a:spcBef>
                <a:spcPts val="1400"/>
              </a:spcBef>
              <a:spcAft>
                <a:spcPts val="0"/>
              </a:spcAft>
              <a:buSzPts val="2200"/>
              <a:buFont typeface="Calibri"/>
              <a:buAutoNum type="arabicPeriod"/>
            </a:pPr>
            <a:r>
              <a:rPr lang="en-US" sz="2200"/>
              <a:t>Counts the number of cells with peaches (the value in A4) in cells A2 through A5. </a:t>
            </a:r>
            <a:endParaRPr/>
          </a:p>
          <a:p>
            <a:pPr indent="-457200" lvl="0" marL="502919" rtl="0" algn="just">
              <a:lnSpc>
                <a:spcPct val="90000"/>
              </a:lnSpc>
              <a:spcBef>
                <a:spcPts val="1400"/>
              </a:spcBef>
              <a:spcAft>
                <a:spcPts val="0"/>
              </a:spcAft>
              <a:buSzPts val="2200"/>
              <a:buFont typeface="Calibri"/>
              <a:buAutoNum type="arabicPeriod"/>
            </a:pPr>
            <a:r>
              <a:rPr lang="en-US" sz="2200"/>
              <a:t>Counts the number of apples (the value in A2), and oranges (the value in A3) in cells A2 through A5. </a:t>
            </a:r>
            <a:endParaRPr/>
          </a:p>
          <a:p>
            <a:pPr indent="-457200" lvl="0" marL="502919" rtl="0" algn="just">
              <a:lnSpc>
                <a:spcPct val="90000"/>
              </a:lnSpc>
              <a:spcBef>
                <a:spcPts val="1400"/>
              </a:spcBef>
              <a:spcAft>
                <a:spcPts val="0"/>
              </a:spcAft>
              <a:buSzPts val="2200"/>
              <a:buFont typeface="Calibri"/>
              <a:buAutoNum type="arabicPeriod"/>
            </a:pPr>
            <a:r>
              <a:rPr lang="en-US" sz="2200"/>
              <a:t>Counts the number of cells with a value greater than 55 in cells B2 through B5. </a:t>
            </a:r>
            <a:endParaRPr/>
          </a:p>
          <a:p>
            <a:pPr indent="-457200" lvl="0" marL="502919" rtl="0" algn="just">
              <a:lnSpc>
                <a:spcPct val="90000"/>
              </a:lnSpc>
              <a:spcBef>
                <a:spcPts val="1400"/>
              </a:spcBef>
              <a:spcAft>
                <a:spcPts val="0"/>
              </a:spcAft>
              <a:buSzPts val="2200"/>
              <a:buFont typeface="Calibri"/>
              <a:buAutoNum type="arabicPeriod"/>
            </a:pPr>
            <a:r>
              <a:rPr lang="en-US" sz="2200"/>
              <a:t>Counts the number of cells with a value not equal to 75 in cells B2 through B5. </a:t>
            </a:r>
            <a:endParaRPr/>
          </a:p>
          <a:p>
            <a:pPr indent="-457200" lvl="0" marL="502919" rtl="0" algn="just">
              <a:lnSpc>
                <a:spcPct val="90000"/>
              </a:lnSpc>
              <a:spcBef>
                <a:spcPts val="1400"/>
              </a:spcBef>
              <a:spcAft>
                <a:spcPts val="0"/>
              </a:spcAft>
              <a:buSzPts val="2200"/>
              <a:buFont typeface="Calibri"/>
              <a:buAutoNum type="arabicPeriod"/>
            </a:pPr>
            <a:r>
              <a:rPr lang="en-US" sz="2200"/>
              <a:t>Counts the number of cells with a value greater than (&gt;) or equal to (=) 32 and less than (&lt;) or equal to (=) 85 in cells B2 through B5. </a:t>
            </a:r>
            <a:endParaRPr/>
          </a:p>
          <a:p>
            <a:pPr indent="-457200" lvl="0" marL="502919" rtl="0" algn="just">
              <a:lnSpc>
                <a:spcPct val="90000"/>
              </a:lnSpc>
              <a:spcBef>
                <a:spcPts val="1400"/>
              </a:spcBef>
              <a:spcAft>
                <a:spcPts val="0"/>
              </a:spcAft>
              <a:buSzPts val="2200"/>
              <a:buFont typeface="Calibri"/>
              <a:buAutoNum type="arabicPeriod"/>
            </a:pPr>
            <a:r>
              <a:rPr lang="en-US" sz="2200"/>
              <a:t>Counts the number of cells containing any text in cells A2 through A5. The asterisk (*) is used as the wildcard character to match any character.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000"/>
              <a:buFont typeface="Calibri"/>
              <a:buNone/>
            </a:pPr>
            <a:r>
              <a:rPr lang="en-US" sz="4000"/>
              <a:t>SUMIF function</a:t>
            </a:r>
            <a:endParaRPr/>
          </a:p>
        </p:txBody>
      </p:sp>
      <p:sp>
        <p:nvSpPr>
          <p:cNvPr id="174" name="Google Shape;174;p10"/>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139700" lvl="0" marL="91440" rtl="0" algn="l">
              <a:lnSpc>
                <a:spcPct val="90000"/>
              </a:lnSpc>
              <a:spcBef>
                <a:spcPts val="0"/>
              </a:spcBef>
              <a:spcAft>
                <a:spcPts val="0"/>
              </a:spcAft>
              <a:buSzPts val="2200"/>
              <a:buFont typeface="Noto Sans Symbols"/>
              <a:buChar char="▪"/>
            </a:pPr>
            <a:r>
              <a:rPr lang="en-US" sz="2200"/>
              <a:t>You use the SUMIF function to sum the values in a range that meet criteria that you specify. </a:t>
            </a:r>
            <a:endParaRPr/>
          </a:p>
          <a:p>
            <a:pPr indent="0" lvl="0" marL="91440" rtl="0" algn="l">
              <a:lnSpc>
                <a:spcPct val="90000"/>
              </a:lnSpc>
              <a:spcBef>
                <a:spcPts val="1400"/>
              </a:spcBef>
              <a:spcAft>
                <a:spcPts val="0"/>
              </a:spcAft>
              <a:buSzPts val="2200"/>
              <a:buFont typeface="Noto Sans Symbols"/>
              <a:buNone/>
            </a:pPr>
            <a:r>
              <a:t/>
            </a:r>
            <a:endParaRPr sz="2200"/>
          </a:p>
          <a:p>
            <a:pPr indent="-139700" lvl="0" marL="91440" rtl="0" algn="l">
              <a:lnSpc>
                <a:spcPct val="90000"/>
              </a:lnSpc>
              <a:spcBef>
                <a:spcPts val="1400"/>
              </a:spcBef>
              <a:spcAft>
                <a:spcPts val="0"/>
              </a:spcAft>
              <a:buSzPts val="2200"/>
              <a:buFont typeface="Noto Sans Symbols"/>
              <a:buChar char="▪"/>
            </a:pPr>
            <a:r>
              <a:rPr lang="en-US" sz="2200"/>
              <a:t>For example, suppose that in a column that contains numbers, you want to sum only the values that are larger than 5. You can use the following formula: =SUMIF(B2:B25,"&gt;5")</a:t>
            </a:r>
            <a:endParaRPr/>
          </a:p>
        </p:txBody>
      </p:sp>
      <p:sp>
        <p:nvSpPr>
          <p:cNvPr id="175" name="Google Shape;175;p10"/>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1"/>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000"/>
              <a:buFont typeface="Calibri"/>
              <a:buNone/>
            </a:pPr>
            <a:r>
              <a:rPr lang="en-US" sz="4000"/>
              <a:t>Syntax</a:t>
            </a:r>
            <a:br>
              <a:rPr lang="en-US" sz="4000"/>
            </a:br>
            <a:r>
              <a:rPr lang="en-US" sz="4000"/>
              <a:t>SUMIF(range, criteria, [sum_range])</a:t>
            </a:r>
            <a:endParaRPr/>
          </a:p>
        </p:txBody>
      </p:sp>
      <p:sp>
        <p:nvSpPr>
          <p:cNvPr id="181" name="Google Shape;181;p11"/>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p>
            <a:pPr indent="0" lvl="0" marL="91440" rtl="0" algn="l">
              <a:lnSpc>
                <a:spcPct val="90000"/>
              </a:lnSpc>
              <a:spcBef>
                <a:spcPts val="0"/>
              </a:spcBef>
              <a:spcAft>
                <a:spcPts val="0"/>
              </a:spcAft>
              <a:buSzPts val="2200"/>
              <a:buNone/>
            </a:pPr>
            <a:r>
              <a:t/>
            </a:r>
            <a:endParaRPr b="1" sz="2200">
              <a:solidFill>
                <a:srgbClr val="0070C0"/>
              </a:solidFill>
            </a:endParaRPr>
          </a:p>
          <a:p>
            <a:pPr indent="-152400" lvl="0" marL="91440" rtl="0" algn="l">
              <a:lnSpc>
                <a:spcPct val="90000"/>
              </a:lnSpc>
              <a:spcBef>
                <a:spcPts val="1400"/>
              </a:spcBef>
              <a:spcAft>
                <a:spcPts val="0"/>
              </a:spcAft>
              <a:buSzPts val="2400"/>
              <a:buChar char=" "/>
            </a:pPr>
            <a:r>
              <a:rPr b="1" lang="en-US" sz="2400">
                <a:solidFill>
                  <a:srgbClr val="0070C0"/>
                </a:solidFill>
              </a:rPr>
              <a:t>range </a:t>
            </a:r>
            <a:r>
              <a:rPr lang="en-US" sz="2400"/>
              <a:t>  Required. </a:t>
            </a:r>
            <a:endParaRPr/>
          </a:p>
          <a:p>
            <a:pPr indent="-182880" lvl="1" marL="384048" rtl="0" algn="l">
              <a:lnSpc>
                <a:spcPct val="90000"/>
              </a:lnSpc>
              <a:spcBef>
                <a:spcPts val="400"/>
              </a:spcBef>
              <a:spcAft>
                <a:spcPts val="0"/>
              </a:spcAft>
              <a:buSzPts val="2000"/>
              <a:buChar char="◦"/>
            </a:pPr>
            <a:r>
              <a:rPr lang="en-US" sz="2000"/>
              <a:t>The range of cells that you want evaluated by criteria. </a:t>
            </a:r>
            <a:endParaRPr/>
          </a:p>
          <a:p>
            <a:pPr indent="-182880" lvl="1" marL="384048" rtl="0" algn="l">
              <a:lnSpc>
                <a:spcPct val="90000"/>
              </a:lnSpc>
              <a:spcBef>
                <a:spcPts val="600"/>
              </a:spcBef>
              <a:spcAft>
                <a:spcPts val="0"/>
              </a:spcAft>
              <a:buSzPts val="2000"/>
              <a:buChar char="◦"/>
            </a:pPr>
            <a:r>
              <a:rPr lang="en-US" sz="2000"/>
              <a:t>Cells in each range must be numbers or names, arrays, or references that contain numbers. </a:t>
            </a:r>
            <a:endParaRPr/>
          </a:p>
          <a:p>
            <a:pPr indent="-182880" lvl="1" marL="384048" rtl="0" algn="l">
              <a:lnSpc>
                <a:spcPct val="90000"/>
              </a:lnSpc>
              <a:spcBef>
                <a:spcPts val="600"/>
              </a:spcBef>
              <a:spcAft>
                <a:spcPts val="0"/>
              </a:spcAft>
              <a:buSzPts val="2000"/>
              <a:buChar char="◦"/>
            </a:pPr>
            <a:r>
              <a:rPr lang="en-US" sz="2000"/>
              <a:t>Blank and text values are ignored. </a:t>
            </a:r>
            <a:endParaRPr/>
          </a:p>
          <a:p>
            <a:pPr indent="-182880" lvl="1" marL="384048" rtl="0" algn="l">
              <a:lnSpc>
                <a:spcPct val="90000"/>
              </a:lnSpc>
              <a:spcBef>
                <a:spcPts val="600"/>
              </a:spcBef>
              <a:spcAft>
                <a:spcPts val="0"/>
              </a:spcAft>
              <a:buSzPts val="2000"/>
              <a:buChar char="◦"/>
            </a:pPr>
            <a:r>
              <a:rPr lang="en-US" sz="2000"/>
              <a:t>The selected range may contain dates in standard Excel format.</a:t>
            </a:r>
            <a:endParaRPr/>
          </a:p>
          <a:p>
            <a:pPr indent="0" lvl="0" marL="91440" rtl="0" algn="l">
              <a:lnSpc>
                <a:spcPct val="90000"/>
              </a:lnSpc>
              <a:spcBef>
                <a:spcPts val="1600"/>
              </a:spcBef>
              <a:spcAft>
                <a:spcPts val="0"/>
              </a:spcAft>
              <a:buSzPts val="2200"/>
              <a:buNone/>
            </a:pPr>
            <a:r>
              <a:t/>
            </a:r>
            <a:endParaRPr sz="2200"/>
          </a:p>
        </p:txBody>
      </p:sp>
      <p:sp>
        <p:nvSpPr>
          <p:cNvPr id="182" name="Google Shape;182;p11"/>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2"/>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88" name="Google Shape;188;p12"/>
          <p:cNvSpPr txBox="1"/>
          <p:nvPr>
            <p:ph idx="4294967295" type="title"/>
          </p:nvPr>
        </p:nvSpPr>
        <p:spPr>
          <a:xfrm>
            <a:off x="2133600" y="287338"/>
            <a:ext cx="10058400" cy="144938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 </a:t>
            </a:r>
            <a:endParaRPr/>
          </a:p>
        </p:txBody>
      </p:sp>
      <p:sp>
        <p:nvSpPr>
          <p:cNvPr id="189" name="Google Shape;189;p12"/>
          <p:cNvSpPr txBox="1"/>
          <p:nvPr>
            <p:ph idx="4294967295" type="body"/>
          </p:nvPr>
        </p:nvSpPr>
        <p:spPr>
          <a:xfrm>
            <a:off x="2590800" y="819150"/>
            <a:ext cx="9601200" cy="5181600"/>
          </a:xfrm>
          <a:prstGeom prst="rect">
            <a:avLst/>
          </a:prstGeom>
          <a:noFill/>
          <a:ln>
            <a:noFill/>
          </a:ln>
        </p:spPr>
        <p:txBody>
          <a:bodyPr anchorCtr="0" anchor="t" bIns="45700" lIns="0" spcFirstLastPara="1" rIns="0" wrap="square" tIns="45700">
            <a:normAutofit/>
          </a:bodyPr>
          <a:lstStyle/>
          <a:p>
            <a:pPr indent="-152400" lvl="0" marL="91440" rtl="0" algn="just">
              <a:lnSpc>
                <a:spcPct val="90000"/>
              </a:lnSpc>
              <a:spcBef>
                <a:spcPts val="0"/>
              </a:spcBef>
              <a:spcAft>
                <a:spcPts val="0"/>
              </a:spcAft>
              <a:buSzPts val="2400"/>
              <a:buChar char=" "/>
            </a:pPr>
            <a:r>
              <a:rPr b="1" lang="en-US" sz="2400">
                <a:solidFill>
                  <a:srgbClr val="0070C0"/>
                </a:solidFill>
              </a:rPr>
              <a:t>criteria</a:t>
            </a:r>
            <a:r>
              <a:rPr lang="en-US" sz="2400">
                <a:solidFill>
                  <a:srgbClr val="0070C0"/>
                </a:solidFill>
              </a:rPr>
              <a:t> </a:t>
            </a:r>
            <a:r>
              <a:rPr lang="en-US" sz="2400"/>
              <a:t>  Required.</a:t>
            </a:r>
            <a:endParaRPr/>
          </a:p>
          <a:p>
            <a:pPr indent="-182880" lvl="1" marL="384048" rtl="0" algn="just">
              <a:lnSpc>
                <a:spcPct val="90000"/>
              </a:lnSpc>
              <a:spcBef>
                <a:spcPts val="400"/>
              </a:spcBef>
              <a:spcAft>
                <a:spcPts val="0"/>
              </a:spcAft>
              <a:buSzPts val="2000"/>
              <a:buChar char="◦"/>
            </a:pPr>
            <a:r>
              <a:rPr lang="en-US" sz="2000"/>
              <a:t>The criteria in the form of a number, expression, a cell reference, text, or a function that defines which cells will be added. </a:t>
            </a:r>
            <a:endParaRPr/>
          </a:p>
          <a:p>
            <a:pPr indent="-182880" lvl="1" marL="384048" rtl="0" algn="just">
              <a:lnSpc>
                <a:spcPct val="90000"/>
              </a:lnSpc>
              <a:spcBef>
                <a:spcPts val="600"/>
              </a:spcBef>
              <a:spcAft>
                <a:spcPts val="0"/>
              </a:spcAft>
              <a:buSzPts val="2000"/>
              <a:buChar char="◦"/>
            </a:pPr>
            <a:r>
              <a:rPr lang="en-US" sz="2000"/>
              <a:t>For example, criteria can be expressed as 32, "&gt;32", B5, "32", "apples", or TODAY().</a:t>
            </a:r>
            <a:endParaRPr/>
          </a:p>
          <a:p>
            <a:pPr indent="-182880" lvl="1" marL="384048" rtl="0" algn="just">
              <a:lnSpc>
                <a:spcPct val="90000"/>
              </a:lnSpc>
              <a:spcBef>
                <a:spcPts val="600"/>
              </a:spcBef>
              <a:spcAft>
                <a:spcPts val="0"/>
              </a:spcAft>
              <a:buSzPts val="2000"/>
              <a:buChar char="◦"/>
            </a:pPr>
            <a:r>
              <a:rPr lang="en-US" sz="2000"/>
              <a:t>IMPORTANT: Any text criteria or any criteria that includes logical or mathematical symbols must be enclosed in double quotation marks ("). If the criteria is numeric, double quotation marks are not required.</a:t>
            </a:r>
            <a:endParaRPr/>
          </a:p>
          <a:p>
            <a:pPr indent="-68579" lvl="1" marL="384048" rtl="0" algn="just">
              <a:lnSpc>
                <a:spcPct val="90000"/>
              </a:lnSpc>
              <a:spcBef>
                <a:spcPts val="600"/>
              </a:spcBef>
              <a:spcAft>
                <a:spcPts val="0"/>
              </a:spcAft>
              <a:buSzPts val="1800"/>
              <a:buNone/>
            </a:pPr>
            <a:r>
              <a:t/>
            </a:r>
            <a:endParaRPr/>
          </a:p>
          <a:p>
            <a:pPr indent="-152400" lvl="0" marL="91440" rtl="0" algn="just">
              <a:lnSpc>
                <a:spcPct val="90000"/>
              </a:lnSpc>
              <a:spcBef>
                <a:spcPts val="1600"/>
              </a:spcBef>
              <a:spcAft>
                <a:spcPts val="0"/>
              </a:spcAft>
              <a:buSzPts val="2400"/>
              <a:buChar char=" "/>
            </a:pPr>
            <a:r>
              <a:rPr b="1" lang="en-US" sz="2400">
                <a:solidFill>
                  <a:srgbClr val="0070C0"/>
                </a:solidFill>
              </a:rPr>
              <a:t>sum_range</a:t>
            </a:r>
            <a:r>
              <a:rPr lang="en-US" sz="2400"/>
              <a:t>   Optional. </a:t>
            </a:r>
            <a:endParaRPr/>
          </a:p>
          <a:p>
            <a:pPr indent="-182880" lvl="1" marL="384048" rtl="0" algn="just">
              <a:lnSpc>
                <a:spcPct val="90000"/>
              </a:lnSpc>
              <a:spcBef>
                <a:spcPts val="400"/>
              </a:spcBef>
              <a:spcAft>
                <a:spcPts val="0"/>
              </a:spcAft>
              <a:buSzPts val="2000"/>
              <a:buChar char="◦"/>
            </a:pPr>
            <a:r>
              <a:rPr lang="en-US" sz="2000"/>
              <a:t>The actual cells to add, if you want to add cells other than those specified in the range argument. </a:t>
            </a:r>
            <a:endParaRPr/>
          </a:p>
          <a:p>
            <a:pPr indent="-182880" lvl="1" marL="384048" rtl="0" algn="just">
              <a:lnSpc>
                <a:spcPct val="90000"/>
              </a:lnSpc>
              <a:spcBef>
                <a:spcPts val="600"/>
              </a:spcBef>
              <a:spcAft>
                <a:spcPts val="0"/>
              </a:spcAft>
              <a:buSzPts val="2000"/>
              <a:buChar char="◦"/>
            </a:pPr>
            <a:r>
              <a:rPr lang="en-US" sz="2000"/>
              <a:t>If the sum_range argument is omitted, Excel adds the cells that are specified in the range argument (the same cells to which the criteria is applied).</a:t>
            </a:r>
            <a:endParaRPr/>
          </a:p>
          <a:p>
            <a:pPr indent="-68579" lvl="1" marL="384048" rtl="0" algn="l">
              <a:lnSpc>
                <a:spcPct val="90000"/>
              </a:lnSpc>
              <a:spcBef>
                <a:spcPts val="600"/>
              </a:spcBef>
              <a:spcAft>
                <a:spcPts val="0"/>
              </a:spcAft>
              <a:buSzPts val="1800"/>
              <a:buNone/>
            </a:pPr>
            <a:r>
              <a:t/>
            </a:r>
            <a:endParaRPr/>
          </a:p>
          <a:p>
            <a:pPr indent="-68579" lvl="1" marL="384048" rtl="0" algn="l">
              <a:lnSpc>
                <a:spcPct val="90000"/>
              </a:lnSpc>
              <a:spcBef>
                <a:spcPts val="600"/>
              </a:spcBef>
              <a:spcAft>
                <a:spcPts val="0"/>
              </a:spcAft>
              <a:buSzPts val="1800"/>
              <a:buNone/>
            </a:pPr>
            <a:r>
              <a:t/>
            </a:r>
            <a:endParaRPr/>
          </a:p>
          <a:p>
            <a:pPr indent="0" lvl="0" marL="91440" rtl="0" algn="l">
              <a:lnSpc>
                <a:spcPct val="90000"/>
              </a:lnSpc>
              <a:spcBef>
                <a:spcPts val="1600"/>
              </a:spcBef>
              <a:spcAft>
                <a:spcPts val="0"/>
              </a:spcAft>
              <a:buSzPts val="20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3"/>
          <p:cNvSpPr txBox="1"/>
          <p:nvPr>
            <p:ph type="title"/>
          </p:nvPr>
        </p:nvSpPr>
        <p:spPr>
          <a:xfrm>
            <a:off x="1336963" y="376805"/>
            <a:ext cx="9875520" cy="135636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000"/>
              <a:buFont typeface="Calibri"/>
              <a:buNone/>
            </a:pPr>
            <a:r>
              <a:rPr lang="en-US" sz="4000"/>
              <a:t>Example 1 – SUM IF</a:t>
            </a:r>
            <a:endParaRPr/>
          </a:p>
        </p:txBody>
      </p:sp>
      <p:sp>
        <p:nvSpPr>
          <p:cNvPr id="195" name="Google Shape;195;p13"/>
          <p:cNvSpPr txBox="1"/>
          <p:nvPr>
            <p:ph idx="1" type="body"/>
          </p:nvPr>
        </p:nvSpPr>
        <p:spPr>
          <a:xfrm>
            <a:off x="1097543" y="2244437"/>
            <a:ext cx="9872871" cy="3935137"/>
          </a:xfrm>
          <a:prstGeom prst="rect">
            <a:avLst/>
          </a:prstGeom>
          <a:noFill/>
          <a:ln>
            <a:noFill/>
          </a:ln>
        </p:spPr>
        <p:txBody>
          <a:bodyPr anchorCtr="0" anchor="t" bIns="45700" lIns="0" spcFirstLastPara="1" rIns="0" wrap="square" tIns="45700">
            <a:normAutofit/>
          </a:bodyPr>
          <a:lstStyle/>
          <a:p>
            <a:pPr indent="-152400" lvl="0" marL="91440" rtl="0" algn="l">
              <a:lnSpc>
                <a:spcPct val="150000"/>
              </a:lnSpc>
              <a:spcBef>
                <a:spcPts val="0"/>
              </a:spcBef>
              <a:spcAft>
                <a:spcPts val="0"/>
              </a:spcAft>
              <a:buSzPts val="2400"/>
              <a:buChar char=" "/>
            </a:pPr>
            <a:r>
              <a:rPr lang="en-US" sz="2400"/>
              <a:t>Design following table in the Excel worksheet as the given format and find the following:</a:t>
            </a:r>
            <a:endParaRPr/>
          </a:p>
          <a:p>
            <a:pPr indent="-457200" lvl="1" marL="987552" rtl="0" algn="l">
              <a:lnSpc>
                <a:spcPct val="150000"/>
              </a:lnSpc>
              <a:spcBef>
                <a:spcPts val="400"/>
              </a:spcBef>
              <a:spcAft>
                <a:spcPts val="0"/>
              </a:spcAft>
              <a:buSzPts val="2000"/>
              <a:buFont typeface="Calibri"/>
              <a:buAutoNum type="arabicPeriod"/>
            </a:pPr>
            <a:r>
              <a:rPr lang="en-US" sz="2000"/>
              <a:t>Sum of the commissions for property values over 160,000.</a:t>
            </a:r>
            <a:endParaRPr/>
          </a:p>
          <a:p>
            <a:pPr indent="-457200" lvl="1" marL="987552" rtl="0" algn="l">
              <a:lnSpc>
                <a:spcPct val="150000"/>
              </a:lnSpc>
              <a:spcBef>
                <a:spcPts val="600"/>
              </a:spcBef>
              <a:spcAft>
                <a:spcPts val="0"/>
              </a:spcAft>
              <a:buSzPts val="2000"/>
              <a:buFont typeface="Calibri"/>
              <a:buAutoNum type="arabicPeriod"/>
            </a:pPr>
            <a:r>
              <a:rPr lang="en-US" sz="2000"/>
              <a:t>Sum of the property values over 160,000.</a:t>
            </a:r>
            <a:endParaRPr/>
          </a:p>
          <a:p>
            <a:pPr indent="-457200" lvl="1" marL="987552" rtl="0" algn="l">
              <a:lnSpc>
                <a:spcPct val="150000"/>
              </a:lnSpc>
              <a:spcBef>
                <a:spcPts val="600"/>
              </a:spcBef>
              <a:spcAft>
                <a:spcPts val="0"/>
              </a:spcAft>
              <a:buSzPts val="2000"/>
              <a:buFont typeface="Calibri"/>
              <a:buAutoNum type="arabicPeriod"/>
            </a:pPr>
            <a:r>
              <a:rPr lang="en-US" sz="2000"/>
              <a:t>Sum of the commissions for property values equal to 300,000.</a:t>
            </a:r>
            <a:endParaRPr/>
          </a:p>
          <a:p>
            <a:pPr indent="-457200" lvl="1" marL="987552" rtl="0" algn="l">
              <a:lnSpc>
                <a:spcPct val="150000"/>
              </a:lnSpc>
              <a:spcBef>
                <a:spcPts val="600"/>
              </a:spcBef>
              <a:spcAft>
                <a:spcPts val="0"/>
              </a:spcAft>
              <a:buSzPts val="2000"/>
              <a:buFont typeface="Calibri"/>
              <a:buAutoNum type="arabicPeriod"/>
            </a:pPr>
            <a:r>
              <a:rPr lang="en-US" sz="2000"/>
              <a:t>Sum of the commissions for property values greater than the value in C2 ($250,000.00).</a:t>
            </a:r>
            <a:endParaRPr/>
          </a:p>
          <a:p>
            <a:pPr indent="-342900" lvl="1" marL="987552" rtl="0" algn="l">
              <a:lnSpc>
                <a:spcPct val="90000"/>
              </a:lnSpc>
              <a:spcBef>
                <a:spcPts val="600"/>
              </a:spcBef>
              <a:spcAft>
                <a:spcPts val="0"/>
              </a:spcAft>
              <a:buSzPts val="1800"/>
              <a:buFont typeface="Calibri"/>
              <a:buNone/>
            </a:pPr>
            <a:r>
              <a:t/>
            </a:r>
            <a:endParaRPr/>
          </a:p>
          <a:p>
            <a:pPr indent="0" lvl="0" marL="91440" rtl="0" algn="l">
              <a:lnSpc>
                <a:spcPct val="90000"/>
              </a:lnSpc>
              <a:spcBef>
                <a:spcPts val="1600"/>
              </a:spcBef>
              <a:spcAft>
                <a:spcPts val="0"/>
              </a:spcAft>
              <a:buSzPts val="2000"/>
              <a:buNone/>
            </a:pPr>
            <a:r>
              <a:t/>
            </a:r>
            <a:endParaRPr/>
          </a:p>
        </p:txBody>
      </p:sp>
      <p:sp>
        <p:nvSpPr>
          <p:cNvPr id="196" name="Google Shape;196;p13"/>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4"/>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F497D"/>
              </a:buClr>
              <a:buSzPts val="1200"/>
              <a:buFont typeface="Libre Franklin"/>
              <a:buNone/>
            </a:pPr>
            <a:fld id="{00000000-1234-1234-1234-123412341234}" type="slidenum">
              <a:rPr b="0" i="0" lang="en-US" sz="1200" u="none" cap="none" strike="noStrike">
                <a:solidFill>
                  <a:srgbClr val="1F497D"/>
                </a:solidFill>
                <a:latin typeface="Libre Franklin"/>
                <a:ea typeface="Libre Franklin"/>
                <a:cs typeface="Libre Franklin"/>
                <a:sym typeface="Libre Franklin"/>
              </a:rPr>
              <a:t>‹#›</a:t>
            </a:fld>
            <a:endParaRPr b="0" i="0" sz="1200" u="none" cap="none" strike="noStrike">
              <a:solidFill>
                <a:srgbClr val="1F497D"/>
              </a:solidFill>
              <a:latin typeface="Libre Franklin"/>
              <a:ea typeface="Libre Franklin"/>
              <a:cs typeface="Libre Franklin"/>
              <a:sym typeface="Libre Franklin"/>
            </a:endParaRPr>
          </a:p>
        </p:txBody>
      </p:sp>
      <p:sp>
        <p:nvSpPr>
          <p:cNvPr id="202" name="Google Shape;202;p14"/>
          <p:cNvSpPr txBox="1"/>
          <p:nvPr>
            <p:ph idx="4294967295" type="title"/>
          </p:nvPr>
        </p:nvSpPr>
        <p:spPr>
          <a:xfrm>
            <a:off x="0" y="193675"/>
            <a:ext cx="9875838" cy="1357313"/>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 </a:t>
            </a:r>
            <a:endParaRPr/>
          </a:p>
        </p:txBody>
      </p:sp>
      <p:sp>
        <p:nvSpPr>
          <p:cNvPr id="203" name="Google Shape;203;p14"/>
          <p:cNvSpPr txBox="1"/>
          <p:nvPr>
            <p:ph idx="4294967295" type="body"/>
          </p:nvPr>
        </p:nvSpPr>
        <p:spPr>
          <a:xfrm>
            <a:off x="0" y="1316038"/>
            <a:ext cx="9872663" cy="4779962"/>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SzPts val="2000"/>
              <a:buNone/>
            </a:pPr>
            <a:r>
              <a:rPr lang="en-US"/>
              <a:t> </a:t>
            </a:r>
            <a:endParaRPr/>
          </a:p>
        </p:txBody>
      </p:sp>
      <p:pic>
        <p:nvPicPr>
          <p:cNvPr id="204" name="Google Shape;204;p14"/>
          <p:cNvPicPr preferRelativeResize="0"/>
          <p:nvPr/>
        </p:nvPicPr>
        <p:blipFill rotWithShape="1">
          <a:blip r:embed="rId3">
            <a:alphaModFix/>
          </a:blip>
          <a:srcRect b="0" l="0" r="0" t="0"/>
          <a:stretch/>
        </p:blipFill>
        <p:spPr>
          <a:xfrm>
            <a:off x="1679801" y="872143"/>
            <a:ext cx="8796620" cy="4062519"/>
          </a:xfrm>
          <a:prstGeom prst="rect">
            <a:avLst/>
          </a:prstGeom>
          <a:noFill/>
          <a:ln>
            <a:noFill/>
          </a:ln>
        </p:spPr>
      </p:pic>
      <p:sp>
        <p:nvSpPr>
          <p:cNvPr id="205" name="Google Shape;205;p14"/>
          <p:cNvSpPr txBox="1"/>
          <p:nvPr/>
        </p:nvSpPr>
        <p:spPr>
          <a:xfrm>
            <a:off x="4779817" y="581890"/>
            <a:ext cx="581891"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Libre Franklin"/>
              <a:buNone/>
            </a:pPr>
            <a:r>
              <a:rPr b="1" i="0" lang="en-US" sz="2400" u="none" cap="none" strike="noStrike">
                <a:solidFill>
                  <a:srgbClr val="000000"/>
                </a:solidFill>
                <a:latin typeface="Libre Franklin"/>
                <a:ea typeface="Libre Franklin"/>
                <a:cs typeface="Libre Franklin"/>
                <a:sym typeface="Libre Franklin"/>
              </a:rPr>
              <a:t>B</a:t>
            </a:r>
            <a:endParaRPr/>
          </a:p>
        </p:txBody>
      </p:sp>
      <p:sp>
        <p:nvSpPr>
          <p:cNvPr id="206" name="Google Shape;206;p14"/>
          <p:cNvSpPr txBox="1"/>
          <p:nvPr/>
        </p:nvSpPr>
        <p:spPr>
          <a:xfrm>
            <a:off x="2244436" y="581891"/>
            <a:ext cx="581891"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Libre Franklin"/>
              <a:buNone/>
            </a:pPr>
            <a:r>
              <a:rPr b="1" i="0" lang="en-US" sz="2400" u="none" cap="none" strike="noStrike">
                <a:solidFill>
                  <a:srgbClr val="000000"/>
                </a:solidFill>
                <a:latin typeface="Libre Franklin"/>
                <a:ea typeface="Libre Franklin"/>
                <a:cs typeface="Libre Franklin"/>
                <a:sym typeface="Libre Franklin"/>
              </a:rPr>
              <a:t>A</a:t>
            </a:r>
            <a:endParaRPr/>
          </a:p>
        </p:txBody>
      </p:sp>
      <p:sp>
        <p:nvSpPr>
          <p:cNvPr id="207" name="Google Shape;207;p14"/>
          <p:cNvSpPr txBox="1"/>
          <p:nvPr/>
        </p:nvSpPr>
        <p:spPr>
          <a:xfrm>
            <a:off x="9181790" y="581890"/>
            <a:ext cx="581891"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Libre Franklin"/>
              <a:buNone/>
            </a:pPr>
            <a:r>
              <a:rPr b="1" i="0" lang="en-US" sz="2400" u="none" cap="none" strike="noStrike">
                <a:solidFill>
                  <a:srgbClr val="000000"/>
                </a:solidFill>
                <a:latin typeface="Libre Franklin"/>
                <a:ea typeface="Libre Franklin"/>
                <a:cs typeface="Libre Franklin"/>
                <a:sym typeface="Libre Franklin"/>
              </a:rPr>
              <a:t>C</a:t>
            </a:r>
            <a:endParaRPr/>
          </a:p>
        </p:txBody>
      </p:sp>
      <p:sp>
        <p:nvSpPr>
          <p:cNvPr id="208" name="Google Shape;208;p14"/>
          <p:cNvSpPr txBox="1"/>
          <p:nvPr/>
        </p:nvSpPr>
        <p:spPr>
          <a:xfrm>
            <a:off x="1070201" y="1237520"/>
            <a:ext cx="581891"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Libre Franklin"/>
              <a:buNone/>
            </a:pPr>
            <a:r>
              <a:rPr b="1" i="0" lang="en-US" sz="2400" u="none" cap="none" strike="noStrike">
                <a:solidFill>
                  <a:srgbClr val="000000"/>
                </a:solidFill>
                <a:latin typeface="Libre Franklin"/>
                <a:ea typeface="Libre Franklin"/>
                <a:cs typeface="Libre Franklin"/>
                <a:sym typeface="Libre Franklin"/>
              </a:rPr>
              <a:t>1</a:t>
            </a:r>
            <a:endParaRPr/>
          </a:p>
        </p:txBody>
      </p:sp>
      <p:sp>
        <p:nvSpPr>
          <p:cNvPr id="209" name="Google Shape;209;p14"/>
          <p:cNvSpPr txBox="1"/>
          <p:nvPr/>
        </p:nvSpPr>
        <p:spPr>
          <a:xfrm>
            <a:off x="1140351" y="1889843"/>
            <a:ext cx="581891"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Libre Franklin"/>
              <a:buNone/>
            </a:pPr>
            <a:r>
              <a:rPr b="1" i="0" lang="en-US" sz="2400" u="none" cap="none" strike="noStrike">
                <a:solidFill>
                  <a:srgbClr val="000000"/>
                </a:solidFill>
                <a:latin typeface="Libre Franklin"/>
                <a:ea typeface="Libre Franklin"/>
                <a:cs typeface="Libre Franklin"/>
                <a:sym typeface="Libre Franklin"/>
              </a:rPr>
              <a:t>2</a:t>
            </a:r>
            <a:endParaRPr/>
          </a:p>
        </p:txBody>
      </p:sp>
      <p:sp>
        <p:nvSpPr>
          <p:cNvPr id="210" name="Google Shape;210;p14"/>
          <p:cNvSpPr txBox="1"/>
          <p:nvPr/>
        </p:nvSpPr>
        <p:spPr>
          <a:xfrm>
            <a:off x="1140351" y="2866506"/>
            <a:ext cx="581891"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Libre Franklin"/>
              <a:buNone/>
            </a:pPr>
            <a:r>
              <a:rPr b="1" i="0" lang="en-US" sz="2400" u="none" cap="none" strike="noStrike">
                <a:solidFill>
                  <a:srgbClr val="000000"/>
                </a:solidFill>
                <a:latin typeface="Libre Franklin"/>
                <a:ea typeface="Libre Franklin"/>
                <a:cs typeface="Libre Franklin"/>
                <a:sym typeface="Libre Franklin"/>
              </a:rPr>
              <a:t>3</a:t>
            </a:r>
            <a:endParaRPr/>
          </a:p>
        </p:txBody>
      </p:sp>
      <p:sp>
        <p:nvSpPr>
          <p:cNvPr id="211" name="Google Shape;211;p14"/>
          <p:cNvSpPr txBox="1"/>
          <p:nvPr/>
        </p:nvSpPr>
        <p:spPr>
          <a:xfrm>
            <a:off x="1154205" y="3600797"/>
            <a:ext cx="581891"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Libre Franklin"/>
              <a:buNone/>
            </a:pPr>
            <a:r>
              <a:rPr b="1" i="0" lang="en-US" sz="2400" u="none" cap="none" strike="noStrike">
                <a:solidFill>
                  <a:srgbClr val="000000"/>
                </a:solidFill>
                <a:latin typeface="Libre Franklin"/>
                <a:ea typeface="Libre Franklin"/>
                <a:cs typeface="Libre Franklin"/>
                <a:sym typeface="Libre Franklin"/>
              </a:rPr>
              <a:t>4</a:t>
            </a:r>
            <a:endParaRPr/>
          </a:p>
        </p:txBody>
      </p:sp>
      <p:sp>
        <p:nvSpPr>
          <p:cNvPr id="212" name="Google Shape;212;p14"/>
          <p:cNvSpPr txBox="1"/>
          <p:nvPr/>
        </p:nvSpPr>
        <p:spPr>
          <a:xfrm>
            <a:off x="1160694" y="4250420"/>
            <a:ext cx="581891"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Libre Franklin"/>
              <a:buNone/>
            </a:pPr>
            <a:r>
              <a:rPr b="1" i="0" lang="en-US" sz="2400" u="none" cap="none" strike="noStrike">
                <a:solidFill>
                  <a:srgbClr val="000000"/>
                </a:solidFill>
                <a:latin typeface="Libre Franklin"/>
                <a:ea typeface="Libre Franklin"/>
                <a:cs typeface="Libre Franklin"/>
                <a:sym typeface="Libre Franklin"/>
              </a:rPr>
              <a:t>5</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5"/>
          <p:cNvSpPr txBox="1"/>
          <p:nvPr>
            <p:ph type="title"/>
          </p:nvPr>
        </p:nvSpPr>
        <p:spPr>
          <a:xfrm>
            <a:off x="1140351" y="235528"/>
            <a:ext cx="9875520" cy="135636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000"/>
              <a:buFont typeface="Calibri"/>
              <a:buNone/>
            </a:pPr>
            <a:r>
              <a:rPr lang="en-US" sz="4000"/>
              <a:t>Example 2 – SUM IF</a:t>
            </a:r>
            <a:endParaRPr/>
          </a:p>
        </p:txBody>
      </p:sp>
      <p:sp>
        <p:nvSpPr>
          <p:cNvPr id="218" name="Google Shape;218;p15"/>
          <p:cNvSpPr txBox="1"/>
          <p:nvPr>
            <p:ph idx="1" type="body"/>
          </p:nvPr>
        </p:nvSpPr>
        <p:spPr>
          <a:xfrm>
            <a:off x="1171585" y="2114365"/>
            <a:ext cx="9872871" cy="3991467"/>
          </a:xfrm>
          <a:prstGeom prst="rect">
            <a:avLst/>
          </a:prstGeom>
          <a:noFill/>
          <a:ln>
            <a:noFill/>
          </a:ln>
        </p:spPr>
        <p:txBody>
          <a:bodyPr anchorCtr="0" anchor="t" bIns="45700" lIns="0" spcFirstLastPara="1" rIns="0" wrap="square" tIns="45700">
            <a:normAutofit/>
          </a:bodyPr>
          <a:lstStyle/>
          <a:p>
            <a:pPr indent="-152400" lvl="0" marL="91440" rtl="0" algn="l">
              <a:lnSpc>
                <a:spcPct val="150000"/>
              </a:lnSpc>
              <a:spcBef>
                <a:spcPts val="0"/>
              </a:spcBef>
              <a:spcAft>
                <a:spcPts val="0"/>
              </a:spcAft>
              <a:buSzPts val="2400"/>
              <a:buChar char=" "/>
            </a:pPr>
            <a:r>
              <a:rPr lang="en-US" sz="2400"/>
              <a:t>Design following table in the Excel worksheet as the given format and find the following:</a:t>
            </a:r>
            <a:endParaRPr/>
          </a:p>
          <a:p>
            <a:pPr indent="-457200" lvl="1" marL="987552" rtl="0" algn="l">
              <a:lnSpc>
                <a:spcPct val="150000"/>
              </a:lnSpc>
              <a:spcBef>
                <a:spcPts val="400"/>
              </a:spcBef>
              <a:spcAft>
                <a:spcPts val="0"/>
              </a:spcAft>
              <a:buSzPts val="2000"/>
              <a:buFont typeface="Calibri"/>
              <a:buAutoNum type="arabicPeriod"/>
            </a:pPr>
            <a:r>
              <a:rPr lang="en-US" sz="2000"/>
              <a:t>Sum of the sales of all foods in the "Fruits" category.</a:t>
            </a:r>
            <a:endParaRPr/>
          </a:p>
          <a:p>
            <a:pPr indent="-457200" lvl="1" marL="987552" rtl="0" algn="l">
              <a:lnSpc>
                <a:spcPct val="150000"/>
              </a:lnSpc>
              <a:spcBef>
                <a:spcPts val="600"/>
              </a:spcBef>
              <a:spcAft>
                <a:spcPts val="0"/>
              </a:spcAft>
              <a:buSzPts val="2000"/>
              <a:buFont typeface="Calibri"/>
              <a:buAutoNum type="arabicPeriod"/>
            </a:pPr>
            <a:r>
              <a:rPr lang="en-US" sz="2000"/>
              <a:t>Sum of the sales of all foods in the "Vegetables" category.</a:t>
            </a:r>
            <a:endParaRPr/>
          </a:p>
          <a:p>
            <a:pPr indent="-457200" lvl="1" marL="987552" rtl="0" algn="l">
              <a:lnSpc>
                <a:spcPct val="150000"/>
              </a:lnSpc>
              <a:spcBef>
                <a:spcPts val="600"/>
              </a:spcBef>
              <a:spcAft>
                <a:spcPts val="0"/>
              </a:spcAft>
              <a:buSzPts val="2000"/>
              <a:buFont typeface="Calibri"/>
              <a:buAutoNum type="arabicPeriod"/>
            </a:pPr>
            <a:r>
              <a:rPr lang="en-US" sz="2000"/>
              <a:t>Sum of the sales of all foods that end in "es" (Tomatoes, Oranges, and Apples).</a:t>
            </a:r>
            <a:endParaRPr/>
          </a:p>
          <a:p>
            <a:pPr indent="-457200" lvl="1" marL="987552" rtl="0" algn="l">
              <a:lnSpc>
                <a:spcPct val="150000"/>
              </a:lnSpc>
              <a:spcBef>
                <a:spcPts val="600"/>
              </a:spcBef>
              <a:spcAft>
                <a:spcPts val="0"/>
              </a:spcAft>
              <a:buSzPts val="2000"/>
              <a:buFont typeface="Calibri"/>
              <a:buAutoNum type="arabicPeriod"/>
            </a:pPr>
            <a:r>
              <a:rPr lang="en-US" sz="2000"/>
              <a:t>Sum of the sales of all foods that do not have a category specified.</a:t>
            </a:r>
            <a:endParaRPr/>
          </a:p>
          <a:p>
            <a:pPr indent="-342900" lvl="1" marL="987552" rtl="0" algn="l">
              <a:lnSpc>
                <a:spcPct val="90000"/>
              </a:lnSpc>
              <a:spcBef>
                <a:spcPts val="600"/>
              </a:spcBef>
              <a:spcAft>
                <a:spcPts val="0"/>
              </a:spcAft>
              <a:buSzPts val="1800"/>
              <a:buFont typeface="Calibri"/>
              <a:buNone/>
            </a:pPr>
            <a:r>
              <a:t/>
            </a:r>
            <a:endParaRPr/>
          </a:p>
          <a:p>
            <a:pPr indent="0" lvl="0" marL="91440" rtl="0" algn="l">
              <a:lnSpc>
                <a:spcPct val="90000"/>
              </a:lnSpc>
              <a:spcBef>
                <a:spcPts val="1600"/>
              </a:spcBef>
              <a:spcAft>
                <a:spcPts val="0"/>
              </a:spcAft>
              <a:buSzPts val="2000"/>
              <a:buNone/>
            </a:pPr>
            <a:r>
              <a:t/>
            </a:r>
            <a:endParaRPr/>
          </a:p>
        </p:txBody>
      </p:sp>
      <p:sp>
        <p:nvSpPr>
          <p:cNvPr id="219" name="Google Shape;219;p15"/>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6"/>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1F497D"/>
              </a:buClr>
              <a:buSzPts val="1200"/>
              <a:buFont typeface="Libre Franklin"/>
              <a:buNone/>
            </a:pPr>
            <a:fld id="{00000000-1234-1234-1234-123412341234}" type="slidenum">
              <a:rPr b="0" i="0" lang="en-US" sz="1200" u="none" cap="none" strike="noStrike">
                <a:solidFill>
                  <a:srgbClr val="1F497D"/>
                </a:solidFill>
                <a:latin typeface="Libre Franklin"/>
                <a:ea typeface="Libre Franklin"/>
                <a:cs typeface="Libre Franklin"/>
                <a:sym typeface="Libre Franklin"/>
              </a:rPr>
              <a:t>‹#›</a:t>
            </a:fld>
            <a:endParaRPr b="0" i="0" sz="1200" u="none" cap="none" strike="noStrike">
              <a:solidFill>
                <a:srgbClr val="1F497D"/>
              </a:solidFill>
              <a:latin typeface="Libre Franklin"/>
              <a:ea typeface="Libre Franklin"/>
              <a:cs typeface="Libre Franklin"/>
              <a:sym typeface="Libre Franklin"/>
            </a:endParaRPr>
          </a:p>
        </p:txBody>
      </p:sp>
      <p:sp>
        <p:nvSpPr>
          <p:cNvPr id="225" name="Google Shape;225;p16"/>
          <p:cNvSpPr txBox="1"/>
          <p:nvPr>
            <p:ph idx="4294967295" type="title"/>
          </p:nvPr>
        </p:nvSpPr>
        <p:spPr>
          <a:xfrm>
            <a:off x="0" y="234950"/>
            <a:ext cx="9875838" cy="1357313"/>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rgbClr val="3F3F3F"/>
              </a:buClr>
              <a:buSzPts val="4800"/>
              <a:buFont typeface="Calibri"/>
              <a:buNone/>
            </a:pPr>
            <a:r>
              <a:rPr lang="en-US"/>
              <a:t> </a:t>
            </a:r>
            <a:endParaRPr/>
          </a:p>
        </p:txBody>
      </p:sp>
      <p:sp>
        <p:nvSpPr>
          <p:cNvPr id="226" name="Google Shape;226;p16"/>
          <p:cNvSpPr txBox="1"/>
          <p:nvPr>
            <p:ph idx="4294967295" type="body"/>
          </p:nvPr>
        </p:nvSpPr>
        <p:spPr>
          <a:xfrm>
            <a:off x="0" y="1412875"/>
            <a:ext cx="9872663" cy="4710113"/>
          </a:xfrm>
          <a:prstGeom prst="rect">
            <a:avLst/>
          </a:prstGeom>
          <a:noFill/>
          <a:ln>
            <a:noFill/>
          </a:ln>
        </p:spPr>
        <p:txBody>
          <a:bodyPr anchorCtr="0" anchor="t" bIns="45700" lIns="0" spcFirstLastPara="1" rIns="0" wrap="square" tIns="45700">
            <a:normAutofit/>
          </a:bodyPr>
          <a:lstStyle/>
          <a:p>
            <a:pPr indent="0" lvl="0" marL="0" rtl="0" algn="l">
              <a:lnSpc>
                <a:spcPct val="90000"/>
              </a:lnSpc>
              <a:spcBef>
                <a:spcPts val="0"/>
              </a:spcBef>
              <a:spcAft>
                <a:spcPts val="0"/>
              </a:spcAft>
              <a:buSzPts val="2000"/>
              <a:buNone/>
            </a:pPr>
            <a:r>
              <a:rPr lang="en-US"/>
              <a:t> </a:t>
            </a:r>
            <a:endParaRPr/>
          </a:p>
        </p:txBody>
      </p:sp>
      <p:pic>
        <p:nvPicPr>
          <p:cNvPr id="227" name="Google Shape;227;p16"/>
          <p:cNvPicPr preferRelativeResize="0"/>
          <p:nvPr/>
        </p:nvPicPr>
        <p:blipFill rotWithShape="1">
          <a:blip r:embed="rId3">
            <a:alphaModFix/>
          </a:blip>
          <a:srcRect b="0" l="0" r="0" t="0"/>
          <a:stretch/>
        </p:blipFill>
        <p:spPr>
          <a:xfrm>
            <a:off x="1707001" y="307082"/>
            <a:ext cx="8742219" cy="5967611"/>
          </a:xfrm>
          <a:prstGeom prst="rect">
            <a:avLst/>
          </a:prstGeom>
          <a:noFill/>
          <a:ln>
            <a:noFill/>
          </a:ln>
        </p:spPr>
      </p:pic>
      <p:sp>
        <p:nvSpPr>
          <p:cNvPr id="228" name="Google Shape;228;p16"/>
          <p:cNvSpPr txBox="1"/>
          <p:nvPr/>
        </p:nvSpPr>
        <p:spPr>
          <a:xfrm>
            <a:off x="2008909" y="-31081"/>
            <a:ext cx="443346"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Libre Franklin"/>
              <a:buNone/>
            </a:pPr>
            <a:r>
              <a:rPr b="1" i="0" lang="en-US" sz="2000" u="none" cap="none" strike="noStrike">
                <a:solidFill>
                  <a:srgbClr val="000000"/>
                </a:solidFill>
                <a:latin typeface="Libre Franklin"/>
                <a:ea typeface="Libre Franklin"/>
                <a:cs typeface="Libre Franklin"/>
                <a:sym typeface="Libre Franklin"/>
              </a:rPr>
              <a:t>A</a:t>
            </a:r>
            <a:endParaRPr/>
          </a:p>
        </p:txBody>
      </p:sp>
      <p:sp>
        <p:nvSpPr>
          <p:cNvPr id="229" name="Google Shape;229;p16"/>
          <p:cNvSpPr txBox="1"/>
          <p:nvPr/>
        </p:nvSpPr>
        <p:spPr>
          <a:xfrm>
            <a:off x="4752109" y="-31081"/>
            <a:ext cx="443346"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Libre Franklin"/>
              <a:buNone/>
            </a:pPr>
            <a:r>
              <a:rPr b="1" i="0" lang="en-US" sz="2000" u="none" cap="none" strike="noStrike">
                <a:solidFill>
                  <a:srgbClr val="000000"/>
                </a:solidFill>
                <a:latin typeface="Libre Franklin"/>
                <a:ea typeface="Libre Franklin"/>
                <a:cs typeface="Libre Franklin"/>
                <a:sym typeface="Libre Franklin"/>
              </a:rPr>
              <a:t>B</a:t>
            </a:r>
            <a:endParaRPr/>
          </a:p>
        </p:txBody>
      </p:sp>
      <p:sp>
        <p:nvSpPr>
          <p:cNvPr id="230" name="Google Shape;230;p16"/>
          <p:cNvSpPr txBox="1"/>
          <p:nvPr/>
        </p:nvSpPr>
        <p:spPr>
          <a:xfrm>
            <a:off x="9431173" y="-27383"/>
            <a:ext cx="443346"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Libre Franklin"/>
              <a:buNone/>
            </a:pPr>
            <a:r>
              <a:rPr b="1" i="0" lang="en-US" sz="2000" u="none" cap="none" strike="noStrike">
                <a:solidFill>
                  <a:srgbClr val="000000"/>
                </a:solidFill>
                <a:latin typeface="Libre Franklin"/>
                <a:ea typeface="Libre Franklin"/>
                <a:cs typeface="Libre Franklin"/>
                <a:sym typeface="Libre Franklin"/>
              </a:rPr>
              <a:t>C</a:t>
            </a:r>
            <a:endParaRPr/>
          </a:p>
        </p:txBody>
      </p:sp>
      <p:sp>
        <p:nvSpPr>
          <p:cNvPr id="231" name="Google Shape;231;p16"/>
          <p:cNvSpPr txBox="1"/>
          <p:nvPr/>
        </p:nvSpPr>
        <p:spPr>
          <a:xfrm>
            <a:off x="1263655" y="477132"/>
            <a:ext cx="443346"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Libre Franklin"/>
              <a:buNone/>
            </a:pPr>
            <a:r>
              <a:rPr b="1" i="0" lang="en-US" sz="2000" u="none" cap="none" strike="noStrike">
                <a:solidFill>
                  <a:srgbClr val="000000"/>
                </a:solidFill>
                <a:latin typeface="Libre Franklin"/>
                <a:ea typeface="Libre Franklin"/>
                <a:cs typeface="Libre Franklin"/>
                <a:sym typeface="Libre Franklin"/>
              </a:rPr>
              <a:t>1</a:t>
            </a:r>
            <a:endParaRPr/>
          </a:p>
        </p:txBody>
      </p:sp>
      <p:sp>
        <p:nvSpPr>
          <p:cNvPr id="232" name="Google Shape;232;p16"/>
          <p:cNvSpPr txBox="1"/>
          <p:nvPr/>
        </p:nvSpPr>
        <p:spPr>
          <a:xfrm>
            <a:off x="1263655" y="1238169"/>
            <a:ext cx="443346"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Libre Franklin"/>
              <a:buNone/>
            </a:pPr>
            <a:r>
              <a:rPr b="1" i="0" lang="en-US" sz="2000" u="none" cap="none" strike="noStrike">
                <a:solidFill>
                  <a:srgbClr val="000000"/>
                </a:solidFill>
                <a:latin typeface="Libre Franklin"/>
                <a:ea typeface="Libre Franklin"/>
                <a:cs typeface="Libre Franklin"/>
                <a:sym typeface="Libre Franklin"/>
              </a:rPr>
              <a:t>2</a:t>
            </a:r>
            <a:endParaRPr/>
          </a:p>
        </p:txBody>
      </p:sp>
      <p:sp>
        <p:nvSpPr>
          <p:cNvPr id="233" name="Google Shape;233;p16"/>
          <p:cNvSpPr txBox="1"/>
          <p:nvPr/>
        </p:nvSpPr>
        <p:spPr>
          <a:xfrm>
            <a:off x="1263655" y="2197083"/>
            <a:ext cx="443346"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Libre Franklin"/>
              <a:buNone/>
            </a:pPr>
            <a:r>
              <a:rPr b="1" i="0" lang="en-US" sz="2000" u="none" cap="none" strike="noStrike">
                <a:solidFill>
                  <a:srgbClr val="000000"/>
                </a:solidFill>
                <a:latin typeface="Libre Franklin"/>
                <a:ea typeface="Libre Franklin"/>
                <a:cs typeface="Libre Franklin"/>
                <a:sym typeface="Libre Franklin"/>
              </a:rPr>
              <a:t>3</a:t>
            </a:r>
            <a:endParaRPr/>
          </a:p>
        </p:txBody>
      </p:sp>
      <p:sp>
        <p:nvSpPr>
          <p:cNvPr id="234" name="Google Shape;234;p16"/>
          <p:cNvSpPr txBox="1"/>
          <p:nvPr/>
        </p:nvSpPr>
        <p:spPr>
          <a:xfrm>
            <a:off x="1263655" y="3201482"/>
            <a:ext cx="443346"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Libre Franklin"/>
              <a:buNone/>
            </a:pPr>
            <a:r>
              <a:rPr b="1" i="0" lang="en-US" sz="2000" u="none" cap="none" strike="noStrike">
                <a:solidFill>
                  <a:srgbClr val="000000"/>
                </a:solidFill>
                <a:latin typeface="Libre Franklin"/>
                <a:ea typeface="Libre Franklin"/>
                <a:cs typeface="Libre Franklin"/>
                <a:sym typeface="Libre Franklin"/>
              </a:rPr>
              <a:t>4</a:t>
            </a:r>
            <a:endParaRPr/>
          </a:p>
        </p:txBody>
      </p:sp>
      <p:sp>
        <p:nvSpPr>
          <p:cNvPr id="235" name="Google Shape;235;p16"/>
          <p:cNvSpPr txBox="1"/>
          <p:nvPr/>
        </p:nvSpPr>
        <p:spPr>
          <a:xfrm>
            <a:off x="1224983" y="3834236"/>
            <a:ext cx="443346"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Libre Franklin"/>
              <a:buNone/>
            </a:pPr>
            <a:r>
              <a:rPr b="1" i="0" lang="en-US" sz="2000" u="none" cap="none" strike="noStrike">
                <a:solidFill>
                  <a:srgbClr val="000000"/>
                </a:solidFill>
                <a:latin typeface="Libre Franklin"/>
                <a:ea typeface="Libre Franklin"/>
                <a:cs typeface="Libre Franklin"/>
                <a:sym typeface="Libre Franklin"/>
              </a:rPr>
              <a:t>5</a:t>
            </a:r>
            <a:endParaRPr/>
          </a:p>
        </p:txBody>
      </p:sp>
      <p:sp>
        <p:nvSpPr>
          <p:cNvPr id="236" name="Google Shape;236;p16"/>
          <p:cNvSpPr txBox="1"/>
          <p:nvPr/>
        </p:nvSpPr>
        <p:spPr>
          <a:xfrm>
            <a:off x="1263655" y="4593095"/>
            <a:ext cx="443346"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Libre Franklin"/>
              <a:buNone/>
            </a:pPr>
            <a:r>
              <a:rPr b="1" i="0" lang="en-US" sz="2000" u="none" cap="none" strike="noStrike">
                <a:solidFill>
                  <a:srgbClr val="000000"/>
                </a:solidFill>
                <a:latin typeface="Libre Franklin"/>
                <a:ea typeface="Libre Franklin"/>
                <a:cs typeface="Libre Franklin"/>
                <a:sym typeface="Libre Franklin"/>
              </a:rPr>
              <a:t>6</a:t>
            </a:r>
            <a:endParaRPr/>
          </a:p>
        </p:txBody>
      </p:sp>
      <p:sp>
        <p:nvSpPr>
          <p:cNvPr id="237" name="Google Shape;237;p16"/>
          <p:cNvSpPr txBox="1"/>
          <p:nvPr/>
        </p:nvSpPr>
        <p:spPr>
          <a:xfrm>
            <a:off x="1263655" y="5529127"/>
            <a:ext cx="443346"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Libre Franklin"/>
              <a:buNone/>
            </a:pPr>
            <a:r>
              <a:rPr b="1" i="0" lang="en-US" sz="2000" u="none" cap="none" strike="noStrike">
                <a:solidFill>
                  <a:srgbClr val="000000"/>
                </a:solidFill>
                <a:latin typeface="Libre Franklin"/>
                <a:ea typeface="Libre Franklin"/>
                <a:cs typeface="Libre Franklin"/>
                <a:sym typeface="Libre Franklin"/>
              </a:rPr>
              <a:t>7</a:t>
            </a:r>
            <a:endParaRPr/>
          </a:p>
        </p:txBody>
      </p:sp>
    </p:spTree>
  </p:cSld>
  <p:clrMapOvr>
    <a:masterClrMapping/>
  </p:clrMapOvr>
</p:sld>
</file>

<file path=ppt/theme/theme1.xml><?xml version="1.0" encoding="utf-8"?>
<a:theme xmlns:a="http://schemas.openxmlformats.org/drawingml/2006/main" xmlns:r="http://schemas.openxmlformats.org/officeDocument/2006/relationships" name="Retrospect">
  <a:themeElements>
    <a:clrScheme name="Retrospect">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2017-09-23T07:03:40Z</dcterms:created>
  <dc:creator>Windows User</dc:creator>
</cp:coreProperties>
</file>