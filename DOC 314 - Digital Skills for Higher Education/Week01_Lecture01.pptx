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h1DCfW/jA65FQP4OJmPAPHw/bmv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 name="Google Shape;10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1" name="Google Shape;14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 name="Google Shape;15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5" name="Google Shape;16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Clr>
                <a:schemeClr val="dk1"/>
              </a:buClr>
              <a:buSzPts val="1200"/>
              <a:buFont typeface="Calibri"/>
              <a:buAutoNum type="arabicPeriod"/>
            </a:pPr>
            <a:r>
              <a:rPr lang="en-US"/>
              <a:t>Components</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Role</a:t>
            </a:r>
            <a:endParaRPr/>
          </a:p>
        </p:txBody>
      </p:sp>
      <p:sp>
        <p:nvSpPr>
          <p:cNvPr id="172" name="Google Shape;172;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 name="Google Shape;19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3" name="Google Shape;20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9" name="Google Shape;20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0" name="Google Shape;220;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5" name="Google Shape;22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7" name="Google Shape;237;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25"/>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25"/>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25"/>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5"/>
          <p:cNvSpPr txBox="1">
            <a:spLocks noGrp="1"/>
          </p:cNvSpPr>
          <p:nvPr>
            <p:ph type="subTitle" idx="1"/>
          </p:nvPr>
        </p:nvSpPr>
        <p:spPr>
          <a:xfrm>
            <a:off x="1100051" y="4455621"/>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23" name="Google Shape;23;p2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26" name="Google Shape;26;p25"/>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2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6"/>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0" name="Google Shape;30;p2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3"/>
        <p:cNvGrpSpPr/>
        <p:nvPr/>
      </p:nvGrpSpPr>
      <p:grpSpPr>
        <a:xfrm>
          <a:off x="0" y="0"/>
          <a:ext cx="0" cy="0"/>
          <a:chOff x="0" y="0"/>
          <a:chExt cx="0" cy="0"/>
        </a:xfrm>
      </p:grpSpPr>
      <p:sp>
        <p:nvSpPr>
          <p:cNvPr id="34" name="Google Shape;34;p27"/>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27"/>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2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39"/>
        <p:cNvGrpSpPr/>
        <p:nvPr/>
      </p:nvGrpSpPr>
      <p:grpSpPr>
        <a:xfrm>
          <a:off x="0" y="0"/>
          <a:ext cx="0" cy="0"/>
          <a:chOff x="0" y="0"/>
          <a:chExt cx="0" cy="0"/>
        </a:xfrm>
      </p:grpSpPr>
      <p:sp>
        <p:nvSpPr>
          <p:cNvPr id="40" name="Google Shape;40;p28"/>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28"/>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28"/>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8"/>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44" name="Google Shape;44;p2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47" name="Google Shape;47;p28"/>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1097278" y="1845734"/>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1" name="Google Shape;51;p29"/>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2" name="Google Shape;52;p29"/>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8" name="Google Shape;58;p30"/>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9" name="Google Shape;59;p30"/>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60" name="Google Shape;60;p30"/>
          <p:cNvSpPr txBox="1">
            <a:spLocks noGrp="1"/>
          </p:cNvSpPr>
          <p:nvPr>
            <p:ph type="body" idx="4"/>
          </p:nvPr>
        </p:nvSpPr>
        <p:spPr>
          <a:xfrm>
            <a:off x="621792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1" name="Google Shape;61;p3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3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4"/>
        <p:cNvGrpSpPr/>
        <p:nvPr/>
      </p:nvGrpSpPr>
      <p:grpSpPr>
        <a:xfrm>
          <a:off x="0" y="0"/>
          <a:ext cx="0" cy="0"/>
          <a:chOff x="0" y="0"/>
          <a:chExt cx="0" cy="0"/>
        </a:xfrm>
      </p:grpSpPr>
      <p:sp>
        <p:nvSpPr>
          <p:cNvPr id="65" name="Google Shape;65;p3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3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9"/>
        <p:cNvGrpSpPr/>
        <p:nvPr/>
      </p:nvGrpSpPr>
      <p:grpSpPr>
        <a:xfrm>
          <a:off x="0" y="0"/>
          <a:ext cx="0" cy="0"/>
          <a:chOff x="0" y="0"/>
          <a:chExt cx="0" cy="0"/>
        </a:xfrm>
      </p:grpSpPr>
      <p:sp>
        <p:nvSpPr>
          <p:cNvPr id="70" name="Google Shape;70;p32"/>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32"/>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2"/>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4" name="Google Shape;74;p32"/>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75" name="Google Shape;75;p32"/>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32"/>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8"/>
        <p:cNvGrpSpPr/>
        <p:nvPr/>
      </p:nvGrpSpPr>
      <p:grpSpPr>
        <a:xfrm>
          <a:off x="0" y="0"/>
          <a:ext cx="0" cy="0"/>
          <a:chOff x="0" y="0"/>
          <a:chExt cx="0" cy="0"/>
        </a:xfrm>
      </p:grpSpPr>
      <p:sp>
        <p:nvSpPr>
          <p:cNvPr id="79" name="Google Shape;79;p33"/>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33"/>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33"/>
          <p:cNvSpPr txBox="1">
            <a:spLocks noGrp="1"/>
          </p:cNvSpPr>
          <p:nvPr>
            <p:ph type="title"/>
          </p:nvPr>
        </p:nvSpPr>
        <p:spPr>
          <a:xfrm>
            <a:off x="1097280" y="5074920"/>
            <a:ext cx="10113645"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33"/>
          <p:cNvSpPr>
            <a:spLocks noGrp="1"/>
          </p:cNvSpPr>
          <p:nvPr>
            <p:ph type="pic" idx="2"/>
          </p:nvPr>
        </p:nvSpPr>
        <p:spPr>
          <a:xfrm>
            <a:off x="15" y="0"/>
            <a:ext cx="12191985" cy="4915076"/>
          </a:xfrm>
          <a:prstGeom prst="rect">
            <a:avLst/>
          </a:prstGeom>
          <a:solidFill>
            <a:srgbClr val="D7D0C0"/>
          </a:solidFill>
          <a:ln>
            <a:noFill/>
          </a:ln>
        </p:spPr>
      </p:sp>
      <p:sp>
        <p:nvSpPr>
          <p:cNvPr id="83" name="Google Shape;83;p33"/>
          <p:cNvSpPr txBox="1">
            <a:spLocks noGrp="1"/>
          </p:cNvSpPr>
          <p:nvPr>
            <p:ph type="body" idx="1"/>
          </p:nvPr>
        </p:nvSpPr>
        <p:spPr>
          <a:xfrm>
            <a:off x="1097280" y="5907024"/>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4" name="Google Shape;84;p3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3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7"/>
        <p:cNvGrpSpPr/>
        <p:nvPr/>
      </p:nvGrpSpPr>
      <p:grpSpPr>
        <a:xfrm>
          <a:off x="0" y="0"/>
          <a:ext cx="0" cy="0"/>
          <a:chOff x="0" y="0"/>
          <a:chExt cx="0" cy="0"/>
        </a:xfrm>
      </p:grpSpPr>
      <p:sp>
        <p:nvSpPr>
          <p:cNvPr id="88" name="Google Shape;88;p3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34"/>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0" name="Google Shape;90;p3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3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3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3"/>
        <p:cNvGrpSpPr/>
        <p:nvPr/>
      </p:nvGrpSpPr>
      <p:grpSpPr>
        <a:xfrm>
          <a:off x="0" y="0"/>
          <a:ext cx="0" cy="0"/>
          <a:chOff x="0" y="0"/>
          <a:chExt cx="0" cy="0"/>
        </a:xfrm>
      </p:grpSpPr>
      <p:sp>
        <p:nvSpPr>
          <p:cNvPr id="94" name="Google Shape;94;p35"/>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35"/>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35"/>
          <p:cNvSpPr txBox="1">
            <a:spLocks noGrp="1"/>
          </p:cNvSpPr>
          <p:nvPr>
            <p:ph type="title"/>
          </p:nvPr>
        </p:nvSpPr>
        <p:spPr>
          <a:xfrm rot="5400000">
            <a:off x="7159401" y="1977801"/>
            <a:ext cx="5759898"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35"/>
          <p:cNvSpPr txBox="1">
            <a:spLocks noGrp="1"/>
          </p:cNvSpPr>
          <p:nvPr>
            <p:ph type="body" idx="1"/>
          </p:nvPr>
        </p:nvSpPr>
        <p:spPr>
          <a:xfrm rot="5400000">
            <a:off x="1825401" y="-574899"/>
            <a:ext cx="5759898"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8" name="Google Shape;98;p3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3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3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4"/>
          <p:cNvSpPr/>
          <p:nvPr/>
        </p:nvSpPr>
        <p:spPr>
          <a:xfrm>
            <a:off x="15" y="6334316"/>
            <a:ext cx="12191985" cy="66484"/>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 name="Google Shape;13;p24"/>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4" name="Google Shape;14;p2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FFFF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2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FFFFF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2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7" name="Google Shape;17;p24"/>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jananie.m@iit.ac.lk"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mailto:chathuri.u@iit.ac.lk" TargetMode="External"/><Relationship Id="rId4" Type="http://schemas.openxmlformats.org/officeDocument/2006/relationships/hyperlink" Target="mailto:Dilki.w@iit.ac.lk"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www.informationisbeautiful.net/visualizations/worlds-biggest-data-breaches-hacks/"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262626"/>
              </a:buClr>
              <a:buSzPts val="4800"/>
              <a:buFont typeface="Calibri"/>
              <a:buNone/>
            </a:pPr>
            <a:r>
              <a:rPr lang="en-US" sz="4800" b="1"/>
              <a:t>DOC 314 </a:t>
            </a:r>
            <a:br>
              <a:rPr lang="en-US" sz="4800"/>
            </a:br>
            <a:r>
              <a:rPr lang="en-US" sz="4700" b="1"/>
              <a:t>Digital Skills for Higher Education</a:t>
            </a:r>
            <a:endParaRPr sz="7900"/>
          </a:p>
        </p:txBody>
      </p:sp>
      <p:sp>
        <p:nvSpPr>
          <p:cNvPr id="106" name="Google Shape;106;p1"/>
          <p:cNvSpPr txBox="1">
            <a:spLocks noGrp="1"/>
          </p:cNvSpPr>
          <p:nvPr>
            <p:ph type="subTitle" idx="1"/>
          </p:nvPr>
        </p:nvSpPr>
        <p:spPr>
          <a:xfrm>
            <a:off x="1100051" y="4455621"/>
            <a:ext cx="10058400" cy="1143000"/>
          </a:xfrm>
          <a:prstGeom prst="rect">
            <a:avLst/>
          </a:prstGeom>
          <a:noFill/>
          <a:ln>
            <a:noFill/>
          </a:ln>
        </p:spPr>
        <p:txBody>
          <a:bodyPr spcFirstLastPara="1" wrap="square" lIns="91425" tIns="45700" rIns="91425" bIns="45700" anchor="t" anchorCtr="0">
            <a:normAutofit/>
          </a:bodyPr>
          <a:lstStyle/>
          <a:p>
            <a:pPr marL="0" lvl="0" indent="0" algn="r" rtl="0">
              <a:lnSpc>
                <a:spcPct val="90000"/>
              </a:lnSpc>
              <a:spcBef>
                <a:spcPts val="0"/>
              </a:spcBef>
              <a:spcAft>
                <a:spcPts val="0"/>
              </a:spcAft>
              <a:buSzPts val="2400"/>
              <a:buNone/>
            </a:pPr>
            <a:r>
              <a:rPr lang="en-US" b="1">
                <a:latin typeface="Arial"/>
                <a:ea typeface="Arial"/>
                <a:cs typeface="Arial"/>
                <a:sym typeface="Arial"/>
              </a:rPr>
              <a:t>DILKI WEERAKOON</a:t>
            </a:r>
          </a:p>
          <a:p>
            <a:pPr marL="0" lvl="0" indent="0" algn="r" rtl="0">
              <a:lnSpc>
                <a:spcPct val="90000"/>
              </a:lnSpc>
              <a:spcBef>
                <a:spcPts val="0"/>
              </a:spcBef>
              <a:spcAft>
                <a:spcPts val="0"/>
              </a:spcAft>
              <a:buSzPts val="2400"/>
              <a:buNone/>
            </a:pPr>
            <a:endParaRPr lang="en-US" b="1">
              <a:latin typeface="Arial"/>
              <a:ea typeface="Arial"/>
              <a:cs typeface="Arial"/>
              <a:sym typeface="Arial"/>
            </a:endParaRPr>
          </a:p>
          <a:p>
            <a:pPr marL="0" lvl="0" indent="0" algn="r" rtl="0">
              <a:lnSpc>
                <a:spcPct val="90000"/>
              </a:lnSpc>
              <a:spcBef>
                <a:spcPts val="0"/>
              </a:spcBef>
              <a:spcAft>
                <a:spcPts val="0"/>
              </a:spcAft>
              <a:buSzPts val="2400"/>
              <a:buNone/>
            </a:pPr>
            <a:r>
              <a:rPr lang="en-US" b="1" dirty="0">
                <a:latin typeface="Arial"/>
                <a:ea typeface="Arial"/>
                <a:cs typeface="Arial"/>
                <a:sym typeface="Arial"/>
              </a:rPr>
              <a:t>MODULE LEADER: JANANIE MAYOORESAN</a:t>
            </a:r>
            <a:endParaRPr dirty="0"/>
          </a:p>
        </p:txBody>
      </p:sp>
      <p:pic>
        <p:nvPicPr>
          <p:cNvPr id="107" name="Google Shape;107;p1"/>
          <p:cNvPicPr preferRelativeResize="0"/>
          <p:nvPr/>
        </p:nvPicPr>
        <p:blipFill rotWithShape="1">
          <a:blip r:embed="rId3">
            <a:alphaModFix/>
          </a:blip>
          <a:srcRect/>
          <a:stretch/>
        </p:blipFill>
        <p:spPr>
          <a:xfrm>
            <a:off x="8997849" y="472415"/>
            <a:ext cx="2601638" cy="107260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Module Team</a:t>
            </a:r>
            <a:endParaRPr/>
          </a:p>
        </p:txBody>
      </p:sp>
      <p:sp>
        <p:nvSpPr>
          <p:cNvPr id="113" name="Google Shape;113;p2"/>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0" lvl="0" indent="0" algn="l" rtl="0">
              <a:lnSpc>
                <a:spcPct val="115000"/>
              </a:lnSpc>
              <a:spcBef>
                <a:spcPts val="0"/>
              </a:spcBef>
              <a:spcAft>
                <a:spcPts val="0"/>
              </a:spcAft>
              <a:buNone/>
            </a:pPr>
            <a:endParaRPr sz="2400" dirty="0"/>
          </a:p>
          <a:p>
            <a:pPr marL="91440" lvl="0" indent="-91440" algn="l" rtl="0">
              <a:lnSpc>
                <a:spcPct val="115000"/>
              </a:lnSpc>
              <a:spcBef>
                <a:spcPts val="0"/>
              </a:spcBef>
              <a:spcAft>
                <a:spcPts val="0"/>
              </a:spcAft>
              <a:buSzPts val="2400"/>
              <a:buFont typeface="Noto Sans Symbols"/>
              <a:buChar char="▪"/>
            </a:pPr>
            <a:r>
              <a:rPr lang="en-US" sz="2400" dirty="0"/>
              <a:t>Ms. </a:t>
            </a:r>
            <a:r>
              <a:rPr lang="en-US" sz="2400" dirty="0" err="1"/>
              <a:t>Jananie</a:t>
            </a:r>
            <a:r>
              <a:rPr lang="en-US" sz="2400" dirty="0"/>
              <a:t> </a:t>
            </a:r>
            <a:r>
              <a:rPr lang="en-US" sz="2400" dirty="0" err="1"/>
              <a:t>Mayooresan</a:t>
            </a:r>
            <a:r>
              <a:rPr lang="en-US" sz="2400" dirty="0"/>
              <a:t> (email: </a:t>
            </a:r>
            <a:r>
              <a:rPr lang="en-US" sz="2400" u="sng" dirty="0">
                <a:solidFill>
                  <a:srgbClr val="FF0000"/>
                </a:solidFill>
                <a:hlinkClick r:id="rId3">
                  <a:extLst>
                    <a:ext uri="{A12FA001-AC4F-418D-AE19-62706E023703}">
                      <ahyp:hlinkClr xmlns:ahyp="http://schemas.microsoft.com/office/drawing/2018/hyperlinkcolor" val="tx"/>
                    </a:ext>
                  </a:extLst>
                </a:hlinkClick>
              </a:rPr>
              <a:t>jananie.m@iit.ac.lk</a:t>
            </a:r>
            <a:r>
              <a:rPr lang="en-US" sz="2400" dirty="0"/>
              <a:t>)</a:t>
            </a:r>
            <a:endParaRPr sz="2400" dirty="0"/>
          </a:p>
          <a:p>
            <a:pPr marL="91440" lvl="0" indent="-91440" algn="l" rtl="0">
              <a:lnSpc>
                <a:spcPct val="115000"/>
              </a:lnSpc>
              <a:spcBef>
                <a:spcPts val="0"/>
              </a:spcBef>
              <a:spcAft>
                <a:spcPts val="0"/>
              </a:spcAft>
              <a:buSzPts val="2400"/>
              <a:buChar char="▪"/>
            </a:pPr>
            <a:r>
              <a:rPr lang="en-US" sz="2400" dirty="0"/>
              <a:t>Ms. Dilki Weerakoon (email: </a:t>
            </a:r>
            <a:r>
              <a:rPr lang="en-US" sz="2400" u="sng" dirty="0">
                <a:solidFill>
                  <a:srgbClr val="FF0000"/>
                </a:solidFill>
              </a:rPr>
              <a:t>d</a:t>
            </a:r>
            <a:r>
              <a:rPr lang="en-US" sz="2400" u="sng" dirty="0">
                <a:solidFill>
                  <a:srgbClr val="FF0000"/>
                </a:solidFill>
                <a:hlinkClick r:id="rId4">
                  <a:extLst>
                    <a:ext uri="{A12FA001-AC4F-418D-AE19-62706E023703}">
                      <ahyp:hlinkClr xmlns:ahyp="http://schemas.microsoft.com/office/drawing/2018/hyperlinkcolor" val="tx"/>
                    </a:ext>
                  </a:extLst>
                </a:hlinkClick>
              </a:rPr>
              <a:t>ilki.w@iit.ac.lk</a:t>
            </a:r>
            <a:r>
              <a:rPr lang="en-US" sz="2400" dirty="0">
                <a:solidFill>
                  <a:srgbClr val="FF0000"/>
                </a:solidFill>
              </a:rPr>
              <a:t>)</a:t>
            </a:r>
          </a:p>
          <a:p>
            <a:pPr marL="91440" indent="-91440">
              <a:lnSpc>
                <a:spcPct val="115000"/>
              </a:lnSpc>
              <a:spcBef>
                <a:spcPts val="0"/>
              </a:spcBef>
              <a:buSzPts val="2400"/>
              <a:buFont typeface="Calibri"/>
              <a:buChar char="▪"/>
            </a:pPr>
            <a:r>
              <a:rPr lang="en-US" sz="2400" dirty="0"/>
              <a:t>Ms. </a:t>
            </a:r>
            <a:r>
              <a:rPr lang="en-US" sz="2400" dirty="0" err="1"/>
              <a:t>Savindi</a:t>
            </a:r>
            <a:r>
              <a:rPr lang="en-US" sz="2400" dirty="0"/>
              <a:t> Weerakoon (email: </a:t>
            </a:r>
            <a:r>
              <a:rPr lang="en-US" sz="2400" u="sng" dirty="0">
                <a:solidFill>
                  <a:srgbClr val="FF0000"/>
                </a:solidFill>
              </a:rPr>
              <a:t>savindi.w</a:t>
            </a:r>
            <a:r>
              <a:rPr lang="en-US" sz="2400" u="sng" dirty="0">
                <a:solidFill>
                  <a:srgbClr val="FF0000"/>
                </a:solidFill>
                <a:hlinkClick r:id="rId5">
                  <a:extLst>
                    <a:ext uri="{A12FA001-AC4F-418D-AE19-62706E023703}">
                      <ahyp:hlinkClr xmlns:ahyp="http://schemas.microsoft.com/office/drawing/2018/hyperlinkcolor" val="tx"/>
                    </a:ext>
                  </a:extLst>
                </a:hlinkClick>
              </a:rPr>
              <a:t>@iit.ac.lk</a:t>
            </a:r>
            <a:r>
              <a:rPr lang="en-US" sz="2400" dirty="0"/>
              <a:t>)</a:t>
            </a:r>
          </a:p>
          <a:p>
            <a:pPr marL="91440" lvl="0" indent="-91440" algn="l" rtl="0">
              <a:lnSpc>
                <a:spcPct val="115000"/>
              </a:lnSpc>
              <a:spcBef>
                <a:spcPts val="0"/>
              </a:spcBef>
              <a:spcAft>
                <a:spcPts val="0"/>
              </a:spcAft>
              <a:buSzPts val="2400"/>
              <a:buChar char="▪"/>
            </a:pPr>
            <a:endParaRPr sz="2400" dirty="0"/>
          </a:p>
          <a:p>
            <a:pPr marL="457200" lvl="0" indent="0" algn="l" rtl="0">
              <a:lnSpc>
                <a:spcPct val="90000"/>
              </a:lnSpc>
              <a:spcBef>
                <a:spcPts val="0"/>
              </a:spcBef>
              <a:spcAft>
                <a:spcPts val="0"/>
              </a:spcAft>
              <a:buSzPts val="1800"/>
              <a:buNone/>
            </a:pPr>
            <a:endParaRPr sz="2400" dirty="0"/>
          </a:p>
          <a:p>
            <a:pPr marL="457200" lvl="0" indent="0" algn="l" rtl="0">
              <a:lnSpc>
                <a:spcPct val="90000"/>
              </a:lnSpc>
              <a:spcBef>
                <a:spcPts val="1400"/>
              </a:spcBef>
              <a:spcAft>
                <a:spcPts val="0"/>
              </a:spcAft>
              <a:buSzPts val="1800"/>
              <a:buNone/>
            </a:pPr>
            <a:endParaRPr sz="2400" b="1" dirty="0"/>
          </a:p>
          <a:p>
            <a:pPr marL="0" lvl="0" indent="0" algn="l" rtl="0">
              <a:lnSpc>
                <a:spcPct val="90000"/>
              </a:lnSpc>
              <a:spcBef>
                <a:spcPts val="1400"/>
              </a:spcBef>
              <a:spcAft>
                <a:spcPts val="0"/>
              </a:spcAft>
              <a:buSzPts val="2200"/>
              <a:buNone/>
            </a:pPr>
            <a:endParaRPr sz="2200" dirty="0"/>
          </a:p>
          <a:p>
            <a:pPr marL="384048" lvl="1" indent="-43179" algn="l" rtl="0">
              <a:lnSpc>
                <a:spcPct val="150000"/>
              </a:lnSpc>
              <a:spcBef>
                <a:spcPts val="400"/>
              </a:spcBef>
              <a:spcAft>
                <a:spcPts val="0"/>
              </a:spcAft>
              <a:buSzPts val="2200"/>
              <a:buFont typeface="Noto Sans Symbols"/>
              <a:buNone/>
            </a:pPr>
            <a:endParaRPr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How is the module delivered?</a:t>
            </a:r>
            <a:endParaRPr/>
          </a:p>
        </p:txBody>
      </p:sp>
      <p:sp>
        <p:nvSpPr>
          <p:cNvPr id="119" name="Google Shape;119;p3"/>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91440" algn="l" rtl="0">
              <a:lnSpc>
                <a:spcPct val="90000"/>
              </a:lnSpc>
              <a:spcBef>
                <a:spcPts val="0"/>
              </a:spcBef>
              <a:spcAft>
                <a:spcPts val="0"/>
              </a:spcAft>
              <a:buSzPts val="2400"/>
              <a:buChar char=" "/>
            </a:pPr>
            <a:r>
              <a:rPr lang="en-US" sz="2400"/>
              <a:t>This is a 15-credit module delivered in one semester.</a:t>
            </a:r>
            <a:endParaRPr/>
          </a:p>
          <a:p>
            <a:pPr marL="91440" lvl="0" indent="-91440" algn="l" rtl="0">
              <a:lnSpc>
                <a:spcPct val="90000"/>
              </a:lnSpc>
              <a:spcBef>
                <a:spcPts val="1400"/>
              </a:spcBef>
              <a:spcAft>
                <a:spcPts val="0"/>
              </a:spcAft>
              <a:buSzPts val="2400"/>
              <a:buChar char=" "/>
            </a:pPr>
            <a:r>
              <a:rPr lang="en-US" sz="2400"/>
              <a:t>You will have:</a:t>
            </a:r>
            <a:endParaRPr/>
          </a:p>
          <a:p>
            <a:pPr marL="384048" lvl="1" indent="-182880" algn="l" rtl="0">
              <a:lnSpc>
                <a:spcPct val="90000"/>
              </a:lnSpc>
              <a:spcBef>
                <a:spcPts val="400"/>
              </a:spcBef>
              <a:spcAft>
                <a:spcPts val="0"/>
              </a:spcAft>
              <a:buSzPts val="2000"/>
              <a:buFont typeface="Noto Sans Symbols"/>
              <a:buChar char="✔"/>
            </a:pPr>
            <a:r>
              <a:rPr lang="en-US" sz="2000"/>
              <a:t>1 - Lecture</a:t>
            </a:r>
            <a:endParaRPr/>
          </a:p>
          <a:p>
            <a:pPr marL="384048" lvl="1" indent="-182880" algn="l" rtl="0">
              <a:lnSpc>
                <a:spcPct val="90000"/>
              </a:lnSpc>
              <a:spcBef>
                <a:spcPts val="600"/>
              </a:spcBef>
              <a:spcAft>
                <a:spcPts val="0"/>
              </a:spcAft>
              <a:buSzPts val="2000"/>
              <a:buFont typeface="Noto Sans Symbols"/>
              <a:buChar char="✔"/>
            </a:pPr>
            <a:r>
              <a:rPr lang="en-US" sz="2000"/>
              <a:t>1- Tutorial, sessions every week.</a:t>
            </a:r>
            <a:endParaRPr/>
          </a:p>
          <a:p>
            <a:pPr marL="91440" lvl="0" indent="-91440" algn="l" rtl="0">
              <a:lnSpc>
                <a:spcPct val="90000"/>
              </a:lnSpc>
              <a:spcBef>
                <a:spcPts val="1600"/>
              </a:spcBef>
              <a:spcAft>
                <a:spcPts val="0"/>
              </a:spcAft>
              <a:buSzPts val="2400"/>
              <a:buChar char=" "/>
            </a:pPr>
            <a:r>
              <a:rPr lang="en-US" sz="2400"/>
              <a:t>Attendance and engagement with the module is compulsory; If you don’t engage with the module, you will FAIL and at a possible risk of not progressing to first year or even being excluded from the course.</a:t>
            </a:r>
            <a:endParaRPr/>
          </a:p>
          <a:p>
            <a:pPr marL="91440" lvl="0" indent="-91440" algn="l" rtl="0">
              <a:lnSpc>
                <a:spcPct val="90000"/>
              </a:lnSpc>
              <a:spcBef>
                <a:spcPts val="1400"/>
              </a:spcBef>
              <a:spcAft>
                <a:spcPts val="0"/>
              </a:spcAft>
              <a:buSzPts val="2400"/>
              <a:buChar char=" "/>
            </a:pPr>
            <a:r>
              <a:rPr lang="en-US" sz="2400"/>
              <a:t>This module provides the foundation for your modules at L4, L5 and L6.</a:t>
            </a:r>
            <a:endParaRPr/>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Assessment</a:t>
            </a:r>
            <a:endParaRPr/>
          </a:p>
        </p:txBody>
      </p:sp>
      <p:sp>
        <p:nvSpPr>
          <p:cNvPr id="125" name="Google Shape;125;p4"/>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91440" algn="l" rtl="0">
              <a:lnSpc>
                <a:spcPct val="150000"/>
              </a:lnSpc>
              <a:spcBef>
                <a:spcPts val="0"/>
              </a:spcBef>
              <a:spcAft>
                <a:spcPts val="0"/>
              </a:spcAft>
              <a:buSzPts val="2400"/>
              <a:buChar char=" "/>
            </a:pPr>
            <a:r>
              <a:rPr lang="en-US" sz="2400" b="1"/>
              <a:t>100% coursework</a:t>
            </a:r>
            <a:endParaRPr/>
          </a:p>
          <a:p>
            <a:pPr marL="384048" lvl="1" indent="-182880" algn="l" rtl="0">
              <a:lnSpc>
                <a:spcPct val="150000"/>
              </a:lnSpc>
              <a:spcBef>
                <a:spcPts val="400"/>
              </a:spcBef>
              <a:spcAft>
                <a:spcPts val="0"/>
              </a:spcAft>
              <a:buSzPts val="2000"/>
              <a:buFont typeface="Noto Sans Symbols"/>
              <a:buChar char="⮚"/>
            </a:pPr>
            <a:r>
              <a:rPr lang="en-US" sz="2000"/>
              <a:t>In-Class Test -1 (MCQ)  - 15%</a:t>
            </a:r>
            <a:endParaRPr/>
          </a:p>
          <a:p>
            <a:pPr marL="384048" lvl="1" indent="-182880" algn="l" rtl="0">
              <a:lnSpc>
                <a:spcPct val="150000"/>
              </a:lnSpc>
              <a:spcBef>
                <a:spcPts val="600"/>
              </a:spcBef>
              <a:spcAft>
                <a:spcPts val="0"/>
              </a:spcAft>
              <a:buSzPts val="2000"/>
              <a:buFont typeface="Noto Sans Symbols"/>
              <a:buChar char="⮚"/>
            </a:pPr>
            <a:r>
              <a:rPr lang="en-US" sz="2000"/>
              <a:t>Presentation &amp; Report - 30%</a:t>
            </a:r>
            <a:endParaRPr/>
          </a:p>
          <a:p>
            <a:pPr marL="384048" lvl="1" indent="-182880" algn="l" rtl="0">
              <a:lnSpc>
                <a:spcPct val="150000"/>
              </a:lnSpc>
              <a:spcBef>
                <a:spcPts val="600"/>
              </a:spcBef>
              <a:spcAft>
                <a:spcPts val="0"/>
              </a:spcAft>
              <a:buSzPts val="2000"/>
              <a:buFont typeface="Noto Sans Symbols"/>
              <a:buChar char="⮚"/>
            </a:pPr>
            <a:r>
              <a:rPr lang="en-US" sz="2000"/>
              <a:t>In-Class Test- 2 (Practical Test)- 50%</a:t>
            </a:r>
            <a:endParaRPr/>
          </a:p>
          <a:p>
            <a:pPr marL="384048" lvl="1" indent="-182880" algn="l" rtl="0">
              <a:lnSpc>
                <a:spcPct val="150000"/>
              </a:lnSpc>
              <a:spcBef>
                <a:spcPts val="600"/>
              </a:spcBef>
              <a:spcAft>
                <a:spcPts val="0"/>
              </a:spcAft>
              <a:buSzPts val="2000"/>
              <a:buFont typeface="Noto Sans Symbols"/>
              <a:buChar char="⮚"/>
            </a:pPr>
            <a:r>
              <a:rPr lang="en-US" sz="2000"/>
              <a:t>Attendance &amp; Behaviour - 5%</a:t>
            </a:r>
            <a:endParaRPr/>
          </a:p>
        </p:txBody>
      </p:sp>
      <p:pic>
        <p:nvPicPr>
          <p:cNvPr id="126" name="Google Shape;126;p4"/>
          <p:cNvPicPr preferRelativeResize="0"/>
          <p:nvPr/>
        </p:nvPicPr>
        <p:blipFill rotWithShape="1">
          <a:blip r:embed="rId3">
            <a:alphaModFix/>
          </a:blip>
          <a:srcRect/>
          <a:stretch/>
        </p:blipFill>
        <p:spPr>
          <a:xfrm>
            <a:off x="9191626" y="4192798"/>
            <a:ext cx="2618100" cy="185568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Module Aim</a:t>
            </a:r>
            <a:endParaRPr/>
          </a:p>
        </p:txBody>
      </p:sp>
      <p:sp>
        <p:nvSpPr>
          <p:cNvPr id="132" name="Google Shape;132;p5"/>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342900" lvl="0" indent="-342900" algn="just" rtl="0">
              <a:lnSpc>
                <a:spcPct val="150000"/>
              </a:lnSpc>
              <a:spcBef>
                <a:spcPts val="0"/>
              </a:spcBef>
              <a:spcAft>
                <a:spcPts val="0"/>
              </a:spcAft>
              <a:buSzPts val="2400"/>
              <a:buFont typeface="Arial"/>
              <a:buChar char="•"/>
            </a:pPr>
            <a:r>
              <a:rPr lang="en-US" sz="2400"/>
              <a:t>To provide an introduction to Information Technology, operating systems, application software of Microsoft Office and Graphics.</a:t>
            </a:r>
            <a:endParaRPr/>
          </a:p>
          <a:p>
            <a:pPr marL="342900" lvl="0" indent="-342900" algn="just" rtl="0">
              <a:lnSpc>
                <a:spcPct val="150000"/>
              </a:lnSpc>
              <a:spcBef>
                <a:spcPts val="1400"/>
              </a:spcBef>
              <a:spcAft>
                <a:spcPts val="0"/>
              </a:spcAft>
              <a:buSzPts val="2400"/>
              <a:buFont typeface="Arial"/>
              <a:buChar char="•"/>
            </a:pPr>
            <a:r>
              <a:rPr lang="en-US" sz="2400"/>
              <a:t>The course provides an understanding of the basic operations of a computer and associated software and hardware. Microsoft office is used for practical experience.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Learning Outcomes</a:t>
            </a:r>
            <a:endParaRPr/>
          </a:p>
        </p:txBody>
      </p:sp>
      <p:sp>
        <p:nvSpPr>
          <p:cNvPr id="138" name="Google Shape;138;p6"/>
          <p:cNvSpPr txBox="1">
            <a:spLocks noGrp="1"/>
          </p:cNvSpPr>
          <p:nvPr>
            <p:ph type="body" idx="1"/>
          </p:nvPr>
        </p:nvSpPr>
        <p:spPr>
          <a:xfrm>
            <a:off x="1097275" y="1845724"/>
            <a:ext cx="10058400" cy="4397100"/>
          </a:xfrm>
          <a:prstGeom prst="rect">
            <a:avLst/>
          </a:prstGeom>
          <a:noFill/>
          <a:ln>
            <a:noFill/>
          </a:ln>
        </p:spPr>
        <p:txBody>
          <a:bodyPr spcFirstLastPara="1" wrap="square" lIns="0" tIns="45700" rIns="0" bIns="45700" anchor="t" anchorCtr="0">
            <a:noAutofit/>
          </a:bodyPr>
          <a:lstStyle/>
          <a:p>
            <a:pPr marL="91440" lvl="0" indent="-146050" algn="l" rtl="0">
              <a:lnSpc>
                <a:spcPct val="90000"/>
              </a:lnSpc>
              <a:spcBef>
                <a:spcPts val="0"/>
              </a:spcBef>
              <a:spcAft>
                <a:spcPts val="0"/>
              </a:spcAft>
              <a:buSzPts val="2300"/>
              <a:buChar char=" "/>
            </a:pPr>
            <a:r>
              <a:rPr lang="en-US" sz="2300"/>
              <a:t>LO1: Obtain a basic knowledge of Computer Systems and It’s components, and Network</a:t>
            </a:r>
            <a:endParaRPr sz="1900"/>
          </a:p>
          <a:p>
            <a:pPr marL="91440" lvl="0" indent="-146050" algn="l" rtl="0">
              <a:lnSpc>
                <a:spcPct val="90000"/>
              </a:lnSpc>
              <a:spcBef>
                <a:spcPts val="1400"/>
              </a:spcBef>
              <a:spcAft>
                <a:spcPts val="0"/>
              </a:spcAft>
              <a:buSzPts val="2300"/>
              <a:buChar char=" "/>
            </a:pPr>
            <a:r>
              <a:rPr lang="en-US" sz="2300"/>
              <a:t>LO2: Obtain a basic knowledge of operating system and its functions</a:t>
            </a:r>
            <a:endParaRPr sz="1900"/>
          </a:p>
          <a:p>
            <a:pPr marL="91440" lvl="0" indent="-146050" algn="l" rtl="0">
              <a:lnSpc>
                <a:spcPct val="90000"/>
              </a:lnSpc>
              <a:spcBef>
                <a:spcPts val="1400"/>
              </a:spcBef>
              <a:spcAft>
                <a:spcPts val="0"/>
              </a:spcAft>
              <a:buSzPts val="2300"/>
              <a:buChar char=" "/>
            </a:pPr>
            <a:r>
              <a:rPr lang="en-US" sz="2300"/>
              <a:t>LO3: Carry out basic filing and housekeeping operations on a personal computer</a:t>
            </a:r>
            <a:endParaRPr sz="1900"/>
          </a:p>
          <a:p>
            <a:pPr marL="91440" lvl="0" indent="-146050" algn="l" rtl="0">
              <a:lnSpc>
                <a:spcPct val="90000"/>
              </a:lnSpc>
              <a:spcBef>
                <a:spcPts val="1400"/>
              </a:spcBef>
              <a:spcAft>
                <a:spcPts val="0"/>
              </a:spcAft>
              <a:buSzPts val="2300"/>
              <a:buChar char=" "/>
            </a:pPr>
            <a:r>
              <a:rPr lang="en-US" sz="2300"/>
              <a:t>LO4: Develop a formatted document using a Microsoft Office Word</a:t>
            </a:r>
            <a:endParaRPr sz="1900"/>
          </a:p>
          <a:p>
            <a:pPr marL="91440" lvl="0" indent="-146050" algn="l" rtl="0">
              <a:lnSpc>
                <a:spcPct val="90000"/>
              </a:lnSpc>
              <a:spcBef>
                <a:spcPts val="1400"/>
              </a:spcBef>
              <a:spcAft>
                <a:spcPts val="0"/>
              </a:spcAft>
              <a:buSzPts val="2300"/>
              <a:buChar char=" "/>
            </a:pPr>
            <a:r>
              <a:rPr lang="en-US" sz="2300"/>
              <a:t>LO5: Develop a financial projection using a Microsoft Excel</a:t>
            </a:r>
            <a:endParaRPr sz="1900"/>
          </a:p>
          <a:p>
            <a:pPr marL="91440" lvl="0" indent="-146050" algn="l" rtl="0">
              <a:lnSpc>
                <a:spcPct val="90000"/>
              </a:lnSpc>
              <a:spcBef>
                <a:spcPts val="1400"/>
              </a:spcBef>
              <a:spcAft>
                <a:spcPts val="0"/>
              </a:spcAft>
              <a:buSzPts val="2300"/>
              <a:buChar char=" "/>
            </a:pPr>
            <a:r>
              <a:rPr lang="en-US" sz="2300"/>
              <a:t>LO6: Develop an effective presentation with Microsoft PowerPoint</a:t>
            </a:r>
            <a:endParaRPr sz="1900"/>
          </a:p>
          <a:p>
            <a:pPr marL="91440" lvl="0" indent="-146050" algn="l" rtl="0">
              <a:lnSpc>
                <a:spcPct val="90000"/>
              </a:lnSpc>
              <a:spcBef>
                <a:spcPts val="1400"/>
              </a:spcBef>
              <a:spcAft>
                <a:spcPts val="0"/>
              </a:spcAft>
              <a:buSzPts val="2300"/>
              <a:buChar char=" "/>
            </a:pPr>
            <a:r>
              <a:rPr lang="en-US" sz="2300"/>
              <a:t>LO7: Obtain a basic knowledge on using Internet and Email</a:t>
            </a:r>
            <a:endParaRPr sz="1900"/>
          </a:p>
          <a:p>
            <a:pPr marL="91440" lvl="0" indent="-146050" algn="l" rtl="0">
              <a:lnSpc>
                <a:spcPct val="90000"/>
              </a:lnSpc>
              <a:spcBef>
                <a:spcPts val="1400"/>
              </a:spcBef>
              <a:spcAft>
                <a:spcPts val="0"/>
              </a:spcAft>
              <a:buSzPts val="2300"/>
              <a:buChar char=" "/>
            </a:pPr>
            <a:r>
              <a:rPr lang="en-US" sz="2300"/>
              <a:t>LO8: Obtain a basic knowledge on using Graphic Application</a:t>
            </a:r>
            <a:endParaRPr sz="1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Reference Books</a:t>
            </a:r>
            <a:endParaRPr/>
          </a:p>
        </p:txBody>
      </p:sp>
      <p:sp>
        <p:nvSpPr>
          <p:cNvPr id="144" name="Google Shape;144;p7"/>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lnSpcReduction="10000"/>
          </a:bodyPr>
          <a:lstStyle/>
          <a:p>
            <a:pPr marL="91440" lvl="0" indent="-91440" algn="l" rtl="0">
              <a:lnSpc>
                <a:spcPct val="150000"/>
              </a:lnSpc>
              <a:spcBef>
                <a:spcPts val="0"/>
              </a:spcBef>
              <a:spcAft>
                <a:spcPts val="0"/>
              </a:spcAft>
              <a:buSzPts val="2400"/>
              <a:buChar char=" "/>
            </a:pPr>
            <a:r>
              <a:rPr lang="en-US" sz="2400"/>
              <a:t>1. Cox, J. and Lambert, J., (2011) Word 2010 step by step. India: Prentice Hall.</a:t>
            </a:r>
            <a:endParaRPr/>
          </a:p>
          <a:p>
            <a:pPr marL="91440" lvl="0" indent="-91440" algn="l" rtl="0">
              <a:lnSpc>
                <a:spcPct val="150000"/>
              </a:lnSpc>
              <a:spcBef>
                <a:spcPts val="1400"/>
              </a:spcBef>
              <a:spcAft>
                <a:spcPts val="0"/>
              </a:spcAft>
              <a:buSzPts val="2400"/>
              <a:buChar char=" "/>
            </a:pPr>
            <a:r>
              <a:rPr lang="en-US" sz="2400"/>
              <a:t>2. Dodge, M. and Stinson, C., (2011) Excel 2010 Inside-out. India: PHI Learning.</a:t>
            </a:r>
            <a:endParaRPr sz="2400"/>
          </a:p>
          <a:p>
            <a:pPr marL="457200" lvl="0" indent="-369570" algn="l" rtl="0">
              <a:lnSpc>
                <a:spcPct val="150000"/>
              </a:lnSpc>
              <a:spcBef>
                <a:spcPts val="1400"/>
              </a:spcBef>
              <a:spcAft>
                <a:spcPts val="0"/>
              </a:spcAft>
              <a:buSzPts val="2400"/>
              <a:buChar char=" "/>
            </a:pPr>
            <a:r>
              <a:rPr lang="en-US" sz="2400"/>
              <a:t>3. Dodge, M. and Stinson, C., (2011). Excel 2010 inside out. India: Prentice Hall.</a:t>
            </a:r>
            <a:endParaRPr sz="2400"/>
          </a:p>
          <a:p>
            <a:pPr marL="457200" lvl="0" indent="-369570" algn="l" rtl="0">
              <a:lnSpc>
                <a:spcPct val="150000"/>
              </a:lnSpc>
              <a:spcBef>
                <a:spcPts val="1400"/>
              </a:spcBef>
              <a:spcAft>
                <a:spcPts val="0"/>
              </a:spcAft>
              <a:buSzPts val="2400"/>
              <a:buChar char=" "/>
            </a:pPr>
            <a:r>
              <a:rPr lang="en-US" sz="2400"/>
              <a:t>4. Frye, D., (2010). Microsoft excel plain and simple. India: Prentice Hall.</a:t>
            </a:r>
            <a:endParaRPr sz="2400"/>
          </a:p>
          <a:p>
            <a:pPr marL="91440" lvl="0" indent="-91440" algn="l" rtl="0">
              <a:lnSpc>
                <a:spcPct val="150000"/>
              </a:lnSpc>
              <a:spcBef>
                <a:spcPts val="1400"/>
              </a:spcBef>
              <a:spcAft>
                <a:spcPts val="0"/>
              </a:spcAft>
              <a:buSzPts val="2400"/>
              <a:buChar char=" "/>
            </a:pPr>
            <a:r>
              <a:rPr lang="en-US" sz="2400"/>
              <a:t>5. Norton, P., (2006). Introduction to Computers. New Delhi: Tata McGraw Hill.</a:t>
            </a:r>
            <a:endParaRPr/>
          </a:p>
          <a:p>
            <a:pPr marL="91440" lvl="0" indent="0" algn="l" rtl="0">
              <a:lnSpc>
                <a:spcPct val="150000"/>
              </a:lnSpc>
              <a:spcBef>
                <a:spcPts val="1400"/>
              </a:spcBef>
              <a:spcAft>
                <a:spcPts val="0"/>
              </a:spcAft>
              <a:buSzPts val="2400"/>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Internet Resources</a:t>
            </a:r>
            <a:endParaRPr/>
          </a:p>
        </p:txBody>
      </p:sp>
      <p:sp>
        <p:nvSpPr>
          <p:cNvPr id="150" name="Google Shape;150;p8"/>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457200" lvl="0" indent="-381000" algn="l" rtl="0">
              <a:lnSpc>
                <a:spcPct val="150000"/>
              </a:lnSpc>
              <a:spcBef>
                <a:spcPts val="0"/>
              </a:spcBef>
              <a:spcAft>
                <a:spcPts val="0"/>
              </a:spcAft>
              <a:buSzPts val="2400"/>
              <a:buChar char="●"/>
            </a:pPr>
            <a:r>
              <a:rPr lang="en-US" sz="2400"/>
              <a:t>Microsoft, (2013). Office 2010 User resources. [Online]. Available from: http://www.microsoft.com.</a:t>
            </a:r>
            <a:endParaRPr/>
          </a:p>
          <a:p>
            <a:pPr marL="457200" lvl="0" indent="-381000" algn="l" rtl="0">
              <a:lnSpc>
                <a:spcPct val="150000"/>
              </a:lnSpc>
              <a:spcBef>
                <a:spcPts val="0"/>
              </a:spcBef>
              <a:spcAft>
                <a:spcPts val="0"/>
              </a:spcAft>
              <a:buSzPts val="2400"/>
              <a:buChar char="●"/>
            </a:pPr>
            <a:r>
              <a:rPr lang="en-US" sz="2400"/>
              <a:t>Microsoft, (2013). Windows: Introduction to computers. [Online]. Available from: http://windows.microsoft.com/en-us/windows-vista/introduction-to-computers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9"/>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262626"/>
              </a:buClr>
              <a:buSzPts val="8000"/>
              <a:buFont typeface="Calibri"/>
              <a:buNone/>
            </a:pPr>
            <a:r>
              <a:rPr lang="en-US"/>
              <a:t>Information Systems (I)</a:t>
            </a:r>
            <a:endParaRPr/>
          </a:p>
        </p:txBody>
      </p:sp>
      <p:sp>
        <p:nvSpPr>
          <p:cNvPr id="156" name="Google Shape;156;p9"/>
          <p:cNvSpPr txBox="1">
            <a:spLocks noGrp="1"/>
          </p:cNvSpPr>
          <p:nvPr>
            <p:ph type="subTitle" idx="1"/>
          </p:nvPr>
        </p:nvSpPr>
        <p:spPr>
          <a:xfrm>
            <a:off x="1100051" y="4455621"/>
            <a:ext cx="10058400" cy="1143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400"/>
              <a:buNone/>
            </a:pPr>
            <a:r>
              <a:rPr lang="en-US"/>
              <a:t>LECTURE 1</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0"/>
          <p:cNvSpPr/>
          <p:nvPr/>
        </p:nvSpPr>
        <p:spPr>
          <a:xfrm>
            <a:off x="655092" y="2620371"/>
            <a:ext cx="10890914"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0" i="0" u="none" strike="noStrike" cap="none">
                <a:solidFill>
                  <a:schemeClr val="dk1"/>
                </a:solidFill>
                <a:latin typeface="Calibri"/>
                <a:ea typeface="Calibri"/>
                <a:cs typeface="Calibri"/>
                <a:sym typeface="Calibri"/>
              </a:rPr>
              <a:t>What is an Information System?</a:t>
            </a:r>
            <a:endParaRPr sz="1400" b="0" i="0" u="none" strike="noStrike" cap="none">
              <a:solidFill>
                <a:srgbClr val="000000"/>
              </a:solidFill>
              <a:latin typeface="Arial"/>
              <a:ea typeface="Arial"/>
              <a:cs typeface="Arial"/>
              <a:sym typeface="Arial"/>
            </a:endParaRPr>
          </a:p>
        </p:txBody>
      </p:sp>
      <p:pic>
        <p:nvPicPr>
          <p:cNvPr id="162" name="Google Shape;162;p10"/>
          <p:cNvPicPr preferRelativeResize="0"/>
          <p:nvPr/>
        </p:nvPicPr>
        <p:blipFill rotWithShape="1">
          <a:blip r:embed="rId3">
            <a:alphaModFix/>
          </a:blip>
          <a:srcRect/>
          <a:stretch/>
        </p:blipFill>
        <p:spPr>
          <a:xfrm>
            <a:off x="9820926" y="212704"/>
            <a:ext cx="2158171" cy="211549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Defining Information Systems</a:t>
            </a:r>
            <a:endParaRPr/>
          </a:p>
        </p:txBody>
      </p:sp>
      <p:sp>
        <p:nvSpPr>
          <p:cNvPr id="168" name="Google Shape;168;p11"/>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91440" algn="just" rtl="0">
              <a:lnSpc>
                <a:spcPct val="150000"/>
              </a:lnSpc>
              <a:spcBef>
                <a:spcPts val="0"/>
              </a:spcBef>
              <a:spcAft>
                <a:spcPts val="0"/>
              </a:spcAft>
              <a:buSzPts val="2400"/>
              <a:buFont typeface="Noto Sans Symbols"/>
              <a:buChar char="▪"/>
            </a:pPr>
            <a:r>
              <a:rPr lang="en-US" sz="2400"/>
              <a:t>“Information systems are combinations of hardware, software, and telecommunications networks that people build and use to collect, create, and distribute useful data, typically in organizational settings.”</a:t>
            </a:r>
            <a:endParaRPr/>
          </a:p>
          <a:p>
            <a:pPr marL="91440" lvl="0" indent="-91440" algn="just" rtl="0">
              <a:lnSpc>
                <a:spcPct val="150000"/>
              </a:lnSpc>
              <a:spcBef>
                <a:spcPts val="1400"/>
              </a:spcBef>
              <a:spcAft>
                <a:spcPts val="0"/>
              </a:spcAft>
              <a:buSzPts val="2400"/>
              <a:buFont typeface="Noto Sans Symbols"/>
              <a:buChar char="▪"/>
            </a:pPr>
            <a:r>
              <a:rPr lang="en-US" sz="2400"/>
              <a:t>“Information systems are interrelated components working together to collect, process, store, and disseminate information to support decision making, coordination, control, analysis, and visualization in an organization.”</a:t>
            </a:r>
            <a:endParaRPr/>
          </a:p>
          <a:p>
            <a:pPr marL="91440" lvl="0" indent="0" algn="l" rtl="0">
              <a:lnSpc>
                <a:spcPct val="90000"/>
              </a:lnSpc>
              <a:spcBef>
                <a:spcPts val="1400"/>
              </a:spcBef>
              <a:spcAft>
                <a:spcPts val="0"/>
              </a:spcAft>
              <a:buSzPts val="2000"/>
              <a:buFont typeface="Noto Sans Symbols"/>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4" name="Google Shape;174;p12"/>
          <p:cNvPicPr preferRelativeResize="0"/>
          <p:nvPr/>
        </p:nvPicPr>
        <p:blipFill rotWithShape="1">
          <a:blip r:embed="rId3">
            <a:alphaModFix/>
          </a:blip>
          <a:srcRect/>
          <a:stretch/>
        </p:blipFill>
        <p:spPr>
          <a:xfrm>
            <a:off x="0" y="0"/>
            <a:ext cx="4377307" cy="2188654"/>
          </a:xfrm>
          <a:prstGeom prst="rect">
            <a:avLst/>
          </a:prstGeom>
          <a:noFill/>
          <a:ln>
            <a:noFill/>
          </a:ln>
        </p:spPr>
      </p:pic>
      <p:sp>
        <p:nvSpPr>
          <p:cNvPr id="175" name="Google Shape;175;p12"/>
          <p:cNvSpPr/>
          <p:nvPr/>
        </p:nvSpPr>
        <p:spPr>
          <a:xfrm>
            <a:off x="914401" y="2832880"/>
            <a:ext cx="10222172" cy="132343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4000" b="0" i="0" u="none" strike="noStrike" cap="none">
                <a:solidFill>
                  <a:srgbClr val="FF0000"/>
                </a:solidFill>
                <a:latin typeface="Calibri"/>
                <a:ea typeface="Calibri"/>
                <a:cs typeface="Calibri"/>
                <a:sym typeface="Calibri"/>
              </a:rPr>
              <a:t>What are the 2 keywords you have identified in the definition of Information Systems?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The Components of Information Systems</a:t>
            </a:r>
            <a:endParaRPr/>
          </a:p>
        </p:txBody>
      </p:sp>
      <p:sp>
        <p:nvSpPr>
          <p:cNvPr id="181" name="Google Shape;181;p13"/>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91440" algn="l" rtl="0">
              <a:lnSpc>
                <a:spcPct val="90000"/>
              </a:lnSpc>
              <a:spcBef>
                <a:spcPts val="0"/>
              </a:spcBef>
              <a:spcAft>
                <a:spcPts val="0"/>
              </a:spcAft>
              <a:buSzPts val="2400"/>
              <a:buChar char=" "/>
            </a:pPr>
            <a:r>
              <a:rPr lang="en-US" sz="2400"/>
              <a:t>Information systems are made up of five components: </a:t>
            </a:r>
            <a:endParaRPr/>
          </a:p>
          <a:p>
            <a:pPr marL="457200" lvl="0" indent="-457200" algn="l" rtl="0">
              <a:lnSpc>
                <a:spcPct val="90000"/>
              </a:lnSpc>
              <a:spcBef>
                <a:spcPts val="1400"/>
              </a:spcBef>
              <a:spcAft>
                <a:spcPts val="0"/>
              </a:spcAft>
              <a:buSzPts val="2400"/>
              <a:buFont typeface="Calibri"/>
              <a:buAutoNum type="arabicPeriod"/>
            </a:pPr>
            <a:r>
              <a:rPr lang="en-US" sz="2400"/>
              <a:t>Hardware</a:t>
            </a:r>
            <a:endParaRPr/>
          </a:p>
          <a:p>
            <a:pPr marL="457200" lvl="0" indent="-457200" algn="l" rtl="0">
              <a:lnSpc>
                <a:spcPct val="90000"/>
              </a:lnSpc>
              <a:spcBef>
                <a:spcPts val="1400"/>
              </a:spcBef>
              <a:spcAft>
                <a:spcPts val="0"/>
              </a:spcAft>
              <a:buSzPts val="2400"/>
              <a:buFont typeface="Calibri"/>
              <a:buAutoNum type="arabicPeriod"/>
            </a:pPr>
            <a:r>
              <a:rPr lang="en-US" sz="2400"/>
              <a:t>Software </a:t>
            </a:r>
            <a:endParaRPr/>
          </a:p>
          <a:p>
            <a:pPr marL="457200" lvl="0" indent="-457200" algn="l" rtl="0">
              <a:lnSpc>
                <a:spcPct val="90000"/>
              </a:lnSpc>
              <a:spcBef>
                <a:spcPts val="1400"/>
              </a:spcBef>
              <a:spcAft>
                <a:spcPts val="0"/>
              </a:spcAft>
              <a:buSzPts val="2400"/>
              <a:buFont typeface="Calibri"/>
              <a:buAutoNum type="arabicPeriod"/>
            </a:pPr>
            <a:r>
              <a:rPr lang="en-US" sz="2400"/>
              <a:t>Data</a:t>
            </a:r>
            <a:endParaRPr/>
          </a:p>
          <a:p>
            <a:pPr marL="457200" lvl="0" indent="-457200" algn="l" rtl="0">
              <a:lnSpc>
                <a:spcPct val="90000"/>
              </a:lnSpc>
              <a:spcBef>
                <a:spcPts val="1400"/>
              </a:spcBef>
              <a:spcAft>
                <a:spcPts val="0"/>
              </a:spcAft>
              <a:buSzPts val="2400"/>
              <a:buFont typeface="Calibri"/>
              <a:buAutoNum type="arabicPeriod"/>
            </a:pPr>
            <a:r>
              <a:rPr lang="en-US" sz="2400"/>
              <a:t>People</a:t>
            </a:r>
            <a:endParaRPr/>
          </a:p>
          <a:p>
            <a:pPr marL="457200" lvl="0" indent="-457200" algn="l" rtl="0">
              <a:lnSpc>
                <a:spcPct val="90000"/>
              </a:lnSpc>
              <a:spcBef>
                <a:spcPts val="1400"/>
              </a:spcBef>
              <a:spcAft>
                <a:spcPts val="0"/>
              </a:spcAft>
              <a:buSzPts val="2400"/>
              <a:buFont typeface="Calibri"/>
              <a:buAutoNum type="arabicPeriod"/>
            </a:pPr>
            <a:r>
              <a:rPr lang="en-US" sz="2400"/>
              <a:t>Process</a:t>
            </a:r>
            <a:endParaRPr/>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The Components of Information Systems</a:t>
            </a:r>
            <a:endParaRPr/>
          </a:p>
        </p:txBody>
      </p:sp>
      <p:sp>
        <p:nvSpPr>
          <p:cNvPr id="187" name="Google Shape;187;p14"/>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Autofit/>
          </a:bodyPr>
          <a:lstStyle/>
          <a:p>
            <a:pPr marL="91440" lvl="0" indent="-91440" algn="just" rtl="0">
              <a:lnSpc>
                <a:spcPct val="150000"/>
              </a:lnSpc>
              <a:spcBef>
                <a:spcPts val="0"/>
              </a:spcBef>
              <a:spcAft>
                <a:spcPts val="0"/>
              </a:spcAft>
              <a:buSzPts val="2400"/>
              <a:buFont typeface="Noto Sans Symbols"/>
              <a:buChar char="▪"/>
            </a:pPr>
            <a:r>
              <a:rPr lang="en-US" sz="2400" b="1"/>
              <a:t>Hardware: </a:t>
            </a:r>
            <a:r>
              <a:rPr lang="en-US" sz="2400"/>
              <a:t>Part of an information system you can touch – the physical components of the technology.</a:t>
            </a:r>
            <a:endParaRPr/>
          </a:p>
          <a:p>
            <a:pPr marL="91440" lvl="0" indent="-91440" algn="just" rtl="0">
              <a:lnSpc>
                <a:spcPct val="150000"/>
              </a:lnSpc>
              <a:spcBef>
                <a:spcPts val="1400"/>
              </a:spcBef>
              <a:spcAft>
                <a:spcPts val="0"/>
              </a:spcAft>
              <a:buSzPts val="2400"/>
              <a:buFont typeface="Noto Sans Symbols"/>
              <a:buChar char="▪"/>
            </a:pPr>
            <a:r>
              <a:rPr lang="en-US" sz="2400" b="1"/>
              <a:t>Software: </a:t>
            </a:r>
            <a:r>
              <a:rPr lang="en-US" sz="2400"/>
              <a:t>Set of instructions that tells the hardware what to do. Software is not tangible – it cannot be touched.</a:t>
            </a:r>
            <a:endParaRPr/>
          </a:p>
          <a:p>
            <a:pPr marL="91440" lvl="0" indent="-91440" algn="just" rtl="0">
              <a:lnSpc>
                <a:spcPct val="150000"/>
              </a:lnSpc>
              <a:spcBef>
                <a:spcPts val="1400"/>
              </a:spcBef>
              <a:spcAft>
                <a:spcPts val="0"/>
              </a:spcAft>
              <a:buSzPts val="2400"/>
              <a:buFont typeface="Noto Sans Symbols"/>
              <a:buChar char="▪"/>
            </a:pPr>
            <a:r>
              <a:rPr lang="en-US" sz="2400" b="1"/>
              <a:t>Data: </a:t>
            </a:r>
            <a:r>
              <a:rPr lang="en-US" sz="2400"/>
              <a:t>Raw facts. By themselves, pieces of data are not really very useful. But aggregated, indexed, and organized together into a database, data can become a powerful tool for businesses.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The Components of Information Systems</a:t>
            </a:r>
            <a:endParaRPr/>
          </a:p>
        </p:txBody>
      </p:sp>
      <p:sp>
        <p:nvSpPr>
          <p:cNvPr id="193" name="Google Shape;193;p15"/>
          <p:cNvSpPr txBox="1">
            <a:spLocks noGrp="1"/>
          </p:cNvSpPr>
          <p:nvPr>
            <p:ph type="body" idx="1"/>
          </p:nvPr>
        </p:nvSpPr>
        <p:spPr>
          <a:xfrm>
            <a:off x="1097280" y="1875231"/>
            <a:ext cx="10058400" cy="4023360"/>
          </a:xfrm>
          <a:prstGeom prst="rect">
            <a:avLst/>
          </a:prstGeom>
          <a:noFill/>
          <a:ln>
            <a:noFill/>
          </a:ln>
        </p:spPr>
        <p:txBody>
          <a:bodyPr spcFirstLastPara="1" wrap="square" lIns="0" tIns="45700" rIns="0" bIns="45700" anchor="t" anchorCtr="0">
            <a:normAutofit/>
          </a:bodyPr>
          <a:lstStyle/>
          <a:p>
            <a:pPr marL="91440" lvl="0" indent="-91440" algn="just" rtl="0">
              <a:lnSpc>
                <a:spcPct val="150000"/>
              </a:lnSpc>
              <a:spcBef>
                <a:spcPts val="0"/>
              </a:spcBef>
              <a:spcAft>
                <a:spcPts val="0"/>
              </a:spcAft>
              <a:buSzPts val="2400"/>
              <a:buFont typeface="Noto Sans Symbols"/>
              <a:buChar char="▪"/>
            </a:pPr>
            <a:r>
              <a:rPr lang="en-US" sz="2400" b="1"/>
              <a:t>People: </a:t>
            </a:r>
            <a:r>
              <a:rPr lang="en-US" sz="2400"/>
              <a:t>From the front-line help-desk workers, to systems analysts, to programmers, all the way up to the chief information officer (CIO), the people involved with information systems are an essential element that must not be overlooked. </a:t>
            </a:r>
            <a:endParaRPr/>
          </a:p>
          <a:p>
            <a:pPr marL="91440" lvl="0" indent="-91440" algn="just" rtl="0">
              <a:lnSpc>
                <a:spcPct val="150000"/>
              </a:lnSpc>
              <a:spcBef>
                <a:spcPts val="1400"/>
              </a:spcBef>
              <a:spcAft>
                <a:spcPts val="0"/>
              </a:spcAft>
              <a:buSzPts val="2400"/>
              <a:buFont typeface="Noto Sans Symbols"/>
              <a:buChar char="▪"/>
            </a:pPr>
            <a:r>
              <a:rPr lang="en-US" sz="2400" b="1"/>
              <a:t>Process: </a:t>
            </a:r>
            <a:r>
              <a:rPr lang="en-US" sz="2400"/>
              <a:t>Series of steps undertaken to achieve a desired outcome or goal.</a:t>
            </a:r>
            <a:endParaRPr/>
          </a:p>
          <a:p>
            <a:pPr marL="91440" lvl="0" indent="0" algn="l" rtl="0">
              <a:lnSpc>
                <a:spcPct val="90000"/>
              </a:lnSpc>
              <a:spcBef>
                <a:spcPts val="1400"/>
              </a:spcBef>
              <a:spcAft>
                <a:spcPts val="0"/>
              </a:spcAft>
              <a:buSzPts val="2000"/>
              <a:buNone/>
            </a:pPr>
            <a:endParaRPr/>
          </a:p>
        </p:txBody>
      </p:sp>
      <p:pic>
        <p:nvPicPr>
          <p:cNvPr id="194" name="Google Shape;194;p15"/>
          <p:cNvPicPr preferRelativeResize="0"/>
          <p:nvPr/>
        </p:nvPicPr>
        <p:blipFill rotWithShape="1">
          <a:blip r:embed="rId3">
            <a:alphaModFix/>
          </a:blip>
          <a:srcRect/>
          <a:stretch/>
        </p:blipFill>
        <p:spPr>
          <a:xfrm>
            <a:off x="9420536" y="0"/>
            <a:ext cx="2427335" cy="162232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Task 1: </a:t>
            </a:r>
            <a:r>
              <a:rPr lang="en-US" sz="3600" b="1"/>
              <a:t>Homework</a:t>
            </a:r>
            <a:endParaRPr sz="6000"/>
          </a:p>
        </p:txBody>
      </p:sp>
      <p:sp>
        <p:nvSpPr>
          <p:cNvPr id="200" name="Google Shape;200;p16"/>
          <p:cNvSpPr txBox="1">
            <a:spLocks noGrp="1"/>
          </p:cNvSpPr>
          <p:nvPr>
            <p:ph type="body" idx="1"/>
          </p:nvPr>
        </p:nvSpPr>
        <p:spPr>
          <a:xfrm>
            <a:off x="1066805" y="2213109"/>
            <a:ext cx="10058400" cy="4023300"/>
          </a:xfrm>
          <a:prstGeom prst="rect">
            <a:avLst/>
          </a:prstGeom>
          <a:noFill/>
          <a:ln>
            <a:noFill/>
          </a:ln>
        </p:spPr>
        <p:txBody>
          <a:bodyPr spcFirstLastPara="1" wrap="square" lIns="0" tIns="45700" rIns="0" bIns="45700" anchor="t" anchorCtr="0">
            <a:normAutofit/>
          </a:bodyPr>
          <a:lstStyle/>
          <a:p>
            <a:pPr marL="91440" lvl="0" indent="-91440" algn="just" rtl="0">
              <a:lnSpc>
                <a:spcPct val="150000"/>
              </a:lnSpc>
              <a:spcBef>
                <a:spcPts val="0"/>
              </a:spcBef>
              <a:spcAft>
                <a:spcPts val="0"/>
              </a:spcAft>
              <a:buSzPts val="2400"/>
              <a:buChar char=" "/>
            </a:pPr>
            <a:r>
              <a:rPr lang="en-US" sz="2400"/>
              <a:t>We all interact with various information systems every day: at the grocery store, at work, at school, even in our cars (at least some of us). Make a list of the different information systems you interact with every day. See if you can identify the hardware, software, data, people, and processes involved in making these systems work.</a:t>
            </a:r>
            <a:endParaRPr sz="2400"/>
          </a:p>
          <a:p>
            <a:pPr marL="91440" lvl="0" indent="-91440" algn="just" rtl="0">
              <a:lnSpc>
                <a:spcPct val="150000"/>
              </a:lnSpc>
              <a:spcBef>
                <a:spcPts val="0"/>
              </a:spcBef>
              <a:spcAft>
                <a:spcPts val="0"/>
              </a:spcAft>
              <a:buSzPts val="2400"/>
              <a:buChar char=" "/>
            </a:pPr>
            <a:endParaRPr sz="2400" b="1"/>
          </a:p>
          <a:p>
            <a:pPr marL="91440" lvl="0" indent="-91440" algn="just" rtl="0">
              <a:lnSpc>
                <a:spcPct val="150000"/>
              </a:lnSpc>
              <a:spcBef>
                <a:spcPts val="0"/>
              </a:spcBef>
              <a:spcAft>
                <a:spcPts val="0"/>
              </a:spcAft>
              <a:buClr>
                <a:srgbClr val="FF0000"/>
              </a:buClr>
              <a:buSzPts val="2400"/>
              <a:buChar char=" "/>
            </a:pPr>
            <a:endParaRPr sz="2400" u="sng">
              <a:solidFill>
                <a:srgbClr val="FF0000"/>
              </a:solidFill>
            </a:endParaRPr>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The Role of Information Systems</a:t>
            </a:r>
            <a:br>
              <a:rPr lang="en-US"/>
            </a:br>
            <a:r>
              <a:rPr lang="en-US"/>
              <a:t>             </a:t>
            </a:r>
            <a:r>
              <a:rPr lang="en-US" sz="2800">
                <a:solidFill>
                  <a:srgbClr val="FF0000"/>
                </a:solidFill>
              </a:rPr>
              <a:t>What do these components do for an organization?</a:t>
            </a:r>
            <a:r>
              <a:rPr lang="en-US" sz="3600"/>
              <a:t> </a:t>
            </a:r>
            <a:endParaRPr/>
          </a:p>
        </p:txBody>
      </p:sp>
      <p:sp>
        <p:nvSpPr>
          <p:cNvPr id="206" name="Google Shape;206;p17"/>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91440" algn="l" rtl="0">
              <a:lnSpc>
                <a:spcPct val="150000"/>
              </a:lnSpc>
              <a:spcBef>
                <a:spcPts val="0"/>
              </a:spcBef>
              <a:spcAft>
                <a:spcPts val="0"/>
              </a:spcAft>
              <a:buSzPts val="2400"/>
              <a:buFont typeface="Noto Sans Symbols"/>
              <a:buChar char="▪"/>
            </a:pPr>
            <a:r>
              <a:rPr lang="en-US" sz="2400"/>
              <a:t>Collect, store, organize, and distribute data throughout the organization. </a:t>
            </a:r>
            <a:endParaRPr/>
          </a:p>
          <a:p>
            <a:pPr marL="91440" lvl="0" indent="-91440" algn="l" rtl="0">
              <a:lnSpc>
                <a:spcPct val="150000"/>
              </a:lnSpc>
              <a:spcBef>
                <a:spcPts val="1400"/>
              </a:spcBef>
              <a:spcAft>
                <a:spcPts val="0"/>
              </a:spcAft>
              <a:buSzPts val="2400"/>
              <a:buFont typeface="Noto Sans Symbols"/>
              <a:buChar char="▪"/>
            </a:pPr>
            <a:r>
              <a:rPr lang="en-US" sz="2400"/>
              <a:t>Take data and turn it into information, and then transform that into organizational knowledge. </a:t>
            </a:r>
            <a:endParaRPr/>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pic>
        <p:nvPicPr>
          <p:cNvPr id="211" name="Google Shape;211;p18"/>
          <p:cNvPicPr preferRelativeResize="0"/>
          <p:nvPr/>
        </p:nvPicPr>
        <p:blipFill rotWithShape="1">
          <a:blip r:embed="rId3">
            <a:alphaModFix/>
          </a:blip>
          <a:srcRect/>
          <a:stretch/>
        </p:blipFill>
        <p:spPr>
          <a:xfrm>
            <a:off x="2253099" y="395785"/>
            <a:ext cx="7477754" cy="580810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Information Systems Security and Control</a:t>
            </a:r>
            <a:endParaRPr/>
          </a:p>
        </p:txBody>
      </p:sp>
      <p:sp>
        <p:nvSpPr>
          <p:cNvPr id="217" name="Google Shape;217;p19"/>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fontScale="92500"/>
          </a:bodyPr>
          <a:lstStyle/>
          <a:p>
            <a:pPr marL="91440" lvl="0" indent="-80010" algn="l" rtl="0">
              <a:lnSpc>
                <a:spcPct val="150000"/>
              </a:lnSpc>
              <a:spcBef>
                <a:spcPts val="0"/>
              </a:spcBef>
              <a:spcAft>
                <a:spcPts val="0"/>
              </a:spcAft>
              <a:buSzPct val="100000"/>
              <a:buFont typeface="Noto Sans Symbols"/>
              <a:buChar char="▪"/>
            </a:pPr>
            <a:r>
              <a:rPr lang="en-US" sz="2400"/>
              <a:t>Information systems security is responsible for the integrity and safety of system resources and activities. </a:t>
            </a:r>
            <a:endParaRPr/>
          </a:p>
          <a:p>
            <a:pPr marL="91440" lvl="0" indent="-80010" algn="l" rtl="0">
              <a:lnSpc>
                <a:spcPct val="150000"/>
              </a:lnSpc>
              <a:spcBef>
                <a:spcPts val="1400"/>
              </a:spcBef>
              <a:spcAft>
                <a:spcPts val="0"/>
              </a:spcAft>
              <a:buSzPct val="100000"/>
              <a:buFont typeface="Noto Sans Symbols"/>
              <a:buChar char="▪"/>
            </a:pPr>
            <a:r>
              <a:rPr lang="en-US" sz="2400"/>
              <a:t>Information systems are vulnerable to a number of threats and require strict controls, such as continuing countermeasures and regular audits to ensure that the system remains secure.</a:t>
            </a:r>
            <a:endParaRPr sz="2400"/>
          </a:p>
          <a:p>
            <a:pPr marL="91440" lvl="0" indent="-80010" algn="l" rtl="0">
              <a:lnSpc>
                <a:spcPct val="150000"/>
              </a:lnSpc>
              <a:spcBef>
                <a:spcPts val="1400"/>
              </a:spcBef>
              <a:spcAft>
                <a:spcPts val="0"/>
              </a:spcAft>
              <a:buSzPct val="100000"/>
              <a:buChar char="▪"/>
            </a:pPr>
            <a:r>
              <a:rPr lang="en-US" sz="2400" u="sng">
                <a:solidFill>
                  <a:schemeClr val="hlink"/>
                </a:solidFill>
                <a:hlinkClick r:id="rId3"/>
              </a:rPr>
              <a:t>https://www.informationisbeautiful.net/visualizations/worlds-biggest-data-breaches-hacks/</a:t>
            </a:r>
            <a:endParaRPr sz="2400" u="sng"/>
          </a:p>
          <a:p>
            <a:pPr marL="91440" lvl="0" indent="0" algn="l" rtl="0">
              <a:lnSpc>
                <a:spcPct val="90000"/>
              </a:lnSpc>
              <a:spcBef>
                <a:spcPts val="1400"/>
              </a:spcBef>
              <a:spcAft>
                <a:spcPts val="0"/>
              </a:spcAft>
              <a:buSzPct val="100000"/>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pic>
        <p:nvPicPr>
          <p:cNvPr id="222" name="Google Shape;222;p20"/>
          <p:cNvPicPr preferRelativeResize="0"/>
          <p:nvPr/>
        </p:nvPicPr>
        <p:blipFill rotWithShape="1">
          <a:blip r:embed="rId3">
            <a:alphaModFix/>
          </a:blip>
          <a:srcRect/>
          <a:stretch/>
        </p:blipFill>
        <p:spPr>
          <a:xfrm>
            <a:off x="3223636" y="676417"/>
            <a:ext cx="5499069" cy="550516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Information Systems Audit</a:t>
            </a:r>
            <a:endParaRPr/>
          </a:p>
        </p:txBody>
      </p:sp>
      <p:sp>
        <p:nvSpPr>
          <p:cNvPr id="228" name="Google Shape;228;p21"/>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91440" algn="l" rtl="0">
              <a:lnSpc>
                <a:spcPct val="150000"/>
              </a:lnSpc>
              <a:spcBef>
                <a:spcPts val="0"/>
              </a:spcBef>
              <a:spcAft>
                <a:spcPts val="0"/>
              </a:spcAft>
              <a:buSzPts val="2400"/>
              <a:buFont typeface="Noto Sans Symbols"/>
              <a:buChar char="▪"/>
            </a:pPr>
            <a:r>
              <a:rPr lang="en-US" sz="2400"/>
              <a:t>The effectiveness of an information system’s controls is evaluated through an information systems audit. </a:t>
            </a:r>
            <a:endParaRPr/>
          </a:p>
          <a:p>
            <a:pPr marL="91440" lvl="0" indent="-91440" algn="l" rtl="0">
              <a:lnSpc>
                <a:spcPct val="150000"/>
              </a:lnSpc>
              <a:spcBef>
                <a:spcPts val="1400"/>
              </a:spcBef>
              <a:spcAft>
                <a:spcPts val="0"/>
              </a:spcAft>
              <a:buSzPts val="2400"/>
              <a:buFont typeface="Noto Sans Symbols"/>
              <a:buChar char="▪"/>
            </a:pPr>
            <a:r>
              <a:rPr lang="en-US" sz="2400"/>
              <a:t>An audit aims to establish whether information systems are safeguarding corporate assets, maintaining the integrity of stored and communicated data, supporting corporate objectives effectively, and operating efficiently. </a:t>
            </a:r>
            <a:endParaRPr/>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Organizational Impacts of Information Systems</a:t>
            </a:r>
            <a:endParaRPr/>
          </a:p>
        </p:txBody>
      </p:sp>
      <p:sp>
        <p:nvSpPr>
          <p:cNvPr id="234" name="Google Shape;234;p22"/>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91440" algn="l" rtl="0">
              <a:lnSpc>
                <a:spcPct val="90000"/>
              </a:lnSpc>
              <a:spcBef>
                <a:spcPts val="0"/>
              </a:spcBef>
              <a:spcAft>
                <a:spcPts val="0"/>
              </a:spcAft>
              <a:buSzPts val="2400"/>
              <a:buChar char=" "/>
            </a:pPr>
            <a:r>
              <a:rPr lang="en-US" sz="2400" b="1"/>
              <a:t>Information systems support for;</a:t>
            </a:r>
            <a:endParaRPr/>
          </a:p>
          <a:p>
            <a:pPr marL="91440" lvl="0" indent="-91440" algn="l" rtl="0">
              <a:lnSpc>
                <a:spcPct val="90000"/>
              </a:lnSpc>
              <a:spcBef>
                <a:spcPts val="1400"/>
              </a:spcBef>
              <a:spcAft>
                <a:spcPts val="0"/>
              </a:spcAft>
              <a:buSzPts val="2400"/>
              <a:buFont typeface="Noto Sans Symbols"/>
              <a:buChar char="▪"/>
            </a:pPr>
            <a:r>
              <a:rPr lang="en-US" sz="2400"/>
              <a:t>business operations</a:t>
            </a:r>
            <a:endParaRPr/>
          </a:p>
          <a:p>
            <a:pPr marL="91440" lvl="0" indent="-91440" algn="l" rtl="0">
              <a:lnSpc>
                <a:spcPct val="90000"/>
              </a:lnSpc>
              <a:spcBef>
                <a:spcPts val="1400"/>
              </a:spcBef>
              <a:spcAft>
                <a:spcPts val="0"/>
              </a:spcAft>
              <a:buSzPts val="2400"/>
              <a:buFont typeface="Noto Sans Symbols"/>
              <a:buChar char="▪"/>
            </a:pPr>
            <a:r>
              <a:rPr lang="en-US" sz="2400"/>
              <a:t>individual and group decision making</a:t>
            </a:r>
            <a:endParaRPr/>
          </a:p>
          <a:p>
            <a:pPr marL="91440" lvl="0" indent="-91440" algn="l" rtl="0">
              <a:lnSpc>
                <a:spcPct val="90000"/>
              </a:lnSpc>
              <a:spcBef>
                <a:spcPts val="1400"/>
              </a:spcBef>
              <a:spcAft>
                <a:spcPts val="0"/>
              </a:spcAft>
              <a:buSzPts val="2400"/>
              <a:buFont typeface="Noto Sans Symbols"/>
              <a:buChar char="▪"/>
            </a:pPr>
            <a:r>
              <a:rPr lang="en-US" sz="2400"/>
              <a:t>innovation through new product and process development</a:t>
            </a:r>
            <a:endParaRPr/>
          </a:p>
          <a:p>
            <a:pPr marL="91440" lvl="0" indent="-91440" algn="l" rtl="0">
              <a:lnSpc>
                <a:spcPct val="90000"/>
              </a:lnSpc>
              <a:spcBef>
                <a:spcPts val="1400"/>
              </a:spcBef>
              <a:spcAft>
                <a:spcPts val="0"/>
              </a:spcAft>
              <a:buSzPts val="2400"/>
              <a:buFont typeface="Noto Sans Symbols"/>
              <a:buChar char="▪"/>
            </a:pPr>
            <a:r>
              <a:rPr lang="en-US" sz="2400"/>
              <a:t>relationships with customers, suppliers, and partners</a:t>
            </a:r>
            <a:endParaRPr/>
          </a:p>
          <a:p>
            <a:pPr marL="91440" lvl="0" indent="-91440" algn="l" rtl="0">
              <a:lnSpc>
                <a:spcPct val="90000"/>
              </a:lnSpc>
              <a:spcBef>
                <a:spcPts val="1400"/>
              </a:spcBef>
              <a:spcAft>
                <a:spcPts val="0"/>
              </a:spcAft>
              <a:buSzPts val="2400"/>
              <a:buFont typeface="Noto Sans Symbols"/>
              <a:buChar char="▪"/>
            </a:pPr>
            <a:r>
              <a:rPr lang="en-US" sz="2400"/>
              <a:t>pursuit of competitive advantage</a:t>
            </a:r>
            <a:endParaRPr/>
          </a:p>
          <a:p>
            <a:pPr marL="91440" lvl="0" indent="-91440" algn="l" rtl="0">
              <a:lnSpc>
                <a:spcPct val="90000"/>
              </a:lnSpc>
              <a:spcBef>
                <a:spcPts val="1400"/>
              </a:spcBef>
              <a:spcAft>
                <a:spcPts val="0"/>
              </a:spcAft>
              <a:buSzPts val="2400"/>
              <a:buFont typeface="Noto Sans Symbols"/>
              <a:buChar char="▪"/>
            </a:pPr>
            <a:r>
              <a:rPr lang="en-US" sz="2400"/>
              <a:t> lower the costs of communication among workers and firms </a:t>
            </a:r>
            <a:endParaRPr/>
          </a:p>
          <a:p>
            <a:pPr marL="91440" lvl="0" indent="0" algn="l" rtl="0">
              <a:lnSpc>
                <a:spcPct val="90000"/>
              </a:lnSpc>
              <a:spcBef>
                <a:spcPts val="1400"/>
              </a:spcBef>
              <a:spcAft>
                <a:spcPts val="0"/>
              </a:spcAft>
              <a:buSzPts val="2000"/>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Do you know?</a:t>
            </a:r>
            <a:endParaRPr/>
          </a:p>
        </p:txBody>
      </p:sp>
      <p:sp>
        <p:nvSpPr>
          <p:cNvPr id="240" name="Google Shape;240;p23"/>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91440" algn="l" rtl="0">
              <a:lnSpc>
                <a:spcPct val="150000"/>
              </a:lnSpc>
              <a:spcBef>
                <a:spcPts val="0"/>
              </a:spcBef>
              <a:spcAft>
                <a:spcPts val="0"/>
              </a:spcAft>
              <a:buSzPts val="2400"/>
              <a:buFont typeface="Noto Sans Symbols"/>
              <a:buChar char="▪"/>
            </a:pPr>
            <a:r>
              <a:rPr lang="en-US" sz="2400"/>
              <a:t>The use of information systems has enabled new organizational structures.</a:t>
            </a:r>
            <a:endParaRPr/>
          </a:p>
          <a:p>
            <a:pPr marL="91440" lvl="0" indent="-91440" algn="l" rtl="0">
              <a:lnSpc>
                <a:spcPct val="150000"/>
              </a:lnSpc>
              <a:spcBef>
                <a:spcPts val="1400"/>
              </a:spcBef>
              <a:spcAft>
                <a:spcPts val="0"/>
              </a:spcAft>
              <a:buSzPts val="2400"/>
              <a:buFont typeface="Noto Sans Symbols"/>
              <a:buChar char="▪"/>
            </a:pPr>
            <a:r>
              <a:rPr lang="en-US" sz="2400"/>
              <a:t>Virtual organizations have emerged that do not rely on physical offices and standard organizational charts. </a:t>
            </a:r>
            <a:endParaRPr/>
          </a:p>
          <a:p>
            <a:pPr marL="91440" lvl="0" indent="0" algn="l" rtl="0">
              <a:lnSpc>
                <a:spcPct val="90000"/>
              </a:lnSpc>
              <a:spcBef>
                <a:spcPts val="1400"/>
              </a:spcBef>
              <a:spcAft>
                <a:spcPts val="0"/>
              </a:spcAft>
              <a:buSzPts val="2000"/>
              <a:buNone/>
            </a:pPr>
            <a:endParaRPr/>
          </a:p>
        </p:txBody>
      </p:sp>
      <p:pic>
        <p:nvPicPr>
          <p:cNvPr id="241" name="Google Shape;241;p23"/>
          <p:cNvPicPr preferRelativeResize="0"/>
          <p:nvPr/>
        </p:nvPicPr>
        <p:blipFill rotWithShape="1">
          <a:blip r:embed="rId3">
            <a:alphaModFix/>
          </a:blip>
          <a:srcRect/>
          <a:stretch/>
        </p:blipFill>
        <p:spPr>
          <a:xfrm>
            <a:off x="7785612" y="4107886"/>
            <a:ext cx="2952750" cy="1552575"/>
          </a:xfrm>
          <a:prstGeom prst="rect">
            <a:avLst/>
          </a:prstGeom>
          <a:noFill/>
          <a:ln>
            <a:noFill/>
          </a:ln>
        </p:spPr>
      </p:pic>
    </p:spTree>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1070</Words>
  <Application>Microsoft Office PowerPoint</Application>
  <PresentationFormat>Widescreen</PresentationFormat>
  <Paragraphs>94</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Noto Sans Symbols</vt:lpstr>
      <vt:lpstr>Retrospect</vt:lpstr>
      <vt:lpstr>DOC 314  Digital Skills for Higher Education</vt:lpstr>
      <vt:lpstr>Module Team</vt:lpstr>
      <vt:lpstr>How is the module delivered?</vt:lpstr>
      <vt:lpstr>Assessment</vt:lpstr>
      <vt:lpstr>Module Aim</vt:lpstr>
      <vt:lpstr>Learning Outcomes</vt:lpstr>
      <vt:lpstr>Reference Books</vt:lpstr>
      <vt:lpstr>Internet Resources</vt:lpstr>
      <vt:lpstr>Information Systems (I)</vt:lpstr>
      <vt:lpstr>PowerPoint Presentation</vt:lpstr>
      <vt:lpstr>Defining Information Systems</vt:lpstr>
      <vt:lpstr>PowerPoint Presentation</vt:lpstr>
      <vt:lpstr>The Components of Information Systems</vt:lpstr>
      <vt:lpstr>The Components of Information Systems</vt:lpstr>
      <vt:lpstr>The Components of Information Systems</vt:lpstr>
      <vt:lpstr>Task 1: Homework</vt:lpstr>
      <vt:lpstr>The Role of Information Systems              What do these components do for an organization? </vt:lpstr>
      <vt:lpstr>PowerPoint Presentation</vt:lpstr>
      <vt:lpstr>Information Systems Security and Control</vt:lpstr>
      <vt:lpstr>PowerPoint Presentation</vt:lpstr>
      <vt:lpstr>Information Systems Audit</vt:lpstr>
      <vt:lpstr>Organizational Impacts of Information Systems</vt:lpstr>
      <vt:lpstr>Do you know?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 314  Digital Skills for Higher Education</dc:title>
  <dc:creator>Jananie Mayooresan</dc:creator>
  <cp:lastModifiedBy>Dilki Weerakoon</cp:lastModifiedBy>
  <cp:revision>2</cp:revision>
  <dcterms:created xsi:type="dcterms:W3CDTF">2019-09-12T04:55:32Z</dcterms:created>
  <dcterms:modified xsi:type="dcterms:W3CDTF">2023-01-23T05:58:07Z</dcterms:modified>
</cp:coreProperties>
</file>