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1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F91B6-43F4-4986-8FED-744108EC07E5}" type="datetimeFigureOut">
              <a:rPr lang="en-US" smtClean="0"/>
              <a:t>8/7/2022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CB6EA-3038-4C9A-9D16-46F035AEF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1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79C63-A0E8-4700-91FD-C4AB974CAE20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59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249B-B61A-43D3-AAEB-873924942F75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4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8E2DE-EB8D-49A1-8FC9-548A900BC641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0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C763F-1AAA-4BF4-B7B6-A7FB1DF7AAB7}" type="datetime1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9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8F24D-02E7-4B28-BBB4-C5173A9F9758}" type="datetime1">
              <a:rPr lang="en-US" smtClean="0"/>
              <a:t>8/7/2022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2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A2DF-094D-4091-BF05-98A6599A614E}" type="datetime1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40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7EF66-4D92-4059-A388-110314BFAED4}" type="datetime1">
              <a:rPr lang="en-US" smtClean="0"/>
              <a:t>8/7/2022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3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B4422-8936-4186-9939-D0CC9211AE37}" type="datetime1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2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E19B-AAF9-474C-9B15-F922B253DD1A}" type="datetime1">
              <a:rPr lang="en-US" smtClean="0"/>
              <a:t>8/7/2022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28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559D5-15DA-4D88-BFD9-B659B6CBBC10}" type="datetime1">
              <a:rPr lang="en-US" smtClean="0"/>
              <a:t>8/7/2022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3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B6889-9A48-46D3-BC37-C75C163B84AC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39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ADEE9-5EA1-4E4B-B5E8-623684600E44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8512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578A-097C-4CF6-A60C-045A1FA5A521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97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5E1E-2E71-4E13-995C-7D1A0FC5E70F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8474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18979-C85A-402A-B786-95AA4C671DE3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48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3B42-BB9E-48EC-BE9A-335B19DFADEF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78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0A97B-3F29-4F71-94D6-9A905B33FC20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15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09175-74F5-4666-ACBE-FB1E3C274AFD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6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68C7343-9CAD-418E-B82F-4AFDAA4E6EE3}" type="datetime1">
              <a:rPr lang="en-US" smtClean="0"/>
              <a:t>8/7/2022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2FCC54F-1AF3-4D45-A6DD-7D2CA7033C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45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tcs.pressbooks.pub/nursingfundamentals/chapter/2-4-communicating-with-health-care-team-members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wmopen-organizationalbehavior/chapter/external-factors-of-organizational-culture/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ingularityhub.com/2016/08/12/how-nanotech-will-lead-to-a-better-future-for-us-all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d.it/economia/start-up/2017/02/08/startup-realta-aumentata-settore-medico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608E0-76CE-9054-FA9B-E997043FD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942" y="1162974"/>
            <a:ext cx="10102789" cy="1686757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pectral Medium"/>
                <a:sym typeface="Spectral Medium"/>
              </a:rPr>
              <a:t>Information Systems used in</a:t>
            </a:r>
            <a:br>
              <a:rPr lang="en-US" sz="40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pectral Medium"/>
                <a:sym typeface="Spectral Medium"/>
              </a:rPr>
            </a:br>
            <a:r>
              <a:rPr lang="en-US" sz="40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pectral Medium"/>
                <a:sym typeface="Spectral Medium"/>
              </a:rPr>
              <a:t>Healthcare Industry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98CF4-ABE9-DAA7-A34C-CDBF4E1DA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3953" y="4643020"/>
            <a:ext cx="5235714" cy="203363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Ms. U.P.I. Ranchagoda</a:t>
            </a:r>
            <a:r>
              <a:rPr lang="en-US" sz="1800" b="1" dirty="0">
                <a:solidFill>
                  <a:schemeClr val="bg1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	 - </a:t>
            </a:r>
            <a:r>
              <a:rPr lang="en-US" sz="18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20201009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Mr. M.A. Hussain</a:t>
            </a:r>
            <a:r>
              <a:rPr lang="en-US" sz="1800" b="1" dirty="0">
                <a:solidFill>
                  <a:schemeClr val="bg1"/>
                </a:solidFill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 - </a:t>
            </a:r>
            <a:r>
              <a:rPr lang="en-US" sz="18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20210935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Ms. H.M.U. Wijenayake - 20220001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Mr. D.E.P. Perera - 20220002</a:t>
            </a:r>
          </a:p>
          <a:p>
            <a:pPr algn="l"/>
            <a:r>
              <a:rPr lang="en-US" sz="1800" b="1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ea typeface="Calibri" panose="020F0502020204030204" pitchFamily="34" charset="0"/>
                <a:cs typeface="Segoe UI Semibold" panose="020B0702040204020203" pitchFamily="34" charset="0"/>
              </a:rPr>
              <a:t>Mr. A.R.M. Rimaz - 20220003</a:t>
            </a:r>
          </a:p>
          <a:p>
            <a:pPr algn="l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311551-BDAE-12FC-BB08-D8ABE396A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721" y="3047076"/>
            <a:ext cx="5962650" cy="2647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90F943-6BAD-6168-26D0-8B0ECB8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45332E-EFA0-8D92-C86A-5EF5D9566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990" y="1"/>
            <a:ext cx="2104009" cy="7013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CD0B42-F863-9EE5-EF3A-7B17FB82EA5E}"/>
              </a:ext>
            </a:extLst>
          </p:cNvPr>
          <p:cNvSpPr txBox="1"/>
          <p:nvPr/>
        </p:nvSpPr>
        <p:spPr>
          <a:xfrm>
            <a:off x="303953" y="4186385"/>
            <a:ext cx="2944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Group - M1</a:t>
            </a:r>
          </a:p>
        </p:txBody>
      </p:sp>
    </p:spTree>
    <p:extLst>
      <p:ext uri="{BB962C8B-B14F-4D97-AF65-F5344CB8AC3E}">
        <p14:creationId xmlns:p14="http://schemas.microsoft.com/office/powerpoint/2010/main" val="41767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42BD-9B2A-842C-80C9-FEEE79EE9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0415"/>
            <a:ext cx="2690559" cy="989576"/>
          </a:xfrm>
        </p:spPr>
        <p:txBody>
          <a:bodyPr>
            <a:normAutofit/>
          </a:bodyPr>
          <a:lstStyle/>
          <a:p>
            <a:r>
              <a:rPr lang="en" sz="3600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Contents</a:t>
            </a:r>
            <a:endParaRPr lang="en-US" b="1" u="sng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Google Shape;65;p14">
            <a:extLst>
              <a:ext uri="{FF2B5EF4-FFF2-40B4-BE49-F238E27FC236}">
                <a16:creationId xmlns:a16="http://schemas.microsoft.com/office/drawing/2014/main" id="{465E18CE-FEEC-EE17-909B-6045D7B6FB6F}"/>
              </a:ext>
            </a:extLst>
          </p:cNvPr>
          <p:cNvSpPr txBox="1">
            <a:spLocks noGrp="1"/>
          </p:cNvSpPr>
          <p:nvPr>
            <p:ph sz="quarter" idx="13"/>
          </p:nvPr>
        </p:nvSpPr>
        <p:spPr>
          <a:xfrm>
            <a:off x="914400" y="1878012"/>
            <a:ext cx="10363200" cy="430084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63550" lvl="0" indent="-3429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1700"/>
              <a:buFont typeface="+mj-lt"/>
              <a:buAutoNum type="arabicPeriod"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Introduction to the Healthcare Industry</a:t>
            </a:r>
            <a:endParaRPr sz="1800" b="1" dirty="0">
              <a:solidFill>
                <a:schemeClr val="bg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463550" lvl="0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700"/>
              <a:buFont typeface="+mj-lt"/>
              <a:buAutoNum type="arabicPeriod"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Importance/Role of information systems in the Healthcare Industry</a:t>
            </a:r>
            <a:endParaRPr sz="1800" b="1" dirty="0">
              <a:solidFill>
                <a:schemeClr val="bg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463550" lvl="0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700"/>
              <a:buFont typeface="+mj-lt"/>
              <a:buAutoNum type="arabicPeriod"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Information systems used in the Healthcare Industry</a:t>
            </a:r>
          </a:p>
          <a:p>
            <a:pPr marL="120650" lvl="0" indent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700"/>
              <a:buNone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	3.1	EMR – Electronic Medical Record / </a:t>
            </a: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EHR</a:t>
            </a: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 – Electronic Health Record</a:t>
            </a:r>
          </a:p>
          <a:p>
            <a:pPr marL="120650" lvl="0" indent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700"/>
              <a:buNone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	3.2	MPI – Master Patient Index</a:t>
            </a:r>
          </a:p>
          <a:p>
            <a:pPr marL="120650" lvl="0" indent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700"/>
              <a:buNone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		3.3	PMS –  Practice Management Software</a:t>
            </a:r>
          </a:p>
          <a:p>
            <a:pPr marL="120650" lvl="0" indent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700"/>
              <a:buNone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4.	The Past, Present and the Future of Information Systems used in the Healthcare Industry</a:t>
            </a:r>
          </a:p>
          <a:p>
            <a:pPr marL="120650" lvl="0" indent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1700"/>
              <a:buNone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5. 	Summary </a:t>
            </a:r>
            <a:endParaRPr sz="1800" b="1" dirty="0">
              <a:solidFill>
                <a:schemeClr val="bg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81136C-D4C8-B37B-4C7B-3B40A744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74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EE74-D456-F5E6-4FD2-F5892A638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559" y="736847"/>
            <a:ext cx="11185864" cy="843380"/>
          </a:xfrm>
        </p:spPr>
        <p:txBody>
          <a:bodyPr>
            <a:normAutofit fontScale="90000"/>
          </a:bodyPr>
          <a:lstStyle/>
          <a:p>
            <a:r>
              <a:rPr lang="en" b="1" u="sng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Arial" panose="020B0604020202020204" pitchFamily="34" charset="0"/>
              </a:rPr>
              <a:t>Introduction to the Healthcare Industry</a:t>
            </a:r>
            <a:endParaRPr lang="en-US" b="1" u="sng" dirty="0">
              <a:solidFill>
                <a:schemeClr val="accent1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09017-A816-34C3-A84E-4A135F246D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559" y="1669763"/>
            <a:ext cx="10511162" cy="3833634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Efforts made to maintain or restore physical, mental or emotional well being of people is defined as Healthcare .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Healthcare services are offered by specially trained and licensed professionals </a:t>
            </a:r>
            <a:endParaRPr lang="en-US" sz="1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includes work done in providing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- Primary care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- Secondary care 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- Tertiary care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- Public health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4D8B5E-B238-E575-2595-615D1EBDD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33461" y="3586580"/>
            <a:ext cx="4367814" cy="29154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ED015-452B-01A7-C875-D0BCDB20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163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15DA1-2999-9DB0-009A-6DD020FE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946" y="753162"/>
            <a:ext cx="9724321" cy="711653"/>
          </a:xfrm>
        </p:spPr>
        <p:txBody>
          <a:bodyPr>
            <a:normAutofit fontScale="90000"/>
          </a:bodyPr>
          <a:lstStyle/>
          <a:p>
            <a:r>
              <a:rPr lang="en" b="1" u="sng" dirty="0">
                <a:solidFill>
                  <a:schemeClr val="accent1">
                    <a:lumMod val="75000"/>
                  </a:schemeClr>
                </a:solidFill>
              </a:rPr>
              <a:t>Importance of the Healthcare Industry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A676E-7643-5932-E161-CF9552B02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3091" y="1775012"/>
            <a:ext cx="10363826" cy="3165150"/>
          </a:xfrm>
        </p:spPr>
        <p:txBody>
          <a:bodyPr>
            <a:normAutofit/>
          </a:bodyPr>
          <a:lstStyle/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Healthcare industry is one of the largest and fastest growing industries in the world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Focused on the aspects of life that directly impact the lives of every human being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healthcare industry also plays an important role as being the largest employer in the global economy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BD456-1D4B-9D7E-E7A2-17ECF26E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7920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D6AA-A193-F3EC-BD98-4F8D414B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486" y="540532"/>
            <a:ext cx="10364451" cy="890687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Importance of Health information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BA9C4-8F0B-A36E-21EE-C09B8AA9A8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631576"/>
            <a:ext cx="10363826" cy="4518174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health information system enables health care organizations to collect, store, manage, analyze, and optimize patient treatment histories and other key data. 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Doctors  use health information systems to make data-driven decisions. (onlinemasters,2020)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HIS enables the healthcare providers to easily get information about macro environments.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invaluable for administrators, who can analyze statistics on various topics. (onlinemasters,2020)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EB3E9-5FE3-50FF-081F-84BC369A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035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0C64-00F7-A739-F585-BEE4EE8D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307" y="307800"/>
            <a:ext cx="10364451" cy="970586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Market Size of health information systems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21CD876-DA59-C4AD-4504-EDCD751C7AB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1" r="12963"/>
          <a:stretch/>
        </p:blipFill>
        <p:spPr>
          <a:xfrm>
            <a:off x="245134" y="1278386"/>
            <a:ext cx="7458205" cy="4744112"/>
          </a:xfrm>
          <a:ln w="12700">
            <a:solidFill>
              <a:schemeClr val="tx1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191EA87-A860-3629-8E3A-7CECF859B352}"/>
              </a:ext>
            </a:extLst>
          </p:cNvPr>
          <p:cNvSpPr/>
          <p:nvPr/>
        </p:nvSpPr>
        <p:spPr>
          <a:xfrm>
            <a:off x="7902739" y="1420429"/>
            <a:ext cx="4150659" cy="417755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  <a:p>
            <a:r>
              <a:rPr lang="en-US" sz="2000" b="1" dirty="0">
                <a:solidFill>
                  <a:schemeClr val="tx1"/>
                </a:solidFill>
              </a:rPr>
              <a:t>Brandessencereasearch.com states that “Healthcare Information System Market is valued at USD 282.70 Billion in 2021 and is expected to reach USD 579.56 Billion by 2028 with a CAGR of 10.8% over the forecast period.” </a:t>
            </a:r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3F6B28-3180-D466-D3AF-D1E6C4D54F83}"/>
              </a:ext>
            </a:extLst>
          </p:cNvPr>
          <p:cNvSpPr/>
          <p:nvPr/>
        </p:nvSpPr>
        <p:spPr>
          <a:xfrm>
            <a:off x="395751" y="6057141"/>
            <a:ext cx="6669741" cy="4930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(Brandessencereasearch,2022)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7FE60F-B0EF-A1D6-630D-286DD0FE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542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10ED-2077-7A26-AA8B-30CBCDCE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655" y="510727"/>
            <a:ext cx="8579101" cy="572349"/>
          </a:xfrm>
        </p:spPr>
        <p:txBody>
          <a:bodyPr>
            <a:normAutofit/>
          </a:bodyPr>
          <a:lstStyle/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Role of Health Information Systems</a:t>
            </a:r>
            <a:endParaRPr lang="en-US" sz="2800" u="sng" dirty="0">
              <a:solidFill>
                <a:schemeClr val="accent1">
                  <a:lumMod val="7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5CDFE-B002-D556-BC5B-DB8B7B162F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7585" y="1599198"/>
            <a:ext cx="10363826" cy="3444449"/>
          </a:xfrm>
        </p:spPr>
        <p:txBody>
          <a:bodyPr/>
          <a:lstStyle/>
          <a:p>
            <a:pPr marL="400050" lvl="0" algn="just">
              <a:lnSpc>
                <a:spcPct val="115000"/>
              </a:lnSpc>
              <a:spcBef>
                <a:spcPts val="1200"/>
              </a:spcBef>
              <a:buClrTx/>
              <a:buSzPts val="18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HIS is about communication within various devices team members and patient medical .</a:t>
            </a:r>
          </a:p>
          <a:p>
            <a:pPr marL="400050" lvl="0" algn="just">
              <a:lnSpc>
                <a:spcPct val="115000"/>
              </a:lnSpc>
              <a:spcBef>
                <a:spcPts val="1000"/>
              </a:spcBef>
              <a:buClrTx/>
              <a:buSzPts val="18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 channels makes sure that hardware solutions are carefully selected and installed.</a:t>
            </a:r>
          </a:p>
          <a:p>
            <a:pPr marL="400050" lvl="0" algn="just">
              <a:lnSpc>
                <a:spcPct val="115000"/>
              </a:lnSpc>
              <a:spcBef>
                <a:spcPts val="1000"/>
              </a:spcBef>
              <a:buClrTx/>
              <a:buSzPts val="18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Healthcare IT standards provide a trustworthy system to the patient privacy rights and patient wellbeing.</a:t>
            </a:r>
          </a:p>
          <a:p>
            <a:pPr marL="400050" lvl="0" algn="just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Tx/>
              <a:buSzPts val="18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Users are not embarrassed by awkward interfaces or unnecessary roadblocks 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75AADE-19B0-0CC6-6B7E-0409A8B9C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384" y="4517096"/>
            <a:ext cx="3689855" cy="20853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51181-E5B1-BBB5-DAC6-D0921D48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9800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204F9-9583-5E33-25C8-C5CF6A4D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487" y="103590"/>
            <a:ext cx="8534400" cy="1507067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Information SYSTEMS USED IN HEALTHCARE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2B9C7-B7CC-705B-D5F4-AEDB9D9702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757082"/>
            <a:ext cx="10363826" cy="4392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bg1"/>
                </a:solidFill>
              </a:rPr>
              <a:t> </a:t>
            </a:r>
            <a:r>
              <a:rPr lang="en-US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1.Electronic Medical Record (EMR) and Electronic Health Record (EHR)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workstations and servers, tablet PC, laptops, monitors, scanners, routers, and bridges.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features include digital charting, order entry, decision support, and clinical reporting. 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Contains notes and information collected by and for the clinicians in that office, clinic, or hospital.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 an evaluation defines the needs and preferences of the organization to have in the EHR for the hospital to function planned into 1 or3 math’s.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Shares information with other health care providers and organizations.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D2D6A-4A9E-B1EC-2035-1BF535E3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239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571E91-AD09-49FC-B59C-F491F0C3463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988" y="851646"/>
            <a:ext cx="6238296" cy="34440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5D30D0-3E54-4BEE-AE77-37EA107C50F9}"/>
              </a:ext>
            </a:extLst>
          </p:cNvPr>
          <p:cNvSpPr/>
          <p:nvPr/>
        </p:nvSpPr>
        <p:spPr>
          <a:xfrm>
            <a:off x="2733665" y="4545106"/>
            <a:ext cx="6508376" cy="10219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Figure  Software used in EMR (advancedmd.com,) </a:t>
            </a:r>
            <a:endParaRPr 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06CAFA-EB81-157C-585D-2B6CCAC8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268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1BE4-D0D3-666F-2A81-825B7E075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518" y="363568"/>
            <a:ext cx="8534400" cy="1097680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 Master Patient Index (MPI)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0A052-5692-DB5F-BEBC-5740CA0CD90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4870" y="986118"/>
            <a:ext cx="10363826" cy="4957481"/>
          </a:xfrm>
        </p:spPr>
        <p:txBody>
          <a:bodyPr/>
          <a:lstStyle/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MPI uses PCs, servers etc. as hardware.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(EMPI) uses to maintain consistent and accurate information about each patient registered by a healthcare organization.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MPI data lists the medical record or identification number associated with the name.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Match individuals based on a combination of the following: Unique patient identifier, Patient name, Date of birth, Gender, Race, Ethnicity, Address, Alias/previous name, Biometrics such as fingerprints or face recognition, National identification number/passport number.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Patients who have been treated in an enterprise, doctors, physicians, nurses, staff etc. are people involved.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8404F-9180-243E-EEC1-32D26F21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7924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D137-7429-4C71-AC55-3C5A638C4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18" y="291851"/>
            <a:ext cx="8534400" cy="1133538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 Practice Management Software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DDBBB-3D08-4544-9BCD-50E1ADA4F6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9929" y="1425389"/>
            <a:ext cx="10286038" cy="5477435"/>
          </a:xfrm>
        </p:spPr>
        <p:txBody>
          <a:bodyPr>
            <a:normAutofit/>
          </a:bodyPr>
          <a:lstStyle/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Requires just an internet connection and a simple computer network.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Manages the day-to-day operations of a clinic (Kareo)</a:t>
            </a:r>
          </a:p>
          <a:p>
            <a:pPr marL="0" lvl="0" indent="0" fontAlgn="base">
              <a:buClrTx/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It can be deployed three different ways: as desktop-only software, client-server software or Internet-based software.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Encompasses multiple topics including governance, the financial aspects of medical billing, staff management, ancillary service development, information technology, transcription utilization, and marketing.</a:t>
            </a:r>
          </a:p>
          <a:p>
            <a:pPr lvl="0" fontAlgn="base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Functions performed in practice management software are;</a:t>
            </a:r>
          </a:p>
          <a:p>
            <a:pPr marL="0" lvl="0" indent="0">
              <a:buClrTx/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-Preregister patients.                                                          </a:t>
            </a:r>
          </a:p>
          <a:p>
            <a:pPr marL="0" lvl="0" indent="0">
              <a:buClrTx/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-Establish financial responsibility. </a:t>
            </a:r>
          </a:p>
          <a:p>
            <a:pPr marL="0" lvl="0" indent="0">
              <a:buClrTx/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-Check in patients.</a:t>
            </a:r>
          </a:p>
          <a:p>
            <a:pPr marL="0" lvl="0" indent="0">
              <a:buClrTx/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-Check out patients.</a:t>
            </a:r>
          </a:p>
          <a:p>
            <a:pPr lvl="0">
              <a:buClrTx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Involves training, directing, and motivating team members.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4F2D9-0869-3AA0-93FD-98270D58F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26510" y="4528938"/>
            <a:ext cx="4337628" cy="18073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CF39B-33D5-803F-F3AE-6ACB18E70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2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B4917-73E5-F4A4-1CD8-9C039030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671783"/>
            <a:ext cx="10364451" cy="11481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libri" panose="020F0502020204030204" pitchFamily="34" charset="0"/>
                <a:sym typeface="Old Standard TT"/>
              </a:rPr>
              <a:t>Evaluation  of  Information  System  in  Healthcare industry  from  past  to  present</a:t>
            </a:r>
            <a:b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Old Standard TT"/>
                <a:cs typeface="Calibri" panose="020F0502020204030204" pitchFamily="34" charset="0"/>
                <a:sym typeface="Old Standard TT"/>
              </a:rPr>
            </a:br>
            <a:endParaRPr lang="en-US" sz="3200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CA02A-A1F1-56BB-D884-F90097482B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0211" y="1926455"/>
            <a:ext cx="10981678" cy="4259762"/>
          </a:xfrm>
        </p:spPr>
        <p:txBody>
          <a:bodyPr/>
          <a:lstStyle/>
          <a:p>
            <a:pPr>
              <a:buClrTx/>
              <a:buFont typeface="Wingdings" panose="05000000000000000000" pitchFamily="2" charset="2"/>
              <a:buChar char="q"/>
            </a:pPr>
            <a:r>
              <a:rPr lang="en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Past -</a:t>
            </a: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historical analysis shows major milestones of the development of global medical informatics and Health Information Systems: during the 1960s</a:t>
            </a:r>
            <a:endParaRPr lang="en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endParaRPr lang="en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</a:t>
            </a:r>
          </a:p>
          <a:p>
            <a:pPr marL="857250" lvl="1" indent="-285750" algn="l" rtl="0">
              <a:spcBef>
                <a:spcPts val="1000"/>
              </a:spcBef>
              <a:spcAft>
                <a:spcPts val="0"/>
              </a:spcAft>
              <a:buClrTx/>
              <a:buSzPts val="18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Big Data in Healthcare industry? </a:t>
            </a:r>
          </a:p>
          <a:p>
            <a:pPr marL="857250" lvl="1" indent="-285750" algn="l" rtl="0">
              <a:spcBef>
                <a:spcPts val="1000"/>
              </a:spcBef>
              <a:spcAft>
                <a:spcPts val="0"/>
              </a:spcAft>
              <a:buClrTx/>
              <a:buSzPts val="18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Telehealth, How to use it?</a:t>
            </a:r>
          </a:p>
          <a:p>
            <a:pPr marL="857250" lvl="1" indent="-285750" algn="l" rtl="0">
              <a:spcBef>
                <a:spcPts val="1000"/>
              </a:spcBef>
              <a:spcAft>
                <a:spcPts val="0"/>
              </a:spcAft>
              <a:buClrTx/>
              <a:buSzPts val="18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 systems in Healthcare industry.</a:t>
            </a:r>
          </a:p>
          <a:p>
            <a:pPr marL="857250" lvl="1" indent="-285750" algn="l" rtl="0">
              <a:spcBef>
                <a:spcPts val="1000"/>
              </a:spcBef>
              <a:spcAft>
                <a:spcPts val="0"/>
              </a:spcAft>
              <a:buClrTx/>
              <a:buSzPts val="18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App development in Healthcare.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E3C3B-61D8-7C78-24FD-6DB4DB0A7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4AE6-4448-8B9F-C741-621287B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24" y="1712791"/>
            <a:ext cx="4908806" cy="835100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Artificial Intelligence</a:t>
            </a:r>
            <a:br>
              <a:rPr lang="en-US" sz="3600" b="1" dirty="0">
                <a:solidFill>
                  <a:schemeClr val="lt1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06527-460D-9705-249B-84A7B8B4FC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0324" y="2465290"/>
            <a:ext cx="10363826" cy="3337643"/>
          </a:xfrm>
        </p:spPr>
        <p:txBody>
          <a:bodyPr/>
          <a:lstStyle/>
          <a:p>
            <a:endParaRPr lang="en-US" dirty="0"/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Atom wise uses its AI technology to root out therapies from a database of molecular structures.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Google’s deep mind making an AI for analyze bone cancer.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Managing using AI is the best option compared with human management</a:t>
            </a:r>
            <a:r>
              <a:rPr lang="en-US" b="1" dirty="0">
                <a:solidFill>
                  <a:schemeClr val="bg1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359379-9F7D-3A26-85A0-F4636D6E9FD0}"/>
              </a:ext>
            </a:extLst>
          </p:cNvPr>
          <p:cNvSpPr txBox="1">
            <a:spLocks/>
          </p:cNvSpPr>
          <p:nvPr/>
        </p:nvSpPr>
        <p:spPr>
          <a:xfrm>
            <a:off x="2770689" y="373744"/>
            <a:ext cx="6108462" cy="1016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libri" panose="020F0502020204030204" pitchFamily="34" charset="0"/>
              </a:rPr>
              <a:t>future OF health INFORMATION SYSTEMS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C8FEAC-682E-264E-11E4-21C37BB7A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2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BF19-397B-2F21-85A6-2D3AFC7D6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12" y="496553"/>
            <a:ext cx="6152850" cy="1140496"/>
          </a:xfrm>
        </p:spPr>
        <p:txBody>
          <a:bodyPr/>
          <a:lstStyle/>
          <a:p>
            <a:r>
              <a:rPr lang="en-US" sz="2800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Nano Technology</a:t>
            </a:r>
            <a:br>
              <a:rPr lang="en-US" dirty="0">
                <a:solidFill>
                  <a:srgbClr val="002060"/>
                </a:solidFill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301B2-5A16-FBB2-066D-DD3C21B6D3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1833" y="2138000"/>
            <a:ext cx="10363826" cy="3424107"/>
          </a:xfrm>
        </p:spPr>
        <p:txBody>
          <a:bodyPr/>
          <a:lstStyle/>
          <a:p>
            <a:pPr marL="454025" indent="-342900">
              <a:lnSpc>
                <a:spcPct val="150000"/>
              </a:lnSpc>
              <a:spcBef>
                <a:spcPts val="0"/>
              </a:spcBef>
              <a:buClrTx/>
              <a:buSzPts val="185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Nanobots bots can easily swim through body fluids</a:t>
            </a:r>
          </a:p>
          <a:p>
            <a:pPr marL="454025" indent="-342900">
              <a:lnSpc>
                <a:spcPct val="150000"/>
              </a:lnSpc>
              <a:spcBef>
                <a:spcPts val="0"/>
              </a:spcBef>
              <a:buClrTx/>
              <a:buSzPts val="1850"/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4025" indent="-342900">
              <a:lnSpc>
                <a:spcPct val="150000"/>
              </a:lnSpc>
              <a:spcBef>
                <a:spcPts val="0"/>
              </a:spcBef>
              <a:buClrTx/>
              <a:buSzPts val="185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collect in-depth data on the human brain</a:t>
            </a:r>
          </a:p>
          <a:p>
            <a:pPr marL="454025" indent="-342900">
              <a:lnSpc>
                <a:spcPct val="150000"/>
              </a:lnSpc>
              <a:spcBef>
                <a:spcPts val="0"/>
              </a:spcBef>
              <a:buClrTx/>
              <a:buSzPts val="1850"/>
              <a:buFont typeface="Wingdings" panose="05000000000000000000" pitchFamily="2" charset="2"/>
              <a:buChar char="q"/>
            </a:pPr>
            <a:endParaRPr lang="en-US" sz="20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42900">
              <a:lnSpc>
                <a:spcPct val="150000"/>
              </a:lnSpc>
              <a:spcBef>
                <a:spcPts val="0"/>
              </a:spcBef>
              <a:buClrTx/>
              <a:buSzPts val="1800"/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Sensors powered by magnetic nanoparticles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D796E0-38DC-BFBC-3E73-015AE6342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341831" y="3429000"/>
            <a:ext cx="4681492" cy="23407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3F5D-6F55-A505-63F4-BCF51AAF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4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6E0726-69B3-05F8-254D-AED0EB52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928" y="574090"/>
            <a:ext cx="4403948" cy="985421"/>
          </a:xfrm>
        </p:spPr>
        <p:txBody>
          <a:bodyPr>
            <a:normAutofit fontScale="90000"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Calibri" panose="020F0502020204030204" pitchFamily="34" charset="0"/>
              </a:rPr>
              <a:t>VR-VIRTUAL REALITY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6F947-1FC9-2620-2435-193614BFA3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brief we can say VR as virtual reality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Mainly VR can be used to train surgeons for their operations.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Pain management using VR</a:t>
            </a:r>
          </a:p>
          <a:p>
            <a:pPr>
              <a:buClrTx/>
              <a:buFont typeface="Wingdings" panose="05000000000000000000" pitchFamily="2" charset="2"/>
              <a:buChar char="q"/>
            </a:pP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Osso VR and Immersive Touch companies are the big names behind those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0FFFC8-E597-45D2-4773-ACD3DC4BD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55762" y="2212759"/>
            <a:ext cx="4341043" cy="24324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DECAE1-1911-7F4B-A510-0996E055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94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00B7-2E06-EE8E-7C5D-0AD0F341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68" y="491250"/>
            <a:ext cx="2584025" cy="579967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SUMMARY</a:t>
            </a:r>
            <a:r>
              <a:rPr lang="en-US" dirty="0">
                <a:latin typeface="Bahnschrift" panose="020B05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F94F0-A333-FB0C-8CE5-41BCB02CC0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781234"/>
            <a:ext cx="10363826" cy="5805997"/>
          </a:xfrm>
        </p:spPr>
        <p:txBody>
          <a:bodyPr>
            <a:normAutofit fontScale="92500" lnSpcReduction="20000"/>
          </a:bodyPr>
          <a:lstStyle/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Healthcare industry is one of the largest and fastest growing industries in the world.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includes work done in providing, 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	  -</a:t>
            </a: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Primary care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	  -</a:t>
            </a: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care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	  -Tertiary care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-Public health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systems used in the healthcare industry makes sure that all healthcare providers gets trends easily in order to be updated.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 is about communication within various devices, team members and patient medical.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EMR, MPI and Practice management </a:t>
            </a:r>
            <a:r>
              <a:rPr lang="en-US" sz="1800" b="1" dirty="0" err="1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</a:t>
            </a: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some of the information systems used in the healthcare industry.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Healthcare information systems have been evolved exponentially over time.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Although, there isn't much information to be found on the information systems used in the past, telehealth and EHR are Information systems used presently.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 and VR are some of the health information systems developed to use in the future.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D9E53-5BBE-3BF3-5C05-00209E9E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CEB73-6626-BA5F-9650-EF93E96403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8084" y="627067"/>
            <a:ext cx="5353860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/>
              <a:t>THANK YOU!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E272FE-0254-2964-DDD1-55C406728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410" y="1990140"/>
            <a:ext cx="2759883" cy="41398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A1F81AA-290A-F414-C7A9-D2343E1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CC54F-1AF3-4D45-A6DD-7D2CA7033C6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351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377</TotalTime>
  <Words>692</Words>
  <Application>Microsoft Office PowerPoint</Application>
  <PresentationFormat>Widescreen</PresentationFormat>
  <Paragraphs>141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Bahnschrift</vt:lpstr>
      <vt:lpstr>Calibri</vt:lpstr>
      <vt:lpstr>Century Gothic</vt:lpstr>
      <vt:lpstr>Segoe UI Black</vt:lpstr>
      <vt:lpstr>Segoe UI Semibold</vt:lpstr>
      <vt:lpstr>Wingdings</vt:lpstr>
      <vt:lpstr>Wingdings 3</vt:lpstr>
      <vt:lpstr>Slice</vt:lpstr>
      <vt:lpstr>Information Systems used in Healthcare Industry</vt:lpstr>
      <vt:lpstr>Contents</vt:lpstr>
      <vt:lpstr>Introduction to the Healthcare Industry</vt:lpstr>
      <vt:lpstr>Importance of the Healthcare Industry</vt:lpstr>
      <vt:lpstr>Importance of Health information systems</vt:lpstr>
      <vt:lpstr>Market Size of health information systems</vt:lpstr>
      <vt:lpstr>Role of Health Information Systems</vt:lpstr>
      <vt:lpstr>Information SYSTEMS USED IN HEALTHCARE INDUSTRY</vt:lpstr>
      <vt:lpstr>PowerPoint Presentation</vt:lpstr>
      <vt:lpstr>2. Master Patient Index (MPI) </vt:lpstr>
      <vt:lpstr>3. Practice Management Software </vt:lpstr>
      <vt:lpstr>Evaluation  of  Information  System  in  Healthcare industry  from  past  to  present </vt:lpstr>
      <vt:lpstr>Artificial Intelligence </vt:lpstr>
      <vt:lpstr>Nano Technology </vt:lpstr>
      <vt:lpstr>VR-VIRTUAL REALITY 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used in Healthcare Industry</dc:title>
  <dc:creator>Eshan Pasindu</dc:creator>
  <cp:lastModifiedBy>DELL</cp:lastModifiedBy>
  <cp:revision>19</cp:revision>
  <dcterms:created xsi:type="dcterms:W3CDTF">2022-07-25T15:22:53Z</dcterms:created>
  <dcterms:modified xsi:type="dcterms:W3CDTF">2022-08-07T16:46:44Z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