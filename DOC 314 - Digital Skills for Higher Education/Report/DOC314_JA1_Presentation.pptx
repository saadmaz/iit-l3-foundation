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4" roundtripDataSignature="AMtx7mjfqtcv6x8gWQPleN49kb7+i+8K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ACFC02-EB43-4203-81E6-80AD53A3F7E8}">
  <a:tblStyle styleId="{66ACFC02-EB43-4203-81E6-80AD53A3F7E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D9479B3-412B-45C8-9E20-A5334512E70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11" Type="http://schemas.openxmlformats.org/officeDocument/2006/relationships/slide" Target="slides/slide6.xml"/><Relationship Id="rId22" Type="http://schemas.openxmlformats.org/officeDocument/2006/relationships/font" Target="fonts/CenturyGothic-italic.fntdata"/><Relationship Id="rId10" Type="http://schemas.openxmlformats.org/officeDocument/2006/relationships/slide" Target="slides/slide5.xml"/><Relationship Id="rId21" Type="http://schemas.openxmlformats.org/officeDocument/2006/relationships/font" Target="fonts/CenturyGothic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69bb6c523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169bb6c52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69bb6c523b_5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169bb6c523b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69bb6c523b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169bb6c52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69bb6c523b_5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169bb6c523b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69bb6c523b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169bb6c52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69b27b760d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169b27b76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lectronic circuit board" id="85" name="Google Shape;85;p1"/>
          <p:cNvPicPr preferRelativeResize="0"/>
          <p:nvPr/>
        </p:nvPicPr>
        <p:blipFill rotWithShape="1">
          <a:blip r:embed="rId3">
            <a:alphaModFix/>
          </a:blip>
          <a:srcRect b="-1" l="11121" r="4505" t="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0" y="0"/>
            <a:ext cx="97566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6862"/>
                </a:srgbClr>
              </a:gs>
              <a:gs pos="35000">
                <a:srgbClr val="FFFFFF">
                  <a:alpha val="78039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txx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211126" y="1815973"/>
            <a:ext cx="6276760" cy="14211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800"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r>
              <a:rPr baseline="30000" lang="en-US" sz="4800">
                <a:latin typeface="Century Gothic"/>
                <a:ea typeface="Century Gothic"/>
                <a:cs typeface="Century Gothic"/>
                <a:sym typeface="Century Gothic"/>
              </a:rPr>
              <a:t>rd </a:t>
            </a:r>
            <a:r>
              <a:rPr lang="en-US" sz="4800"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lang="en-US" sz="4400"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r>
              <a:rPr baseline="30000" lang="en-US" sz="4400">
                <a:latin typeface="Century Gothic"/>
                <a:ea typeface="Century Gothic"/>
                <a:cs typeface="Century Gothic"/>
                <a:sym typeface="Century Gothic"/>
              </a:rPr>
              <a:t>th </a:t>
            </a:r>
            <a:r>
              <a:rPr lang="en-US" sz="4800">
                <a:latin typeface="Century Gothic"/>
                <a:ea typeface="Century Gothic"/>
                <a:cs typeface="Century Gothic"/>
                <a:sym typeface="Century Gothic"/>
              </a:rPr>
              <a:t>Generation Computers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8810171" y="6125029"/>
            <a:ext cx="3247629" cy="54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lt1"/>
                </a:solidFill>
              </a:rPr>
              <a:t>DOC314 Digital Skills For Higher Education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"/>
          <p:cNvSpPr/>
          <p:nvPr/>
        </p:nvSpPr>
        <p:spPr>
          <a:xfrm rot="5400000">
            <a:off x="1164184" y="-278575"/>
            <a:ext cx="45719" cy="14576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288644" y="3410700"/>
            <a:ext cx="3977700" cy="183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0 Years of Education Excellence 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40320" t="0"/>
          <a:stretch/>
        </p:blipFill>
        <p:spPr>
          <a:xfrm>
            <a:off x="458203" y="637539"/>
            <a:ext cx="1660883" cy="63080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211126" y="3970167"/>
            <a:ext cx="4222200" cy="2400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Wathila (Leader) - 20220955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Senudi  </a:t>
            </a: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 20220941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Pahanmi     -  20220931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Steve           -  20221633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Gerald         -  20221108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Edith      </a:t>
            </a: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 20220980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Thulaxsiga  -  20221638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da Hani (nidahanimaisa) - Profile | Pinterest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>
            <p:ph type="title"/>
          </p:nvPr>
        </p:nvSpPr>
        <p:spPr>
          <a:xfrm>
            <a:off x="4222800" y="83075"/>
            <a:ext cx="4300500" cy="8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8523300" y="6492875"/>
            <a:ext cx="36687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Education</a:t>
            </a:r>
            <a:endParaRPr b="0" i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300" y="2814375"/>
            <a:ext cx="1460949" cy="20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0" y="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20220955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" name="Google Shape;102;p2"/>
          <p:cNvGraphicFramePr/>
          <p:nvPr/>
        </p:nvGraphicFramePr>
        <p:xfrm>
          <a:off x="1660175" y="2617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{66ACFC02-EB43-4203-81E6-80AD53A3F7E8}</a:tableStyleId>
              </a:tblPr>
              <a:tblGrid>
                <a:gridCol w="2833575"/>
                <a:gridCol w="3841550"/>
                <a:gridCol w="3324875"/>
              </a:tblGrid>
              <a:tr h="577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baseline="30000"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</a:t>
                      </a:r>
                      <a:r>
                        <a:rPr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Generation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1940 - 1950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Vacuum tube 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</a:tr>
              <a:tr h="75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aseline="30000"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nd</a:t>
                      </a:r>
                      <a:r>
                        <a:rPr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Generation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1950 - 1960</a:t>
                      </a:r>
                      <a:br>
                        <a:rPr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Transistor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E8EBF5"/>
                    </a:solidFill>
                  </a:tcPr>
                </a:tc>
              </a:tr>
              <a:tr h="79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baseline="30000"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rd</a:t>
                      </a:r>
                      <a:r>
                        <a:rPr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Generation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1960 - 1970</a:t>
                      </a:r>
                      <a:br>
                        <a:rPr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Integrated circuit</a:t>
                      </a:r>
                      <a:br>
                        <a:rPr lang="en-US" sz="2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</a:tr>
              <a:tr h="79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baseline="30000"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</a:t>
                      </a:r>
                      <a:r>
                        <a:rPr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Generation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1970 - present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Microprocessor </a:t>
                      </a:r>
                      <a:endParaRPr sz="2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E8EBF5"/>
                    </a:solidFill>
                  </a:tcPr>
                </a:tc>
              </a:tr>
              <a:tr h="78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baseline="30000"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 </a:t>
                      </a:r>
                      <a:r>
                        <a:rPr lang="en-US" sz="23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Generation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present / future</a:t>
                      </a:r>
                      <a:endParaRPr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Artificial intelligence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" name="Google Shape;103;p2"/>
          <p:cNvGraphicFramePr/>
          <p:nvPr/>
        </p:nvGraphicFramePr>
        <p:xfrm>
          <a:off x="1658756" y="186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{66ACFC02-EB43-4203-81E6-80AD53A3F7E8}</a:tableStyleId>
              </a:tblPr>
              <a:tblGrid>
                <a:gridCol w="2844800"/>
                <a:gridCol w="3846275"/>
                <a:gridCol w="3311750"/>
              </a:tblGrid>
              <a:tr h="62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 Generation</a:t>
                      </a:r>
                      <a:endParaRPr sz="23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Year</a:t>
                      </a:r>
                      <a:endParaRPr sz="23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 Technology</a:t>
                      </a:r>
                      <a:endParaRPr sz="23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2"/>
          <p:cNvSpPr/>
          <p:nvPr/>
        </p:nvSpPr>
        <p:spPr>
          <a:xfrm>
            <a:off x="4733850" y="835775"/>
            <a:ext cx="2724300" cy="31200"/>
          </a:xfrm>
          <a:prstGeom prst="rect">
            <a:avLst/>
          </a:prstGeom>
          <a:solidFill>
            <a:srgbClr val="D5D5D5"/>
          </a:solidFill>
          <a:ln cap="flat" cmpd="sng" w="9525">
            <a:solidFill>
              <a:srgbClr val="D5D5D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658750" y="1019275"/>
            <a:ext cx="7971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/>
              <a:t>Today,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are Here To Present </a:t>
            </a:r>
            <a:r>
              <a:rPr lang="en-US" sz="1900"/>
              <a:t>About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3rd and 4th Generation Of computers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0 Years of Education Excellence "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40320" t="0"/>
          <a:stretch/>
        </p:blipFill>
        <p:spPr>
          <a:xfrm>
            <a:off x="10467806" y="198920"/>
            <a:ext cx="1660883" cy="630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DF] Sperry Rand's Third-Generation Computers 1964-1980 | Semantic Scholar" id="111" name="Google Shape;111;p4"/>
          <p:cNvPicPr preferRelativeResize="0"/>
          <p:nvPr/>
        </p:nvPicPr>
        <p:blipFill rotWithShape="1">
          <a:blip r:embed="rId3">
            <a:alphaModFix/>
          </a:blip>
          <a:srcRect b="3504" l="0" r="5350" t="0"/>
          <a:stretch/>
        </p:blipFill>
        <p:spPr>
          <a:xfrm>
            <a:off x="3505099" y="0"/>
            <a:ext cx="8686902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0" y="0"/>
            <a:ext cx="97566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6862"/>
                </a:srgbClr>
              </a:gs>
              <a:gs pos="35000">
                <a:srgbClr val="FFFFFF">
                  <a:alpha val="78039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txx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>
            <p:ph type="title"/>
          </p:nvPr>
        </p:nvSpPr>
        <p:spPr>
          <a:xfrm>
            <a:off x="328842" y="30575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aseline="30000" lang="en-US">
                <a:latin typeface="Arial"/>
                <a:ea typeface="Arial"/>
                <a:cs typeface="Arial"/>
                <a:sym typeface="Arial"/>
              </a:rPr>
              <a:t>rd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Generation Computers (1960-1971)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328842" y="162665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aseline="30000" lang="en-US" sz="2400">
                <a:latin typeface="Arial"/>
                <a:ea typeface="Arial"/>
                <a:cs typeface="Arial"/>
                <a:sym typeface="Arial"/>
              </a:rPr>
              <a:t>rd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Generation computers are between 1965 and ended around 1971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Third generation computers used Integrated Circuits instead of transistors.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Keyboard and mouse are used for data input.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It is smaller in size and produce less heat generation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60"/>
              <a:buChar char="•"/>
            </a:pPr>
            <a:r>
              <a:rPr lang="en-US" sz="2260">
                <a:latin typeface="Arial"/>
                <a:ea typeface="Arial"/>
                <a:cs typeface="Arial"/>
                <a:sym typeface="Arial"/>
              </a:rPr>
              <a:t>Magnetic storage was introduced</a:t>
            </a:r>
            <a:endParaRPr sz="226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6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      &gt; </a:t>
            </a:r>
            <a:r>
              <a:rPr lang="en-US" sz="1979">
                <a:latin typeface="Arial"/>
                <a:ea typeface="Arial"/>
                <a:cs typeface="Arial"/>
                <a:sym typeface="Arial"/>
              </a:rPr>
              <a:t>Hard disk,  Floppy disk,  Magnetic Tape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328842" y="6445758"/>
            <a:ext cx="3241673" cy="267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0" y="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20220941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0 Years of Education Excellence " id="117" name="Google Shape;117;p4"/>
          <p:cNvPicPr preferRelativeResize="0"/>
          <p:nvPr/>
        </p:nvPicPr>
        <p:blipFill rotWithShape="1">
          <a:blip r:embed="rId4">
            <a:alphaModFix/>
          </a:blip>
          <a:srcRect b="0" l="0" r="40320" t="0"/>
          <a:stretch/>
        </p:blipFill>
        <p:spPr>
          <a:xfrm>
            <a:off x="10443268" y="115695"/>
            <a:ext cx="1660883" cy="630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da Hani (nidahanimaisa) - Profile | Pinterest" id="122" name="Google Shape;122;g169bb6c523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667000" y="-2732975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169bb6c523b_0_0"/>
          <p:cNvSpPr txBox="1"/>
          <p:nvPr>
            <p:ph type="title"/>
          </p:nvPr>
        </p:nvSpPr>
        <p:spPr>
          <a:xfrm>
            <a:off x="714000" y="41054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Examples for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aseline="30000" lang="en-US">
                <a:latin typeface="Arial"/>
                <a:ea typeface="Arial"/>
                <a:cs typeface="Arial"/>
                <a:sym typeface="Arial"/>
              </a:rPr>
              <a:t>rd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generation computers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169bb6c523b_0_0"/>
          <p:cNvSpPr txBox="1"/>
          <p:nvPr>
            <p:ph idx="1" type="body"/>
          </p:nvPr>
        </p:nvSpPr>
        <p:spPr>
          <a:xfrm>
            <a:off x="647400" y="1797975"/>
            <a:ext cx="4399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IBM 360 - series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Honeywell 6000 series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IBM-370/168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TDC-316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PDP-8, PDP-11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g169bb6c523b_0_0"/>
          <p:cNvPicPr preferRelativeResize="0"/>
          <p:nvPr/>
        </p:nvPicPr>
        <p:blipFill rotWithShape="1">
          <a:blip r:embed="rId4">
            <a:alphaModFix/>
          </a:blip>
          <a:srcRect b="3050" l="0" r="0" t="-3050"/>
          <a:stretch/>
        </p:blipFill>
        <p:spPr>
          <a:xfrm>
            <a:off x="8229600" y="3077029"/>
            <a:ext cx="3531678" cy="216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169bb6c523b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3763" y="3077029"/>
            <a:ext cx="3000012" cy="216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169bb6c523b_0_0"/>
          <p:cNvSpPr txBox="1"/>
          <p:nvPr/>
        </p:nvSpPr>
        <p:spPr>
          <a:xfrm>
            <a:off x="4773763" y="-659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20220941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169bb6c523b_0_0"/>
          <p:cNvSpPr txBox="1"/>
          <p:nvPr/>
        </p:nvSpPr>
        <p:spPr>
          <a:xfrm>
            <a:off x="8229600" y="5572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169bb6c523b_0_0"/>
          <p:cNvSpPr txBox="1"/>
          <p:nvPr/>
        </p:nvSpPr>
        <p:spPr>
          <a:xfrm>
            <a:off x="8039163" y="5427375"/>
            <a:ext cx="3722100" cy="5172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IBM 360 - series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69bb6c523b_0_0"/>
          <p:cNvSpPr txBox="1"/>
          <p:nvPr/>
        </p:nvSpPr>
        <p:spPr>
          <a:xfrm>
            <a:off x="4717050" y="5427375"/>
            <a:ext cx="3056700" cy="5172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Honeywell 6000 series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0 Years of Education Excellence " id="131" name="Google Shape;131;g169bb6c523b_0_0"/>
          <p:cNvPicPr preferRelativeResize="0"/>
          <p:nvPr/>
        </p:nvPicPr>
        <p:blipFill rotWithShape="1">
          <a:blip r:embed="rId6">
            <a:alphaModFix/>
          </a:blip>
          <a:srcRect b="0" l="0" r="40320" t="0"/>
          <a:stretch/>
        </p:blipFill>
        <p:spPr>
          <a:xfrm>
            <a:off x="10523358" y="149575"/>
            <a:ext cx="1660883" cy="630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da Hani (nidahanimaisa) - Profile | Pinterest" id="136" name="Google Shape;136;g169bb6c523b_5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169bb6c523b_5_0"/>
          <p:cNvSpPr txBox="1"/>
          <p:nvPr>
            <p:ph type="title"/>
          </p:nvPr>
        </p:nvSpPr>
        <p:spPr>
          <a:xfrm>
            <a:off x="473073" y="447625"/>
            <a:ext cx="12646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Characteristics of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aseline="30000" lang="en-US">
                <a:latin typeface="Arial"/>
                <a:ea typeface="Arial"/>
                <a:cs typeface="Arial"/>
                <a:sym typeface="Arial"/>
              </a:rPr>
              <a:t>rd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generation computers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169bb6c523b_5_0"/>
          <p:cNvSpPr txBox="1"/>
          <p:nvPr>
            <p:ph idx="1" type="body"/>
          </p:nvPr>
        </p:nvSpPr>
        <p:spPr>
          <a:xfrm>
            <a:off x="224975" y="177331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Transistors were replaced with IC’s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Fast and more reliable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High level language was developed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I/O devices became more sophisticated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Smaller in size and cheaper than 2nd generation computers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169bb6c523b_5_0"/>
          <p:cNvSpPr txBox="1"/>
          <p:nvPr/>
        </p:nvSpPr>
        <p:spPr>
          <a:xfrm>
            <a:off x="313600" y="315400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20220931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0 Years of Education Excellence " id="140" name="Google Shape;140;g169bb6c523b_5_0"/>
          <p:cNvPicPr preferRelativeResize="0"/>
          <p:nvPr/>
        </p:nvPicPr>
        <p:blipFill rotWithShape="1">
          <a:blip r:embed="rId4">
            <a:alphaModFix/>
          </a:blip>
          <a:srcRect b="0" l="0" r="40320" t="0"/>
          <a:stretch/>
        </p:blipFill>
        <p:spPr>
          <a:xfrm>
            <a:off x="10443268" y="115695"/>
            <a:ext cx="1660883" cy="630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-850" r="848" t="0"/>
          <a:stretch/>
        </p:blipFill>
        <p:spPr>
          <a:xfrm>
            <a:off x="1641224" y="-8"/>
            <a:ext cx="1055077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57024" y="0"/>
            <a:ext cx="93723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40000"/>
                </a:srgbClr>
              </a:gs>
              <a:gs pos="35000">
                <a:srgbClr val="FFFFFF">
                  <a:alpha val="74901"/>
                </a:srgbClr>
              </a:gs>
              <a:gs pos="52999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>
            <p:ph type="title"/>
          </p:nvPr>
        </p:nvSpPr>
        <p:spPr>
          <a:xfrm>
            <a:off x="525133" y="566450"/>
            <a:ext cx="3438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Integrated Circuits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68675" y="1372815"/>
            <a:ext cx="3218700" cy="9000"/>
          </a:xfrm>
          <a:prstGeom prst="rect">
            <a:avLst/>
          </a:prstGeom>
          <a:solidFill>
            <a:srgbClr val="D5D5D5"/>
          </a:solidFill>
          <a:ln cap="flat" cmpd="sng" w="9525">
            <a:solidFill>
              <a:srgbClr val="D5D5D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8880102" y="6453550"/>
            <a:ext cx="324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>
            <p:ph idx="1" type="body"/>
          </p:nvPr>
        </p:nvSpPr>
        <p:spPr>
          <a:xfrm>
            <a:off x="139075" y="1636925"/>
            <a:ext cx="7296600" cy="4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60"/>
              <a:buChar char="•"/>
            </a:pPr>
            <a:r>
              <a:rPr lang="en-US" sz="206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60">
                <a:latin typeface="Calibri"/>
                <a:ea typeface="Calibri"/>
                <a:cs typeface="Calibri"/>
                <a:sym typeface="Calibri"/>
              </a:rPr>
              <a:t>C was invented by  Jack Kilby</a:t>
            </a:r>
            <a:endParaRPr sz="226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6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60"/>
              <a:buChar char="•"/>
            </a:pPr>
            <a:r>
              <a:rPr lang="en-US" sz="2260">
                <a:latin typeface="Calibri"/>
                <a:ea typeface="Calibri"/>
                <a:cs typeface="Calibri"/>
                <a:sym typeface="Calibri"/>
              </a:rPr>
              <a:t>First time electronic components integrated into single surface</a:t>
            </a:r>
            <a:endParaRPr sz="1979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6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60"/>
              <a:buChar char="•"/>
            </a:pPr>
            <a:r>
              <a:rPr lang="en-US" sz="2260">
                <a:latin typeface="Calibri"/>
                <a:ea typeface="Calibri"/>
                <a:cs typeface="Calibri"/>
                <a:sym typeface="Calibri"/>
              </a:rPr>
              <a:t>IC can function as an amplifier, oscillator, timer, logic gate, </a:t>
            </a:r>
            <a:r>
              <a:rPr b="1" lang="en-US" sz="2260">
                <a:latin typeface="Calibri"/>
                <a:ea typeface="Calibri"/>
                <a:cs typeface="Calibri"/>
                <a:sym typeface="Calibri"/>
              </a:rPr>
              <a:t>microprocessor</a:t>
            </a:r>
            <a:endParaRPr b="1" sz="226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6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6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single IC consists thousands of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registers, capacitors,  and transistors</a:t>
            </a:r>
            <a:endParaRPr i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79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79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Roboto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High-level languages Used are,           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             &gt;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 Basic,  Pascal, C++, Perl  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242125" y="135350"/>
            <a:ext cx="134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20221633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0 Years of Education Excellence " id="152" name="Google Shape;152;p5"/>
          <p:cNvPicPr preferRelativeResize="0"/>
          <p:nvPr/>
        </p:nvPicPr>
        <p:blipFill rotWithShape="1">
          <a:blip r:embed="rId4">
            <a:alphaModFix/>
          </a:blip>
          <a:srcRect b="0" l="0" r="40320" t="0"/>
          <a:stretch/>
        </p:blipFill>
        <p:spPr>
          <a:xfrm>
            <a:off x="10443268" y="115695"/>
            <a:ext cx="1660883" cy="630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da Hani (nidahanimaisa) - Profile | Pinterest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>
            <p:ph type="title"/>
          </p:nvPr>
        </p:nvSpPr>
        <p:spPr>
          <a:xfrm>
            <a:off x="780074" y="752154"/>
            <a:ext cx="8258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Advantages And Disadvantages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9" name="Google Shape;159;p7"/>
          <p:cNvGraphicFramePr/>
          <p:nvPr/>
        </p:nvGraphicFramePr>
        <p:xfrm>
          <a:off x="838200" y="20756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{FD9479B3-412B-45C8-9E20-A5334512E70F}</a:tableStyleId>
              </a:tblPr>
              <a:tblGrid>
                <a:gridCol w="5257800"/>
                <a:gridCol w="5257800"/>
              </a:tblGrid>
              <a:tr h="91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Advantages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Disadvantages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1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Smaller in size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Manufacturing IC were difficult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1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Generates less heat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These computers became expensive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1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Used mouse and keyboard instead of punch cards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Integrated Circuits were very complicated and required specialized workers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0" name="Google Shape;160;p7"/>
          <p:cNvSpPr txBox="1"/>
          <p:nvPr/>
        </p:nvSpPr>
        <p:spPr>
          <a:xfrm>
            <a:off x="8950327" y="6492875"/>
            <a:ext cx="3241673" cy="267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2625" y="716850"/>
            <a:ext cx="2497075" cy="124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/>
          <p:nvPr/>
        </p:nvSpPr>
        <p:spPr>
          <a:xfrm>
            <a:off x="542925" y="285750"/>
            <a:ext cx="150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20221633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0 Years of Education Excellence " id="163" name="Google Shape;163;p7"/>
          <p:cNvPicPr preferRelativeResize="0"/>
          <p:nvPr/>
        </p:nvPicPr>
        <p:blipFill rotWithShape="1">
          <a:blip r:embed="rId5">
            <a:alphaModFix/>
          </a:blip>
          <a:srcRect b="0" l="0" r="40320" t="0"/>
          <a:stretch/>
        </p:blipFill>
        <p:spPr>
          <a:xfrm>
            <a:off x="10443268" y="115695"/>
            <a:ext cx="1660883" cy="630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2850" y="21400"/>
            <a:ext cx="9699150" cy="68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0" y="21400"/>
            <a:ext cx="103992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40000"/>
                </a:srgbClr>
              </a:gs>
              <a:gs pos="35000">
                <a:srgbClr val="FFFFFF">
                  <a:alpha val="74901"/>
                </a:srgbClr>
              </a:gs>
              <a:gs pos="52999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>
            <p:ph idx="1" type="body"/>
          </p:nvPr>
        </p:nvSpPr>
        <p:spPr>
          <a:xfrm>
            <a:off x="193599" y="1690700"/>
            <a:ext cx="8979429" cy="4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34327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14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This generation used Very Large Scale Integrated </a:t>
            </a:r>
            <a:r>
              <a:rPr i="1" lang="en-US" sz="22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US" sz="2200">
                <a:latin typeface="Arial"/>
                <a:ea typeface="Arial"/>
                <a:cs typeface="Arial"/>
                <a:sym typeface="Arial"/>
              </a:rPr>
              <a:t>VLSI</a:t>
            </a:r>
            <a:r>
              <a:rPr i="1" lang="en-US" sz="2200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circuits.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34327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14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Thousands of IC are assembled on a single chip known as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Silicon Chip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14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These computers were powerful, compact, reliable, and affordable and gave rise to Personal Computer (PC) revolution.</a:t>
            </a:r>
            <a:endParaRPr/>
          </a:p>
          <a:p>
            <a:pPr indent="-2445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14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14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High level languages used,</a:t>
            </a:r>
            <a:endParaRPr/>
          </a:p>
          <a:p>
            <a:pPr indent="0" lvl="0" marL="12287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14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               </a:t>
            </a:r>
            <a:r>
              <a:rPr lang="en-US" sz="2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Python, C#, Java, JavaScript, Rust</a:t>
            </a:r>
            <a:endParaRPr i="1"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>
            <p:ph type="title"/>
          </p:nvPr>
        </p:nvSpPr>
        <p:spPr>
          <a:xfrm>
            <a:off x="526150" y="5047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</a:t>
            </a:r>
            <a:r>
              <a:rPr baseline="30000" lang="en-US">
                <a:latin typeface="Arial"/>
                <a:ea typeface="Arial"/>
                <a:cs typeface="Arial"/>
                <a:sym typeface="Arial"/>
              </a:rPr>
              <a:t>th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Generation Computers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(1971-1980)</a:t>
            </a:r>
            <a:endParaRPr b="1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0" y="6537925"/>
            <a:ext cx="3261173" cy="34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0" y="175675"/>
            <a:ext cx="174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20221108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0 Years of Education Excellence "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40320" t="0"/>
          <a:stretch/>
        </p:blipFill>
        <p:spPr>
          <a:xfrm>
            <a:off x="10443268" y="115695"/>
            <a:ext cx="1660883" cy="630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da Hani (nidahanimaisa) - Profile | Pinterest" id="179" name="Google Shape;179;g169bb6c523b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169bb6c523b_0_5"/>
          <p:cNvSpPr txBox="1"/>
          <p:nvPr>
            <p:ph type="title"/>
          </p:nvPr>
        </p:nvSpPr>
        <p:spPr>
          <a:xfrm>
            <a:off x="485775" y="5449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Examples for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4</a:t>
            </a:r>
            <a:r>
              <a:rPr baseline="30000" lang="en-US">
                <a:latin typeface="Arial"/>
                <a:ea typeface="Arial"/>
                <a:cs typeface="Arial"/>
                <a:sym typeface="Arial"/>
              </a:rPr>
              <a:t>th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generation computers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169bb6c523b_0_5"/>
          <p:cNvSpPr txBox="1"/>
          <p:nvPr>
            <p:ph idx="1" type="body"/>
          </p:nvPr>
        </p:nvSpPr>
        <p:spPr>
          <a:xfrm>
            <a:off x="308575" y="1632255"/>
            <a:ext cx="3802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IBM 5100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Micral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Altair 8800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Apple 2</a:t>
            </a:r>
            <a:endParaRPr/>
          </a:p>
        </p:txBody>
      </p:sp>
      <p:sp>
        <p:nvSpPr>
          <p:cNvPr id="182" name="Google Shape;182;g169bb6c523b_0_5"/>
          <p:cNvSpPr txBox="1"/>
          <p:nvPr/>
        </p:nvSpPr>
        <p:spPr>
          <a:xfrm>
            <a:off x="485775" y="200025"/>
            <a:ext cx="142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20221108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169bb6c523b_0_5"/>
          <p:cNvSpPr txBox="1"/>
          <p:nvPr/>
        </p:nvSpPr>
        <p:spPr>
          <a:xfrm>
            <a:off x="8547625" y="3215293"/>
            <a:ext cx="30849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Altair 8800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69bb6c523b_0_5"/>
          <p:cNvSpPr txBox="1"/>
          <p:nvPr/>
        </p:nvSpPr>
        <p:spPr>
          <a:xfrm>
            <a:off x="9049075" y="6233050"/>
            <a:ext cx="20820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IBM 5100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0 Years of Education Excellence " id="185" name="Google Shape;185;g169bb6c523b_0_5"/>
          <p:cNvPicPr preferRelativeResize="0"/>
          <p:nvPr/>
        </p:nvPicPr>
        <p:blipFill rotWithShape="1">
          <a:blip r:embed="rId4">
            <a:alphaModFix/>
          </a:blip>
          <a:srcRect b="0" l="0" r="40320" t="0"/>
          <a:stretch/>
        </p:blipFill>
        <p:spPr>
          <a:xfrm>
            <a:off x="10443268" y="115695"/>
            <a:ext cx="1660883" cy="63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169bb6c523b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5225" y="4138575"/>
            <a:ext cx="3251526" cy="201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169bb6c523b_0_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9100" y="1621048"/>
            <a:ext cx="3084900" cy="151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169bb6c523b_0_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2550" y="2864518"/>
            <a:ext cx="3146875" cy="222170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169bb6c523b_0_5"/>
          <p:cNvSpPr txBox="1"/>
          <p:nvPr/>
        </p:nvSpPr>
        <p:spPr>
          <a:xfrm>
            <a:off x="5516625" y="5270125"/>
            <a:ext cx="173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da Hani (nidahanimaisa) - Profile | Pinterest" id="194" name="Google Shape;194;g169bb6c523b_5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169bb6c523b_5_5"/>
          <p:cNvSpPr txBox="1"/>
          <p:nvPr>
            <p:ph type="title"/>
          </p:nvPr>
        </p:nvSpPr>
        <p:spPr>
          <a:xfrm>
            <a:off x="328600" y="746490"/>
            <a:ext cx="10114667" cy="10646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Characteristics of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4</a:t>
            </a:r>
            <a:r>
              <a:rPr baseline="30000" lang="en-US">
                <a:latin typeface="Arial"/>
                <a:ea typeface="Arial"/>
                <a:cs typeface="Arial"/>
                <a:sym typeface="Arial"/>
              </a:rPr>
              <a:t>th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generation computers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169bb6c523b_5_5"/>
          <p:cNvSpPr txBox="1"/>
          <p:nvPr>
            <p:ph idx="1" type="body"/>
          </p:nvPr>
        </p:nvSpPr>
        <p:spPr>
          <a:xfrm>
            <a:off x="328600" y="162665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Creation of VLSI with help of many transistors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Became faster, reliable and small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Became cheaper than 3rd generation computers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High level programming language was more developed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OS with GUI began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169bb6c523b_5_5"/>
          <p:cNvSpPr txBox="1"/>
          <p:nvPr/>
        </p:nvSpPr>
        <p:spPr>
          <a:xfrm>
            <a:off x="328600" y="193675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20220931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0 Years of Education Excellence " id="198" name="Google Shape;198;g169bb6c523b_5_5"/>
          <p:cNvPicPr preferRelativeResize="0"/>
          <p:nvPr/>
        </p:nvPicPr>
        <p:blipFill rotWithShape="1">
          <a:blip r:embed="rId4">
            <a:alphaModFix/>
          </a:blip>
          <a:srcRect b="0" l="0" r="40320" t="0"/>
          <a:stretch/>
        </p:blipFill>
        <p:spPr>
          <a:xfrm>
            <a:off x="10443268" y="115695"/>
            <a:ext cx="1660883" cy="6308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169bb6c523b_5_5"/>
          <p:cNvSpPr txBox="1"/>
          <p:nvPr/>
        </p:nvSpPr>
        <p:spPr>
          <a:xfrm>
            <a:off x="0" y="6537925"/>
            <a:ext cx="3261173" cy="34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169bb6c523b_0_10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4192500" y="0"/>
            <a:ext cx="79995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169bb6c523b_0_10"/>
          <p:cNvSpPr/>
          <p:nvPr/>
        </p:nvSpPr>
        <p:spPr>
          <a:xfrm>
            <a:off x="1765325" y="0"/>
            <a:ext cx="97038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40000"/>
                </a:srgbClr>
              </a:gs>
              <a:gs pos="35000">
                <a:srgbClr val="FFFFFF">
                  <a:alpha val="74901"/>
                </a:srgbClr>
              </a:gs>
              <a:gs pos="52999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169bb6c523b_0_10"/>
          <p:cNvSpPr txBox="1"/>
          <p:nvPr>
            <p:ph type="title"/>
          </p:nvPr>
        </p:nvSpPr>
        <p:spPr>
          <a:xfrm>
            <a:off x="109746" y="460607"/>
            <a:ext cx="1116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Very Large Scale Integration Circuits (VLSI)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g169bb6c523b_0_10"/>
          <p:cNvSpPr txBox="1"/>
          <p:nvPr>
            <p:ph idx="1" type="body"/>
          </p:nvPr>
        </p:nvSpPr>
        <p:spPr>
          <a:xfrm>
            <a:off x="213050" y="2258400"/>
            <a:ext cx="9703800" cy="45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Refers to devices based on transistors, diodes, resistances and capacitors assembled at very high densities</a:t>
            </a:r>
            <a:br>
              <a:rPr lang="en-US" sz="2600"/>
            </a:br>
            <a:endParaRPr sz="2600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Requires less space ( fitting more transistor nodes on a smaller IC ) </a:t>
            </a:r>
            <a:endParaRPr sz="26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Increased cost-effectiveness for devices</a:t>
            </a:r>
            <a:endParaRPr sz="26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Improved performance in terms of the operating speed of circuits</a:t>
            </a:r>
            <a:endParaRPr b="1" sz="26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00">
                <a:solidFill>
                  <a:srgbClr val="BDC1C6"/>
                </a:solidFill>
                <a:highlight>
                  <a:srgbClr val="202124"/>
                </a:highlight>
                <a:latin typeface="Arial"/>
                <a:ea typeface="Arial"/>
                <a:cs typeface="Arial"/>
                <a:sym typeface="Arial"/>
              </a:rPr>
              <a:t>  </a:t>
            </a:r>
            <a:endParaRPr sz="1200">
              <a:solidFill>
                <a:srgbClr val="BDC1C6"/>
              </a:solidFill>
              <a:highlight>
                <a:srgbClr val="20212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BDC1C6"/>
              </a:solidFill>
              <a:highlight>
                <a:srgbClr val="20212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169bb6c523b_0_10"/>
          <p:cNvSpPr txBox="1"/>
          <p:nvPr/>
        </p:nvSpPr>
        <p:spPr>
          <a:xfrm>
            <a:off x="0" y="-43850"/>
            <a:ext cx="185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20220980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0 Years of Education Excellence " id="209" name="Google Shape;209;g169bb6c523b_0_10"/>
          <p:cNvPicPr preferRelativeResize="0"/>
          <p:nvPr/>
        </p:nvPicPr>
        <p:blipFill rotWithShape="1">
          <a:blip r:embed="rId4">
            <a:alphaModFix/>
          </a:blip>
          <a:srcRect b="0" l="0" r="40319" t="0"/>
          <a:stretch/>
        </p:blipFill>
        <p:spPr>
          <a:xfrm>
            <a:off x="10442506" y="106318"/>
            <a:ext cx="1660883" cy="6308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169bb6c523b_0_10"/>
          <p:cNvSpPr txBox="1"/>
          <p:nvPr/>
        </p:nvSpPr>
        <p:spPr>
          <a:xfrm>
            <a:off x="109750" y="6569875"/>
            <a:ext cx="32613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da Hani (nidahanimaisa) - Profile | Pinterest"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8950327" y="6492875"/>
            <a:ext cx="3241673" cy="267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10"/>
          <p:cNvPicPr preferRelativeResize="0"/>
          <p:nvPr/>
        </p:nvPicPr>
        <p:blipFill rotWithShape="1">
          <a:blip r:embed="rId4">
            <a:alphaModFix/>
          </a:blip>
          <a:srcRect b="0" l="12371" r="7242" t="0"/>
          <a:stretch/>
        </p:blipFill>
        <p:spPr>
          <a:xfrm>
            <a:off x="233894" y="14491"/>
            <a:ext cx="2452914" cy="18689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8" name="Google Shape;218;p10"/>
          <p:cNvGraphicFramePr/>
          <p:nvPr/>
        </p:nvGraphicFramePr>
        <p:xfrm>
          <a:off x="757692" y="2040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{66ACFC02-EB43-4203-81E6-80AD53A3F7E8}</a:tableStyleId>
              </a:tblPr>
              <a:tblGrid>
                <a:gridCol w="5386075"/>
                <a:gridCol w="5348600"/>
              </a:tblGrid>
              <a:tr h="10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Advantages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Disadvantages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t/>
                      </a:r>
                      <a:endParaRPr sz="26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53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· More powerful and reliable</a:t>
                      </a:r>
                      <a:endParaRPr sz="4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· </a:t>
                      </a:r>
                      <a:r>
                        <a:rPr lang="en-US" sz="1800" u="none" cap="none" strike="noStrike"/>
                        <a:t>Easily get virus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</a:tr>
              <a:tr h="53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· Less hardware failure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· </a:t>
                      </a:r>
                      <a:r>
                        <a:rPr lang="en-US" sz="1800" u="none" cap="none" strike="noStrike"/>
                        <a:t>Only high skilled staff can manufacture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rgbClr val="E8EBF5"/>
                    </a:solidFill>
                  </a:tcPr>
                </a:tc>
              </a:tr>
              <a:tr h="81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· Fast processing with less power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· </a:t>
                      </a:r>
                      <a:r>
                        <a:rPr lang="en-US" sz="1800" u="none" cap="none" strike="noStrike"/>
                        <a:t>Microprocessor use very high sophisticated technology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</a:tr>
              <a:tr h="12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· The air conditioning system is not much needed and    is more energy efficient than the before generation.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Design is very complex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10"/>
          <p:cNvSpPr txBox="1"/>
          <p:nvPr/>
        </p:nvSpPr>
        <p:spPr>
          <a:xfrm>
            <a:off x="2686809" y="989298"/>
            <a:ext cx="85869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 And Disadvantages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6007086" y="14491"/>
            <a:ext cx="133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20220931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0 Years of Education Excellence " id="221" name="Google Shape;221;p10"/>
          <p:cNvPicPr preferRelativeResize="0"/>
          <p:nvPr/>
        </p:nvPicPr>
        <p:blipFill rotWithShape="1">
          <a:blip r:embed="rId5">
            <a:alphaModFix/>
          </a:blip>
          <a:srcRect b="0" l="0" r="40320" t="0"/>
          <a:stretch/>
        </p:blipFill>
        <p:spPr>
          <a:xfrm>
            <a:off x="10443268" y="115695"/>
            <a:ext cx="1660883" cy="63080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 txBox="1"/>
          <p:nvPr/>
        </p:nvSpPr>
        <p:spPr>
          <a:xfrm>
            <a:off x="0" y="6537925"/>
            <a:ext cx="3261173" cy="34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da Hani (nidahanimaisa) - Profile | Pinterest" id="227" name="Google Shape;227;g169b27b760d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169b27b760d_0_5"/>
          <p:cNvSpPr txBox="1"/>
          <p:nvPr>
            <p:ph type="title"/>
          </p:nvPr>
        </p:nvSpPr>
        <p:spPr>
          <a:xfrm>
            <a:off x="199571" y="61303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Summary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169b27b760d_0_5"/>
          <p:cNvSpPr txBox="1"/>
          <p:nvPr>
            <p:ph idx="1" type="body"/>
          </p:nvPr>
        </p:nvSpPr>
        <p:spPr>
          <a:xfrm>
            <a:off x="0" y="174105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In 3rd and 4th generation computers we can see a very huge development compared to 1st and 2nd generation computers.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These two generations use high level programming languages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Instead of vacuum tubes and transistors, microchips were used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Birth of OS occurred during these generations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Computers became faster and more reliable during these two generations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169b27b760d_0_5"/>
          <p:cNvSpPr txBox="1"/>
          <p:nvPr/>
        </p:nvSpPr>
        <p:spPr>
          <a:xfrm>
            <a:off x="314325" y="300050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20221638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0 Years of Education Excellence " id="231" name="Google Shape;231;g169b27b760d_0_5"/>
          <p:cNvPicPr preferRelativeResize="0"/>
          <p:nvPr/>
        </p:nvPicPr>
        <p:blipFill rotWithShape="1">
          <a:blip r:embed="rId4">
            <a:alphaModFix/>
          </a:blip>
          <a:srcRect b="0" l="0" r="40320" t="0"/>
          <a:stretch/>
        </p:blipFill>
        <p:spPr>
          <a:xfrm>
            <a:off x="10443268" y="115695"/>
            <a:ext cx="1660883" cy="6308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n Clipart, Transparent PNG Clipart Images Free Download - ClipartMax" id="232" name="Google Shape;232;g169b27b760d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0" y="3592321"/>
            <a:ext cx="28575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169b27b760d_0_5"/>
          <p:cNvSpPr txBox="1"/>
          <p:nvPr/>
        </p:nvSpPr>
        <p:spPr>
          <a:xfrm>
            <a:off x="0" y="6537925"/>
            <a:ext cx="3261173" cy="34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4725" y="125950"/>
            <a:ext cx="7225124" cy="660609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 txBox="1"/>
          <p:nvPr/>
        </p:nvSpPr>
        <p:spPr>
          <a:xfrm>
            <a:off x="10965995" y="205058"/>
            <a:ext cx="1071107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20221638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0 Years of Education Excellence " id="240" name="Google Shape;240;p11"/>
          <p:cNvPicPr preferRelativeResize="0"/>
          <p:nvPr/>
        </p:nvPicPr>
        <p:blipFill rotWithShape="1">
          <a:blip r:embed="rId4">
            <a:alphaModFix/>
          </a:blip>
          <a:srcRect b="0" l="0" r="40320" t="0"/>
          <a:stretch/>
        </p:blipFill>
        <p:spPr>
          <a:xfrm>
            <a:off x="123611" y="205058"/>
            <a:ext cx="1660883" cy="63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5148" y="720575"/>
            <a:ext cx="4738925" cy="49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1"/>
          <p:cNvSpPr txBox="1"/>
          <p:nvPr/>
        </p:nvSpPr>
        <p:spPr>
          <a:xfrm>
            <a:off x="0" y="6537925"/>
            <a:ext cx="32613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DOC314 Digital Skills For Higher 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2022-10-13T07:50:59Z</dcterms:created>
  <dc:creator>Wathila 20220955</dc:creator>
</cp:coreProperties>
</file>